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9" r:id="rId3"/>
    <p:sldId id="285" r:id="rId4"/>
    <p:sldId id="286" r:id="rId5"/>
    <p:sldId id="281" r:id="rId6"/>
    <p:sldId id="282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7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37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B55E-8E8D-0418-C9CF-70410C0E3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D0ACF-16B5-0726-572C-FB2068929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B3D4-2A03-583D-3F4E-7F705A5F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66CB6-5CA3-CB25-F70C-56AFDF8B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6CDC7-DFA1-201E-1DF6-DE6DD94E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F195-3258-0C6E-8660-C73D27F6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4E6B8-131B-D120-4FE6-E7FBA97F0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08BA-A488-5FB3-E9C4-E7600EED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1B593-DFEB-0FEF-9511-D02BEF81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F44D9-1EEF-4784-AC57-AE248428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F883-631E-EF0A-8DDC-506D48E8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D985F-047B-B167-DBAB-326D4BDD4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DD55-4F47-C72C-11DB-EF6B4ACD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87FB-55DC-D478-E417-20F257CC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1018-47AA-BFA6-BAF4-FB7777A1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8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2C07-CE3D-8D0F-091A-112EF0CC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3868-B574-5301-E53B-8ED7E5B00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08186-2A5C-EAFD-034D-0F2981459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2B61D-736A-CBC7-1AAE-F64A16C71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B8202-FAC8-2E17-AB1E-5799FF4F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09AD7-952C-0866-BFA7-E99077A8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3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E8F9-DDF5-ED71-88D5-ED40928A1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3DD59-BBC6-5794-3DA8-E39E7C6C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40547-DF28-538C-4B6B-BA7BE4FA8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F314B-2266-8ACA-CF94-43C21F70F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000D0-0DD1-00B0-C5AF-910D390FE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3243B-8FC9-6343-636F-587E5C6C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12416-D093-CF9E-9F94-DBF3B06D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2E56F-391B-4CBC-F598-92734AD9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3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3FC7-6B50-295D-B062-AE16AC7D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AA5ED-F210-1544-5111-DB7400E4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7A8B9-55BF-9BB3-161F-571D1F26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E3B76-77F2-076C-44A5-AD6CE622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0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DFF35D-AE01-3576-F100-DE420582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D0505-D7B5-F769-C186-4ACBCB11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26C0E-A22E-0C65-DD15-902C580F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3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5802-75CD-705D-1701-DBBB6052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90B48-7E2A-F8C4-593B-C18C19B5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3C769-A550-CF30-EDFD-722705A01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F9F07-0191-5F41-0BD4-AC8E604ED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C313-B334-DE13-D699-8759547B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75915-4493-5A58-7BD6-981511BA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3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6C8D-5BB2-60C6-474F-417118D6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B04EA-9AEB-4B51-637C-4ADA54F80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DFC87-52D9-E0C6-D679-A690C138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D6E91-D6C8-2868-6CC2-E01F7D2C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2AD44-E85A-F723-84E3-84145BA2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9DBFB-968B-69A1-FAED-858A48E3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9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2196-543F-8C6E-5D3C-E3EA6D76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1C209-F291-CBD6-B620-073AF7FE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89153-E6C5-4B6D-2146-D515ABED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BADA9-C090-D9A9-ACF8-FCC3EAE1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BF06-1903-77F1-F498-402DF2FF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0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94299-354E-AD6C-E67A-03354E59E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DA208-6CA2-0401-EEA5-7B2FD6442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C0687-BAAB-1B21-4434-764DD39E3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4D532-3DB4-C086-CE60-70F8FB08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8B57B-8E9D-AD64-ED18-2087D5BB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8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76216-CDC7-465C-E6A2-B97F630D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BE504-74D1-9091-1783-269365113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DCFBB-5138-2F6A-A141-B8BDECD3E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ECE55-34ED-F742-B5DA-C65E1EE3A0A9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D0B1-B6A8-B0EB-CBC3-0261E13B2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1D32E-7410-59FD-5B3C-B13C54002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5E6E7-4122-7B44-AF78-CE8C2D178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4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jpe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kb0023/houserentpredictiondatas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ed.ai/matrix-calculus/" TargetMode="External"/><Relationship Id="rId2" Type="http://schemas.openxmlformats.org/officeDocument/2006/relationships/hyperlink" Target="https://personal.utdallas.edu/~nicholas.ruozzi/cs6375/2022sp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reading-csv-files-in-python/" TargetMode="External"/><Relationship Id="rId4" Type="http://schemas.openxmlformats.org/officeDocument/2006/relationships/hyperlink" Target="https://www.geeksforgeeks.org/python-programming-language-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CDBF-A677-7E56-6C47-88B1A5DC32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 with Gradient 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EA047-4DF6-92F9-736F-68A986A39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Siva</a:t>
            </a:r>
          </a:p>
        </p:txBody>
      </p:sp>
    </p:spTree>
    <p:extLst>
      <p:ext uri="{BB962C8B-B14F-4D97-AF65-F5344CB8AC3E}">
        <p14:creationId xmlns:p14="http://schemas.microsoft.com/office/powerpoint/2010/main" val="145049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7BF1-93AA-E744-4C44-F9E5D04E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Speaker Detection</a:t>
            </a:r>
          </a:p>
        </p:txBody>
      </p:sp>
      <p:pic>
        <p:nvPicPr>
          <p:cNvPr id="11" name="Picture 6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3840A1F8-1699-3665-F372-B9255E3BD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2482" y="2081525"/>
            <a:ext cx="671435" cy="671435"/>
          </a:xfrm>
        </p:spPr>
      </p:pic>
      <p:pic>
        <p:nvPicPr>
          <p:cNvPr id="12" name="Picture 7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5CB628E1-EC58-E6C8-C3ED-142637672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404" y="2081525"/>
            <a:ext cx="671435" cy="671435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1C7E6C63-8FC0-90B9-1D0F-2C3E73EEC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7759" y="2092286"/>
            <a:ext cx="671435" cy="660674"/>
          </a:xfrm>
          <a:prstGeom prst="rect">
            <a:avLst/>
          </a:prstGeom>
        </p:spPr>
      </p:pic>
      <p:pic>
        <p:nvPicPr>
          <p:cNvPr id="14" name="Picture 9" descr="A picture containing person, indoor, person, people&#10;&#10;Description automatically generated">
            <a:extLst>
              <a:ext uri="{FF2B5EF4-FFF2-40B4-BE49-F238E27FC236}">
                <a16:creationId xmlns:a16="http://schemas.microsoft.com/office/drawing/2014/main" id="{71F47B11-122D-6812-776F-FE5BBAAFBA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1376" y="2081524"/>
            <a:ext cx="682370" cy="6714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B1D94F-72D2-D6AF-56BD-D50BC20D913D}"/>
              </a:ext>
            </a:extLst>
          </p:cNvPr>
          <p:cNvSpPr txBox="1"/>
          <p:nvPr/>
        </p:nvSpPr>
        <p:spPr>
          <a:xfrm>
            <a:off x="2549194" y="2118193"/>
            <a:ext cx="5064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...</a:t>
            </a:r>
            <a:endParaRPr lang="en-US" sz="2400" b="1" dirty="0"/>
          </a:p>
        </p:txBody>
      </p:sp>
      <p:pic>
        <p:nvPicPr>
          <p:cNvPr id="16" name="00000">
            <a:hlinkClick r:id="" action="ppaction://media"/>
            <a:extLst>
              <a:ext uri="{FF2B5EF4-FFF2-40B4-BE49-F238E27FC236}">
                <a16:creationId xmlns:a16="http://schemas.microsoft.com/office/drawing/2014/main" id="{CA280F01-32D2-BF29-AA5E-AA7B3C41E6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802738" y="3973027"/>
            <a:ext cx="730250" cy="730250"/>
          </a:xfrm>
          <a:prstGeom prst="rect">
            <a:avLst/>
          </a:prstGeom>
        </p:spPr>
      </p:pic>
      <p:pic>
        <p:nvPicPr>
          <p:cNvPr id="17" name="Picture 6" descr="Understanding AI: What is a Deep Learning Node? – OrboGraph">
            <a:extLst>
              <a:ext uri="{FF2B5EF4-FFF2-40B4-BE49-F238E27FC236}">
                <a16:creationId xmlns:a16="http://schemas.microsoft.com/office/drawing/2014/main" id="{3BB285AE-459E-90F0-65C9-A8D4D0C37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199" y="2873324"/>
            <a:ext cx="4532887" cy="15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D1E5C5DD-26A6-3FA9-C7FA-FADFB4918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657" y="3093282"/>
            <a:ext cx="671435" cy="671435"/>
          </a:xfrm>
          <a:prstGeom prst="rect">
            <a:avLst/>
          </a:prstGeom>
        </p:spPr>
      </p:pic>
      <p:pic>
        <p:nvPicPr>
          <p:cNvPr id="19" name="Picture 7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CF1ED211-B41D-7AAB-2CB1-31899E7CD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579" y="3093282"/>
            <a:ext cx="671435" cy="671435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D711372F-9DE5-6830-F0A7-40C3698D0D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934" y="3104043"/>
            <a:ext cx="671435" cy="660674"/>
          </a:xfrm>
          <a:prstGeom prst="rect">
            <a:avLst/>
          </a:prstGeom>
        </p:spPr>
      </p:pic>
      <p:pic>
        <p:nvPicPr>
          <p:cNvPr id="21" name="Picture 9" descr="A picture containing person, indoor, person, people&#10;&#10;Description automatically generated">
            <a:extLst>
              <a:ext uri="{FF2B5EF4-FFF2-40B4-BE49-F238E27FC236}">
                <a16:creationId xmlns:a16="http://schemas.microsoft.com/office/drawing/2014/main" id="{0054E144-6F9D-E369-5705-01AF0560F9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9551" y="3093281"/>
            <a:ext cx="682370" cy="6714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ADAB79-D11F-DC4A-DE84-E6C58F06F0F0}"/>
              </a:ext>
            </a:extLst>
          </p:cNvPr>
          <p:cNvSpPr txBox="1"/>
          <p:nvPr/>
        </p:nvSpPr>
        <p:spPr>
          <a:xfrm>
            <a:off x="10987369" y="3129950"/>
            <a:ext cx="5064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...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4D05CD-7106-98E9-9813-D71EA5660158}"/>
              </a:ext>
            </a:extLst>
          </p:cNvPr>
          <p:cNvSpPr txBox="1"/>
          <p:nvPr/>
        </p:nvSpPr>
        <p:spPr>
          <a:xfrm>
            <a:off x="8920877" y="376471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Speaking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ECDAAD-505E-AC7C-AAC5-C2EDDF422984}"/>
              </a:ext>
            </a:extLst>
          </p:cNvPr>
          <p:cNvSpPr txBox="1"/>
          <p:nvPr/>
        </p:nvSpPr>
        <p:spPr>
          <a:xfrm>
            <a:off x="9596124" y="376471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Speaking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4AC802-04C1-B50B-4C4D-941058CA2205}"/>
              </a:ext>
            </a:extLst>
          </p:cNvPr>
          <p:cNvSpPr txBox="1"/>
          <p:nvPr/>
        </p:nvSpPr>
        <p:spPr>
          <a:xfrm>
            <a:off x="10287678" y="376471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Not</a:t>
            </a:r>
          </a:p>
          <a:p>
            <a:r>
              <a:rPr lang="en-US" sz="1000" dirty="0"/>
              <a:t>Speaking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E4EA3F-3D0B-272C-9DE4-925BBB1F906D}"/>
              </a:ext>
            </a:extLst>
          </p:cNvPr>
          <p:cNvSpPr txBox="1"/>
          <p:nvPr/>
        </p:nvSpPr>
        <p:spPr>
          <a:xfrm>
            <a:off x="11399551" y="3772972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Not</a:t>
            </a:r>
          </a:p>
          <a:p>
            <a:r>
              <a:rPr lang="en-US" sz="1000" dirty="0"/>
              <a:t>Speaking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5F7C38-3F0C-8006-E451-3DB46E5E4206}"/>
              </a:ext>
            </a:extLst>
          </p:cNvPr>
          <p:cNvCxnSpPr>
            <a:cxnSpLocks/>
          </p:cNvCxnSpPr>
          <p:nvPr/>
        </p:nvCxnSpPr>
        <p:spPr>
          <a:xfrm>
            <a:off x="2532988" y="2873324"/>
            <a:ext cx="1340998" cy="569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B25312A-807E-1BF5-4D7F-FD1663F38C16}"/>
              </a:ext>
            </a:extLst>
          </p:cNvPr>
          <p:cNvCxnSpPr>
            <a:cxnSpLocks/>
          </p:cNvCxnSpPr>
          <p:nvPr/>
        </p:nvCxnSpPr>
        <p:spPr>
          <a:xfrm flipV="1">
            <a:off x="2463800" y="3591615"/>
            <a:ext cx="1410186" cy="373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3D3244C-F95E-1890-0929-22DA91BD8DC4}"/>
              </a:ext>
            </a:extLst>
          </p:cNvPr>
          <p:cNvCxnSpPr>
            <a:cxnSpLocks/>
          </p:cNvCxnSpPr>
          <p:nvPr/>
        </p:nvCxnSpPr>
        <p:spPr>
          <a:xfrm>
            <a:off x="8370206" y="3448961"/>
            <a:ext cx="349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54EC351-FEC3-F9A4-0F8F-3B579FC80641}"/>
              </a:ext>
            </a:extLst>
          </p:cNvPr>
          <p:cNvSpPr txBox="1"/>
          <p:nvPr/>
        </p:nvSpPr>
        <p:spPr>
          <a:xfrm>
            <a:off x="598354" y="5184838"/>
            <a:ext cx="3230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Images –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Audio – Spectrogram - Features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7B444-9CEB-B8AE-2151-9C475F9E5E9A}"/>
              </a:ext>
            </a:extLst>
          </p:cNvPr>
          <p:cNvSpPr txBox="1"/>
          <p:nvPr/>
        </p:nvSpPr>
        <p:spPr>
          <a:xfrm>
            <a:off x="5344478" y="5184838"/>
            <a:ext cx="35231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Deep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Contains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Trained with gradient descent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30DEDE-9094-C85E-9016-7E54E24B5E9A}"/>
              </a:ext>
            </a:extLst>
          </p:cNvPr>
          <p:cNvSpPr txBox="1"/>
          <p:nvPr/>
        </p:nvSpPr>
        <p:spPr>
          <a:xfrm>
            <a:off x="9966577" y="4998034"/>
            <a:ext cx="1020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3AECA-12E9-EEF3-8487-770188E7695B}"/>
              </a:ext>
            </a:extLst>
          </p:cNvPr>
          <p:cNvSpPr txBox="1"/>
          <p:nvPr/>
        </p:nvSpPr>
        <p:spPr>
          <a:xfrm>
            <a:off x="4371818" y="6169709"/>
            <a:ext cx="4736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Let’s study the mechanics of gradient descent using Linear Regression as an example.</a:t>
            </a:r>
          </a:p>
        </p:txBody>
      </p:sp>
    </p:spTree>
    <p:extLst>
      <p:ext uri="{BB962C8B-B14F-4D97-AF65-F5344CB8AC3E}">
        <p14:creationId xmlns:p14="http://schemas.microsoft.com/office/powerpoint/2010/main" val="71874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11D6-7375-A5AD-86DE-B034F6F1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 rent prediction with </a:t>
            </a:r>
            <a:r>
              <a:rPr lang="en-US" b="1" u="sng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0431-D0EF-D06C-C02D-22BD5D5F5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908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Description : Given the size of a house in square feet, predict its 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9AF4F-D4F1-07D1-15A5-A9D2925C624C}"/>
              </a:ext>
            </a:extLst>
          </p:cNvPr>
          <p:cNvSpPr txBox="1"/>
          <p:nvPr/>
        </p:nvSpPr>
        <p:spPr>
          <a:xfrm>
            <a:off x="968991" y="2920621"/>
            <a:ext cx="91703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do we need to build a machine learning solution for this problem?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Training Algorithm</a:t>
            </a:r>
          </a:p>
        </p:txBody>
      </p:sp>
    </p:spTree>
    <p:extLst>
      <p:ext uri="{BB962C8B-B14F-4D97-AF65-F5344CB8AC3E}">
        <p14:creationId xmlns:p14="http://schemas.microsoft.com/office/powerpoint/2010/main" val="276805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66FA-E17F-FB2B-B59D-FCD3768E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 rent prediction with </a:t>
            </a:r>
            <a:r>
              <a:rPr lang="en-US" b="1" u="sng" dirty="0"/>
              <a:t>Linear Regression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3F9CF1-CF98-092F-D7B3-04AB2F75AD6B}"/>
              </a:ext>
            </a:extLst>
          </p:cNvPr>
          <p:cNvGraphicFramePr>
            <a:graphicFrameLocks noGrp="1"/>
          </p:cNvGraphicFramePr>
          <p:nvPr/>
        </p:nvGraphicFramePr>
        <p:xfrm>
          <a:off x="613391" y="2269329"/>
          <a:ext cx="3154149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665">
                  <a:extLst>
                    <a:ext uri="{9D8B030D-6E8A-4147-A177-3AD203B41FA5}">
                      <a16:colId xmlns:a16="http://schemas.microsoft.com/office/drawing/2014/main" val="1123273898"/>
                    </a:ext>
                  </a:extLst>
                </a:gridCol>
                <a:gridCol w="1487101">
                  <a:extLst>
                    <a:ext uri="{9D8B030D-6E8A-4147-A177-3AD203B41FA5}">
                      <a16:colId xmlns:a16="http://schemas.microsoft.com/office/drawing/2014/main" val="108374101"/>
                    </a:ext>
                  </a:extLst>
                </a:gridCol>
                <a:gridCol w="1051383">
                  <a:extLst>
                    <a:ext uri="{9D8B030D-6E8A-4147-A177-3AD203B41FA5}">
                      <a16:colId xmlns:a16="http://schemas.microsoft.com/office/drawing/2014/main" val="81878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in Sq. Ft.</a:t>
                      </a:r>
                    </a:p>
                    <a:p>
                      <a:pPr algn="ctr"/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 in $</a:t>
                      </a:r>
                    </a:p>
                    <a:p>
                      <a:pPr algn="ctr"/>
                      <a:r>
                        <a:rPr lang="en-US" dirty="0"/>
                        <a:t>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93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555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99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65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25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3816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3E4337-5D2C-947E-D403-DDB0D5027831}"/>
              </a:ext>
            </a:extLst>
          </p:cNvPr>
          <p:cNvSpPr txBox="1"/>
          <p:nvPr/>
        </p:nvSpPr>
        <p:spPr>
          <a:xfrm>
            <a:off x="1759738" y="1690688"/>
            <a:ext cx="86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FBF12-802F-6954-0ED9-8A24C01974AE}"/>
              </a:ext>
            </a:extLst>
          </p:cNvPr>
          <p:cNvSpPr txBox="1"/>
          <p:nvPr/>
        </p:nvSpPr>
        <p:spPr>
          <a:xfrm>
            <a:off x="0" y="5037929"/>
            <a:ext cx="45304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House Rent Prediction Dataset</a:t>
            </a:r>
          </a:p>
          <a:p>
            <a:endParaRPr lang="en-US" dirty="0"/>
          </a:p>
          <a:p>
            <a:r>
              <a:rPr lang="en-US" dirty="0"/>
              <a:t>N data points, each data point is a tuple of size and the corresponding price</a:t>
            </a:r>
          </a:p>
          <a:p>
            <a:endParaRPr lang="en-US" dirty="0"/>
          </a:p>
          <a:p>
            <a:r>
              <a:rPr lang="en-US" dirty="0"/>
              <a:t>Representation : (x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), where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ε</a:t>
            </a:r>
            <a:r>
              <a:rPr lang="en-US" dirty="0"/>
              <a:t> {1, 2, …, N}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3F179-D070-0500-1C7A-4449E2A68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407" y="2269329"/>
            <a:ext cx="4303593" cy="2319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6B0945-486C-A5FA-858E-BF6249E9B240}"/>
              </a:ext>
            </a:extLst>
          </p:cNvPr>
          <p:cNvSpPr txBox="1"/>
          <p:nvPr/>
        </p:nvSpPr>
        <p:spPr>
          <a:xfrm>
            <a:off x="4135042" y="3254859"/>
            <a:ext cx="3385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</a:rPr>
              <a:t>Model</a:t>
            </a:r>
            <a:r>
              <a:rPr lang="en-US" sz="2800" dirty="0">
                <a:solidFill>
                  <a:srgbClr val="FF0000"/>
                </a:solidFill>
              </a:rPr>
              <a:t> : f(x) = a*x + 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8614D1-D119-071E-78A1-6589830D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407" y="2279008"/>
            <a:ext cx="4303593" cy="19517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014246-0FC0-CCE8-B1BA-A47551F736D3}"/>
                  </a:ext>
                </a:extLst>
              </p:cNvPr>
              <p:cNvSpPr txBox="1"/>
              <p:nvPr/>
            </p:nvSpPr>
            <p:spPr>
              <a:xfrm>
                <a:off x="5404514" y="4598349"/>
                <a:ext cx="6261394" cy="15985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u="sng" dirty="0">
                    <a:solidFill>
                      <a:schemeClr val="accent6"/>
                    </a:solidFill>
                  </a:rPr>
                  <a:t>Training Algorithm : Gradient Descent</a:t>
                </a:r>
              </a:p>
              <a:p>
                <a:r>
                  <a:rPr lang="en-US" b="1" dirty="0">
                    <a:solidFill>
                      <a:schemeClr val="accent6"/>
                    </a:solidFill>
                  </a:rPr>
                  <a:t>Parameters : </a:t>
                </a:r>
                <a:r>
                  <a:rPr lang="en-US" dirty="0" err="1">
                    <a:solidFill>
                      <a:schemeClr val="accent6"/>
                    </a:solidFill>
                  </a:rPr>
                  <a:t>a,b</a:t>
                </a:r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b="1" dirty="0">
                    <a:solidFill>
                      <a:schemeClr val="accent6"/>
                    </a:solidFill>
                  </a:rPr>
                  <a:t>Loss Function : </a:t>
                </a:r>
                <a:r>
                  <a:rPr lang="en-US" dirty="0">
                    <a:solidFill>
                      <a:schemeClr val="accent6"/>
                    </a:solidFill>
                  </a:rPr>
                  <a:t>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baseline="-2500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𝑦𝑖</m:t>
                            </m:r>
                          </m:e>
                        </m:d>
                        <m:r>
                          <a:rPr lang="en-US" b="0" i="1" baseline="300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US" b="1" dirty="0">
                  <a:solidFill>
                    <a:schemeClr val="accent6"/>
                  </a:solidFill>
                </a:endParaRPr>
              </a:p>
              <a:p>
                <a:r>
                  <a:rPr lang="en-US" b="1" dirty="0">
                    <a:solidFill>
                      <a:schemeClr val="accent6"/>
                    </a:solidFill>
                  </a:rPr>
                  <a:t>Update Rule 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014246-0FC0-CCE8-B1BA-A47551F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514" y="4598349"/>
                <a:ext cx="6261394" cy="1598579"/>
              </a:xfrm>
              <a:prstGeom prst="rect">
                <a:avLst/>
              </a:prstGeom>
              <a:blipFill>
                <a:blip r:embed="rId4"/>
                <a:stretch>
                  <a:fillRect l="-2024" t="-3125" r="-1215" b="-10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22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EE17-5E07-CB19-96C1-B562F705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Calculus Refresher : Derivatives</a:t>
            </a:r>
            <a:endParaRPr lang="en-US" dirty="0"/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8B681BDA-8BB1-EEFF-4C84-BC6B5BDCC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0754"/>
            <a:ext cx="10515600" cy="3941080"/>
          </a:xfrm>
        </p:spPr>
      </p:pic>
    </p:spTree>
    <p:extLst>
      <p:ext uri="{BB962C8B-B14F-4D97-AF65-F5344CB8AC3E}">
        <p14:creationId xmlns:p14="http://schemas.microsoft.com/office/powerpoint/2010/main" val="410518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3D6C-2ABF-F201-D7AF-2DAC5CC3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Calculus Refresher : Partial Derivatives</a:t>
            </a:r>
            <a:endParaRPr lang="en-US" dirty="0"/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06649BBA-80EA-F8C8-46BB-11A41542E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6165" y="1889532"/>
            <a:ext cx="3535865" cy="720182"/>
          </a:xfrm>
        </p:spPr>
      </p:pic>
      <p:pic>
        <p:nvPicPr>
          <p:cNvPr id="5" name="Graphic 5">
            <a:extLst>
              <a:ext uri="{FF2B5EF4-FFF2-40B4-BE49-F238E27FC236}">
                <a16:creationId xmlns:a16="http://schemas.microsoft.com/office/drawing/2014/main" id="{32AF88E6-90A1-B089-0AF3-64F1EC3B4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6473" y="3811475"/>
            <a:ext cx="6302297" cy="85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4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56F9-D1DB-E84C-A660-63FF2200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Linear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7FF09-5B70-6A95-6B9E-ECB45C40B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cs typeface="Calibri"/>
              </a:rPr>
              <a:t>Input </a:t>
            </a:r>
            <a:r>
              <a:rPr lang="en-US" dirty="0">
                <a:cs typeface="Calibri"/>
              </a:rPr>
              <a:t>: (x</a:t>
            </a:r>
            <a:r>
              <a:rPr lang="en-US" baseline="30000" dirty="0">
                <a:cs typeface="Calibri"/>
              </a:rPr>
              <a:t>1</a:t>
            </a:r>
            <a:r>
              <a:rPr lang="en-US" dirty="0">
                <a:cs typeface="Calibri"/>
              </a:rPr>
              <a:t>, y</a:t>
            </a:r>
            <a:r>
              <a:rPr lang="en-US" baseline="30000" dirty="0">
                <a:cs typeface="Calibri"/>
              </a:rPr>
              <a:t>1</a:t>
            </a:r>
            <a:r>
              <a:rPr lang="en-US" dirty="0">
                <a:cs typeface="Calibri"/>
              </a:rPr>
              <a:t>), (x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, y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), …, (</a:t>
            </a:r>
            <a:r>
              <a:rPr lang="en-US" dirty="0" err="1">
                <a:cs typeface="Calibri"/>
              </a:rPr>
              <a:t>x</a:t>
            </a:r>
            <a:r>
              <a:rPr lang="en-US" baseline="30000" dirty="0" err="1">
                <a:cs typeface="Calibri"/>
              </a:rPr>
              <a:t>m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y</a:t>
            </a:r>
            <a:r>
              <a:rPr lang="en-US" baseline="30000" dirty="0" err="1">
                <a:cs typeface="Calibri"/>
              </a:rPr>
              <a:t>m</a:t>
            </a:r>
            <a:r>
              <a:rPr lang="en-US" dirty="0">
                <a:cs typeface="Calibri"/>
              </a:rPr>
              <a:t>)</a:t>
            </a:r>
          </a:p>
          <a:p>
            <a:pPr lvl="1"/>
            <a:r>
              <a:rPr lang="en-US" dirty="0">
                <a:cs typeface="Calibri"/>
              </a:rPr>
              <a:t>(x</a:t>
            </a:r>
            <a:r>
              <a:rPr lang="en-US" baseline="30000" dirty="0">
                <a:cs typeface="Calibri"/>
              </a:rPr>
              <a:t>i</a:t>
            </a:r>
            <a:r>
              <a:rPr lang="en-US" dirty="0">
                <a:cs typeface="Calibri"/>
              </a:rPr>
              <a:t>, </a:t>
            </a:r>
            <a:r>
              <a:rPr lang="en-US" err="1">
                <a:cs typeface="Calibri"/>
              </a:rPr>
              <a:t>y</a:t>
            </a:r>
            <a:r>
              <a:rPr lang="en-US" baseline="30000" err="1">
                <a:cs typeface="Calibri"/>
              </a:rPr>
              <a:t>i</a:t>
            </a:r>
            <a:r>
              <a:rPr lang="en-US" dirty="0">
                <a:cs typeface="Calibri"/>
              </a:rPr>
              <a:t>) is the </a:t>
            </a:r>
            <a:r>
              <a:rPr lang="en-US" err="1">
                <a:cs typeface="Calibri"/>
              </a:rPr>
              <a:t>i</a:t>
            </a:r>
            <a:r>
              <a:rPr lang="en-US" baseline="30000" err="1">
                <a:cs typeface="Calibri"/>
              </a:rPr>
              <a:t>th</a:t>
            </a:r>
            <a:r>
              <a:rPr lang="en-US" dirty="0">
                <a:cs typeface="Calibri"/>
              </a:rPr>
              <a:t> data item, x</a:t>
            </a:r>
            <a:r>
              <a:rPr lang="en-US" baseline="30000" dirty="0">
                <a:cs typeface="Calibri"/>
              </a:rPr>
              <a:t>i</a:t>
            </a:r>
            <a:r>
              <a:rPr lang="en-US" dirty="0">
                <a:cs typeface="Calibri"/>
              </a:rPr>
              <a:t> and </a:t>
            </a:r>
            <a:r>
              <a:rPr lang="en-US" err="1">
                <a:cs typeface="Calibri"/>
              </a:rPr>
              <a:t>y</a:t>
            </a:r>
            <a:r>
              <a:rPr lang="en-US" baseline="30000" err="1">
                <a:cs typeface="Calibri"/>
              </a:rPr>
              <a:t>i</a:t>
            </a:r>
            <a:r>
              <a:rPr lang="en-US" dirty="0">
                <a:cs typeface="Calibri"/>
              </a:rPr>
              <a:t> are real numbers</a:t>
            </a:r>
            <a:endParaRPr lang="en-US" baseline="30000" dirty="0">
              <a:cs typeface="Calibri"/>
            </a:endParaRPr>
          </a:p>
          <a:p>
            <a:r>
              <a:rPr lang="en-US" dirty="0">
                <a:cs typeface="Calibri"/>
              </a:rPr>
              <a:t>Example : Pairs of size of a house and rent of the house</a:t>
            </a:r>
          </a:p>
          <a:p>
            <a:pPr lvl="1"/>
            <a:r>
              <a:rPr lang="en-US" dirty="0">
                <a:cs typeface="Calibri"/>
              </a:rPr>
              <a:t>(500, 900), (700, 1200), (400, 750), …, (2000, 3000)</a:t>
            </a:r>
          </a:p>
          <a:p>
            <a:r>
              <a:rPr lang="en-US" b="1" dirty="0">
                <a:cs typeface="Calibri"/>
              </a:rPr>
              <a:t>Goal : </a:t>
            </a:r>
            <a:r>
              <a:rPr lang="en-US" dirty="0">
                <a:cs typeface="Calibri"/>
              </a:rPr>
              <a:t>Find a function </a:t>
            </a:r>
            <a:r>
              <a:rPr lang="en-US" err="1">
                <a:cs typeface="Calibri"/>
              </a:rPr>
              <a:t>f</a:t>
            </a:r>
            <a:r>
              <a:rPr lang="en-US" dirty="0">
                <a:cs typeface="Calibri"/>
              </a:rPr>
              <a:t> such that f(x</a:t>
            </a:r>
            <a:r>
              <a:rPr lang="en-US" baseline="30000" dirty="0">
                <a:cs typeface="Calibri"/>
              </a:rPr>
              <a:t>i</a:t>
            </a:r>
            <a:r>
              <a:rPr lang="en-US" dirty="0">
                <a:cs typeface="Calibri"/>
              </a:rPr>
              <a:t>) is a good approximation to </a:t>
            </a:r>
            <a:r>
              <a:rPr lang="en-US" err="1">
                <a:cs typeface="Calibri"/>
              </a:rPr>
              <a:t>y</a:t>
            </a:r>
            <a:r>
              <a:rPr lang="en-US" baseline="30000" err="1">
                <a:cs typeface="Calibri"/>
              </a:rPr>
              <a:t>i</a:t>
            </a:r>
            <a:endParaRPr lang="en-US" baseline="3000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Can use it to predict y values corresponding to previously unseen x values</a:t>
            </a:r>
          </a:p>
        </p:txBody>
      </p:sp>
    </p:spTree>
    <p:extLst>
      <p:ext uri="{BB962C8B-B14F-4D97-AF65-F5344CB8AC3E}">
        <p14:creationId xmlns:p14="http://schemas.microsoft.com/office/powerpoint/2010/main" val="22037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9728-8F73-06AC-861A-FA84B134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Linear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C32F0-04DE-3A64-4FCD-9D47A1CEA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Hypothesis Space : Set of allowable functions f: X -&gt; Y</a:t>
            </a:r>
          </a:p>
          <a:p>
            <a:r>
              <a:rPr lang="en-US" dirty="0">
                <a:cs typeface="Calibri"/>
              </a:rPr>
              <a:t>Example Hypothesis Class : Linear Functions f(x) = ax + b</a:t>
            </a:r>
          </a:p>
        </p:txBody>
      </p:sp>
      <p:pic>
        <p:nvPicPr>
          <p:cNvPr id="4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490A39E2-9F29-681C-01B0-ECCE30828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571" y="2873506"/>
            <a:ext cx="7101468" cy="3304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F5373-D38C-577D-6CCF-0CE715346415}"/>
              </a:ext>
            </a:extLst>
          </p:cNvPr>
          <p:cNvSpPr txBox="1"/>
          <p:nvPr/>
        </p:nvSpPr>
        <p:spPr>
          <a:xfrm>
            <a:off x="9087314" y="3669680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How do we find the best element of this hypothesis space?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2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FC10-5ED5-FDFC-FB47-DD337B7C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Linear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E0500-43B0-113F-3AF5-1B2C79935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Arial"/>
                <a:cs typeface="Arial"/>
              </a:rPr>
              <a:t>Input </a:t>
            </a:r>
            <a:r>
              <a:rPr lang="en-US" dirty="0">
                <a:latin typeface="Arial"/>
                <a:cs typeface="Arial"/>
              </a:rPr>
              <a:t>: (x</a:t>
            </a:r>
            <a:r>
              <a:rPr lang="en-US" sz="1900" baseline="30000" dirty="0">
                <a:latin typeface="Arial"/>
                <a:cs typeface="Arial"/>
              </a:rPr>
              <a:t>1</a:t>
            </a:r>
            <a:r>
              <a:rPr lang="en-US" dirty="0">
                <a:latin typeface="Arial"/>
                <a:cs typeface="Arial"/>
              </a:rPr>
              <a:t>, y</a:t>
            </a:r>
            <a:r>
              <a:rPr lang="en-US" sz="1900" baseline="30000" dirty="0">
                <a:latin typeface="Arial"/>
                <a:cs typeface="Arial"/>
              </a:rPr>
              <a:t>1</a:t>
            </a:r>
            <a:r>
              <a:rPr lang="en-US" dirty="0">
                <a:latin typeface="Arial"/>
                <a:cs typeface="Arial"/>
              </a:rPr>
              <a:t>), (x</a:t>
            </a:r>
            <a:r>
              <a:rPr lang="en-US" sz="1900" baseline="30000" dirty="0">
                <a:latin typeface="Arial"/>
                <a:cs typeface="Arial"/>
              </a:rPr>
              <a:t>2</a:t>
            </a:r>
            <a:r>
              <a:rPr lang="en-US" dirty="0">
                <a:latin typeface="Arial"/>
                <a:cs typeface="Arial"/>
              </a:rPr>
              <a:t>, y</a:t>
            </a:r>
            <a:r>
              <a:rPr lang="en-US" sz="1900" baseline="30000" dirty="0">
                <a:latin typeface="Arial"/>
                <a:cs typeface="Arial"/>
              </a:rPr>
              <a:t>2</a:t>
            </a:r>
            <a:r>
              <a:rPr lang="en-US" dirty="0">
                <a:latin typeface="Arial"/>
                <a:cs typeface="Arial"/>
              </a:rPr>
              <a:t>), …, (</a:t>
            </a:r>
            <a:r>
              <a:rPr lang="en-US" dirty="0" err="1">
                <a:latin typeface="Arial"/>
                <a:cs typeface="Arial"/>
              </a:rPr>
              <a:t>x</a:t>
            </a:r>
            <a:r>
              <a:rPr lang="en-US" sz="1900" baseline="30000" dirty="0" err="1">
                <a:latin typeface="Arial"/>
                <a:cs typeface="Arial"/>
              </a:rPr>
              <a:t>m</a:t>
            </a:r>
            <a:r>
              <a:rPr lang="en-US" dirty="0">
                <a:latin typeface="Arial"/>
                <a:cs typeface="Arial"/>
              </a:rPr>
              <a:t>, </a:t>
            </a:r>
            <a:r>
              <a:rPr lang="en-US" dirty="0" err="1">
                <a:latin typeface="Arial"/>
                <a:cs typeface="Arial"/>
              </a:rPr>
              <a:t>y</a:t>
            </a:r>
            <a:r>
              <a:rPr lang="en-US" sz="1900" baseline="30000" dirty="0" err="1">
                <a:latin typeface="Arial"/>
                <a:cs typeface="Arial"/>
              </a:rPr>
              <a:t>m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lvl="1"/>
            <a:r>
              <a:rPr lang="en-US" dirty="0">
                <a:latin typeface="Arial"/>
                <a:cs typeface="Arial"/>
              </a:rPr>
              <a:t>(x</a:t>
            </a:r>
            <a:r>
              <a:rPr lang="en-US" sz="1600" baseline="30000" dirty="0">
                <a:latin typeface="Arial"/>
                <a:cs typeface="Arial"/>
              </a:rPr>
              <a:t>i</a:t>
            </a:r>
            <a:r>
              <a:rPr lang="en-US" dirty="0">
                <a:latin typeface="Arial"/>
                <a:cs typeface="Arial"/>
              </a:rPr>
              <a:t>, </a:t>
            </a:r>
            <a:r>
              <a:rPr lang="en-US" dirty="0" err="1">
                <a:latin typeface="Arial"/>
                <a:cs typeface="Arial"/>
              </a:rPr>
              <a:t>y</a:t>
            </a:r>
            <a:r>
              <a:rPr lang="en-US" sz="1600" baseline="30000" dirty="0" err="1">
                <a:latin typeface="Arial"/>
                <a:cs typeface="Arial"/>
              </a:rPr>
              <a:t>i</a:t>
            </a:r>
            <a:r>
              <a:rPr lang="en-US" dirty="0">
                <a:latin typeface="Arial"/>
                <a:cs typeface="Arial"/>
              </a:rPr>
              <a:t>) is the </a:t>
            </a:r>
            <a:r>
              <a:rPr lang="en-US" dirty="0" err="1">
                <a:latin typeface="Arial"/>
                <a:cs typeface="Arial"/>
              </a:rPr>
              <a:t>i</a:t>
            </a:r>
            <a:r>
              <a:rPr lang="en-US" sz="1600" baseline="30000" dirty="0" err="1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 data item, x</a:t>
            </a:r>
            <a:r>
              <a:rPr lang="en-US" sz="1600" baseline="30000" dirty="0">
                <a:latin typeface="Arial"/>
                <a:cs typeface="Arial"/>
              </a:rPr>
              <a:t>i</a:t>
            </a:r>
            <a:r>
              <a:rPr lang="en-US" dirty="0">
                <a:latin typeface="Arial"/>
                <a:cs typeface="Arial"/>
              </a:rPr>
              <a:t> and </a:t>
            </a:r>
            <a:r>
              <a:rPr lang="en-US" dirty="0" err="1">
                <a:latin typeface="Arial"/>
                <a:cs typeface="Arial"/>
              </a:rPr>
              <a:t>y</a:t>
            </a:r>
            <a:r>
              <a:rPr lang="en-US" sz="1600" baseline="30000" dirty="0" err="1">
                <a:latin typeface="Arial"/>
                <a:cs typeface="Arial"/>
              </a:rPr>
              <a:t>i</a:t>
            </a:r>
            <a:r>
              <a:rPr lang="en-US" dirty="0">
                <a:latin typeface="Arial"/>
                <a:cs typeface="Arial"/>
              </a:rPr>
              <a:t> are real numbers</a:t>
            </a:r>
          </a:p>
          <a:p>
            <a:r>
              <a:rPr lang="en-US" dirty="0">
                <a:ea typeface="+mn-lt"/>
                <a:cs typeface="+mn-lt"/>
              </a:rPr>
              <a:t>Hypothesis Space: Linear Functions f(x) = ax + b</a:t>
            </a:r>
          </a:p>
          <a:p>
            <a:r>
              <a:rPr lang="en-US" dirty="0">
                <a:latin typeface="Arial"/>
                <a:cs typeface="Arial"/>
              </a:rPr>
              <a:t>Error Metric : Squared difference between the predicted value and the actual value</a:t>
            </a: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The optimal linear hypothesis is then given by</a:t>
            </a:r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85A42245-1723-F9EE-CFDB-0A93CEB1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522" y="4183082"/>
            <a:ext cx="5800492" cy="1056616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A614C2B-4730-93D2-47F6-F72FD81B6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546" y="5679204"/>
            <a:ext cx="5094248" cy="92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37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5704-1DB9-8E8E-EA5D-4EC01FF0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Linear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238C-8973-4B66-782D-2FC8F0E59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Gradient Descent : Iterative method to minimize a convex differentiable function f(x)</a:t>
            </a:r>
          </a:p>
          <a:p>
            <a:pPr lvl="1"/>
            <a:r>
              <a:rPr lang="en-US" dirty="0">
                <a:cs typeface="Calibri"/>
              </a:rPr>
              <a:t>Pick an initial point x0</a:t>
            </a:r>
            <a:endParaRPr lang="en-US" baseline="-25000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Iterate until convergence</a:t>
            </a:r>
          </a:p>
          <a:p>
            <a:pPr lvl="2"/>
            <a:r>
              <a:rPr lang="en-US" dirty="0">
                <a:cs typeface="Calibri"/>
              </a:rPr>
              <a:t>x</a:t>
            </a:r>
            <a:r>
              <a:rPr lang="en-US" baseline="-25000" dirty="0">
                <a:cs typeface="Calibri"/>
              </a:rPr>
              <a:t>t+1</a:t>
            </a:r>
            <a:r>
              <a:rPr lang="en-US" dirty="0">
                <a:cs typeface="Calibri"/>
              </a:rPr>
              <a:t> = </a:t>
            </a:r>
            <a:r>
              <a:rPr lang="en-US" err="1">
                <a:cs typeface="Calibri"/>
              </a:rPr>
              <a:t>x</a:t>
            </a:r>
            <a:r>
              <a:rPr lang="en-US" baseline="-25000" err="1">
                <a:cs typeface="Calibri"/>
              </a:rPr>
              <a:t>t</a:t>
            </a:r>
            <a:r>
              <a:rPr lang="en-US" dirty="0">
                <a:cs typeface="Calibri"/>
              </a:rPr>
              <a:t> - α</a:t>
            </a:r>
            <a:r>
              <a:rPr lang="en-US" baseline="-25000" dirty="0">
                <a:cs typeface="Calibri"/>
              </a:rPr>
              <a:t>t</a:t>
            </a:r>
            <a:r>
              <a:rPr lang="en-US" dirty="0">
                <a:cs typeface="Calibri"/>
              </a:rPr>
              <a:t>*(</a:t>
            </a:r>
            <a:r>
              <a:rPr lang="en-US" err="1">
                <a:cs typeface="Calibri"/>
              </a:rPr>
              <a:t>df</a:t>
            </a:r>
            <a:r>
              <a:rPr lang="en-US" dirty="0">
                <a:cs typeface="Calibri"/>
              </a:rPr>
              <a:t>(</a:t>
            </a:r>
            <a:r>
              <a:rPr lang="en-US" err="1">
                <a:cs typeface="Calibri"/>
              </a:rPr>
              <a:t>x</a:t>
            </a:r>
            <a:r>
              <a:rPr lang="en-US" baseline="-25000" err="1">
                <a:cs typeface="Calibri"/>
              </a:rPr>
              <a:t>t</a:t>
            </a:r>
            <a:r>
              <a:rPr lang="en-US" dirty="0">
                <a:cs typeface="Calibri"/>
              </a:rPr>
              <a:t>)/dx)</a:t>
            </a:r>
          </a:p>
          <a:p>
            <a:pPr lvl="2"/>
            <a:r>
              <a:rPr lang="en-US" dirty="0">
                <a:ea typeface="+mn-lt"/>
                <a:cs typeface="+mn-lt"/>
              </a:rPr>
              <a:t>α</a:t>
            </a:r>
            <a:r>
              <a:rPr lang="en-US" sz="1300" baseline="-25000" dirty="0">
                <a:ea typeface="+mn-lt"/>
                <a:cs typeface="+mn-lt"/>
              </a:rPr>
              <a:t>t</a:t>
            </a:r>
            <a:r>
              <a:rPr lang="en-US" dirty="0">
                <a:cs typeface="Calibri"/>
              </a:rPr>
              <a:t> is the </a:t>
            </a:r>
            <a:r>
              <a:rPr lang="en-US" err="1">
                <a:cs typeface="Calibri"/>
              </a:rPr>
              <a:t>t</a:t>
            </a:r>
            <a:r>
              <a:rPr lang="en-US" baseline="30000" err="1">
                <a:cs typeface="Calibri"/>
              </a:rPr>
              <a:t>th</a:t>
            </a:r>
            <a:r>
              <a:rPr lang="en-US" dirty="0">
                <a:cs typeface="Calibri"/>
              </a:rPr>
              <a:t> step size (also called learning rate)</a:t>
            </a:r>
          </a:p>
        </p:txBody>
      </p:sp>
    </p:spTree>
    <p:extLst>
      <p:ext uri="{BB962C8B-B14F-4D97-AF65-F5344CB8AC3E}">
        <p14:creationId xmlns:p14="http://schemas.microsoft.com/office/powerpoint/2010/main" val="269072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2C97-809C-ABBC-48B0-17C0F392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Gradient Descent</a:t>
            </a:r>
            <a:endParaRPr lang="en-US" dirty="0"/>
          </a:p>
        </p:txBody>
      </p:sp>
      <p:pic>
        <p:nvPicPr>
          <p:cNvPr id="7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4AB5A45-FF35-2A54-3F0B-350D6B880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0869" y="1825625"/>
            <a:ext cx="7890262" cy="4351338"/>
          </a:xfrm>
        </p:spPr>
      </p:pic>
    </p:spTree>
    <p:extLst>
      <p:ext uri="{BB962C8B-B14F-4D97-AF65-F5344CB8AC3E}">
        <p14:creationId xmlns:p14="http://schemas.microsoft.com/office/powerpoint/2010/main" val="27369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11DF-46EE-7797-19B5-A508520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Gradient Descent</a:t>
            </a:r>
            <a:endParaRPr lang="en-US" dirty="0"/>
          </a:p>
        </p:txBody>
      </p:sp>
      <p:pic>
        <p:nvPicPr>
          <p:cNvPr id="4" name="Picture 4" descr="Chart&#10;&#10;Description automatically generated">
            <a:extLst>
              <a:ext uri="{FF2B5EF4-FFF2-40B4-BE49-F238E27FC236}">
                <a16:creationId xmlns:a16="http://schemas.microsoft.com/office/drawing/2014/main" id="{99979B8B-BDDD-86B6-4DD5-AAC78E1C3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394" y="1825625"/>
            <a:ext cx="7631211" cy="4351338"/>
          </a:xfrm>
        </p:spPr>
      </p:pic>
    </p:spTree>
    <p:extLst>
      <p:ext uri="{BB962C8B-B14F-4D97-AF65-F5344CB8AC3E}">
        <p14:creationId xmlns:p14="http://schemas.microsoft.com/office/powerpoint/2010/main" val="1523140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FCC4-3697-88DC-3425-993855F4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Gradient Descent</a:t>
            </a:r>
            <a:endParaRPr lang="en-US" dirty="0"/>
          </a:p>
        </p:txBody>
      </p:sp>
      <p:pic>
        <p:nvPicPr>
          <p:cNvPr id="4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D9D515E6-9AC4-8BB6-E3EC-26A1CCC9B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394" y="1825625"/>
            <a:ext cx="7631211" cy="4351338"/>
          </a:xfrm>
        </p:spPr>
      </p:pic>
    </p:spTree>
    <p:extLst>
      <p:ext uri="{BB962C8B-B14F-4D97-AF65-F5344CB8AC3E}">
        <p14:creationId xmlns:p14="http://schemas.microsoft.com/office/powerpoint/2010/main" val="1657126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AE02-A7C9-01E8-35D9-382AD9FE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Gradient Descent</a:t>
            </a:r>
            <a:endParaRPr lang="en-US" dirty="0"/>
          </a:p>
        </p:txBody>
      </p:sp>
      <p:pic>
        <p:nvPicPr>
          <p:cNvPr id="4" name="Picture 4" descr="Chart&#10;&#10;Description automatically generated">
            <a:extLst>
              <a:ext uri="{FF2B5EF4-FFF2-40B4-BE49-F238E27FC236}">
                <a16:creationId xmlns:a16="http://schemas.microsoft.com/office/drawing/2014/main" id="{0002F619-B435-3F54-82F3-A5D39A0E5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883" y="1825625"/>
            <a:ext cx="7070235" cy="4351338"/>
          </a:xfrm>
        </p:spPr>
      </p:pic>
    </p:spTree>
    <p:extLst>
      <p:ext uri="{BB962C8B-B14F-4D97-AF65-F5344CB8AC3E}">
        <p14:creationId xmlns:p14="http://schemas.microsoft.com/office/powerpoint/2010/main" val="2116106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4CD2-72CA-56F9-F63C-23ECBB9D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Gradient Descent for Linear Regression</a:t>
            </a:r>
            <a:endParaRPr lang="en-US" dirty="0"/>
          </a:p>
        </p:txBody>
      </p:sp>
      <p:pic>
        <p:nvPicPr>
          <p:cNvPr id="4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A84F24EF-9A3F-069B-88F6-713C5363B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9806" y="1717152"/>
            <a:ext cx="5876925" cy="13716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CADC5-5E11-F38E-8C5E-65B2B5CF5ECB}"/>
              </a:ext>
            </a:extLst>
          </p:cNvPr>
          <p:cNvSpPr txBox="1"/>
          <p:nvPr/>
        </p:nvSpPr>
        <p:spPr>
          <a:xfrm>
            <a:off x="944138" y="2077843"/>
            <a:ext cx="45273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cs typeface="Calibri"/>
              </a:rPr>
              <a:t>Loss Function f(</a:t>
            </a:r>
            <a:r>
              <a:rPr lang="en-US" sz="3600" dirty="0" err="1">
                <a:cs typeface="Calibri"/>
              </a:rPr>
              <a:t>a,b</a:t>
            </a:r>
            <a:r>
              <a:rPr lang="en-US" sz="3600" dirty="0">
                <a:cs typeface="Calibri"/>
              </a:rPr>
              <a:t>) =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31BD6-97A0-73CA-00AD-58665F0D80EC}"/>
              </a:ext>
            </a:extLst>
          </p:cNvPr>
          <p:cNvSpPr txBox="1"/>
          <p:nvPr/>
        </p:nvSpPr>
        <p:spPr>
          <a:xfrm>
            <a:off x="1594624" y="3731012"/>
            <a:ext cx="92387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Compute partial derivates for each of the parameters and update the parameters for each step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909A4-4A11-8C2A-41F0-FAACF5685B2D}"/>
              </a:ext>
            </a:extLst>
          </p:cNvPr>
          <p:cNvSpPr txBox="1"/>
          <p:nvPr/>
        </p:nvSpPr>
        <p:spPr>
          <a:xfrm>
            <a:off x="3079595" y="4306229"/>
            <a:ext cx="430437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2"/>
            <a:r>
              <a:rPr lang="en-US" sz="2000" dirty="0">
                <a:cs typeface="Arial"/>
              </a:rPr>
              <a:t>a</a:t>
            </a:r>
            <a:r>
              <a:rPr lang="en-US" sz="2000" baseline="-25000" dirty="0">
                <a:cs typeface="Arial"/>
              </a:rPr>
              <a:t>t+1</a:t>
            </a:r>
            <a:r>
              <a:rPr lang="en-US" sz="2000" dirty="0">
                <a:cs typeface="Arial"/>
              </a:rPr>
              <a:t> = a</a:t>
            </a:r>
            <a:r>
              <a:rPr lang="en-US" sz="2000" baseline="-25000" dirty="0">
                <a:cs typeface="Arial"/>
              </a:rPr>
              <a:t>t</a:t>
            </a:r>
            <a:r>
              <a:rPr lang="en-US" sz="2000" dirty="0">
                <a:cs typeface="Arial"/>
              </a:rPr>
              <a:t> - α</a:t>
            </a:r>
            <a:r>
              <a:rPr lang="en-US" sz="1300" baseline="-25000" dirty="0">
                <a:cs typeface="Arial"/>
              </a:rPr>
              <a:t>t</a:t>
            </a:r>
            <a:r>
              <a:rPr lang="en-US" sz="2000" dirty="0">
                <a:cs typeface="Arial"/>
              </a:rPr>
              <a:t>*(</a:t>
            </a:r>
            <a:r>
              <a:rPr lang="en-US" sz="2000" err="1">
                <a:cs typeface="Arial"/>
              </a:rPr>
              <a:t>df</a:t>
            </a:r>
            <a:r>
              <a:rPr lang="en-US" sz="2000" dirty="0">
                <a:cs typeface="Arial"/>
              </a:rPr>
              <a:t>(</a:t>
            </a:r>
            <a:r>
              <a:rPr lang="en-US" sz="2000" err="1">
                <a:cs typeface="Arial"/>
              </a:rPr>
              <a:t>a</a:t>
            </a:r>
            <a:r>
              <a:rPr lang="en-US" sz="2000" baseline="-25000" err="1">
                <a:cs typeface="Arial"/>
              </a:rPr>
              <a:t>t</a:t>
            </a:r>
            <a:r>
              <a:rPr lang="en-US" sz="2000" err="1">
                <a:cs typeface="Arial"/>
              </a:rPr>
              <a:t>,b</a:t>
            </a:r>
            <a:r>
              <a:rPr lang="en-US" sz="2000" baseline="-25000" err="1">
                <a:cs typeface="Arial"/>
              </a:rPr>
              <a:t>t</a:t>
            </a:r>
            <a:r>
              <a:rPr lang="en-US" sz="2000" dirty="0">
                <a:cs typeface="Arial"/>
              </a:rPr>
              <a:t>)/da)​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D7A57-F818-7F95-CA67-A2688459F6B9}"/>
              </a:ext>
            </a:extLst>
          </p:cNvPr>
          <p:cNvSpPr txBox="1"/>
          <p:nvPr/>
        </p:nvSpPr>
        <p:spPr>
          <a:xfrm>
            <a:off x="3079595" y="4705814"/>
            <a:ext cx="430437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2"/>
            <a:r>
              <a:rPr lang="en-US" sz="2000" dirty="0">
                <a:cs typeface="Arial"/>
              </a:rPr>
              <a:t>b</a:t>
            </a:r>
            <a:r>
              <a:rPr lang="en-US" sz="2000" baseline="-25000" dirty="0">
                <a:cs typeface="Arial"/>
              </a:rPr>
              <a:t>t+1</a:t>
            </a:r>
            <a:r>
              <a:rPr lang="en-US" sz="2000" dirty="0">
                <a:cs typeface="Arial"/>
              </a:rPr>
              <a:t> = </a:t>
            </a:r>
            <a:r>
              <a:rPr lang="en-US" sz="2000" err="1">
                <a:cs typeface="Arial"/>
              </a:rPr>
              <a:t>b</a:t>
            </a:r>
            <a:r>
              <a:rPr lang="en-US" sz="2000" baseline="-25000" err="1">
                <a:cs typeface="Arial"/>
              </a:rPr>
              <a:t>t</a:t>
            </a:r>
            <a:r>
              <a:rPr lang="en-US" sz="2000" dirty="0">
                <a:cs typeface="Arial"/>
              </a:rPr>
              <a:t> - α</a:t>
            </a:r>
            <a:r>
              <a:rPr lang="en-US" sz="1300" dirty="0">
                <a:cs typeface="Arial"/>
              </a:rPr>
              <a:t>t</a:t>
            </a:r>
            <a:r>
              <a:rPr lang="en-US" sz="2000" dirty="0">
                <a:cs typeface="Arial"/>
              </a:rPr>
              <a:t>*(</a:t>
            </a:r>
            <a:r>
              <a:rPr lang="en-US" sz="2000" err="1">
                <a:cs typeface="Arial"/>
              </a:rPr>
              <a:t>df</a:t>
            </a:r>
            <a:r>
              <a:rPr lang="en-US" sz="2000" dirty="0">
                <a:cs typeface="Arial"/>
              </a:rPr>
              <a:t>(</a:t>
            </a:r>
            <a:r>
              <a:rPr lang="en-US" sz="2000" err="1">
                <a:cs typeface="Arial"/>
              </a:rPr>
              <a:t>a</a:t>
            </a:r>
            <a:r>
              <a:rPr lang="en-US" sz="2000" baseline="-25000" err="1">
                <a:cs typeface="Arial"/>
              </a:rPr>
              <a:t>t</a:t>
            </a:r>
            <a:r>
              <a:rPr lang="en-US" sz="2000" err="1">
                <a:cs typeface="Arial"/>
              </a:rPr>
              <a:t>,b</a:t>
            </a:r>
            <a:r>
              <a:rPr lang="en-US" sz="2000" baseline="-25000" err="1">
                <a:cs typeface="Arial"/>
              </a:rPr>
              <a:t>t</a:t>
            </a:r>
            <a:r>
              <a:rPr lang="en-US" sz="2000" dirty="0">
                <a:cs typeface="Arial"/>
              </a:rPr>
              <a:t>)/</a:t>
            </a:r>
            <a:r>
              <a:rPr lang="en-US" sz="2000" err="1">
                <a:cs typeface="Arial"/>
              </a:rPr>
              <a:t>db</a:t>
            </a:r>
            <a:r>
              <a:rPr lang="en-US" sz="2000" dirty="0">
                <a:cs typeface="Arial"/>
              </a:rPr>
              <a:t>)​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34819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6CF9-9647-FC8E-0441-FA86DAEC8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AA9E-4CC5-278C-B2BF-81CC12E56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 : Implement a Linear Regression Model using Python</a:t>
            </a:r>
          </a:p>
          <a:p>
            <a:endParaRPr lang="en-US" dirty="0"/>
          </a:p>
          <a:p>
            <a:r>
              <a:rPr lang="en-US" dirty="0"/>
              <a:t>Data : </a:t>
            </a:r>
            <a:r>
              <a:rPr lang="en-US" dirty="0">
                <a:hlinkClick r:id="rId2"/>
              </a:rPr>
              <a:t>house-rent-prediction-dataset on Kaggle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968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404F-632C-503A-B25A-9ADE1390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F73E9-FAF9-0938-3E84-38ABA3A1F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 panose="020F0502020204030204"/>
                <a:hlinkClick r:id="rId2"/>
              </a:rPr>
              <a:t>Prof. Rouzzi's course on Machine Learning</a:t>
            </a:r>
          </a:p>
          <a:p>
            <a:r>
              <a:rPr lang="en-US" dirty="0">
                <a:ea typeface="Calibri" panose="020F0502020204030204"/>
                <a:cs typeface="Calibri"/>
                <a:hlinkClick r:id="rId3"/>
              </a:rPr>
              <a:t>Calculus for deep learning</a:t>
            </a:r>
            <a:endParaRPr lang="en-US" dirty="0">
              <a:ea typeface="Calibri" panose="020F0502020204030204"/>
              <a:cs typeface="Calibri"/>
            </a:endParaRPr>
          </a:p>
          <a:p>
            <a:r>
              <a:rPr lang="en-US" dirty="0">
                <a:ea typeface="Calibri" panose="020F0502020204030204"/>
                <a:cs typeface="Calibri"/>
                <a:hlinkClick r:id="rId4"/>
              </a:rPr>
              <a:t>Python Tutorial</a:t>
            </a:r>
            <a:endParaRPr lang="en-US" dirty="0">
              <a:ea typeface="Calibri" panose="020F0502020204030204"/>
              <a:cs typeface="Calibri"/>
            </a:endParaRPr>
          </a:p>
          <a:p>
            <a:pPr lvl="1"/>
            <a:r>
              <a:rPr lang="en-US" dirty="0">
                <a:ea typeface="Calibri" panose="020F0502020204030204"/>
                <a:cs typeface="Calibri"/>
              </a:rPr>
              <a:t>Sections 1, 2, 3, 4, 6, 9.1</a:t>
            </a:r>
          </a:p>
          <a:p>
            <a:r>
              <a:rPr lang="en-US" dirty="0">
                <a:ea typeface="Calibri" panose="020F0502020204030204"/>
                <a:cs typeface="Calibri"/>
                <a:hlinkClick r:id="rId5"/>
              </a:rPr>
              <a:t>Reading CSV files in Python</a:t>
            </a:r>
            <a:endParaRPr lang="en-US" dirty="0">
              <a:ea typeface="Calibri" panose="020F0502020204030204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33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602</Words>
  <Application>Microsoft Macintosh PowerPoint</Application>
  <PresentationFormat>Widescreen</PresentationFormat>
  <Paragraphs>103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Cambria Math</vt:lpstr>
      <vt:lpstr>Office Theme</vt:lpstr>
      <vt:lpstr>Linear Regression with Gradient Descent</vt:lpstr>
      <vt:lpstr>Active Speaker Detection</vt:lpstr>
      <vt:lpstr>House rent prediction with Linear Regression</vt:lpstr>
      <vt:lpstr>House rent prediction with Linear Regression</vt:lpstr>
      <vt:lpstr>Calculus Refresher : Derivatives</vt:lpstr>
      <vt:lpstr>Calculus Refresher : Partial Derivatives</vt:lpstr>
      <vt:lpstr>Linear Regression</vt:lpstr>
      <vt:lpstr>Linear Regression</vt:lpstr>
      <vt:lpstr>Linear Regression</vt:lpstr>
      <vt:lpstr>Linear Regression</vt:lpstr>
      <vt:lpstr>Gradient Descent</vt:lpstr>
      <vt:lpstr>Gradient Descent</vt:lpstr>
      <vt:lpstr>Gradient Descent</vt:lpstr>
      <vt:lpstr>Gradient Descent</vt:lpstr>
      <vt:lpstr>Gradient Descent for Linear Regression</vt:lpstr>
      <vt:lpstr>Assignment 1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14</cp:revision>
  <dcterms:created xsi:type="dcterms:W3CDTF">2025-06-09T08:47:52Z</dcterms:created>
  <dcterms:modified xsi:type="dcterms:W3CDTF">2025-06-09T11:27:58Z</dcterms:modified>
</cp:coreProperties>
</file>