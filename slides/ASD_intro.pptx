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58" r:id="rId4"/>
    <p:sldId id="281" r:id="rId5"/>
    <p:sldId id="28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60"/>
  </p:normalViewPr>
  <p:slideViewPr>
    <p:cSldViewPr snapToGrid="0">
      <p:cViewPr varScale="1">
        <p:scale>
          <a:sx n="123" d="100"/>
          <a:sy n="123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9E86-D627-0168-C86F-2556AFBE1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5B898-463F-DD5F-2A26-E04CF68B1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4D313-87F4-1ABD-341A-960D2C4A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CD5C9-AD5C-068D-BF3F-246F0582A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52AE6-E394-F0F5-15AD-8D3905DC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98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554C-AC27-9E25-FC65-CF46B277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3F325-DA3C-B6A4-35BA-AE0D5B504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7AE61-2564-5898-1B8E-C78881D8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C6550-DA00-50B2-CB81-6FA24B73D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49A6C-52C2-07C9-7511-487DB4CF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0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5A33-26EE-1096-1A29-9850842D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C54AF-3FCE-F70E-F783-2FA14C43C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763EB-4354-B598-59F3-EDACC6FB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9AAB0-149D-1760-B199-5AC29E8C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2E507-00E6-A3B4-29F2-399D4F36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9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DD6C-693A-3543-E284-4F53CC78F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8507-864B-167F-7032-433950CE6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700DA-491D-371C-28F0-DC521393F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BE2F1-9E13-A27F-F410-AA3AE872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BB649-18F2-6592-372B-95063E37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E11B8-4365-E3F1-070E-830C8E25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FED6-63FE-CD6E-1009-1D58B3D86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53CE-A2D4-2AB1-EE0B-E458C0011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05FC-BFFB-2A2B-0AE7-1C24E54FB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57175-EEBD-6D4D-E394-957267C19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885B6-BFFD-48A9-EC0D-5EAB9620F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F8C46-D33D-D0F1-AAEB-8AF5EDC2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DEEE4-48E4-AC6E-4BD8-7C200EE4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A0440-93E2-9F56-AED8-703750E5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3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747D-CBA5-05C1-24A4-3FD580D4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FAA80-8570-9B8F-1470-C749EE09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04A53-5EA3-4729-BBA9-FE8F5986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C0D9D-9FC8-29CA-5F8D-BC7282B9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4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2923D-C0A0-AEF8-8FC2-E45D4771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F232C-7496-DFB9-72C5-D55F4471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69CF7-53C5-9346-578D-AD2BF25D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3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9773-B0EA-45F6-8EA9-60AF6E1D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B1C22-8D49-B954-9594-D78F9EB83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22278-6785-28B1-FD29-DD9F6502A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23391-557F-E18A-24EC-5DC5E738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634D4-1D66-C473-21E9-8ED34AAF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A8E09-9965-5B2E-99DE-52D7B278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6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DB9D5-C2FA-99F7-3B72-219148C6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F763C-FEA4-A88A-8D47-03EC60777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D37CA-B34A-C7AD-C8D7-725E2E8CC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E9E47-949D-C6F2-3A6C-0AF5E2107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6106F-558E-14B5-317E-0652AB7A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F607F-E102-2023-2CE4-248B68E8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4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C91E-8A53-2914-FEE9-AC7F8B71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8CA0D-C81D-6D60-67B1-78E3DFA65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2DD84-E5B9-EE4A-E190-2381C6DB4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6A65-0FE0-19FE-9D5C-DC1C81F6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0FF2-D5E7-211C-35F3-09675817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90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71916F-A29E-09E7-AE5E-5CFB6B5EA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A8149-665D-A7EB-5BF1-0D144C0F1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6F513-B9B3-26F4-5B00-1F4D49BF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B6319-16FE-DA95-B970-BE142DED8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E34FA-9999-F083-0CAB-1A50185CD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9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D972C-3978-DD55-ABBB-46F32928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BD50A-2F96-5DB5-3EF3-4C82F0734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79B08-44C1-8EB1-B7D1-DC7F28DC3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B85E9-CAD9-4347-B63A-FF2F594F5D7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ED354-A14E-0FD7-B830-510701F75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E1284-19D0-77EB-0DAB-4170FF5C6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0EDB3-20C3-9942-8D86-5B253BC2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76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microsoft.com/office/2007/relationships/media" Target="../media/media2.wav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jpeg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.jpeg"/><Relationship Id="rId4" Type="http://schemas.openxmlformats.org/officeDocument/2006/relationships/audio" Target="../media/media2.wav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JTUwxz/LoCoNet_ASD" TargetMode="External"/><Relationship Id="rId2" Type="http://schemas.openxmlformats.org/officeDocument/2006/relationships/hyperlink" Target="https://github.com/TaoRuijie/TalkNet-AS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TDTianGroup/AVDIAR2ASD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EB29-BCD4-18B6-5B36-D6E80750D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Active Speaker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9D69C-FBF5-10EE-4BC1-B19E026CEB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Introduction</a:t>
            </a:r>
          </a:p>
        </p:txBody>
      </p:sp>
    </p:spTree>
    <p:extLst>
      <p:ext uri="{BB962C8B-B14F-4D97-AF65-F5344CB8AC3E}">
        <p14:creationId xmlns:p14="http://schemas.microsoft.com/office/powerpoint/2010/main" val="3995308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52F1-4599-7F3D-2A2E-320ED9C7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How do we represent data in this problem?</a:t>
            </a:r>
            <a:endParaRPr lang="en-US" dirty="0"/>
          </a:p>
        </p:txBody>
      </p:sp>
      <p:pic>
        <p:nvPicPr>
          <p:cNvPr id="6" name="Picture 6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AB213403-23D0-A45A-3451-63402DADF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744747" y="4559136"/>
            <a:ext cx="882770" cy="882770"/>
          </a:xfrm>
        </p:spPr>
      </p:pic>
      <p:pic>
        <p:nvPicPr>
          <p:cNvPr id="5" name="sample2_talknet_ours">
            <a:hlinkClick r:id="" action="ppaction://media"/>
            <a:extLst>
              <a:ext uri="{FF2B5EF4-FFF2-40B4-BE49-F238E27FC236}">
                <a16:creationId xmlns:a16="http://schemas.microsoft.com/office/drawing/2014/main" id="{F2AB5FAF-2C3F-DA1A-6CA8-6DCAF8DA094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2004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33155" y="1494303"/>
            <a:ext cx="4275540" cy="2406658"/>
          </a:xfrm>
          <a:prstGeom prst="rect">
            <a:avLst/>
          </a:prstGeom>
        </p:spPr>
      </p:pic>
      <p:pic>
        <p:nvPicPr>
          <p:cNvPr id="7" name="Picture 7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9EC33D41-8F00-8EF8-E693-9F0ADAA9EE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9313" y="4561936"/>
            <a:ext cx="882770" cy="88277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3BED1B7-AAA1-7204-469C-FA9637A8B0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7011" y="4561934"/>
            <a:ext cx="897149" cy="882771"/>
          </a:xfrm>
          <a:prstGeom prst="rect">
            <a:avLst/>
          </a:prstGeom>
        </p:spPr>
      </p:pic>
      <p:pic>
        <p:nvPicPr>
          <p:cNvPr id="9" name="Picture 9" descr="A picture containing person, indoor, person, people&#10;&#10;Description automatically generated">
            <a:extLst>
              <a:ext uri="{FF2B5EF4-FFF2-40B4-BE49-F238E27FC236}">
                <a16:creationId xmlns:a16="http://schemas.microsoft.com/office/drawing/2014/main" id="{3300C6E1-970B-FC72-0BCE-56409D1702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9804" y="4547558"/>
            <a:ext cx="897148" cy="8827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2DDF5C-95C1-8C6C-CAE3-B72A295C7C59}"/>
              </a:ext>
            </a:extLst>
          </p:cNvPr>
          <p:cNvSpPr txBox="1"/>
          <p:nvPr/>
        </p:nvSpPr>
        <p:spPr>
          <a:xfrm>
            <a:off x="4230161" y="4825335"/>
            <a:ext cx="5064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...</a:t>
            </a:r>
            <a:endParaRPr lang="en-US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E97B68-5BFB-A93D-7514-E3FE314D5202}"/>
              </a:ext>
            </a:extLst>
          </p:cNvPr>
          <p:cNvSpPr txBox="1"/>
          <p:nvPr/>
        </p:nvSpPr>
        <p:spPr>
          <a:xfrm>
            <a:off x="598714" y="5506357"/>
            <a:ext cx="11466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ea typeface="Calibri"/>
                <a:cs typeface="Calibri"/>
              </a:rPr>
              <a:t>Speaking?</a:t>
            </a:r>
          </a:p>
          <a:p>
            <a:r>
              <a:rPr lang="en-US" sz="1200" dirty="0">
                <a:ea typeface="Calibri"/>
                <a:cs typeface="Calibri"/>
              </a:rPr>
              <a:t>Not Speaking?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5D9A5-BAE3-CDD7-31A9-DACD202B9CB3}"/>
              </a:ext>
            </a:extLst>
          </p:cNvPr>
          <p:cNvSpPr txBox="1"/>
          <p:nvPr/>
        </p:nvSpPr>
        <p:spPr>
          <a:xfrm>
            <a:off x="1868713" y="5506356"/>
            <a:ext cx="11466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ea typeface="Calibri"/>
                <a:cs typeface="Calibri"/>
              </a:rPr>
              <a:t>Speaking?</a:t>
            </a:r>
          </a:p>
          <a:p>
            <a:r>
              <a:rPr lang="en-US" sz="1200" dirty="0">
                <a:ea typeface="Calibri"/>
                <a:cs typeface="Calibri"/>
              </a:rPr>
              <a:t>Not Speaking?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0513B6-1B0F-C4CF-20C4-0C1555861CA2}"/>
              </a:ext>
            </a:extLst>
          </p:cNvPr>
          <p:cNvSpPr txBox="1"/>
          <p:nvPr/>
        </p:nvSpPr>
        <p:spPr>
          <a:xfrm>
            <a:off x="3047998" y="5506355"/>
            <a:ext cx="11466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ea typeface="Calibri"/>
                <a:cs typeface="Calibri"/>
              </a:rPr>
              <a:t>Speaking?</a:t>
            </a:r>
          </a:p>
          <a:p>
            <a:r>
              <a:rPr lang="en-US" sz="1200" dirty="0">
                <a:ea typeface="Calibri"/>
                <a:cs typeface="Calibri"/>
              </a:rPr>
              <a:t>Not Speaking?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B3B18D-38BF-67AC-9BA7-BAEA02C9A28D}"/>
              </a:ext>
            </a:extLst>
          </p:cNvPr>
          <p:cNvSpPr txBox="1"/>
          <p:nvPr/>
        </p:nvSpPr>
        <p:spPr>
          <a:xfrm>
            <a:off x="4807854" y="5506354"/>
            <a:ext cx="11466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ea typeface="Calibri"/>
                <a:cs typeface="Calibri"/>
              </a:rPr>
              <a:t>Speaking?</a:t>
            </a:r>
          </a:p>
          <a:p>
            <a:r>
              <a:rPr lang="en-US" sz="1200" dirty="0">
                <a:ea typeface="Calibri"/>
                <a:cs typeface="Calibri"/>
              </a:rPr>
              <a:t>Not Speaking?</a:t>
            </a:r>
          </a:p>
        </p:txBody>
      </p:sp>
      <p:pic>
        <p:nvPicPr>
          <p:cNvPr id="15" name="00000">
            <a:hlinkClick r:id="" action="ppaction://media"/>
            <a:extLst>
              <a:ext uri="{FF2B5EF4-FFF2-40B4-BE49-F238E27FC236}">
                <a16:creationId xmlns:a16="http://schemas.microsoft.com/office/drawing/2014/main" id="{CF0A3BED-153F-8A7F-602A-FA0E9EB4061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331200" y="455930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7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52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D02C-F6B3-1EEC-6692-A69AB3C5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Active Speaker Detection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0F765-EC7C-F03B-0E0E-6991EF205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Detect whether each visible face in a video is speaking or not.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39B13B-FE92-4D34-3D7E-93844F2BEEF2}"/>
              </a:ext>
            </a:extLst>
          </p:cNvPr>
          <p:cNvSpPr/>
          <p:nvPr/>
        </p:nvSpPr>
        <p:spPr>
          <a:xfrm>
            <a:off x="4889500" y="3015192"/>
            <a:ext cx="1333499" cy="9101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Visual Features</a:t>
            </a:r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05B834-1B7C-0AB6-7FFB-4D1581FF3E28}"/>
              </a:ext>
            </a:extLst>
          </p:cNvPr>
          <p:cNvSpPr/>
          <p:nvPr/>
        </p:nvSpPr>
        <p:spPr>
          <a:xfrm>
            <a:off x="4889499" y="4221691"/>
            <a:ext cx="1333499" cy="9101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Audio Features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CD023A-1180-51E0-8F51-B94FAAF62A17}"/>
              </a:ext>
            </a:extLst>
          </p:cNvPr>
          <p:cNvSpPr/>
          <p:nvPr/>
        </p:nvSpPr>
        <p:spPr>
          <a:xfrm>
            <a:off x="6783916" y="3660775"/>
            <a:ext cx="1333499" cy="9101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Calibri"/>
              </a:rPr>
              <a:t>Feature Fusion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E2A88C-B503-ACA7-C841-C038FA8E4F34}"/>
              </a:ext>
            </a:extLst>
          </p:cNvPr>
          <p:cNvSpPr/>
          <p:nvPr/>
        </p:nvSpPr>
        <p:spPr>
          <a:xfrm>
            <a:off x="8635999" y="3660774"/>
            <a:ext cx="1333499" cy="9101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Calibri"/>
              </a:rPr>
              <a:t>Detector</a:t>
            </a:r>
          </a:p>
        </p:txBody>
      </p:sp>
      <p:pic>
        <p:nvPicPr>
          <p:cNvPr id="11" name="Picture 11" descr="Chart&#10;&#10;Description automatically generated">
            <a:extLst>
              <a:ext uri="{FF2B5EF4-FFF2-40B4-BE49-F238E27FC236}">
                <a16:creationId xmlns:a16="http://schemas.microsoft.com/office/drawing/2014/main" id="{B644BE8F-2E13-A116-65DD-934DC756E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984" y="4222534"/>
            <a:ext cx="1335617" cy="921181"/>
          </a:xfrm>
          <a:prstGeom prst="rect">
            <a:avLst/>
          </a:prstGeom>
        </p:spPr>
      </p:pic>
      <p:pic>
        <p:nvPicPr>
          <p:cNvPr id="12" name="Picture 12" descr="Chart&#10;&#10;Description automatically generated">
            <a:extLst>
              <a:ext uri="{FF2B5EF4-FFF2-40B4-BE49-F238E27FC236}">
                <a16:creationId xmlns:a16="http://schemas.microsoft.com/office/drawing/2014/main" id="{C6C0F3EF-DB0E-FF17-63AE-A534E355D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3" y="4342704"/>
            <a:ext cx="1653117" cy="74434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CF343A-FDCA-E811-61C7-370B72639F92}"/>
              </a:ext>
            </a:extLst>
          </p:cNvPr>
          <p:cNvCxnSpPr/>
          <p:nvPr/>
        </p:nvCxnSpPr>
        <p:spPr>
          <a:xfrm flipV="1">
            <a:off x="2717801" y="3399368"/>
            <a:ext cx="2173816" cy="38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966244-6505-C414-2892-4DA90485CCBF}"/>
              </a:ext>
            </a:extLst>
          </p:cNvPr>
          <p:cNvCxnSpPr>
            <a:cxnSpLocks/>
          </p:cNvCxnSpPr>
          <p:nvPr/>
        </p:nvCxnSpPr>
        <p:spPr>
          <a:xfrm flipV="1">
            <a:off x="2305050" y="4701117"/>
            <a:ext cx="819150" cy="16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DCC915-5BF7-9E09-0173-5EA7084B8465}"/>
              </a:ext>
            </a:extLst>
          </p:cNvPr>
          <p:cNvCxnSpPr>
            <a:cxnSpLocks/>
          </p:cNvCxnSpPr>
          <p:nvPr/>
        </p:nvCxnSpPr>
        <p:spPr>
          <a:xfrm>
            <a:off x="4305299" y="4718046"/>
            <a:ext cx="586317" cy="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BC3D9F-B070-A0C4-3D0B-69F51E64111A}"/>
              </a:ext>
            </a:extLst>
          </p:cNvPr>
          <p:cNvCxnSpPr>
            <a:cxnSpLocks/>
          </p:cNvCxnSpPr>
          <p:nvPr/>
        </p:nvCxnSpPr>
        <p:spPr>
          <a:xfrm flipV="1">
            <a:off x="6199715" y="4510615"/>
            <a:ext cx="575734" cy="16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E1A904-D4D8-EE7A-2C0D-D318643BC814}"/>
              </a:ext>
            </a:extLst>
          </p:cNvPr>
          <p:cNvCxnSpPr>
            <a:cxnSpLocks/>
          </p:cNvCxnSpPr>
          <p:nvPr/>
        </p:nvCxnSpPr>
        <p:spPr>
          <a:xfrm>
            <a:off x="6210297" y="3458627"/>
            <a:ext cx="596901" cy="279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436A0B-2456-2069-8F61-E366D1180E82}"/>
              </a:ext>
            </a:extLst>
          </p:cNvPr>
          <p:cNvCxnSpPr>
            <a:cxnSpLocks/>
          </p:cNvCxnSpPr>
          <p:nvPr/>
        </p:nvCxnSpPr>
        <p:spPr>
          <a:xfrm>
            <a:off x="8115299" y="4167712"/>
            <a:ext cx="522817" cy="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6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92168DAD-43AC-BF8F-900A-6FF779563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69" y="3096260"/>
            <a:ext cx="671435" cy="671435"/>
          </a:xfrm>
          <a:prstGeom prst="rect">
            <a:avLst/>
          </a:prstGeom>
        </p:spPr>
      </p:pic>
      <p:pic>
        <p:nvPicPr>
          <p:cNvPr id="7" name="Picture 7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0CA713FF-980C-15AE-1B25-549D8AD30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91" y="3096260"/>
            <a:ext cx="671435" cy="67143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8D6170D-9B1E-2159-B49E-DA5C5157FD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046" y="3107021"/>
            <a:ext cx="671435" cy="660674"/>
          </a:xfrm>
          <a:prstGeom prst="rect">
            <a:avLst/>
          </a:prstGeom>
        </p:spPr>
      </p:pic>
      <p:pic>
        <p:nvPicPr>
          <p:cNvPr id="20" name="Picture 9" descr="A picture containing person, indoor, person, people&#10;&#10;Description automatically generated">
            <a:extLst>
              <a:ext uri="{FF2B5EF4-FFF2-40B4-BE49-F238E27FC236}">
                <a16:creationId xmlns:a16="http://schemas.microsoft.com/office/drawing/2014/main" id="{39B7686E-4D56-2E56-FDFF-0C3461AAD5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1663" y="3096259"/>
            <a:ext cx="682370" cy="6714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478203D-A8C0-2ABE-31DD-A4206CD83E90}"/>
              </a:ext>
            </a:extLst>
          </p:cNvPr>
          <p:cNvSpPr txBox="1"/>
          <p:nvPr/>
        </p:nvSpPr>
        <p:spPr>
          <a:xfrm>
            <a:off x="2279481" y="3132928"/>
            <a:ext cx="5064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...</a:t>
            </a:r>
            <a:endParaRPr lang="en-US" sz="2400" b="1" dirty="0"/>
          </a:p>
        </p:txBody>
      </p:sp>
      <p:pic>
        <p:nvPicPr>
          <p:cNvPr id="22" name="Picture 6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0F2FD079-3AB8-2E78-1F63-9DA0C57A4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891" y="5143716"/>
            <a:ext cx="671435" cy="671435"/>
          </a:xfrm>
          <a:prstGeom prst="rect">
            <a:avLst/>
          </a:prstGeom>
        </p:spPr>
      </p:pic>
      <p:pic>
        <p:nvPicPr>
          <p:cNvPr id="23" name="Picture 7" descr="A picture containing person, indoor, sitting, restaurant&#10;&#10;Description automatically generated">
            <a:extLst>
              <a:ext uri="{FF2B5EF4-FFF2-40B4-BE49-F238E27FC236}">
                <a16:creationId xmlns:a16="http://schemas.microsoft.com/office/drawing/2014/main" id="{833ECCFD-57AC-2907-3682-E7BAA92E3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1813" y="5143716"/>
            <a:ext cx="671435" cy="671435"/>
          </a:xfrm>
          <a:prstGeom prst="rect">
            <a:avLst/>
          </a:prstGeom>
        </p:spPr>
      </p:pic>
      <p:pic>
        <p:nvPicPr>
          <p:cNvPr id="24" name="Picture 8">
            <a:extLst>
              <a:ext uri="{FF2B5EF4-FFF2-40B4-BE49-F238E27FC236}">
                <a16:creationId xmlns:a16="http://schemas.microsoft.com/office/drawing/2014/main" id="{9BB3F59E-E5A1-D9CE-27C2-58F1A936D1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7168" y="5154477"/>
            <a:ext cx="671435" cy="660674"/>
          </a:xfrm>
          <a:prstGeom prst="rect">
            <a:avLst/>
          </a:prstGeom>
        </p:spPr>
      </p:pic>
      <p:pic>
        <p:nvPicPr>
          <p:cNvPr id="25" name="Picture 9" descr="A picture containing person, indoor, person, people&#10;&#10;Description automatically generated">
            <a:extLst>
              <a:ext uri="{FF2B5EF4-FFF2-40B4-BE49-F238E27FC236}">
                <a16:creationId xmlns:a16="http://schemas.microsoft.com/office/drawing/2014/main" id="{00B4C791-E70A-9B80-C2AB-CC32B32177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0785" y="5143715"/>
            <a:ext cx="682370" cy="67143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D4363E6-3124-41E8-D562-5EB39569412C}"/>
              </a:ext>
            </a:extLst>
          </p:cNvPr>
          <p:cNvSpPr txBox="1"/>
          <p:nvPr/>
        </p:nvSpPr>
        <p:spPr>
          <a:xfrm>
            <a:off x="11088603" y="5180384"/>
            <a:ext cx="5064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ea typeface="Calibri"/>
                <a:cs typeface="Calibri"/>
              </a:rPr>
              <a:t>...</a:t>
            </a:r>
            <a:endParaRPr lang="en-US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BFDBAE-E78E-E935-AD2E-7226D0446820}"/>
              </a:ext>
            </a:extLst>
          </p:cNvPr>
          <p:cNvSpPr txBox="1"/>
          <p:nvPr/>
        </p:nvSpPr>
        <p:spPr>
          <a:xfrm>
            <a:off x="9022111" y="5815150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Speaking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F453CD-A27D-E78C-E7B7-8E9538FEEBD5}"/>
              </a:ext>
            </a:extLst>
          </p:cNvPr>
          <p:cNvSpPr txBox="1"/>
          <p:nvPr/>
        </p:nvSpPr>
        <p:spPr>
          <a:xfrm>
            <a:off x="9697358" y="5815150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Speaking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8A04E7-DF4F-84E1-41D2-172BF20C5FFB}"/>
              </a:ext>
            </a:extLst>
          </p:cNvPr>
          <p:cNvSpPr txBox="1"/>
          <p:nvPr/>
        </p:nvSpPr>
        <p:spPr>
          <a:xfrm>
            <a:off x="10388912" y="5815150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Not</a:t>
            </a:r>
          </a:p>
          <a:p>
            <a:r>
              <a:rPr lang="en-US" sz="1000" dirty="0"/>
              <a:t>Speaking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CD2C3E-20A0-95F3-9422-74A2E453E30E}"/>
              </a:ext>
            </a:extLst>
          </p:cNvPr>
          <p:cNvSpPr txBox="1"/>
          <p:nvPr/>
        </p:nvSpPr>
        <p:spPr>
          <a:xfrm>
            <a:off x="11500785" y="5823406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Not</a:t>
            </a:r>
          </a:p>
          <a:p>
            <a:r>
              <a:rPr lang="en-US" sz="1000" dirty="0"/>
              <a:t>Speaking</a:t>
            </a:r>
          </a:p>
        </p:txBody>
      </p:sp>
    </p:spTree>
    <p:extLst>
      <p:ext uri="{BB962C8B-B14F-4D97-AF65-F5344CB8AC3E}">
        <p14:creationId xmlns:p14="http://schemas.microsoft.com/office/powerpoint/2010/main" val="59450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47351-D26D-1009-DB52-C7499756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27EB-C5E8-1880-2A51-A95B33026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TalkNet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hlinkClick r:id="rId3"/>
              </a:rPr>
              <a:t>LoCoNet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269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DD83-929B-EA48-49AB-63474AD7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72654-E6A8-25CB-7CE3-F1C0EE266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Read the research papers</a:t>
            </a:r>
          </a:p>
          <a:p>
            <a:endParaRPr lang="en-US" dirty="0"/>
          </a:p>
          <a:p>
            <a:r>
              <a:rPr lang="en-US" dirty="0"/>
              <a:t>Replicate TalkNet and </a:t>
            </a:r>
            <a:r>
              <a:rPr lang="en-US" dirty="0" err="1"/>
              <a:t>LoCoNet</a:t>
            </a:r>
            <a:r>
              <a:rPr lang="en-US" dirty="0"/>
              <a:t> on the validation set of AVA-Active Speaker dataset</a:t>
            </a:r>
          </a:p>
          <a:p>
            <a:endParaRPr lang="en-US" dirty="0"/>
          </a:p>
          <a:p>
            <a:r>
              <a:rPr lang="en-US" dirty="0"/>
              <a:t>Run inference with TalkNet and </a:t>
            </a:r>
            <a:r>
              <a:rPr lang="en-US" dirty="0" err="1"/>
              <a:t>LoCoNet</a:t>
            </a:r>
            <a:r>
              <a:rPr lang="en-US" dirty="0"/>
              <a:t> on </a:t>
            </a:r>
            <a:r>
              <a:rPr lang="en-US" dirty="0">
                <a:hlinkClick r:id="rId2"/>
              </a:rPr>
              <a:t>AVDIAR dataset for ASD </a:t>
            </a:r>
            <a:r>
              <a:rPr lang="en-US" dirty="0"/>
              <a:t>and report results</a:t>
            </a:r>
          </a:p>
          <a:p>
            <a:pPr lvl="1"/>
            <a:r>
              <a:rPr lang="en-US" dirty="0"/>
              <a:t>Make a presentation introducing the research papers, results obtained so far, and next steps.</a:t>
            </a:r>
          </a:p>
          <a:p>
            <a:endParaRPr lang="en-US" dirty="0"/>
          </a:p>
          <a:p>
            <a:r>
              <a:rPr lang="en-US" dirty="0"/>
              <a:t>Finetune TalkNet and </a:t>
            </a:r>
            <a:r>
              <a:rPr lang="en-US" dirty="0" err="1"/>
              <a:t>LoCoNet</a:t>
            </a:r>
            <a:r>
              <a:rPr lang="en-US" dirty="0"/>
              <a:t> on AVDIAR dataset for ASD</a:t>
            </a:r>
          </a:p>
          <a:p>
            <a:endParaRPr lang="en-US" dirty="0"/>
          </a:p>
          <a:p>
            <a:r>
              <a:rPr lang="en-US" dirty="0"/>
              <a:t>Ideas for improvement? New research problem?</a:t>
            </a:r>
          </a:p>
        </p:txBody>
      </p:sp>
    </p:spTree>
    <p:extLst>
      <p:ext uri="{BB962C8B-B14F-4D97-AF65-F5344CB8AC3E}">
        <p14:creationId xmlns:p14="http://schemas.microsoft.com/office/powerpoint/2010/main" val="3955135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135</Words>
  <Application>Microsoft Macintosh PowerPoint</Application>
  <PresentationFormat>Widescreen</PresentationFormat>
  <Paragraphs>41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Active Speaker Detection</vt:lpstr>
      <vt:lpstr>How do we represent data in this problem?</vt:lpstr>
      <vt:lpstr>Active Speaker Detection</vt:lpstr>
      <vt:lpstr>Research Papers</vt:lpstr>
      <vt:lpstr>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Vasireddy, Siva Sai Nagender</dc:creator>
  <cp:lastModifiedBy>Vasireddy, Siva Sai Nagender</cp:lastModifiedBy>
  <cp:revision>7</cp:revision>
  <dcterms:created xsi:type="dcterms:W3CDTF">2025-07-07T14:46:35Z</dcterms:created>
  <dcterms:modified xsi:type="dcterms:W3CDTF">2025-07-07T14:57:27Z</dcterms:modified>
</cp:coreProperties>
</file>