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6"/>
  </p:notesMasterIdLst>
  <p:sldIdLst>
    <p:sldId id="256" r:id="rId2"/>
    <p:sldId id="272"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324" r:id="rId24"/>
    <p:sldId id="325"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13" r:id="rId46"/>
    <p:sldId id="314" r:id="rId47"/>
    <p:sldId id="315" r:id="rId48"/>
    <p:sldId id="316" r:id="rId49"/>
    <p:sldId id="317" r:id="rId50"/>
    <p:sldId id="318" r:id="rId51"/>
    <p:sldId id="319" r:id="rId52"/>
    <p:sldId id="320" r:id="rId53"/>
    <p:sldId id="321" r:id="rId54"/>
    <p:sldId id="322" r:id="rId55"/>
  </p:sldIdLst>
  <p:sldSz cx="9144000" cy="5143500" type="screen16x9"/>
  <p:notesSz cx="6858000" cy="9144000"/>
  <p:embeddedFontLst>
    <p:embeddedFont>
      <p:font typeface="Roboto" panose="02000000000000000000"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9502BD-0F83-4058-9BC6-56AACA256DB1}" v="1" dt="2025-08-06T05:36:20.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58"/>
    <p:restoredTop sz="94737"/>
  </p:normalViewPr>
  <p:slideViewPr>
    <p:cSldViewPr snapToGrid="0">
      <p:cViewPr varScale="1">
        <p:scale>
          <a:sx n="150" d="100"/>
          <a:sy n="150" d="100"/>
        </p:scale>
        <p:origin x="888" y="1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 Sai Nagender Vasireddy" userId="uYCnjPpBgMg6RgHbw9fc4TXQxlFkerQmdP2dxZZTDbY=" providerId="None" clId="Web-{B39502BD-0F83-4058-9BC6-56AACA256DB1}"/>
    <pc:docChg chg="delSld">
      <pc:chgData name="Siva Sai Nagender Vasireddy" userId="uYCnjPpBgMg6RgHbw9fc4TXQxlFkerQmdP2dxZZTDbY=" providerId="None" clId="Web-{B39502BD-0F83-4058-9BC6-56AACA256DB1}" dt="2025-08-06T05:36:20.800" v="0"/>
      <pc:docMkLst>
        <pc:docMk/>
      </pc:docMkLst>
      <pc:sldChg chg="del">
        <pc:chgData name="Siva Sai Nagender Vasireddy" userId="uYCnjPpBgMg6RgHbw9fc4TXQxlFkerQmdP2dxZZTDbY=" providerId="None" clId="Web-{B39502BD-0F83-4058-9BC6-56AACA256DB1}" dt="2025-08-06T05:36:20.800" v="0"/>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4f7c1cda8a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4f7c1cda8a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4f7c1cda8a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4f7c1cda8a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4f7c1cda8a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4f7c1cda8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4f7c1cda8a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4f7c1cda8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4f7c1cda8a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4f7c1cda8a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4f7c1cda8a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4f7c1cda8a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4f7c1cda8a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4f7c1cda8a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4f7c1cda8a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4f7c1cda8a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4f7c1cda8a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4f7c1cda8a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4f7c1cda8a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4f7c1cda8a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4f7c1cda8a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4f7c1cda8a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4f7c1cda8a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4f7c1cda8a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4f7c1cda8a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4f7c1cda8a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4f7c1cda8a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4f7c1cda8a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4f7c1cda8a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4f7c1cda8a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4f7c1cda8a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4f7c1cda8a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4f7c1cda8a_0_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4f7c1cda8a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4f7c1cda8a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4f7c1cda8a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4f7c1cda8a_0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4f7c1cda8a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4f7c1cda8a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4f7c1cda8a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4f7c1cda8a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4f7c1cda8a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4f7c1cda8a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4f7c1cda8a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4f7c1cda8a_0_2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4f7c1cda8a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4f7c1cda8a_0_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4f7c1cda8a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4f7c1cda8a_0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4f7c1cda8a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4f7c1cda8a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4f7c1cda8a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4f7c1cda8a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4f7c1cda8a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4f7c1cda8a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4f7c1cda8a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4f7c1cda8a_0_3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4f7c1cda8a_0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4f7c1cda8a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24f7c1cda8a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4f7c1cda8a_0_3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24f7c1cda8a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4f7c1cda8a_0_3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4f7c1cda8a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4f7c1cda8a_0_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4f7c1cda8a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4f7c1cda8a_0_3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4f7c1cda8a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4f7c1cda8a_0_3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4f7c1cda8a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4f7c1cda8a_0_3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4f7c1cda8a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4f7c1cda8a_0_4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24f7c1cda8a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4f7c1cda8a_0_4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4f7c1cda8a_0_4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24f7c1cda8a_0_4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24f7c1cda8a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4f7c1cda8a_0_4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24f7c1cda8a_0_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4f7c1cda8a_0_4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24f7c1cda8a_0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4f7c1cda8a_0_5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4f7c1cda8a_0_5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24f7c1cda8a_0_5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24f7c1cda8a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24f7c1cda8a_0_5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24f7c1cda8a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24f7c1cda8a_0_5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24f7c1cda8a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24f7c1cda8a_0_4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24f7c1cda8a_0_4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4f7c1cda8a_0_5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24f7c1cda8a_0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4f7c1cda8a_0_5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24f7c1cda8a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24f7c1cda8a_0_6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24f7c1cda8a_0_6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24f7c1cda8a_0_5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24f7c1cda8a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24f7c1cda8a_0_5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24f7c1cda8a_0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50.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51.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58.png"/><Relationship Id="rId4" Type="http://schemas.openxmlformats.org/officeDocument/2006/relationships/image" Target="../media/image57.png"/></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60.png"/><Relationship Id="rId4" Type="http://schemas.openxmlformats.org/officeDocument/2006/relationships/image" Target="../media/image59.png"/></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61.png"/></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64.png"/><Relationship Id="rId4" Type="http://schemas.openxmlformats.org/officeDocument/2006/relationships/image" Target="../media/image63.png"/></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image" Target="../media/image68.png"/></Relationships>
</file>

<file path=ppt/slides/_rels/slide5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1.xml"/><Relationship Id="rId1" Type="http://schemas.openxmlformats.org/officeDocument/2006/relationships/slideLayout" Target="../slideLayouts/slideLayout3.xml"/><Relationship Id="rId5" Type="http://schemas.openxmlformats.org/officeDocument/2006/relationships/image" Target="../media/image72.png"/><Relationship Id="rId4" Type="http://schemas.openxmlformats.org/officeDocument/2006/relationships/image" Target="../media/image71.png"/></Relationships>
</file>

<file path=ppt/slides/_rels/slide54.xml.rels><?xml version="1.0" encoding="UTF-8" standalone="yes"?>
<Relationships xmlns="http://schemas.openxmlformats.org/package/2006/relationships"><Relationship Id="rId3" Type="http://schemas.openxmlformats.org/officeDocument/2006/relationships/hyperlink" Target="https://pavankunchala-virtual-makeup-streamlit-app-4rnqh4.streamlit.app/" TargetMode="External"/><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hyperlink" Target="https://webrtc.streamlit.app/opencv_filters" TargetMode="External"/><Relationship Id="rId4" Type="http://schemas.openxmlformats.org/officeDocument/2006/relationships/hyperlink" Target="https://hars-singh-photo-converter-photo-converter-6di3kd.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t>Introduction to Python, and OpenCV</a:t>
            </a:r>
            <a:endParaRPr dirty="0"/>
          </a:p>
        </p:txBody>
      </p:sp>
      <p:sp>
        <p:nvSpPr>
          <p:cNvPr id="55" name="Google Shape;55;p13"/>
          <p:cNvSpPr txBox="1">
            <a:spLocks noGrp="1"/>
          </p:cNvSpPr>
          <p:nvPr>
            <p:ph type="subTitle" idx="1"/>
          </p:nvPr>
        </p:nvSpPr>
        <p:spPr>
          <a:xfrm>
            <a:off x="375100" y="28658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Harsh Singh</a:t>
            </a:r>
            <a:endParaRPr/>
          </a:p>
        </p:txBody>
      </p:sp>
      <p:pic>
        <p:nvPicPr>
          <p:cNvPr id="57" name="Google Shape;57;p13"/>
          <p:cNvPicPr preferRelativeResize="0"/>
          <p:nvPr/>
        </p:nvPicPr>
        <p:blipFill>
          <a:blip r:embed="rId3">
            <a:alphaModFix/>
          </a:blip>
          <a:stretch>
            <a:fillRect/>
          </a:stretch>
        </p:blipFill>
        <p:spPr>
          <a:xfrm>
            <a:off x="1158475" y="3791550"/>
            <a:ext cx="721785" cy="792600"/>
          </a:xfrm>
          <a:prstGeom prst="rect">
            <a:avLst/>
          </a:prstGeom>
          <a:noFill/>
          <a:ln>
            <a:noFill/>
          </a:ln>
        </p:spPr>
      </p:pic>
      <p:pic>
        <p:nvPicPr>
          <p:cNvPr id="58" name="Google Shape;58;p13"/>
          <p:cNvPicPr preferRelativeResize="0"/>
          <p:nvPr/>
        </p:nvPicPr>
        <p:blipFill>
          <a:blip r:embed="rId4">
            <a:alphaModFix/>
          </a:blip>
          <a:stretch>
            <a:fillRect/>
          </a:stretch>
        </p:blipFill>
        <p:spPr>
          <a:xfrm>
            <a:off x="7634450" y="3791550"/>
            <a:ext cx="792600"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1414050" y="1929125"/>
            <a:ext cx="6315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320"/>
              <a:t>Python Variable and Data Types</a:t>
            </a:r>
            <a:endParaRPr sz="332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Python Variable</a:t>
            </a:r>
            <a:endParaRPr/>
          </a:p>
        </p:txBody>
      </p:sp>
      <p:sp>
        <p:nvSpPr>
          <p:cNvPr id="163" name="Google Shape;163;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In Python, variables are used to store information.</a:t>
            </a:r>
            <a:endParaRPr/>
          </a:p>
          <a:p>
            <a:pPr marL="457200" lvl="0" indent="-342900" algn="l" rtl="0">
              <a:spcBef>
                <a:spcPts val="0"/>
              </a:spcBef>
              <a:spcAft>
                <a:spcPts val="0"/>
              </a:spcAft>
              <a:buSzPts val="1800"/>
              <a:buChar char="❏"/>
            </a:pPr>
            <a:r>
              <a:rPr lang="en"/>
              <a:t>Variables are assigned using the equals sign (=), known as the assignment operator.</a:t>
            </a:r>
            <a:endParaRPr/>
          </a:p>
          <a:p>
            <a:pPr marL="457200" lvl="0" indent="-342900" algn="l" rtl="0">
              <a:spcBef>
                <a:spcPts val="0"/>
              </a:spcBef>
              <a:spcAft>
                <a:spcPts val="0"/>
              </a:spcAft>
              <a:buSzPts val="1800"/>
              <a:buChar char="❏"/>
            </a:pPr>
            <a:r>
              <a:rPr lang="en"/>
              <a:t>Variables can hold different types of values, such as numbers, strings, lists, etc.</a:t>
            </a:r>
            <a:endParaRPr/>
          </a:p>
          <a:p>
            <a:pPr marL="0" lvl="0" indent="0" algn="l" rtl="0">
              <a:spcBef>
                <a:spcPts val="1200"/>
              </a:spcBef>
              <a:spcAft>
                <a:spcPts val="1200"/>
              </a:spcAft>
              <a:buNone/>
            </a:pPr>
            <a:endParaRPr/>
          </a:p>
        </p:txBody>
      </p:sp>
      <p:pic>
        <p:nvPicPr>
          <p:cNvPr id="164" name="Google Shape;164;p30"/>
          <p:cNvPicPr preferRelativeResize="0"/>
          <p:nvPr/>
        </p:nvPicPr>
        <p:blipFill>
          <a:blip r:embed="rId3">
            <a:alphaModFix/>
          </a:blip>
          <a:stretch>
            <a:fillRect/>
          </a:stretch>
        </p:blipFill>
        <p:spPr>
          <a:xfrm>
            <a:off x="1894738" y="2881450"/>
            <a:ext cx="3971925" cy="1714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Numerical Value</a:t>
            </a:r>
            <a:endParaRPr/>
          </a:p>
        </p:txBody>
      </p:sp>
      <p:sp>
        <p:nvSpPr>
          <p:cNvPr id="170" name="Google Shape;170;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Python supports several types of numbers, including integers, floating-point numbers, and complex numbers.</a:t>
            </a:r>
            <a:endParaRPr/>
          </a:p>
          <a:p>
            <a:pPr marL="457200" lvl="0" indent="-342900" algn="l" rtl="0">
              <a:spcBef>
                <a:spcPts val="0"/>
              </a:spcBef>
              <a:spcAft>
                <a:spcPts val="0"/>
              </a:spcAft>
              <a:buSzPts val="1800"/>
              <a:buChar char="❏"/>
            </a:pPr>
            <a:r>
              <a:rPr lang="en"/>
              <a:t>Integers are whole numbers. Floating-point numbers have a decimal point. Complex numbers include a real and imaginary part.</a:t>
            </a:r>
            <a:endParaRPr/>
          </a:p>
          <a:p>
            <a:pPr marL="0" lvl="0" indent="0" algn="l" rtl="0">
              <a:spcBef>
                <a:spcPts val="1200"/>
              </a:spcBef>
              <a:spcAft>
                <a:spcPts val="1200"/>
              </a:spcAft>
              <a:buNone/>
            </a:pPr>
            <a:endParaRPr/>
          </a:p>
        </p:txBody>
      </p:sp>
      <p:pic>
        <p:nvPicPr>
          <p:cNvPr id="171" name="Google Shape;171;p31"/>
          <p:cNvPicPr preferRelativeResize="0"/>
          <p:nvPr/>
        </p:nvPicPr>
        <p:blipFill>
          <a:blip r:embed="rId3">
            <a:alphaModFix/>
          </a:blip>
          <a:stretch>
            <a:fillRect/>
          </a:stretch>
        </p:blipFill>
        <p:spPr>
          <a:xfrm>
            <a:off x="1667125" y="2878250"/>
            <a:ext cx="5429250" cy="1771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Strings: indexing, slicing, string methods</a:t>
            </a:r>
            <a:endParaRPr/>
          </a:p>
          <a:p>
            <a:pPr marL="0" lvl="0" indent="0" algn="l" rtl="0">
              <a:spcBef>
                <a:spcPts val="0"/>
              </a:spcBef>
              <a:spcAft>
                <a:spcPts val="0"/>
              </a:spcAft>
              <a:buNone/>
            </a:pPr>
            <a:endParaRPr sz="1200">
              <a:solidFill>
                <a:schemeClr val="accent2"/>
              </a:solidFill>
              <a:highlight>
                <a:srgbClr val="FFFFFF"/>
              </a:highlight>
              <a:latin typeface="Roboto"/>
              <a:ea typeface="Roboto"/>
              <a:cs typeface="Roboto"/>
              <a:sym typeface="Roboto"/>
            </a:endParaRPr>
          </a:p>
        </p:txBody>
      </p:sp>
      <p:sp>
        <p:nvSpPr>
          <p:cNvPr id="177" name="Google Shape;177;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Strings in Python are sequences of characters, and are defined by enclosing characters in quotes.</a:t>
            </a:r>
            <a:endParaRPr dirty="0"/>
          </a:p>
          <a:p>
            <a:pPr marL="457200" lvl="0" indent="-342900" algn="l" rtl="0">
              <a:spcBef>
                <a:spcPts val="0"/>
              </a:spcBef>
              <a:spcAft>
                <a:spcPts val="0"/>
              </a:spcAft>
              <a:buSzPts val="1800"/>
              <a:buChar char="❏"/>
            </a:pPr>
            <a:r>
              <a:rPr lang="en" dirty="0"/>
              <a:t>You can access individual characters using indexing and a range of characters using slicing.</a:t>
            </a:r>
            <a:endParaRPr dirty="0"/>
          </a:p>
          <a:p>
            <a:pPr marL="457200" lvl="0" indent="-342900" algn="l" rtl="0">
              <a:spcBef>
                <a:spcPts val="0"/>
              </a:spcBef>
              <a:spcAft>
                <a:spcPts val="0"/>
              </a:spcAft>
              <a:buSzPts val="1800"/>
              <a:buChar char="❏"/>
            </a:pPr>
            <a:r>
              <a:rPr lang="en" dirty="0"/>
              <a:t>Python has a set of built-in methods that you can use on strings.</a:t>
            </a: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pic>
        <p:nvPicPr>
          <p:cNvPr id="178" name="Google Shape;178;p32"/>
          <p:cNvPicPr preferRelativeResize="0"/>
          <p:nvPr/>
        </p:nvPicPr>
        <p:blipFill>
          <a:blip r:embed="rId3">
            <a:alphaModFix/>
          </a:blip>
          <a:stretch>
            <a:fillRect/>
          </a:stretch>
        </p:blipFill>
        <p:spPr>
          <a:xfrm>
            <a:off x="1394525" y="2819538"/>
            <a:ext cx="5238750" cy="1838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Lists</a:t>
            </a:r>
            <a:endParaRPr/>
          </a:p>
        </p:txBody>
      </p:sp>
      <p:sp>
        <p:nvSpPr>
          <p:cNvPr id="184" name="Google Shape;184;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Lists are one of the most versatile data types in Python. They are ordered, and each element in the list can be changed (they're mutable).</a:t>
            </a:r>
            <a:endParaRPr/>
          </a:p>
          <a:p>
            <a:pPr marL="457200" lvl="0" indent="-342900" algn="l" rtl="0">
              <a:spcBef>
                <a:spcPts val="0"/>
              </a:spcBef>
              <a:spcAft>
                <a:spcPts val="0"/>
              </a:spcAft>
              <a:buSzPts val="1800"/>
              <a:buChar char="❏"/>
            </a:pPr>
            <a:r>
              <a:rPr lang="en"/>
              <a:t>Lists support operations like append and insert.</a:t>
            </a:r>
            <a:endParaRPr/>
          </a:p>
          <a:p>
            <a:pPr marL="457200" lvl="0" indent="-342900" algn="l" rtl="0">
              <a:spcBef>
                <a:spcPts val="0"/>
              </a:spcBef>
              <a:spcAft>
                <a:spcPts val="0"/>
              </a:spcAft>
              <a:buSzPts val="1800"/>
              <a:buChar char="❏"/>
            </a:pPr>
            <a:r>
              <a:rPr lang="en"/>
              <a:t>Lists also support operations like slicing and list comprehension.</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85" name="Google Shape;185;p33"/>
          <p:cNvPicPr preferRelativeResize="0"/>
          <p:nvPr/>
        </p:nvPicPr>
        <p:blipFill>
          <a:blip r:embed="rId3">
            <a:alphaModFix/>
          </a:blip>
          <a:stretch>
            <a:fillRect/>
          </a:stretch>
        </p:blipFill>
        <p:spPr>
          <a:xfrm>
            <a:off x="1859338" y="2968588"/>
            <a:ext cx="4829175" cy="1857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Tuples</a:t>
            </a:r>
            <a:endParaRPr/>
          </a:p>
        </p:txBody>
      </p:sp>
      <p:sp>
        <p:nvSpPr>
          <p:cNvPr id="191" name="Google Shape;191;p34"/>
          <p:cNvSpPr txBox="1">
            <a:spLocks noGrp="1"/>
          </p:cNvSpPr>
          <p:nvPr>
            <p:ph type="body" idx="1"/>
          </p:nvPr>
        </p:nvSpPr>
        <p:spPr>
          <a:xfrm>
            <a:off x="280000" y="1146150"/>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Tuples are similar to lists but they are immutable, which means elements inside a tuple cannot be changed.</a:t>
            </a:r>
            <a:endParaRPr/>
          </a:p>
        </p:txBody>
      </p:sp>
      <p:pic>
        <p:nvPicPr>
          <p:cNvPr id="192" name="Google Shape;192;p34"/>
          <p:cNvPicPr preferRelativeResize="0"/>
          <p:nvPr/>
        </p:nvPicPr>
        <p:blipFill>
          <a:blip r:embed="rId3">
            <a:alphaModFix/>
          </a:blip>
          <a:stretch>
            <a:fillRect/>
          </a:stretch>
        </p:blipFill>
        <p:spPr>
          <a:xfrm>
            <a:off x="2626575" y="3198900"/>
            <a:ext cx="2495550" cy="1143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Sets</a:t>
            </a:r>
            <a:endParaRPr/>
          </a:p>
        </p:txBody>
      </p:sp>
      <p:sp>
        <p:nvSpPr>
          <p:cNvPr id="198" name="Google Shape;198;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Sets are used to store multiple items in a single variable, but unlike lists or tuples, they are unordered and don't allow duplicate values.</a:t>
            </a:r>
            <a:endParaRPr/>
          </a:p>
          <a:p>
            <a:pPr marL="0" lvl="0" indent="0" algn="l" rtl="0">
              <a:spcBef>
                <a:spcPts val="1200"/>
              </a:spcBef>
              <a:spcAft>
                <a:spcPts val="1200"/>
              </a:spcAft>
              <a:buNone/>
            </a:pPr>
            <a:endParaRPr/>
          </a:p>
        </p:txBody>
      </p:sp>
      <p:pic>
        <p:nvPicPr>
          <p:cNvPr id="199" name="Google Shape;199;p35"/>
          <p:cNvPicPr preferRelativeResize="0"/>
          <p:nvPr/>
        </p:nvPicPr>
        <p:blipFill>
          <a:blip r:embed="rId3">
            <a:alphaModFix/>
          </a:blip>
          <a:stretch>
            <a:fillRect/>
          </a:stretch>
        </p:blipFill>
        <p:spPr>
          <a:xfrm>
            <a:off x="2218238" y="3040325"/>
            <a:ext cx="3857625" cy="1257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Dictionaries</a:t>
            </a:r>
            <a:endParaRPr/>
          </a:p>
        </p:txBody>
      </p:sp>
      <p:sp>
        <p:nvSpPr>
          <p:cNvPr id="205" name="Google Shape;205;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Dictionaries are used to store data values in key-value pairs. </a:t>
            </a:r>
            <a:endParaRPr/>
          </a:p>
          <a:p>
            <a:pPr marL="457200" lvl="0" indent="-342900" algn="l" rtl="0">
              <a:spcBef>
                <a:spcPts val="0"/>
              </a:spcBef>
              <a:spcAft>
                <a:spcPts val="0"/>
              </a:spcAft>
              <a:buSzPts val="1800"/>
              <a:buChar char="❏"/>
            </a:pPr>
            <a:r>
              <a:rPr lang="en"/>
              <a:t>A dictionary is a collection which is ordered*, changeable and does not allow duplicates.</a:t>
            </a:r>
            <a:endParaRPr/>
          </a:p>
          <a:p>
            <a:pPr marL="0" lvl="0" indent="0" algn="l" rtl="0">
              <a:spcBef>
                <a:spcPts val="1200"/>
              </a:spcBef>
              <a:spcAft>
                <a:spcPts val="1200"/>
              </a:spcAft>
              <a:buNone/>
            </a:pPr>
            <a:endParaRPr/>
          </a:p>
        </p:txBody>
      </p:sp>
      <p:pic>
        <p:nvPicPr>
          <p:cNvPr id="206" name="Google Shape;206;p36"/>
          <p:cNvPicPr preferRelativeResize="0"/>
          <p:nvPr/>
        </p:nvPicPr>
        <p:blipFill>
          <a:blip r:embed="rId3">
            <a:alphaModFix/>
          </a:blip>
          <a:stretch>
            <a:fillRect/>
          </a:stretch>
        </p:blipFill>
        <p:spPr>
          <a:xfrm>
            <a:off x="1660800" y="2682925"/>
            <a:ext cx="5391150" cy="1885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2809200" y="1961000"/>
            <a:ext cx="3525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320"/>
              <a:t>Python Operators</a:t>
            </a:r>
            <a:endParaRPr sz="332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Arithmetic Operators</a:t>
            </a:r>
            <a:endParaRPr/>
          </a:p>
        </p:txBody>
      </p:sp>
      <p:pic>
        <p:nvPicPr>
          <p:cNvPr id="217" name="Google Shape;217;p38"/>
          <p:cNvPicPr preferRelativeResize="0"/>
          <p:nvPr/>
        </p:nvPicPr>
        <p:blipFill>
          <a:blip r:embed="rId3">
            <a:alphaModFix/>
          </a:blip>
          <a:stretch>
            <a:fillRect/>
          </a:stretch>
        </p:blipFill>
        <p:spPr>
          <a:xfrm>
            <a:off x="152400" y="1170125"/>
            <a:ext cx="5362575" cy="3533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Assignment Operators</a:t>
            </a:r>
            <a:endParaRPr/>
          </a:p>
        </p:txBody>
      </p:sp>
      <p:pic>
        <p:nvPicPr>
          <p:cNvPr id="223" name="Google Shape;223;p39"/>
          <p:cNvPicPr preferRelativeResize="0"/>
          <p:nvPr/>
        </p:nvPicPr>
        <p:blipFill>
          <a:blip r:embed="rId3">
            <a:alphaModFix/>
          </a:blip>
          <a:stretch>
            <a:fillRect/>
          </a:stretch>
        </p:blipFill>
        <p:spPr>
          <a:xfrm>
            <a:off x="152400" y="1170125"/>
            <a:ext cx="5543550" cy="2590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Comparison Operators</a:t>
            </a:r>
            <a:endParaRPr/>
          </a:p>
        </p:txBody>
      </p:sp>
      <p:pic>
        <p:nvPicPr>
          <p:cNvPr id="229" name="Google Shape;229;p40"/>
          <p:cNvPicPr preferRelativeResize="0"/>
          <p:nvPr/>
        </p:nvPicPr>
        <p:blipFill>
          <a:blip r:embed="rId3">
            <a:alphaModFix/>
          </a:blip>
          <a:stretch>
            <a:fillRect/>
          </a:stretch>
        </p:blipFill>
        <p:spPr>
          <a:xfrm>
            <a:off x="152400" y="1170125"/>
            <a:ext cx="3019425" cy="3019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Logical Operators(and/or/not)</a:t>
            </a:r>
            <a:endParaRPr/>
          </a:p>
        </p:txBody>
      </p:sp>
      <p:pic>
        <p:nvPicPr>
          <p:cNvPr id="235" name="Google Shape;235;p41"/>
          <p:cNvPicPr preferRelativeResize="0"/>
          <p:nvPr/>
        </p:nvPicPr>
        <p:blipFill>
          <a:blip r:embed="rId3">
            <a:alphaModFix/>
          </a:blip>
          <a:stretch>
            <a:fillRect/>
          </a:stretch>
        </p:blipFill>
        <p:spPr>
          <a:xfrm>
            <a:off x="203150" y="1170125"/>
            <a:ext cx="3876675" cy="2057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Identity Operators(is/is not)</a:t>
            </a:r>
            <a:endParaRPr/>
          </a:p>
        </p:txBody>
      </p:sp>
      <p:pic>
        <p:nvPicPr>
          <p:cNvPr id="241" name="Google Shape;241;p42"/>
          <p:cNvPicPr preferRelativeResize="0"/>
          <p:nvPr/>
        </p:nvPicPr>
        <p:blipFill>
          <a:blip r:embed="rId3">
            <a:alphaModFix/>
          </a:blip>
          <a:stretch>
            <a:fillRect/>
          </a:stretch>
        </p:blipFill>
        <p:spPr>
          <a:xfrm>
            <a:off x="152400" y="1170125"/>
            <a:ext cx="3495675" cy="1724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Membership Operators (in/not in)</a:t>
            </a:r>
            <a:endParaRPr/>
          </a:p>
        </p:txBody>
      </p:sp>
      <p:pic>
        <p:nvPicPr>
          <p:cNvPr id="247" name="Google Shape;247;p43"/>
          <p:cNvPicPr preferRelativeResize="0"/>
          <p:nvPr/>
        </p:nvPicPr>
        <p:blipFill>
          <a:blip r:embed="rId3">
            <a:alphaModFix/>
          </a:blip>
          <a:stretch>
            <a:fillRect/>
          </a:stretch>
        </p:blipFill>
        <p:spPr>
          <a:xfrm>
            <a:off x="152400" y="1170125"/>
            <a:ext cx="3867150" cy="1724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4"/>
          <p:cNvSpPr txBox="1">
            <a:spLocks noGrp="1"/>
          </p:cNvSpPr>
          <p:nvPr>
            <p:ph type="title"/>
          </p:nvPr>
        </p:nvSpPr>
        <p:spPr>
          <a:xfrm>
            <a:off x="1118700" y="1999050"/>
            <a:ext cx="6906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320"/>
              <a:t>Conditional statements and loops</a:t>
            </a:r>
            <a:endParaRPr sz="332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Conditional Statements: 'if', 'elif', 'else'</a:t>
            </a:r>
            <a:endParaRPr/>
          </a:p>
        </p:txBody>
      </p:sp>
      <p:pic>
        <p:nvPicPr>
          <p:cNvPr id="258" name="Google Shape;258;p45"/>
          <p:cNvPicPr preferRelativeResize="0"/>
          <p:nvPr/>
        </p:nvPicPr>
        <p:blipFill>
          <a:blip r:embed="rId3">
            <a:alphaModFix/>
          </a:blip>
          <a:stretch>
            <a:fillRect/>
          </a:stretch>
        </p:blipFill>
        <p:spPr>
          <a:xfrm>
            <a:off x="527600" y="1531625"/>
            <a:ext cx="3600450" cy="2895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Looping: 'for' and 'while' loops</a:t>
            </a:r>
            <a:endParaRPr/>
          </a:p>
        </p:txBody>
      </p:sp>
      <p:pic>
        <p:nvPicPr>
          <p:cNvPr id="264" name="Google Shape;264;p46"/>
          <p:cNvPicPr preferRelativeResize="0"/>
          <p:nvPr/>
        </p:nvPicPr>
        <p:blipFill>
          <a:blip r:embed="rId3">
            <a:alphaModFix/>
          </a:blip>
          <a:stretch>
            <a:fillRect/>
          </a:stretch>
        </p:blipFill>
        <p:spPr>
          <a:xfrm>
            <a:off x="152400" y="1170125"/>
            <a:ext cx="4714875" cy="3724275"/>
          </a:xfrm>
          <a:prstGeom prst="rect">
            <a:avLst/>
          </a:prstGeom>
          <a:noFill/>
          <a:ln>
            <a:noFill/>
          </a:ln>
        </p:spPr>
      </p:pic>
      <p:pic>
        <p:nvPicPr>
          <p:cNvPr id="265" name="Google Shape;265;p46"/>
          <p:cNvPicPr preferRelativeResize="0"/>
          <p:nvPr/>
        </p:nvPicPr>
        <p:blipFill>
          <a:blip r:embed="rId4">
            <a:alphaModFix/>
          </a:blip>
          <a:stretch>
            <a:fillRect/>
          </a:stretch>
        </p:blipFill>
        <p:spPr>
          <a:xfrm>
            <a:off x="5533375" y="1170125"/>
            <a:ext cx="2244937" cy="382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Flow control with 'break', 'continue', and 'pass'</a:t>
            </a:r>
            <a:endParaRPr/>
          </a:p>
        </p:txBody>
      </p:sp>
      <p:pic>
        <p:nvPicPr>
          <p:cNvPr id="271" name="Google Shape;271;p47"/>
          <p:cNvPicPr preferRelativeResize="0"/>
          <p:nvPr/>
        </p:nvPicPr>
        <p:blipFill>
          <a:blip r:embed="rId3">
            <a:alphaModFix/>
          </a:blip>
          <a:stretch>
            <a:fillRect/>
          </a:stretch>
        </p:blipFill>
        <p:spPr>
          <a:xfrm>
            <a:off x="152400" y="1170125"/>
            <a:ext cx="4943805" cy="3820974"/>
          </a:xfrm>
          <a:prstGeom prst="rect">
            <a:avLst/>
          </a:prstGeom>
          <a:noFill/>
          <a:ln>
            <a:noFill/>
          </a:ln>
        </p:spPr>
      </p:pic>
      <p:pic>
        <p:nvPicPr>
          <p:cNvPr id="272" name="Google Shape;272;p47"/>
          <p:cNvPicPr preferRelativeResize="0"/>
          <p:nvPr/>
        </p:nvPicPr>
        <p:blipFill>
          <a:blip r:embed="rId4">
            <a:alphaModFix/>
          </a:blip>
          <a:stretch>
            <a:fillRect/>
          </a:stretch>
        </p:blipFill>
        <p:spPr>
          <a:xfrm>
            <a:off x="6225305" y="1411125"/>
            <a:ext cx="1962150" cy="3095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8"/>
          <p:cNvSpPr txBox="1">
            <a:spLocks noGrp="1"/>
          </p:cNvSpPr>
          <p:nvPr>
            <p:ph type="title"/>
          </p:nvPr>
        </p:nvSpPr>
        <p:spPr>
          <a:xfrm>
            <a:off x="767204" y="1948300"/>
            <a:ext cx="780585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320" dirty="0"/>
              <a:t>Functions, Classes, and Modules</a:t>
            </a:r>
            <a:endParaRPr sz="3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Functions in Python</a:t>
            </a:r>
            <a:endParaRPr/>
          </a:p>
        </p:txBody>
      </p:sp>
      <p:pic>
        <p:nvPicPr>
          <p:cNvPr id="283" name="Google Shape;283;p49"/>
          <p:cNvPicPr preferRelativeResize="0"/>
          <p:nvPr/>
        </p:nvPicPr>
        <p:blipFill>
          <a:blip r:embed="rId3">
            <a:alphaModFix/>
          </a:blip>
          <a:stretch>
            <a:fillRect/>
          </a:stretch>
        </p:blipFill>
        <p:spPr>
          <a:xfrm>
            <a:off x="1255950" y="1220850"/>
            <a:ext cx="3557691" cy="38209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C7AA9-9C20-09B1-D35C-92D95E0297B3}"/>
              </a:ext>
            </a:extLst>
          </p:cNvPr>
          <p:cNvSpPr>
            <a:spLocks noGrp="1"/>
          </p:cNvSpPr>
          <p:nvPr>
            <p:ph type="title"/>
          </p:nvPr>
        </p:nvSpPr>
        <p:spPr/>
        <p:txBody>
          <a:bodyPr>
            <a:normAutofit fontScale="90000"/>
          </a:bodyPr>
          <a:lstStyle/>
          <a:p>
            <a:r>
              <a:rPr lang="en-US" dirty="0"/>
              <a:t>Classes in Python</a:t>
            </a:r>
          </a:p>
        </p:txBody>
      </p:sp>
      <p:sp>
        <p:nvSpPr>
          <p:cNvPr id="3" name="Text Placeholder 2">
            <a:extLst>
              <a:ext uri="{FF2B5EF4-FFF2-40B4-BE49-F238E27FC236}">
                <a16:creationId xmlns:a16="http://schemas.microsoft.com/office/drawing/2014/main" id="{330100EE-9250-F61D-1016-9E7665EAD904}"/>
              </a:ext>
            </a:extLst>
          </p:cNvPr>
          <p:cNvSpPr>
            <a:spLocks noGrp="1"/>
          </p:cNvSpPr>
          <p:nvPr>
            <p:ph type="body" idx="1"/>
          </p:nvPr>
        </p:nvSpPr>
        <p:spPr>
          <a:xfrm>
            <a:off x="311700" y="1152475"/>
            <a:ext cx="8520600" cy="572700"/>
          </a:xfrm>
        </p:spPr>
        <p:txBody>
          <a:bodyPr/>
          <a:lstStyle/>
          <a:p>
            <a:r>
              <a:rPr lang="en-US" dirty="0"/>
              <a:t>Classes are collections of Variables and Methods</a:t>
            </a:r>
          </a:p>
        </p:txBody>
      </p:sp>
      <p:pic>
        <p:nvPicPr>
          <p:cNvPr id="4" name="Picture 3">
            <a:extLst>
              <a:ext uri="{FF2B5EF4-FFF2-40B4-BE49-F238E27FC236}">
                <a16:creationId xmlns:a16="http://schemas.microsoft.com/office/drawing/2014/main" id="{CD4612C7-4052-A66E-0321-4AD0EC526D28}"/>
              </a:ext>
            </a:extLst>
          </p:cNvPr>
          <p:cNvPicPr>
            <a:picLocks noChangeAspect="1"/>
          </p:cNvPicPr>
          <p:nvPr/>
        </p:nvPicPr>
        <p:blipFill>
          <a:blip r:embed="rId2"/>
          <a:stretch>
            <a:fillRect/>
          </a:stretch>
        </p:blipFill>
        <p:spPr>
          <a:xfrm>
            <a:off x="2673350" y="2060575"/>
            <a:ext cx="3797300" cy="1600200"/>
          </a:xfrm>
          <a:prstGeom prst="rect">
            <a:avLst/>
          </a:prstGeom>
        </p:spPr>
      </p:pic>
      <p:sp>
        <p:nvSpPr>
          <p:cNvPr id="5" name="TextBox 4">
            <a:extLst>
              <a:ext uri="{FF2B5EF4-FFF2-40B4-BE49-F238E27FC236}">
                <a16:creationId xmlns:a16="http://schemas.microsoft.com/office/drawing/2014/main" id="{843700C3-8E65-CA10-194D-D260ED51CFF6}"/>
              </a:ext>
            </a:extLst>
          </p:cNvPr>
          <p:cNvSpPr txBox="1"/>
          <p:nvPr/>
        </p:nvSpPr>
        <p:spPr>
          <a:xfrm>
            <a:off x="3470275" y="3784167"/>
            <a:ext cx="2455332" cy="646331"/>
          </a:xfrm>
          <a:prstGeom prst="rect">
            <a:avLst/>
          </a:prstGeom>
          <a:noFill/>
        </p:spPr>
        <p:txBody>
          <a:bodyPr wrap="square" rtlCol="0">
            <a:spAutoFit/>
          </a:bodyPr>
          <a:lstStyle/>
          <a:p>
            <a:r>
              <a:rPr lang="en-US" sz="1200" dirty="0"/>
              <a:t>__</a:t>
            </a:r>
            <a:r>
              <a:rPr lang="en-US" sz="1200" dirty="0" err="1"/>
              <a:t>init</a:t>
            </a:r>
            <a:r>
              <a:rPr lang="en-US" sz="1200" dirty="0"/>
              <a:t>__() method is called by default when an object of the class is created.</a:t>
            </a:r>
          </a:p>
        </p:txBody>
      </p:sp>
      <p:sp>
        <p:nvSpPr>
          <p:cNvPr id="6" name="TextBox 5">
            <a:extLst>
              <a:ext uri="{FF2B5EF4-FFF2-40B4-BE49-F238E27FC236}">
                <a16:creationId xmlns:a16="http://schemas.microsoft.com/office/drawing/2014/main" id="{CB657543-00A0-CEC0-5AB9-E802BABF8385}"/>
              </a:ext>
            </a:extLst>
          </p:cNvPr>
          <p:cNvSpPr txBox="1"/>
          <p:nvPr/>
        </p:nvSpPr>
        <p:spPr>
          <a:xfrm>
            <a:off x="-67734" y="2352680"/>
            <a:ext cx="2673349" cy="830997"/>
          </a:xfrm>
          <a:prstGeom prst="rect">
            <a:avLst/>
          </a:prstGeom>
          <a:noFill/>
        </p:spPr>
        <p:txBody>
          <a:bodyPr wrap="square" rtlCol="0">
            <a:spAutoFit/>
          </a:bodyPr>
          <a:lstStyle/>
          <a:p>
            <a:r>
              <a:rPr lang="en-US" sz="1200" dirty="0"/>
              <a:t>Objects are instances of a class</a:t>
            </a:r>
          </a:p>
          <a:p>
            <a:pPr marL="285750" lvl="5" indent="-285750">
              <a:buFont typeface="Arial" panose="020B0604020202020204" pitchFamily="34" charset="0"/>
              <a:buChar char="•"/>
            </a:pPr>
            <a:r>
              <a:rPr lang="en-US" sz="1200" dirty="0"/>
              <a:t>p1 is an object of class Person</a:t>
            </a:r>
          </a:p>
          <a:p>
            <a:pPr marL="285750" lvl="5" indent="-285750">
              <a:buFont typeface="Arial" panose="020B0604020202020204" pitchFamily="34" charset="0"/>
              <a:buChar char="•"/>
            </a:pPr>
            <a:r>
              <a:rPr lang="en-US" sz="1200" dirty="0"/>
              <a:t>p1 has access to all variables and methods of the class</a:t>
            </a:r>
          </a:p>
        </p:txBody>
      </p:sp>
      <p:sp>
        <p:nvSpPr>
          <p:cNvPr id="7" name="TextBox 6">
            <a:extLst>
              <a:ext uri="{FF2B5EF4-FFF2-40B4-BE49-F238E27FC236}">
                <a16:creationId xmlns:a16="http://schemas.microsoft.com/office/drawing/2014/main" id="{CEEC5F95-44BC-8927-53A0-D463D6B5AD7C}"/>
              </a:ext>
            </a:extLst>
          </p:cNvPr>
          <p:cNvSpPr txBox="1"/>
          <p:nvPr/>
        </p:nvSpPr>
        <p:spPr>
          <a:xfrm>
            <a:off x="6470651" y="2260348"/>
            <a:ext cx="2673349" cy="1015663"/>
          </a:xfrm>
          <a:prstGeom prst="rect">
            <a:avLst/>
          </a:prstGeom>
          <a:noFill/>
        </p:spPr>
        <p:txBody>
          <a:bodyPr wrap="square" rtlCol="0">
            <a:spAutoFit/>
          </a:bodyPr>
          <a:lstStyle/>
          <a:p>
            <a:r>
              <a:rPr lang="en-US" sz="1200" dirty="0"/>
              <a:t>self parameter</a:t>
            </a:r>
          </a:p>
          <a:p>
            <a:pPr marL="285750" lvl="5" indent="-285750">
              <a:buFont typeface="Arial" panose="020B0604020202020204" pitchFamily="34" charset="0"/>
              <a:buChar char="•"/>
            </a:pPr>
            <a:r>
              <a:rPr lang="en-US" sz="1200" dirty="0"/>
              <a:t>A reference to the parameters and methods of a class</a:t>
            </a:r>
          </a:p>
          <a:p>
            <a:pPr marL="285750" lvl="5" indent="-285750">
              <a:buFont typeface="Arial" panose="020B0604020202020204" pitchFamily="34" charset="0"/>
              <a:buChar char="•"/>
            </a:pPr>
            <a:r>
              <a:rPr lang="en-US" sz="1200" dirty="0"/>
              <a:t>First argument to all methods by default</a:t>
            </a:r>
          </a:p>
        </p:txBody>
      </p:sp>
    </p:spTree>
    <p:extLst>
      <p:ext uri="{BB962C8B-B14F-4D97-AF65-F5344CB8AC3E}">
        <p14:creationId xmlns:p14="http://schemas.microsoft.com/office/powerpoint/2010/main" val="414241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6C80A-6F01-E1FF-662A-43FD127BB741}"/>
              </a:ext>
            </a:extLst>
          </p:cNvPr>
          <p:cNvSpPr>
            <a:spLocks noGrp="1"/>
          </p:cNvSpPr>
          <p:nvPr>
            <p:ph type="title"/>
          </p:nvPr>
        </p:nvSpPr>
        <p:spPr/>
        <p:txBody>
          <a:bodyPr>
            <a:normAutofit fontScale="90000"/>
          </a:bodyPr>
          <a:lstStyle/>
          <a:p>
            <a:r>
              <a:rPr lang="en-US" dirty="0"/>
              <a:t>Inheritance in Python</a:t>
            </a:r>
          </a:p>
        </p:txBody>
      </p:sp>
      <p:sp>
        <p:nvSpPr>
          <p:cNvPr id="3" name="Text Placeholder 2">
            <a:extLst>
              <a:ext uri="{FF2B5EF4-FFF2-40B4-BE49-F238E27FC236}">
                <a16:creationId xmlns:a16="http://schemas.microsoft.com/office/drawing/2014/main" id="{1C7B2C16-B49C-E1C7-9FD3-94DCAF45C29C}"/>
              </a:ext>
            </a:extLst>
          </p:cNvPr>
          <p:cNvSpPr>
            <a:spLocks noGrp="1"/>
          </p:cNvSpPr>
          <p:nvPr>
            <p:ph type="body" idx="1"/>
          </p:nvPr>
        </p:nvSpPr>
        <p:spPr>
          <a:xfrm>
            <a:off x="311700" y="1152475"/>
            <a:ext cx="8520600" cy="488756"/>
          </a:xfrm>
        </p:spPr>
        <p:txBody>
          <a:bodyPr>
            <a:normAutofit lnSpcReduction="10000"/>
          </a:bodyPr>
          <a:lstStyle/>
          <a:p>
            <a:r>
              <a:rPr lang="en-US" dirty="0"/>
              <a:t>A class can inherit methods and properties from another class</a:t>
            </a:r>
          </a:p>
        </p:txBody>
      </p:sp>
      <p:pic>
        <p:nvPicPr>
          <p:cNvPr id="4" name="Picture 3">
            <a:extLst>
              <a:ext uri="{FF2B5EF4-FFF2-40B4-BE49-F238E27FC236}">
                <a16:creationId xmlns:a16="http://schemas.microsoft.com/office/drawing/2014/main" id="{3F00B023-0508-C1F0-75A2-5BF453F89477}"/>
              </a:ext>
            </a:extLst>
          </p:cNvPr>
          <p:cNvPicPr>
            <a:picLocks noChangeAspect="1"/>
          </p:cNvPicPr>
          <p:nvPr/>
        </p:nvPicPr>
        <p:blipFill>
          <a:blip r:embed="rId2"/>
          <a:stretch>
            <a:fillRect/>
          </a:stretch>
        </p:blipFill>
        <p:spPr>
          <a:xfrm>
            <a:off x="662517" y="1701875"/>
            <a:ext cx="3213100" cy="1892300"/>
          </a:xfrm>
          <a:prstGeom prst="rect">
            <a:avLst/>
          </a:prstGeom>
        </p:spPr>
      </p:pic>
      <p:pic>
        <p:nvPicPr>
          <p:cNvPr id="5" name="Picture 4">
            <a:extLst>
              <a:ext uri="{FF2B5EF4-FFF2-40B4-BE49-F238E27FC236}">
                <a16:creationId xmlns:a16="http://schemas.microsoft.com/office/drawing/2014/main" id="{95EA8A54-3EB1-6311-4DC0-85E9814121BD}"/>
              </a:ext>
            </a:extLst>
          </p:cNvPr>
          <p:cNvPicPr>
            <a:picLocks noChangeAspect="1"/>
          </p:cNvPicPr>
          <p:nvPr/>
        </p:nvPicPr>
        <p:blipFill>
          <a:blip r:embed="rId3"/>
          <a:stretch>
            <a:fillRect/>
          </a:stretch>
        </p:blipFill>
        <p:spPr>
          <a:xfrm>
            <a:off x="662517" y="3837025"/>
            <a:ext cx="5765800" cy="1219200"/>
          </a:xfrm>
          <a:prstGeom prst="rect">
            <a:avLst/>
          </a:prstGeom>
        </p:spPr>
      </p:pic>
      <p:sp>
        <p:nvSpPr>
          <p:cNvPr id="6" name="TextBox 5">
            <a:extLst>
              <a:ext uri="{FF2B5EF4-FFF2-40B4-BE49-F238E27FC236}">
                <a16:creationId xmlns:a16="http://schemas.microsoft.com/office/drawing/2014/main" id="{2146B0C8-BEFE-4BF8-4146-8F57782C5E7B}"/>
              </a:ext>
            </a:extLst>
          </p:cNvPr>
          <p:cNvSpPr txBox="1"/>
          <p:nvPr/>
        </p:nvSpPr>
        <p:spPr>
          <a:xfrm>
            <a:off x="5069058" y="1880382"/>
            <a:ext cx="4018671" cy="523220"/>
          </a:xfrm>
          <a:prstGeom prst="rect">
            <a:avLst/>
          </a:prstGeom>
          <a:noFill/>
        </p:spPr>
        <p:txBody>
          <a:bodyPr wrap="square" rtlCol="0">
            <a:spAutoFit/>
          </a:bodyPr>
          <a:lstStyle/>
          <a:p>
            <a:r>
              <a:rPr lang="en-US" dirty="0"/>
              <a:t>The class Student inherits the methods and variables of the parent class Person.</a:t>
            </a:r>
          </a:p>
        </p:txBody>
      </p:sp>
      <p:sp>
        <p:nvSpPr>
          <p:cNvPr id="7" name="TextBox 6">
            <a:extLst>
              <a:ext uri="{FF2B5EF4-FFF2-40B4-BE49-F238E27FC236}">
                <a16:creationId xmlns:a16="http://schemas.microsoft.com/office/drawing/2014/main" id="{1CE8212D-5270-7710-E377-0B549BD3E820}"/>
              </a:ext>
            </a:extLst>
          </p:cNvPr>
          <p:cNvSpPr txBox="1"/>
          <p:nvPr/>
        </p:nvSpPr>
        <p:spPr>
          <a:xfrm>
            <a:off x="5069057" y="2451148"/>
            <a:ext cx="4018671" cy="307777"/>
          </a:xfrm>
          <a:prstGeom prst="rect">
            <a:avLst/>
          </a:prstGeom>
          <a:noFill/>
        </p:spPr>
        <p:txBody>
          <a:bodyPr wrap="square" rtlCol="0">
            <a:spAutoFit/>
          </a:bodyPr>
          <a:lstStyle/>
          <a:p>
            <a:r>
              <a:rPr lang="en-US" dirty="0"/>
              <a:t>super() is a reference to the parent class.</a:t>
            </a:r>
          </a:p>
        </p:txBody>
      </p:sp>
    </p:spTree>
    <p:extLst>
      <p:ext uri="{BB962C8B-B14F-4D97-AF65-F5344CB8AC3E}">
        <p14:creationId xmlns:p14="http://schemas.microsoft.com/office/powerpoint/2010/main" val="154499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Modules in Python</a:t>
            </a:r>
            <a:endParaRPr/>
          </a:p>
        </p:txBody>
      </p:sp>
      <p:pic>
        <p:nvPicPr>
          <p:cNvPr id="289" name="Google Shape;289;p50"/>
          <p:cNvPicPr preferRelativeResize="0"/>
          <p:nvPr/>
        </p:nvPicPr>
        <p:blipFill>
          <a:blip r:embed="rId3">
            <a:alphaModFix/>
          </a:blip>
          <a:stretch>
            <a:fillRect/>
          </a:stretch>
        </p:blipFill>
        <p:spPr>
          <a:xfrm>
            <a:off x="152400" y="1170125"/>
            <a:ext cx="4010668" cy="3820975"/>
          </a:xfrm>
          <a:prstGeom prst="rect">
            <a:avLst/>
          </a:prstGeom>
          <a:noFill/>
          <a:ln>
            <a:noFill/>
          </a:ln>
        </p:spPr>
      </p:pic>
      <p:pic>
        <p:nvPicPr>
          <p:cNvPr id="290" name="Google Shape;290;p50"/>
          <p:cNvPicPr preferRelativeResize="0"/>
          <p:nvPr/>
        </p:nvPicPr>
        <p:blipFill>
          <a:blip r:embed="rId4">
            <a:alphaModFix/>
          </a:blip>
          <a:stretch>
            <a:fillRect/>
          </a:stretch>
        </p:blipFill>
        <p:spPr>
          <a:xfrm>
            <a:off x="4315468" y="1170125"/>
            <a:ext cx="4676132" cy="25620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51"/>
          <p:cNvSpPr txBox="1">
            <a:spLocks noGrp="1"/>
          </p:cNvSpPr>
          <p:nvPr>
            <p:ph type="title"/>
          </p:nvPr>
        </p:nvSpPr>
        <p:spPr>
          <a:xfrm>
            <a:off x="563825" y="1948300"/>
            <a:ext cx="7851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320"/>
              <a:t>Quick Introduction of Important Modules in Python (Numpy, Pandas, Matplotlib)</a:t>
            </a:r>
            <a:endParaRPr sz="332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NumPy</a:t>
            </a:r>
            <a:endParaRPr/>
          </a:p>
        </p:txBody>
      </p:sp>
      <p:sp>
        <p:nvSpPr>
          <p:cNvPr id="301" name="Google Shape;301;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NumPy is a Python library for handling large, multi-dimensional arrays and matrices.</a:t>
            </a:r>
            <a:endParaRPr/>
          </a:p>
          <a:p>
            <a:pPr marL="457200" lvl="0" indent="-342900" algn="l" rtl="0">
              <a:spcBef>
                <a:spcPts val="0"/>
              </a:spcBef>
              <a:spcAft>
                <a:spcPts val="0"/>
              </a:spcAft>
              <a:buSzPts val="1800"/>
              <a:buChar char="❏"/>
            </a:pPr>
            <a:r>
              <a:rPr lang="en"/>
              <a:t>It provides tools for mathematical and logical operations on these arrays.</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1200"/>
              </a:spcAft>
              <a:buNone/>
            </a:pPr>
            <a:endParaRPr/>
          </a:p>
        </p:txBody>
      </p:sp>
      <p:pic>
        <p:nvPicPr>
          <p:cNvPr id="302" name="Google Shape;302;p52"/>
          <p:cNvPicPr preferRelativeResize="0"/>
          <p:nvPr/>
        </p:nvPicPr>
        <p:blipFill>
          <a:blip r:embed="rId3">
            <a:alphaModFix/>
          </a:blip>
          <a:stretch>
            <a:fillRect/>
          </a:stretch>
        </p:blipFill>
        <p:spPr>
          <a:xfrm>
            <a:off x="647720" y="2334700"/>
            <a:ext cx="3195901" cy="2343275"/>
          </a:xfrm>
          <a:prstGeom prst="rect">
            <a:avLst/>
          </a:prstGeom>
          <a:noFill/>
          <a:ln>
            <a:noFill/>
          </a:ln>
        </p:spPr>
      </p:pic>
      <p:pic>
        <p:nvPicPr>
          <p:cNvPr id="303" name="Google Shape;303;p52"/>
          <p:cNvPicPr preferRelativeResize="0"/>
          <p:nvPr/>
        </p:nvPicPr>
        <p:blipFill>
          <a:blip r:embed="rId4">
            <a:alphaModFix/>
          </a:blip>
          <a:stretch>
            <a:fillRect/>
          </a:stretch>
        </p:blipFill>
        <p:spPr>
          <a:xfrm>
            <a:off x="4881250" y="2571750"/>
            <a:ext cx="1916650" cy="1942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Pandas</a:t>
            </a:r>
            <a:endParaRPr/>
          </a:p>
        </p:txBody>
      </p:sp>
      <p:sp>
        <p:nvSpPr>
          <p:cNvPr id="309" name="Google Shape;309;p53"/>
          <p:cNvSpPr txBox="1">
            <a:spLocks noGrp="1"/>
          </p:cNvSpPr>
          <p:nvPr>
            <p:ph type="body" idx="1"/>
          </p:nvPr>
        </p:nvSpPr>
        <p:spPr>
          <a:xfrm>
            <a:off x="311700" y="1177850"/>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Pandas is a data manipulation and analysis library in Python.</a:t>
            </a:r>
            <a:endParaRPr/>
          </a:p>
          <a:p>
            <a:pPr marL="457200" lvl="0" indent="-342900" algn="l" rtl="0">
              <a:spcBef>
                <a:spcPts val="0"/>
              </a:spcBef>
              <a:spcAft>
                <a:spcPts val="0"/>
              </a:spcAft>
              <a:buSzPts val="1800"/>
              <a:buChar char="❏"/>
            </a:pPr>
            <a:r>
              <a:rPr lang="en"/>
              <a:t>It offers structures for managing numerical tables and time series.</a:t>
            </a:r>
            <a:endParaRPr/>
          </a:p>
          <a:p>
            <a:pPr marL="0" lvl="0" indent="0" algn="l" rtl="0">
              <a:spcBef>
                <a:spcPts val="1200"/>
              </a:spcBef>
              <a:spcAft>
                <a:spcPts val="1200"/>
              </a:spcAft>
              <a:buNone/>
            </a:pPr>
            <a:endParaRPr/>
          </a:p>
        </p:txBody>
      </p:sp>
      <p:pic>
        <p:nvPicPr>
          <p:cNvPr id="310" name="Google Shape;310;p53"/>
          <p:cNvPicPr preferRelativeResize="0"/>
          <p:nvPr/>
        </p:nvPicPr>
        <p:blipFill>
          <a:blip r:embed="rId3">
            <a:alphaModFix/>
          </a:blip>
          <a:stretch>
            <a:fillRect/>
          </a:stretch>
        </p:blipFill>
        <p:spPr>
          <a:xfrm>
            <a:off x="582375" y="2120646"/>
            <a:ext cx="3757374" cy="2519275"/>
          </a:xfrm>
          <a:prstGeom prst="rect">
            <a:avLst/>
          </a:prstGeom>
          <a:noFill/>
          <a:ln>
            <a:noFill/>
          </a:ln>
        </p:spPr>
      </p:pic>
      <p:pic>
        <p:nvPicPr>
          <p:cNvPr id="311" name="Google Shape;311;p53"/>
          <p:cNvPicPr preferRelativeResize="0"/>
          <p:nvPr/>
        </p:nvPicPr>
        <p:blipFill>
          <a:blip r:embed="rId4">
            <a:alphaModFix/>
          </a:blip>
          <a:stretch>
            <a:fillRect/>
          </a:stretch>
        </p:blipFill>
        <p:spPr>
          <a:xfrm>
            <a:off x="5496425" y="2052200"/>
            <a:ext cx="1885225" cy="28794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4"/>
          <p:cNvSpPr txBox="1">
            <a:spLocks noGrp="1"/>
          </p:cNvSpPr>
          <p:nvPr>
            <p:ph type="title"/>
          </p:nvPr>
        </p:nvSpPr>
        <p:spPr>
          <a:xfrm>
            <a:off x="311700" y="4196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Matplotlib</a:t>
            </a:r>
            <a:endParaRPr/>
          </a:p>
        </p:txBody>
      </p:sp>
      <p:sp>
        <p:nvSpPr>
          <p:cNvPr id="317" name="Google Shape;317;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Matplotlib is a plotting library for Python.</a:t>
            </a:r>
            <a:endParaRPr/>
          </a:p>
          <a:p>
            <a:pPr marL="457200" lvl="0" indent="-342900" algn="l" rtl="0">
              <a:spcBef>
                <a:spcPts val="0"/>
              </a:spcBef>
              <a:spcAft>
                <a:spcPts val="0"/>
              </a:spcAft>
              <a:buSzPts val="1800"/>
              <a:buChar char="❏"/>
            </a:pPr>
            <a:r>
              <a:rPr lang="en"/>
              <a:t>It allows creation of static, animated, and interactive visualizations.</a:t>
            </a:r>
            <a:endParaRPr/>
          </a:p>
          <a:p>
            <a:pPr marL="0" lvl="0" indent="0" algn="l" rtl="0">
              <a:spcBef>
                <a:spcPts val="1200"/>
              </a:spcBef>
              <a:spcAft>
                <a:spcPts val="1200"/>
              </a:spcAft>
              <a:buNone/>
            </a:pPr>
            <a:endParaRPr/>
          </a:p>
        </p:txBody>
      </p:sp>
      <p:pic>
        <p:nvPicPr>
          <p:cNvPr id="318" name="Google Shape;318;p54"/>
          <p:cNvPicPr preferRelativeResize="0"/>
          <p:nvPr/>
        </p:nvPicPr>
        <p:blipFill>
          <a:blip r:embed="rId3">
            <a:alphaModFix/>
          </a:blip>
          <a:stretch>
            <a:fillRect/>
          </a:stretch>
        </p:blipFill>
        <p:spPr>
          <a:xfrm>
            <a:off x="311688" y="2315338"/>
            <a:ext cx="4429125" cy="1819275"/>
          </a:xfrm>
          <a:prstGeom prst="rect">
            <a:avLst/>
          </a:prstGeom>
          <a:noFill/>
          <a:ln>
            <a:noFill/>
          </a:ln>
        </p:spPr>
      </p:pic>
      <p:pic>
        <p:nvPicPr>
          <p:cNvPr id="319" name="Google Shape;319;p54"/>
          <p:cNvPicPr preferRelativeResize="0"/>
          <p:nvPr/>
        </p:nvPicPr>
        <p:blipFill>
          <a:blip r:embed="rId4">
            <a:alphaModFix/>
          </a:blip>
          <a:stretch>
            <a:fillRect/>
          </a:stretch>
        </p:blipFill>
        <p:spPr>
          <a:xfrm>
            <a:off x="5567800" y="2270540"/>
            <a:ext cx="2357799" cy="1908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pic>
        <p:nvPicPr>
          <p:cNvPr id="324" name="Google Shape;324;p55"/>
          <p:cNvPicPr preferRelativeResize="0"/>
          <p:nvPr/>
        </p:nvPicPr>
        <p:blipFill>
          <a:blip r:embed="rId3">
            <a:alphaModFix/>
          </a:blip>
          <a:stretch>
            <a:fillRect/>
          </a:stretch>
        </p:blipFill>
        <p:spPr>
          <a:xfrm>
            <a:off x="3515575" y="1515325"/>
            <a:ext cx="2112825" cy="2112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 to OpenCV</a:t>
            </a:r>
            <a:endParaRPr/>
          </a:p>
        </p:txBody>
      </p:sp>
      <p:sp>
        <p:nvSpPr>
          <p:cNvPr id="330" name="Google Shape;330;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457200" lvl="0" indent="0" algn="l" rtl="0">
              <a:spcBef>
                <a:spcPts val="0"/>
              </a:spcBef>
              <a:spcAft>
                <a:spcPts val="0"/>
              </a:spcAft>
              <a:buNone/>
            </a:pPr>
            <a:r>
              <a:rPr lang="en" b="1" i="1"/>
              <a:t>OpenCV (Open Source Computer Vision Library)</a:t>
            </a:r>
            <a:endParaRPr b="1" i="1"/>
          </a:p>
          <a:p>
            <a:pPr marL="457200" lvl="0" indent="-308610" algn="l" rtl="0">
              <a:spcBef>
                <a:spcPts val="1200"/>
              </a:spcBef>
              <a:spcAft>
                <a:spcPts val="0"/>
              </a:spcAft>
              <a:buSzPct val="100000"/>
              <a:buChar char="❏"/>
            </a:pPr>
            <a:r>
              <a:rPr lang="en"/>
              <a:t>OpenCV is an open-source library filled with computer vision algorithms, designed to be cross-platform and compatible with languages like Python.</a:t>
            </a:r>
            <a:endParaRPr/>
          </a:p>
          <a:p>
            <a:pPr marL="457200" lvl="0" indent="-308610" algn="l" rtl="0">
              <a:spcBef>
                <a:spcPts val="0"/>
              </a:spcBef>
              <a:spcAft>
                <a:spcPts val="0"/>
              </a:spcAft>
              <a:buSzPct val="100000"/>
              <a:buChar char="❏"/>
            </a:pPr>
            <a:r>
              <a:rPr lang="en"/>
              <a:t>It is freely available for use under the open-source license.</a:t>
            </a:r>
            <a:endParaRPr/>
          </a:p>
          <a:p>
            <a:pPr marL="457200" lvl="0" indent="0" algn="l" rtl="0">
              <a:spcBef>
                <a:spcPts val="1200"/>
              </a:spcBef>
              <a:spcAft>
                <a:spcPts val="0"/>
              </a:spcAft>
              <a:buNone/>
            </a:pPr>
            <a:r>
              <a:rPr lang="en" b="1" i="1"/>
              <a:t>Why use OpenCV?</a:t>
            </a:r>
            <a:endParaRPr b="1" i="1"/>
          </a:p>
          <a:p>
            <a:pPr marL="457200" lvl="0" indent="-308610" algn="l" rtl="0">
              <a:spcBef>
                <a:spcPts val="1200"/>
              </a:spcBef>
              <a:spcAft>
                <a:spcPts val="0"/>
              </a:spcAft>
              <a:buSzPct val="100000"/>
              <a:buChar char="❏"/>
            </a:pPr>
            <a:r>
              <a:rPr lang="en"/>
              <a:t>OpenCV offers versatility, catering to a variety of applications from object identification to 3D reconstruction.</a:t>
            </a:r>
            <a:endParaRPr/>
          </a:p>
          <a:p>
            <a:pPr marL="457200" lvl="0" indent="-308610" algn="l" rtl="0">
              <a:spcBef>
                <a:spcPts val="0"/>
              </a:spcBef>
              <a:spcAft>
                <a:spcPts val="0"/>
              </a:spcAft>
              <a:buSzPct val="100000"/>
              <a:buChar char="❏"/>
            </a:pPr>
            <a:r>
              <a:rPr lang="en"/>
              <a:t>It is designed for real-time operations, making it ideal for computer vision tasks that need to run promptly.</a:t>
            </a:r>
            <a:endParaRPr/>
          </a:p>
          <a:p>
            <a:pPr marL="457200" lvl="0" indent="0" algn="l" rtl="0">
              <a:spcBef>
                <a:spcPts val="1200"/>
              </a:spcBef>
              <a:spcAft>
                <a:spcPts val="0"/>
              </a:spcAft>
              <a:buNone/>
            </a:pPr>
            <a:r>
              <a:rPr lang="en" b="1" i="1"/>
              <a:t>OpenCV and Python</a:t>
            </a:r>
            <a:endParaRPr b="1" i="1"/>
          </a:p>
          <a:p>
            <a:pPr marL="457200" lvl="0" indent="-308610" algn="l" rtl="0">
              <a:spcBef>
                <a:spcPts val="1200"/>
              </a:spcBef>
              <a:spcAft>
                <a:spcPts val="0"/>
              </a:spcAft>
              <a:buSzPct val="100000"/>
              <a:buChar char="❏"/>
            </a:pPr>
            <a:r>
              <a:rPr lang="en"/>
              <a:t>Python, with its intuitive syntax, is widely used for data science, including computer vision tasks.</a:t>
            </a:r>
            <a:endParaRPr/>
          </a:p>
          <a:p>
            <a:pPr marL="457200" lvl="0" indent="-308610" algn="l" rtl="0">
              <a:spcBef>
                <a:spcPts val="0"/>
              </a:spcBef>
              <a:spcAft>
                <a:spcPts val="0"/>
              </a:spcAft>
              <a:buSzPct val="100000"/>
              <a:buChar char="❏"/>
            </a:pPr>
            <a:r>
              <a:rPr lang="en"/>
              <a:t>OpenCV's functions are directly accessible to Python, enabling easy integration with existing Python workflows and making prototyping faster.</a:t>
            </a:r>
            <a:endParaRPr/>
          </a:p>
          <a:p>
            <a:pPr marL="457200" lvl="0" indent="0" algn="l" rtl="0">
              <a:spcBef>
                <a:spcPts val="1200"/>
              </a:spcBef>
              <a:spcAft>
                <a:spcPts val="1200"/>
              </a:spcAft>
              <a:buNone/>
            </a:pPr>
            <a:endParaRPr/>
          </a:p>
        </p:txBody>
      </p:sp>
      <p:sp>
        <p:nvSpPr>
          <p:cNvPr id="331" name="Google Shape;331;p56"/>
          <p:cNvSpPr txBox="1"/>
          <p:nvPr/>
        </p:nvSpPr>
        <p:spPr>
          <a:xfrm>
            <a:off x="2054225" y="4227700"/>
            <a:ext cx="5745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i="1"/>
              <a:t>Use import cv2 in google colab to use openCV </a:t>
            </a:r>
            <a:endParaRPr b="1" i="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represent an Image?</a:t>
            </a:r>
            <a:endParaRPr/>
          </a:p>
        </p:txBody>
      </p:sp>
      <p:pic>
        <p:nvPicPr>
          <p:cNvPr id="337" name="Google Shape;337;p57"/>
          <p:cNvPicPr preferRelativeResize="0"/>
          <p:nvPr/>
        </p:nvPicPr>
        <p:blipFill>
          <a:blip r:embed="rId3">
            <a:alphaModFix/>
          </a:blip>
          <a:stretch>
            <a:fillRect/>
          </a:stretch>
        </p:blipFill>
        <p:spPr>
          <a:xfrm>
            <a:off x="1756975" y="2280025"/>
            <a:ext cx="4733925" cy="2771775"/>
          </a:xfrm>
          <a:prstGeom prst="rect">
            <a:avLst/>
          </a:prstGeom>
          <a:noFill/>
          <a:ln>
            <a:noFill/>
          </a:ln>
        </p:spPr>
      </p:pic>
      <p:sp>
        <p:nvSpPr>
          <p:cNvPr id="338" name="Google Shape;338;p57"/>
          <p:cNvSpPr txBox="1"/>
          <p:nvPr/>
        </p:nvSpPr>
        <p:spPr>
          <a:xfrm>
            <a:off x="532725" y="1122550"/>
            <a:ext cx="6918600" cy="9234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dk1"/>
              </a:buClr>
              <a:buSzPts val="1200"/>
              <a:buChar char="❏"/>
            </a:pPr>
            <a:r>
              <a:rPr lang="en" sz="1200">
                <a:solidFill>
                  <a:schemeClr val="dk1"/>
                </a:solidFill>
              </a:rPr>
              <a:t>An image in RGB color is represented as a 3-channel matrix, where each channel represents the intensity of Red, Green, and Blue color components.</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The combination of these three color channels forms the color information for each pixel in the image.</a:t>
            </a:r>
            <a:endParaRPr sz="12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Reading and Displaying Images using OpenCV</a:t>
            </a:r>
            <a:endParaRPr/>
          </a:p>
        </p:txBody>
      </p:sp>
      <p:sp>
        <p:nvSpPr>
          <p:cNvPr id="344" name="Google Shape;344;p58"/>
          <p:cNvSpPr txBox="1"/>
          <p:nvPr/>
        </p:nvSpPr>
        <p:spPr>
          <a:xfrm>
            <a:off x="69725" y="1059150"/>
            <a:ext cx="8832300" cy="341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i="1">
                <a:solidFill>
                  <a:schemeClr val="dk1"/>
                </a:solidFill>
              </a:rPr>
              <a:t>Reading Images with cv2.imread()</a:t>
            </a:r>
            <a:endParaRPr sz="1000" b="1" i="1">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The cv2.imread() function is used to read an image from a file.</a:t>
            </a:r>
            <a:endParaRPr sz="1000">
              <a:solidFill>
                <a:schemeClr val="dk1"/>
              </a:solidFill>
            </a:endParaRPr>
          </a:p>
          <a:p>
            <a:pPr marL="0" lvl="0" indent="0" algn="l" rtl="0">
              <a:spcBef>
                <a:spcPts val="0"/>
              </a:spcBef>
              <a:spcAft>
                <a:spcPts val="0"/>
              </a:spcAft>
              <a:buNone/>
            </a:pPr>
            <a:r>
              <a:rPr lang="en" sz="1000">
                <a:solidFill>
                  <a:schemeClr val="dk1"/>
                </a:solidFill>
              </a:rPr>
              <a:t>It takes the image file path as an argument and returns the image as a NumPy array(BGR order).</a:t>
            </a:r>
            <a:endParaRPr sz="1000">
              <a:solidFill>
                <a:schemeClr val="dk1"/>
              </a:solidFill>
            </a:endParaRPr>
          </a:p>
          <a:p>
            <a:pPr marL="0" lvl="0" indent="0" algn="l" rtl="0">
              <a:spcBef>
                <a:spcPts val="0"/>
              </a:spcBef>
              <a:spcAft>
                <a:spcPts val="0"/>
              </a:spcAft>
              <a:buNone/>
            </a:pPr>
            <a:r>
              <a:rPr lang="en" sz="1000">
                <a:solidFill>
                  <a:schemeClr val="dk1"/>
                </a:solidFill>
              </a:rPr>
              <a:t>Example:</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import cv2</a:t>
            </a:r>
            <a:endParaRPr sz="1000">
              <a:solidFill>
                <a:schemeClr val="dk1"/>
              </a:solidFill>
            </a:endParaRPr>
          </a:p>
          <a:p>
            <a:pPr marL="0" lvl="0" indent="0" algn="l" rtl="0">
              <a:spcBef>
                <a:spcPts val="0"/>
              </a:spcBef>
              <a:spcAft>
                <a:spcPts val="0"/>
              </a:spcAft>
              <a:buNone/>
            </a:pPr>
            <a:r>
              <a:rPr lang="en" sz="1000">
                <a:solidFill>
                  <a:schemeClr val="dk1"/>
                </a:solidFill>
              </a:rPr>
              <a:t>image = cv2.imread('image.jpg')</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b="1" i="1">
                <a:solidFill>
                  <a:schemeClr val="dk1"/>
                </a:solidFill>
              </a:rPr>
              <a:t>Displaying Images with cv2.imshow()</a:t>
            </a:r>
            <a:endParaRPr sz="1000" b="1" i="1">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The cv2.imshow() function is used to display an image in a window.</a:t>
            </a:r>
            <a:endParaRPr sz="1000">
              <a:solidFill>
                <a:schemeClr val="dk1"/>
              </a:solidFill>
            </a:endParaRPr>
          </a:p>
          <a:p>
            <a:pPr marL="0" lvl="0" indent="0" algn="l" rtl="0">
              <a:spcBef>
                <a:spcPts val="0"/>
              </a:spcBef>
              <a:spcAft>
                <a:spcPts val="0"/>
              </a:spcAft>
              <a:buNone/>
            </a:pPr>
            <a:r>
              <a:rPr lang="en" sz="1000">
                <a:solidFill>
                  <a:schemeClr val="dk1"/>
                </a:solidFill>
              </a:rPr>
              <a:t>It takes the window name as the first argument and the image to be displayed as the second argument.</a:t>
            </a:r>
            <a:endParaRPr sz="1000">
              <a:solidFill>
                <a:schemeClr val="dk1"/>
              </a:solidFill>
            </a:endParaRPr>
          </a:p>
          <a:p>
            <a:pPr marL="0" lvl="0" indent="0" algn="l" rtl="0">
              <a:spcBef>
                <a:spcPts val="0"/>
              </a:spcBef>
              <a:spcAft>
                <a:spcPts val="0"/>
              </a:spcAft>
              <a:buNone/>
            </a:pPr>
            <a:r>
              <a:rPr lang="en" sz="1000">
                <a:solidFill>
                  <a:schemeClr val="dk1"/>
                </a:solidFill>
              </a:rPr>
              <a:t>Example:</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import cv2</a:t>
            </a:r>
            <a:endParaRPr sz="1000">
              <a:solidFill>
                <a:schemeClr val="dk1"/>
              </a:solidFill>
            </a:endParaRPr>
          </a:p>
          <a:p>
            <a:pPr marL="0" lvl="0" indent="0" algn="l" rtl="0">
              <a:spcBef>
                <a:spcPts val="0"/>
              </a:spcBef>
              <a:spcAft>
                <a:spcPts val="0"/>
              </a:spcAft>
              <a:buNone/>
            </a:pPr>
            <a:r>
              <a:rPr lang="en" sz="1000">
                <a:solidFill>
                  <a:schemeClr val="dk1"/>
                </a:solidFill>
              </a:rPr>
              <a:t>cv2.imshow('Image', image)</a:t>
            </a:r>
            <a:endParaRPr sz="1000">
              <a:solidFill>
                <a:schemeClr val="dk1"/>
              </a:solidFill>
            </a:endParaRPr>
          </a:p>
          <a:p>
            <a:pPr marL="0" lvl="0" indent="0" algn="l" rtl="0">
              <a:spcBef>
                <a:spcPts val="0"/>
              </a:spcBef>
              <a:spcAft>
                <a:spcPts val="0"/>
              </a:spcAft>
              <a:buNone/>
            </a:pPr>
            <a:r>
              <a:rPr lang="en" sz="1000">
                <a:solidFill>
                  <a:srgbClr val="D9D9D9"/>
                </a:solidFill>
              </a:rPr>
              <a:t>cv2.waitKey(0)</a:t>
            </a:r>
            <a:endParaRPr sz="1000">
              <a:solidFill>
                <a:srgbClr val="D9D9D9"/>
              </a:solidFill>
            </a:endParaRPr>
          </a:p>
          <a:p>
            <a:pPr marL="0" lvl="0" indent="0" algn="l" rtl="0">
              <a:spcBef>
                <a:spcPts val="0"/>
              </a:spcBef>
              <a:spcAft>
                <a:spcPts val="0"/>
              </a:spcAft>
              <a:buNone/>
            </a:pPr>
            <a:r>
              <a:rPr lang="en" sz="1000">
                <a:solidFill>
                  <a:srgbClr val="D9D9D9"/>
                </a:solidFill>
              </a:rPr>
              <a:t>cv2.destroyAllWindows()</a:t>
            </a:r>
            <a:endParaRPr sz="1000">
              <a:solidFill>
                <a:srgbClr val="D9D9D9"/>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i="1">
                <a:solidFill>
                  <a:schemeClr val="dk1"/>
                </a:solidFill>
              </a:rPr>
              <a:t>For Google Colab, we will use cv2_imshow()</a:t>
            </a:r>
            <a:endParaRPr sz="1000" i="1">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Image Properties</a:t>
            </a:r>
            <a:endParaRPr/>
          </a:p>
        </p:txBody>
      </p:sp>
      <p:pic>
        <p:nvPicPr>
          <p:cNvPr id="350" name="Google Shape;350;p59"/>
          <p:cNvPicPr preferRelativeResize="0"/>
          <p:nvPr/>
        </p:nvPicPr>
        <p:blipFill>
          <a:blip r:embed="rId3">
            <a:alphaModFix/>
          </a:blip>
          <a:stretch>
            <a:fillRect/>
          </a:stretch>
        </p:blipFill>
        <p:spPr>
          <a:xfrm>
            <a:off x="716850" y="1277950"/>
            <a:ext cx="4895850" cy="34385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60"/>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Image ROI (Region of Interest), Splitting, and Merging Images</a:t>
            </a:r>
            <a:endParaRPr/>
          </a:p>
        </p:txBody>
      </p:sp>
      <p:pic>
        <p:nvPicPr>
          <p:cNvPr id="356" name="Google Shape;356;p60"/>
          <p:cNvPicPr preferRelativeResize="0"/>
          <p:nvPr/>
        </p:nvPicPr>
        <p:blipFill>
          <a:blip r:embed="rId3">
            <a:alphaModFix/>
          </a:blip>
          <a:stretch>
            <a:fillRect/>
          </a:stretch>
        </p:blipFill>
        <p:spPr>
          <a:xfrm>
            <a:off x="152400" y="1170125"/>
            <a:ext cx="4464050" cy="2121750"/>
          </a:xfrm>
          <a:prstGeom prst="rect">
            <a:avLst/>
          </a:prstGeom>
          <a:noFill/>
          <a:ln>
            <a:noFill/>
          </a:ln>
        </p:spPr>
      </p:pic>
      <p:pic>
        <p:nvPicPr>
          <p:cNvPr id="357" name="Google Shape;357;p60"/>
          <p:cNvPicPr preferRelativeResize="0"/>
          <p:nvPr/>
        </p:nvPicPr>
        <p:blipFill rotWithShape="1">
          <a:blip r:embed="rId4">
            <a:alphaModFix/>
          </a:blip>
          <a:srcRect t="15746"/>
          <a:stretch/>
        </p:blipFill>
        <p:spPr>
          <a:xfrm>
            <a:off x="5663100" y="1742825"/>
            <a:ext cx="1553651" cy="1549051"/>
          </a:xfrm>
          <a:prstGeom prst="rect">
            <a:avLst/>
          </a:prstGeom>
          <a:noFill/>
          <a:ln>
            <a:noFill/>
          </a:ln>
        </p:spPr>
      </p:pic>
      <p:pic>
        <p:nvPicPr>
          <p:cNvPr id="358" name="Google Shape;358;p60"/>
          <p:cNvPicPr preferRelativeResize="0"/>
          <p:nvPr/>
        </p:nvPicPr>
        <p:blipFill rotWithShape="1">
          <a:blip r:embed="rId4">
            <a:alphaModFix/>
          </a:blip>
          <a:srcRect l="1989" t="829" r="82958" b="85011"/>
          <a:stretch/>
        </p:blipFill>
        <p:spPr>
          <a:xfrm>
            <a:off x="5713336" y="1742826"/>
            <a:ext cx="245707" cy="273527"/>
          </a:xfrm>
          <a:prstGeom prst="rect">
            <a:avLst/>
          </a:prstGeom>
          <a:noFill/>
          <a:ln w="38100" cap="flat" cmpd="sng">
            <a:solidFill>
              <a:srgbClr val="00FF00"/>
            </a:solidFill>
            <a:prstDash val="solid"/>
            <a:round/>
            <a:headEnd type="none" w="sm" len="sm"/>
            <a:tailEnd type="none" w="sm" len="sm"/>
          </a:ln>
        </p:spPr>
      </p:pic>
      <p:pic>
        <p:nvPicPr>
          <p:cNvPr id="359" name="Google Shape;359;p60"/>
          <p:cNvPicPr preferRelativeResize="0"/>
          <p:nvPr/>
        </p:nvPicPr>
        <p:blipFill rotWithShape="1">
          <a:blip r:embed="rId4">
            <a:alphaModFix/>
          </a:blip>
          <a:srcRect l="1989" t="829" r="82958" b="85011"/>
          <a:stretch/>
        </p:blipFill>
        <p:spPr>
          <a:xfrm>
            <a:off x="8180636" y="2380588"/>
            <a:ext cx="245707" cy="273527"/>
          </a:xfrm>
          <a:prstGeom prst="rect">
            <a:avLst/>
          </a:prstGeom>
          <a:noFill/>
          <a:ln w="38100" cap="flat" cmpd="sng">
            <a:solidFill>
              <a:srgbClr val="00FF00"/>
            </a:solidFill>
            <a:prstDash val="solid"/>
            <a:round/>
            <a:headEnd type="none" w="sm" len="sm"/>
            <a:tailEnd type="none" w="sm" len="sm"/>
          </a:ln>
        </p:spPr>
      </p:pic>
      <p:cxnSp>
        <p:nvCxnSpPr>
          <p:cNvPr id="360" name="Google Shape;360;p60"/>
          <p:cNvCxnSpPr>
            <a:stCxn id="357" idx="3"/>
            <a:endCxn id="359" idx="1"/>
          </p:cNvCxnSpPr>
          <p:nvPr/>
        </p:nvCxnSpPr>
        <p:spPr>
          <a:xfrm>
            <a:off x="7216751" y="2517350"/>
            <a:ext cx="9639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61"/>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Rotate image</a:t>
            </a:r>
            <a:endParaRPr/>
          </a:p>
        </p:txBody>
      </p:sp>
      <p:pic>
        <p:nvPicPr>
          <p:cNvPr id="366" name="Google Shape;366;p61"/>
          <p:cNvPicPr preferRelativeResize="0"/>
          <p:nvPr/>
        </p:nvPicPr>
        <p:blipFill rotWithShape="1">
          <a:blip r:embed="rId3">
            <a:alphaModFix/>
          </a:blip>
          <a:srcRect t="15746"/>
          <a:stretch/>
        </p:blipFill>
        <p:spPr>
          <a:xfrm>
            <a:off x="3012075" y="3125399"/>
            <a:ext cx="1707375" cy="1571600"/>
          </a:xfrm>
          <a:prstGeom prst="rect">
            <a:avLst/>
          </a:prstGeom>
          <a:noFill/>
          <a:ln>
            <a:noFill/>
          </a:ln>
        </p:spPr>
      </p:pic>
      <p:pic>
        <p:nvPicPr>
          <p:cNvPr id="367" name="Google Shape;367;p61"/>
          <p:cNvPicPr preferRelativeResize="0"/>
          <p:nvPr/>
        </p:nvPicPr>
        <p:blipFill>
          <a:blip r:embed="rId4">
            <a:alphaModFix/>
          </a:blip>
          <a:stretch>
            <a:fillRect/>
          </a:stretch>
        </p:blipFill>
        <p:spPr>
          <a:xfrm>
            <a:off x="152400" y="1170125"/>
            <a:ext cx="4352925" cy="1657350"/>
          </a:xfrm>
          <a:prstGeom prst="rect">
            <a:avLst/>
          </a:prstGeom>
          <a:noFill/>
          <a:ln>
            <a:noFill/>
          </a:ln>
        </p:spPr>
      </p:pic>
      <p:pic>
        <p:nvPicPr>
          <p:cNvPr id="368" name="Google Shape;368;p61"/>
          <p:cNvPicPr preferRelativeResize="0"/>
          <p:nvPr/>
        </p:nvPicPr>
        <p:blipFill>
          <a:blip r:embed="rId5">
            <a:alphaModFix/>
          </a:blip>
          <a:stretch>
            <a:fillRect/>
          </a:stretch>
        </p:blipFill>
        <p:spPr>
          <a:xfrm>
            <a:off x="5741857" y="3125400"/>
            <a:ext cx="1560568" cy="1571600"/>
          </a:xfrm>
          <a:prstGeom prst="rect">
            <a:avLst/>
          </a:prstGeom>
          <a:noFill/>
          <a:ln>
            <a:noFill/>
          </a:ln>
        </p:spPr>
      </p:pic>
      <p:cxnSp>
        <p:nvCxnSpPr>
          <p:cNvPr id="369" name="Google Shape;369;p61"/>
          <p:cNvCxnSpPr>
            <a:stCxn id="366" idx="3"/>
            <a:endCxn id="368" idx="1"/>
          </p:cNvCxnSpPr>
          <p:nvPr/>
        </p:nvCxnSpPr>
        <p:spPr>
          <a:xfrm>
            <a:off x="4719450" y="3911199"/>
            <a:ext cx="10224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2"/>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Flipping Image</a:t>
            </a:r>
            <a:endParaRPr/>
          </a:p>
        </p:txBody>
      </p:sp>
      <p:pic>
        <p:nvPicPr>
          <p:cNvPr id="375" name="Google Shape;375;p62"/>
          <p:cNvPicPr preferRelativeResize="0"/>
          <p:nvPr/>
        </p:nvPicPr>
        <p:blipFill rotWithShape="1">
          <a:blip r:embed="rId3">
            <a:alphaModFix/>
          </a:blip>
          <a:srcRect t="15746"/>
          <a:stretch/>
        </p:blipFill>
        <p:spPr>
          <a:xfrm>
            <a:off x="3012075" y="3125399"/>
            <a:ext cx="1707375" cy="1571600"/>
          </a:xfrm>
          <a:prstGeom prst="rect">
            <a:avLst/>
          </a:prstGeom>
          <a:noFill/>
          <a:ln>
            <a:noFill/>
          </a:ln>
        </p:spPr>
      </p:pic>
      <p:cxnSp>
        <p:nvCxnSpPr>
          <p:cNvPr id="376" name="Google Shape;376;p62"/>
          <p:cNvCxnSpPr>
            <a:stCxn id="375" idx="3"/>
            <a:endCxn id="377" idx="1"/>
          </p:cNvCxnSpPr>
          <p:nvPr/>
        </p:nvCxnSpPr>
        <p:spPr>
          <a:xfrm>
            <a:off x="4719450" y="3911199"/>
            <a:ext cx="1022400" cy="0"/>
          </a:xfrm>
          <a:prstGeom prst="straightConnector1">
            <a:avLst/>
          </a:prstGeom>
          <a:noFill/>
          <a:ln w="9525" cap="flat" cmpd="sng">
            <a:solidFill>
              <a:schemeClr val="dk2"/>
            </a:solidFill>
            <a:prstDash val="solid"/>
            <a:round/>
            <a:headEnd type="none" w="med" len="med"/>
            <a:tailEnd type="triangle" w="med" len="med"/>
          </a:ln>
        </p:spPr>
      </p:cxnSp>
      <p:pic>
        <p:nvPicPr>
          <p:cNvPr id="378" name="Google Shape;378;p62"/>
          <p:cNvPicPr preferRelativeResize="0"/>
          <p:nvPr/>
        </p:nvPicPr>
        <p:blipFill>
          <a:blip r:embed="rId4">
            <a:alphaModFix/>
          </a:blip>
          <a:stretch>
            <a:fillRect/>
          </a:stretch>
        </p:blipFill>
        <p:spPr>
          <a:xfrm>
            <a:off x="152400" y="1170125"/>
            <a:ext cx="7210425" cy="847725"/>
          </a:xfrm>
          <a:prstGeom prst="rect">
            <a:avLst/>
          </a:prstGeom>
          <a:noFill/>
          <a:ln>
            <a:noFill/>
          </a:ln>
        </p:spPr>
      </p:pic>
      <p:pic>
        <p:nvPicPr>
          <p:cNvPr id="379" name="Google Shape;379;p62"/>
          <p:cNvPicPr preferRelativeResize="0"/>
          <p:nvPr/>
        </p:nvPicPr>
        <p:blipFill>
          <a:blip r:embed="rId5">
            <a:alphaModFix/>
          </a:blip>
          <a:stretch>
            <a:fillRect/>
          </a:stretch>
        </p:blipFill>
        <p:spPr>
          <a:xfrm>
            <a:off x="5829550" y="3100025"/>
            <a:ext cx="1563174" cy="15715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3"/>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Color Spaces</a:t>
            </a:r>
            <a:endParaRPr/>
          </a:p>
        </p:txBody>
      </p:sp>
      <p:pic>
        <p:nvPicPr>
          <p:cNvPr id="385" name="Google Shape;385;p63"/>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386" name="Google Shape;386;p63"/>
          <p:cNvSpPr txBox="1"/>
          <p:nvPr/>
        </p:nvSpPr>
        <p:spPr>
          <a:xfrm>
            <a:off x="151575" y="1045325"/>
            <a:ext cx="4790400" cy="390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200" b="1" i="1">
              <a:solidFill>
                <a:schemeClr val="dk2"/>
              </a:solidFill>
            </a:endParaRPr>
          </a:p>
          <a:p>
            <a:pPr marL="457200" lvl="0" indent="0" algn="l" rtl="0">
              <a:lnSpc>
                <a:spcPct val="115000"/>
              </a:lnSpc>
              <a:spcBef>
                <a:spcPts val="1200"/>
              </a:spcBef>
              <a:spcAft>
                <a:spcPts val="0"/>
              </a:spcAft>
              <a:buNone/>
            </a:pPr>
            <a:r>
              <a:rPr lang="en" sz="1200" b="1">
                <a:solidFill>
                  <a:schemeClr val="dk2"/>
                </a:solidFill>
              </a:rPr>
              <a:t>Grayscale Color Space:</a:t>
            </a:r>
            <a:endParaRPr sz="1200" b="1">
              <a:solidFill>
                <a:schemeClr val="dk2"/>
              </a:solidFill>
            </a:endParaRPr>
          </a:p>
          <a:p>
            <a:pPr marL="457200" lvl="0" indent="-304800" algn="l" rtl="0">
              <a:lnSpc>
                <a:spcPct val="115000"/>
              </a:lnSpc>
              <a:spcBef>
                <a:spcPts val="1200"/>
              </a:spcBef>
              <a:spcAft>
                <a:spcPts val="0"/>
              </a:spcAft>
              <a:buClr>
                <a:schemeClr val="dk2"/>
              </a:buClr>
              <a:buSzPts val="1200"/>
              <a:buChar char="❏"/>
            </a:pPr>
            <a:r>
              <a:rPr lang="en" sz="1200">
                <a:solidFill>
                  <a:schemeClr val="dk2"/>
                </a:solidFill>
              </a:rPr>
              <a:t>Grayscale color space represents images using shades of gray, with each pixel's value indicating its intensity. It is commonly used in image analysis tasks.</a:t>
            </a:r>
            <a:endParaRPr sz="1200">
              <a:solidFill>
                <a:schemeClr val="dk2"/>
              </a:solidFill>
            </a:endParaRPr>
          </a:p>
          <a:p>
            <a:pPr marL="457200" lvl="0" indent="-304800" algn="l" rtl="0">
              <a:lnSpc>
                <a:spcPct val="115000"/>
              </a:lnSpc>
              <a:spcBef>
                <a:spcPts val="0"/>
              </a:spcBef>
              <a:spcAft>
                <a:spcPts val="0"/>
              </a:spcAft>
              <a:buClr>
                <a:schemeClr val="dk2"/>
              </a:buClr>
              <a:buSzPts val="1200"/>
              <a:buChar char="❏"/>
            </a:pPr>
            <a:r>
              <a:rPr lang="en" sz="1200">
                <a:solidFill>
                  <a:schemeClr val="dk2"/>
                </a:solidFill>
              </a:rPr>
              <a:t>To convert an image to grayscale in OpenCV: gray_image = cv2.</a:t>
            </a:r>
            <a:r>
              <a:rPr lang="en" sz="1200" b="1">
                <a:solidFill>
                  <a:schemeClr val="dk2"/>
                </a:solidFill>
              </a:rPr>
              <a:t>cvtColor</a:t>
            </a:r>
            <a:r>
              <a:rPr lang="en" sz="1200">
                <a:solidFill>
                  <a:schemeClr val="dk2"/>
                </a:solidFill>
              </a:rPr>
              <a:t>(image, cv2.</a:t>
            </a:r>
            <a:r>
              <a:rPr lang="en" sz="1200" b="1">
                <a:solidFill>
                  <a:schemeClr val="dk2"/>
                </a:solidFill>
              </a:rPr>
              <a:t>COLOR_BGR2GRAY</a:t>
            </a:r>
            <a:r>
              <a:rPr lang="en" sz="1200">
                <a:solidFill>
                  <a:schemeClr val="dk2"/>
                </a:solidFill>
              </a:rPr>
              <a:t>)</a:t>
            </a:r>
            <a:endParaRPr sz="1200">
              <a:solidFill>
                <a:schemeClr val="dk2"/>
              </a:solidFill>
            </a:endParaRPr>
          </a:p>
          <a:p>
            <a:pPr marL="457200" lvl="0" indent="0" algn="l" rtl="0">
              <a:lnSpc>
                <a:spcPct val="115000"/>
              </a:lnSpc>
              <a:spcBef>
                <a:spcPts val="1200"/>
              </a:spcBef>
              <a:spcAft>
                <a:spcPts val="0"/>
              </a:spcAft>
              <a:buNone/>
            </a:pPr>
            <a:r>
              <a:rPr lang="en" sz="1200" b="1">
                <a:solidFill>
                  <a:schemeClr val="dk2"/>
                </a:solidFill>
              </a:rPr>
              <a:t>HSV Color Space:</a:t>
            </a:r>
            <a:endParaRPr sz="1200" b="1">
              <a:solidFill>
                <a:schemeClr val="dk2"/>
              </a:solidFill>
            </a:endParaRPr>
          </a:p>
          <a:p>
            <a:pPr marL="457200" lvl="0" indent="-304800" algn="l" rtl="0">
              <a:lnSpc>
                <a:spcPct val="115000"/>
              </a:lnSpc>
              <a:spcBef>
                <a:spcPts val="1200"/>
              </a:spcBef>
              <a:spcAft>
                <a:spcPts val="0"/>
              </a:spcAft>
              <a:buClr>
                <a:schemeClr val="dk2"/>
              </a:buClr>
              <a:buSzPts val="1200"/>
              <a:buChar char="❏"/>
            </a:pPr>
            <a:r>
              <a:rPr lang="en" sz="1200">
                <a:solidFill>
                  <a:schemeClr val="dk2"/>
                </a:solidFill>
              </a:rPr>
              <a:t>HSV color space represents colors based on three components: Hue, Saturation, and Value. It provides a more intuitive representation of color compared to RGB.</a:t>
            </a:r>
            <a:endParaRPr sz="1200">
              <a:solidFill>
                <a:schemeClr val="dk2"/>
              </a:solidFill>
            </a:endParaRPr>
          </a:p>
          <a:p>
            <a:pPr marL="457200" lvl="0" indent="-304800" algn="l" rtl="0">
              <a:lnSpc>
                <a:spcPct val="115000"/>
              </a:lnSpc>
              <a:spcBef>
                <a:spcPts val="0"/>
              </a:spcBef>
              <a:spcAft>
                <a:spcPts val="0"/>
              </a:spcAft>
              <a:buClr>
                <a:schemeClr val="dk2"/>
              </a:buClr>
              <a:buSzPts val="1200"/>
              <a:buChar char="❏"/>
            </a:pPr>
            <a:r>
              <a:rPr lang="en" sz="1200">
                <a:solidFill>
                  <a:schemeClr val="dk2"/>
                </a:solidFill>
              </a:rPr>
              <a:t>To convert an image to HSV color space in OpenCV: hsv_image = cv2.</a:t>
            </a:r>
            <a:r>
              <a:rPr lang="en" sz="1200" b="1">
                <a:solidFill>
                  <a:schemeClr val="dk2"/>
                </a:solidFill>
              </a:rPr>
              <a:t>cvtColor</a:t>
            </a:r>
            <a:r>
              <a:rPr lang="en" sz="1200">
                <a:solidFill>
                  <a:schemeClr val="dk2"/>
                </a:solidFill>
              </a:rPr>
              <a:t>(image, cv2.</a:t>
            </a:r>
            <a:r>
              <a:rPr lang="en" sz="1200" b="1">
                <a:solidFill>
                  <a:schemeClr val="dk2"/>
                </a:solidFill>
              </a:rPr>
              <a:t>COLOR_BGR2HSV</a:t>
            </a:r>
            <a:r>
              <a:rPr lang="en" sz="1200">
                <a:solidFill>
                  <a:schemeClr val="dk2"/>
                </a:solidFill>
              </a:rPr>
              <a:t>)</a:t>
            </a:r>
            <a:endParaRPr sz="1200">
              <a:solidFill>
                <a:schemeClr val="dk2"/>
              </a:solidFill>
            </a:endParaRPr>
          </a:p>
          <a:p>
            <a:pPr marL="457200" lvl="0" indent="0" algn="l" rtl="0">
              <a:lnSpc>
                <a:spcPct val="115000"/>
              </a:lnSpc>
              <a:spcBef>
                <a:spcPts val="1200"/>
              </a:spcBef>
              <a:spcAft>
                <a:spcPts val="1200"/>
              </a:spcAft>
              <a:buNone/>
            </a:pPr>
            <a:endParaRPr sz="1200" b="1" i="1">
              <a:solidFill>
                <a:schemeClr val="dk2"/>
              </a:solidFill>
            </a:endParaRPr>
          </a:p>
        </p:txBody>
      </p:sp>
      <p:pic>
        <p:nvPicPr>
          <p:cNvPr id="387" name="Google Shape;387;p63"/>
          <p:cNvPicPr preferRelativeResize="0"/>
          <p:nvPr/>
        </p:nvPicPr>
        <p:blipFill>
          <a:blip r:embed="rId4">
            <a:alphaModFix/>
          </a:blip>
          <a:stretch>
            <a:fillRect/>
          </a:stretch>
        </p:blipFill>
        <p:spPr>
          <a:xfrm>
            <a:off x="5006250" y="2737425"/>
            <a:ext cx="1563175" cy="1546458"/>
          </a:xfrm>
          <a:prstGeom prst="rect">
            <a:avLst/>
          </a:prstGeom>
          <a:noFill/>
          <a:ln>
            <a:noFill/>
          </a:ln>
        </p:spPr>
      </p:pic>
      <p:pic>
        <p:nvPicPr>
          <p:cNvPr id="388" name="Google Shape;388;p63"/>
          <p:cNvPicPr preferRelativeResize="0"/>
          <p:nvPr/>
        </p:nvPicPr>
        <p:blipFill>
          <a:blip r:embed="rId5">
            <a:alphaModFix/>
          </a:blip>
          <a:stretch>
            <a:fillRect/>
          </a:stretch>
        </p:blipFill>
        <p:spPr>
          <a:xfrm>
            <a:off x="7387750" y="2738836"/>
            <a:ext cx="1563176" cy="1543639"/>
          </a:xfrm>
          <a:prstGeom prst="rect">
            <a:avLst/>
          </a:prstGeom>
          <a:noFill/>
          <a:ln>
            <a:noFill/>
          </a:ln>
        </p:spPr>
      </p:pic>
      <p:cxnSp>
        <p:nvCxnSpPr>
          <p:cNvPr id="389" name="Google Shape;389;p63"/>
          <p:cNvCxnSpPr>
            <a:stCxn id="385" idx="2"/>
            <a:endCxn id="387" idx="0"/>
          </p:cNvCxnSpPr>
          <p:nvPr/>
        </p:nvCxnSpPr>
        <p:spPr>
          <a:xfrm flipH="1">
            <a:off x="5787862" y="1931799"/>
            <a:ext cx="1236300" cy="805500"/>
          </a:xfrm>
          <a:prstGeom prst="straightConnector1">
            <a:avLst/>
          </a:prstGeom>
          <a:noFill/>
          <a:ln w="9525" cap="flat" cmpd="sng">
            <a:solidFill>
              <a:schemeClr val="dk2"/>
            </a:solidFill>
            <a:prstDash val="solid"/>
            <a:round/>
            <a:headEnd type="none" w="med" len="med"/>
            <a:tailEnd type="triangle" w="med" len="med"/>
          </a:ln>
        </p:spPr>
      </p:cxnSp>
      <p:cxnSp>
        <p:nvCxnSpPr>
          <p:cNvPr id="390" name="Google Shape;390;p63"/>
          <p:cNvCxnSpPr>
            <a:stCxn id="385" idx="2"/>
            <a:endCxn id="388" idx="0"/>
          </p:cNvCxnSpPr>
          <p:nvPr/>
        </p:nvCxnSpPr>
        <p:spPr>
          <a:xfrm>
            <a:off x="7024162" y="1931799"/>
            <a:ext cx="1145100" cy="807000"/>
          </a:xfrm>
          <a:prstGeom prst="straightConnector1">
            <a:avLst/>
          </a:prstGeom>
          <a:noFill/>
          <a:ln w="9525" cap="flat" cmpd="sng">
            <a:solidFill>
              <a:schemeClr val="dk2"/>
            </a:solidFill>
            <a:prstDash val="solid"/>
            <a:round/>
            <a:headEnd type="none" w="med" len="med"/>
            <a:tailEnd type="triangle" w="med" len="med"/>
          </a:ln>
        </p:spPr>
      </p:cxnSp>
      <p:sp>
        <p:nvSpPr>
          <p:cNvPr id="391" name="Google Shape;391;p63"/>
          <p:cNvSpPr txBox="1"/>
          <p:nvPr/>
        </p:nvSpPr>
        <p:spPr>
          <a:xfrm rot="-1861350">
            <a:off x="5833675" y="2024631"/>
            <a:ext cx="702596" cy="32325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Gray</a:t>
            </a:r>
            <a:endParaRPr sz="900"/>
          </a:p>
        </p:txBody>
      </p:sp>
      <p:sp>
        <p:nvSpPr>
          <p:cNvPr id="392" name="Google Shape;392;p63"/>
          <p:cNvSpPr txBox="1"/>
          <p:nvPr/>
        </p:nvSpPr>
        <p:spPr>
          <a:xfrm rot="1999829">
            <a:off x="7484387" y="2085677"/>
            <a:ext cx="702680" cy="32326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HSV</a:t>
            </a:r>
            <a:endParaRPr sz="9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4"/>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Arithmetic Operations on Images</a:t>
            </a:r>
            <a:endParaRPr/>
          </a:p>
        </p:txBody>
      </p:sp>
      <p:pic>
        <p:nvPicPr>
          <p:cNvPr id="398" name="Google Shape;398;p64"/>
          <p:cNvPicPr preferRelativeResize="0"/>
          <p:nvPr/>
        </p:nvPicPr>
        <p:blipFill>
          <a:blip r:embed="rId3">
            <a:alphaModFix/>
          </a:blip>
          <a:stretch>
            <a:fillRect/>
          </a:stretch>
        </p:blipFill>
        <p:spPr>
          <a:xfrm>
            <a:off x="152400" y="1170125"/>
            <a:ext cx="3876675" cy="1743075"/>
          </a:xfrm>
          <a:prstGeom prst="rect">
            <a:avLst/>
          </a:prstGeom>
          <a:noFill/>
          <a:ln>
            <a:noFill/>
          </a:ln>
        </p:spPr>
      </p:pic>
      <p:pic>
        <p:nvPicPr>
          <p:cNvPr id="399" name="Google Shape;399;p64"/>
          <p:cNvPicPr preferRelativeResize="0"/>
          <p:nvPr/>
        </p:nvPicPr>
        <p:blipFill rotWithShape="1">
          <a:blip r:embed="rId4">
            <a:alphaModFix/>
          </a:blip>
          <a:srcRect t="15746"/>
          <a:stretch/>
        </p:blipFill>
        <p:spPr>
          <a:xfrm>
            <a:off x="6170475" y="360199"/>
            <a:ext cx="1707375" cy="1571600"/>
          </a:xfrm>
          <a:prstGeom prst="rect">
            <a:avLst/>
          </a:prstGeom>
          <a:noFill/>
          <a:ln>
            <a:noFill/>
          </a:ln>
        </p:spPr>
      </p:pic>
      <p:cxnSp>
        <p:nvCxnSpPr>
          <p:cNvPr id="400" name="Google Shape;400;p64"/>
          <p:cNvCxnSpPr>
            <a:stCxn id="399" idx="2"/>
            <a:endCxn id="401" idx="0"/>
          </p:cNvCxnSpPr>
          <p:nvPr/>
        </p:nvCxnSpPr>
        <p:spPr>
          <a:xfrm flipH="1">
            <a:off x="5787862" y="1931799"/>
            <a:ext cx="1236300" cy="805500"/>
          </a:xfrm>
          <a:prstGeom prst="straightConnector1">
            <a:avLst/>
          </a:prstGeom>
          <a:noFill/>
          <a:ln w="9525" cap="flat" cmpd="sng">
            <a:solidFill>
              <a:schemeClr val="dk2"/>
            </a:solidFill>
            <a:prstDash val="solid"/>
            <a:round/>
            <a:headEnd type="none" w="med" len="med"/>
            <a:tailEnd type="triangle" w="med" len="med"/>
          </a:ln>
        </p:spPr>
      </p:cxnSp>
      <p:cxnSp>
        <p:nvCxnSpPr>
          <p:cNvPr id="402" name="Google Shape;402;p64"/>
          <p:cNvCxnSpPr>
            <a:stCxn id="399" idx="2"/>
            <a:endCxn id="403" idx="0"/>
          </p:cNvCxnSpPr>
          <p:nvPr/>
        </p:nvCxnSpPr>
        <p:spPr>
          <a:xfrm>
            <a:off x="7024162" y="1931799"/>
            <a:ext cx="1145100" cy="807000"/>
          </a:xfrm>
          <a:prstGeom prst="straightConnector1">
            <a:avLst/>
          </a:prstGeom>
          <a:noFill/>
          <a:ln w="9525" cap="flat" cmpd="sng">
            <a:solidFill>
              <a:schemeClr val="dk2"/>
            </a:solidFill>
            <a:prstDash val="solid"/>
            <a:round/>
            <a:headEnd type="none" w="med" len="med"/>
            <a:tailEnd type="triangle" w="med" len="med"/>
          </a:ln>
        </p:spPr>
      </p:cxnSp>
      <p:sp>
        <p:nvSpPr>
          <p:cNvPr id="404" name="Google Shape;404;p64"/>
          <p:cNvSpPr txBox="1"/>
          <p:nvPr/>
        </p:nvSpPr>
        <p:spPr>
          <a:xfrm rot="-1861350">
            <a:off x="5833675" y="2024631"/>
            <a:ext cx="702596" cy="32325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Addition</a:t>
            </a:r>
            <a:endParaRPr sz="900"/>
          </a:p>
        </p:txBody>
      </p:sp>
      <p:sp>
        <p:nvSpPr>
          <p:cNvPr id="405" name="Google Shape;405;p64"/>
          <p:cNvSpPr txBox="1"/>
          <p:nvPr/>
        </p:nvSpPr>
        <p:spPr>
          <a:xfrm rot="1999857">
            <a:off x="7348252" y="2070669"/>
            <a:ext cx="929252" cy="32326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Subtraction</a:t>
            </a:r>
            <a:endParaRPr sz="900"/>
          </a:p>
        </p:txBody>
      </p:sp>
      <p:pic>
        <p:nvPicPr>
          <p:cNvPr id="406" name="Google Shape;406;p64"/>
          <p:cNvPicPr preferRelativeResize="0"/>
          <p:nvPr/>
        </p:nvPicPr>
        <p:blipFill>
          <a:blip r:embed="rId5">
            <a:alphaModFix/>
          </a:blip>
          <a:stretch>
            <a:fillRect/>
          </a:stretch>
        </p:blipFill>
        <p:spPr>
          <a:xfrm>
            <a:off x="4992175" y="2738825"/>
            <a:ext cx="1577246" cy="1571601"/>
          </a:xfrm>
          <a:prstGeom prst="rect">
            <a:avLst/>
          </a:prstGeom>
          <a:noFill/>
          <a:ln>
            <a:noFill/>
          </a:ln>
        </p:spPr>
      </p:pic>
      <p:pic>
        <p:nvPicPr>
          <p:cNvPr id="407" name="Google Shape;407;p64"/>
          <p:cNvPicPr preferRelativeResize="0"/>
          <p:nvPr/>
        </p:nvPicPr>
        <p:blipFill>
          <a:blip r:embed="rId6">
            <a:alphaModFix/>
          </a:blip>
          <a:stretch>
            <a:fillRect/>
          </a:stretch>
        </p:blipFill>
        <p:spPr>
          <a:xfrm>
            <a:off x="7419450" y="2764350"/>
            <a:ext cx="1577251" cy="156314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65"/>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Image Thresholding</a:t>
            </a:r>
            <a:endParaRPr/>
          </a:p>
        </p:txBody>
      </p:sp>
      <p:pic>
        <p:nvPicPr>
          <p:cNvPr id="413" name="Google Shape;413;p65"/>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414" name="Google Shape;414;p65"/>
          <p:cNvSpPr txBox="1"/>
          <p:nvPr/>
        </p:nvSpPr>
        <p:spPr>
          <a:xfrm>
            <a:off x="151575" y="1045325"/>
            <a:ext cx="4790400" cy="152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2"/>
                </a:solidFill>
              </a:rPr>
              <a:t>Image thresholding is a technique used to convert a grayscale image into a binary image, where each pixel is classified as either black or white based on a specified threshold value.</a:t>
            </a:r>
            <a:endParaRPr sz="1200">
              <a:solidFill>
                <a:schemeClr val="dk2"/>
              </a:solidFill>
            </a:endParaRPr>
          </a:p>
          <a:p>
            <a:pPr marL="914400" lvl="0" indent="0" algn="l" rtl="0">
              <a:lnSpc>
                <a:spcPct val="115000"/>
              </a:lnSpc>
              <a:spcBef>
                <a:spcPts val="1200"/>
              </a:spcBef>
              <a:spcAft>
                <a:spcPts val="0"/>
              </a:spcAft>
              <a:buNone/>
            </a:pPr>
            <a:endParaRPr sz="1200">
              <a:solidFill>
                <a:schemeClr val="dk2"/>
              </a:solidFill>
            </a:endParaRPr>
          </a:p>
          <a:p>
            <a:pPr marL="457200" lvl="0" indent="0" algn="l" rtl="0">
              <a:lnSpc>
                <a:spcPct val="115000"/>
              </a:lnSpc>
              <a:spcBef>
                <a:spcPts val="1200"/>
              </a:spcBef>
              <a:spcAft>
                <a:spcPts val="1200"/>
              </a:spcAft>
              <a:buNone/>
            </a:pPr>
            <a:endParaRPr sz="1200">
              <a:solidFill>
                <a:schemeClr val="dk2"/>
              </a:solidFill>
            </a:endParaRPr>
          </a:p>
        </p:txBody>
      </p:sp>
      <p:sp>
        <p:nvSpPr>
          <p:cNvPr id="415" name="Google Shape;415;p65"/>
          <p:cNvSpPr txBox="1"/>
          <p:nvPr/>
        </p:nvSpPr>
        <p:spPr>
          <a:xfrm rot="-5395596">
            <a:off x="6488654" y="2307772"/>
            <a:ext cx="702601"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Threshold</a:t>
            </a:r>
            <a:endParaRPr sz="900"/>
          </a:p>
        </p:txBody>
      </p:sp>
      <p:pic>
        <p:nvPicPr>
          <p:cNvPr id="416" name="Google Shape;416;p65"/>
          <p:cNvPicPr preferRelativeResize="0"/>
          <p:nvPr/>
        </p:nvPicPr>
        <p:blipFill>
          <a:blip r:embed="rId4">
            <a:alphaModFix/>
          </a:blip>
          <a:stretch>
            <a:fillRect/>
          </a:stretch>
        </p:blipFill>
        <p:spPr>
          <a:xfrm>
            <a:off x="97050" y="2044125"/>
            <a:ext cx="4690322" cy="1543650"/>
          </a:xfrm>
          <a:prstGeom prst="rect">
            <a:avLst/>
          </a:prstGeom>
          <a:noFill/>
          <a:ln>
            <a:noFill/>
          </a:ln>
        </p:spPr>
      </p:pic>
      <p:pic>
        <p:nvPicPr>
          <p:cNvPr id="417" name="Google Shape;417;p65"/>
          <p:cNvPicPr preferRelativeResize="0"/>
          <p:nvPr/>
        </p:nvPicPr>
        <p:blipFill>
          <a:blip r:embed="rId5">
            <a:alphaModFix/>
          </a:blip>
          <a:stretch>
            <a:fillRect/>
          </a:stretch>
        </p:blipFill>
        <p:spPr>
          <a:xfrm>
            <a:off x="6241125" y="3309275"/>
            <a:ext cx="1566068" cy="1571601"/>
          </a:xfrm>
          <a:prstGeom prst="rect">
            <a:avLst/>
          </a:prstGeom>
          <a:noFill/>
          <a:ln>
            <a:noFill/>
          </a:ln>
        </p:spPr>
      </p:pic>
      <p:cxnSp>
        <p:nvCxnSpPr>
          <p:cNvPr id="418" name="Google Shape;418;p65"/>
          <p:cNvCxnSpPr>
            <a:stCxn id="413" idx="2"/>
            <a:endCxn id="417" idx="0"/>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66"/>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Image Resizing</a:t>
            </a:r>
            <a:endParaRPr/>
          </a:p>
        </p:txBody>
      </p:sp>
      <p:pic>
        <p:nvPicPr>
          <p:cNvPr id="424" name="Google Shape;424;p66"/>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425" name="Google Shape;425;p66"/>
          <p:cNvSpPr txBox="1"/>
          <p:nvPr/>
        </p:nvSpPr>
        <p:spPr>
          <a:xfrm>
            <a:off x="151575" y="1045325"/>
            <a:ext cx="4790400" cy="1102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2"/>
                </a:solidFill>
              </a:rPr>
              <a:t>cv2.resize(img, (w,h))</a:t>
            </a:r>
            <a:endParaRPr sz="1200">
              <a:solidFill>
                <a:schemeClr val="dk2"/>
              </a:solidFill>
            </a:endParaRPr>
          </a:p>
          <a:p>
            <a:pPr marL="914400" lvl="0" indent="0" algn="l" rtl="0">
              <a:lnSpc>
                <a:spcPct val="115000"/>
              </a:lnSpc>
              <a:spcBef>
                <a:spcPts val="1200"/>
              </a:spcBef>
              <a:spcAft>
                <a:spcPts val="0"/>
              </a:spcAft>
              <a:buNone/>
            </a:pPr>
            <a:endParaRPr sz="1200">
              <a:solidFill>
                <a:schemeClr val="dk2"/>
              </a:solidFill>
            </a:endParaRPr>
          </a:p>
          <a:p>
            <a:pPr marL="457200" lvl="0" indent="0" algn="l" rtl="0">
              <a:lnSpc>
                <a:spcPct val="115000"/>
              </a:lnSpc>
              <a:spcBef>
                <a:spcPts val="1200"/>
              </a:spcBef>
              <a:spcAft>
                <a:spcPts val="1200"/>
              </a:spcAft>
              <a:buNone/>
            </a:pPr>
            <a:endParaRPr sz="1200">
              <a:solidFill>
                <a:schemeClr val="dk2"/>
              </a:solidFill>
            </a:endParaRPr>
          </a:p>
        </p:txBody>
      </p:sp>
      <p:sp>
        <p:nvSpPr>
          <p:cNvPr id="426" name="Google Shape;426;p66"/>
          <p:cNvSpPr txBox="1"/>
          <p:nvPr/>
        </p:nvSpPr>
        <p:spPr>
          <a:xfrm rot="-5395596">
            <a:off x="6488654" y="2307772"/>
            <a:ext cx="702601"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Resize</a:t>
            </a:r>
            <a:endParaRPr sz="900"/>
          </a:p>
        </p:txBody>
      </p:sp>
      <p:cxnSp>
        <p:nvCxnSpPr>
          <p:cNvPr id="427" name="Google Shape;427;p66"/>
          <p:cNvCxnSpPr>
            <a:stCxn id="424" idx="2"/>
            <a:endCxn id="428" idx="0"/>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429" name="Google Shape;429;p66"/>
          <p:cNvPicPr preferRelativeResize="0"/>
          <p:nvPr/>
        </p:nvPicPr>
        <p:blipFill rotWithShape="1">
          <a:blip r:embed="rId3">
            <a:alphaModFix/>
          </a:blip>
          <a:srcRect t="15746"/>
          <a:stretch/>
        </p:blipFill>
        <p:spPr>
          <a:xfrm>
            <a:off x="6713063" y="3360225"/>
            <a:ext cx="622177" cy="572699"/>
          </a:xfrm>
          <a:prstGeom prst="rect">
            <a:avLst/>
          </a:prstGeom>
          <a:noFill/>
          <a:ln>
            <a:noFill/>
          </a:ln>
        </p:spPr>
      </p:pic>
      <p:pic>
        <p:nvPicPr>
          <p:cNvPr id="430" name="Google Shape;430;p66"/>
          <p:cNvPicPr preferRelativeResize="0"/>
          <p:nvPr/>
        </p:nvPicPr>
        <p:blipFill>
          <a:blip r:embed="rId4">
            <a:alphaModFix/>
          </a:blip>
          <a:stretch>
            <a:fillRect/>
          </a:stretch>
        </p:blipFill>
        <p:spPr>
          <a:xfrm>
            <a:off x="336325" y="2255400"/>
            <a:ext cx="4086225" cy="15906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67"/>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Gaussian Blur</a:t>
            </a:r>
            <a:endParaRPr/>
          </a:p>
        </p:txBody>
      </p:sp>
      <p:pic>
        <p:nvPicPr>
          <p:cNvPr id="436" name="Google Shape;436;p67"/>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437" name="Google Shape;437;p67"/>
          <p:cNvSpPr txBox="1"/>
          <p:nvPr/>
        </p:nvSpPr>
        <p:spPr>
          <a:xfrm>
            <a:off x="151575" y="1045325"/>
            <a:ext cx="4790400" cy="21642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2"/>
              </a:buClr>
              <a:buSzPts val="1200"/>
              <a:buChar char="❏"/>
            </a:pPr>
            <a:r>
              <a:rPr lang="en" sz="1200">
                <a:solidFill>
                  <a:schemeClr val="dk2"/>
                </a:solidFill>
              </a:rPr>
              <a:t>Gaussian blur is a commonly used image blurring technique that reduces image noise and smoothens the edges by convolving the image with a Gaussian kernel. </a:t>
            </a:r>
            <a:endParaRPr sz="1200">
              <a:solidFill>
                <a:schemeClr val="dk2"/>
              </a:solidFill>
            </a:endParaRPr>
          </a:p>
          <a:p>
            <a:pPr marL="457200" lvl="0" indent="-304800" algn="l" rtl="0">
              <a:lnSpc>
                <a:spcPct val="115000"/>
              </a:lnSpc>
              <a:spcBef>
                <a:spcPts val="0"/>
              </a:spcBef>
              <a:spcAft>
                <a:spcPts val="0"/>
              </a:spcAft>
              <a:buClr>
                <a:schemeClr val="dk2"/>
              </a:buClr>
              <a:buSzPts val="1200"/>
              <a:buChar char="❏"/>
            </a:pPr>
            <a:r>
              <a:rPr lang="en" sz="1200">
                <a:solidFill>
                  <a:schemeClr val="dk2"/>
                </a:solidFill>
              </a:rPr>
              <a:t>In the given code, cv2.GaussianBlur() is used to apply Gaussian blur to the image img with a kernel size of (5, 5) and a standard deviation of 0.</a:t>
            </a:r>
            <a:endParaRPr sz="1200">
              <a:solidFill>
                <a:schemeClr val="dk2"/>
              </a:solidFill>
            </a:endParaRPr>
          </a:p>
          <a:p>
            <a:pPr marL="914400" lvl="0" indent="0" algn="l" rtl="0">
              <a:lnSpc>
                <a:spcPct val="115000"/>
              </a:lnSpc>
              <a:spcBef>
                <a:spcPts val="1200"/>
              </a:spcBef>
              <a:spcAft>
                <a:spcPts val="0"/>
              </a:spcAft>
              <a:buNone/>
            </a:pPr>
            <a:endParaRPr sz="1200">
              <a:solidFill>
                <a:schemeClr val="dk2"/>
              </a:solidFill>
            </a:endParaRPr>
          </a:p>
          <a:p>
            <a:pPr marL="457200" lvl="0" indent="0" algn="l" rtl="0">
              <a:lnSpc>
                <a:spcPct val="115000"/>
              </a:lnSpc>
              <a:spcBef>
                <a:spcPts val="1200"/>
              </a:spcBef>
              <a:spcAft>
                <a:spcPts val="1200"/>
              </a:spcAft>
              <a:buNone/>
            </a:pPr>
            <a:endParaRPr sz="1200">
              <a:solidFill>
                <a:schemeClr val="dk2"/>
              </a:solidFill>
            </a:endParaRPr>
          </a:p>
        </p:txBody>
      </p:sp>
      <p:sp>
        <p:nvSpPr>
          <p:cNvPr id="438" name="Google Shape;438;p67"/>
          <p:cNvSpPr txBox="1"/>
          <p:nvPr/>
        </p:nvSpPr>
        <p:spPr>
          <a:xfrm rot="-5395596">
            <a:off x="6557954" y="2238472"/>
            <a:ext cx="702601"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Gaussian Blur</a:t>
            </a:r>
            <a:endParaRPr sz="900"/>
          </a:p>
        </p:txBody>
      </p:sp>
      <p:cxnSp>
        <p:nvCxnSpPr>
          <p:cNvPr id="439" name="Google Shape;439;p67"/>
          <p:cNvCxnSpPr>
            <a:stCxn id="436" idx="2"/>
            <a:endCxn id="440" idx="0"/>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441" name="Google Shape;441;p67"/>
          <p:cNvPicPr preferRelativeResize="0"/>
          <p:nvPr/>
        </p:nvPicPr>
        <p:blipFill>
          <a:blip r:embed="rId4">
            <a:alphaModFix/>
          </a:blip>
          <a:stretch>
            <a:fillRect/>
          </a:stretch>
        </p:blipFill>
        <p:spPr>
          <a:xfrm>
            <a:off x="452875" y="2786350"/>
            <a:ext cx="3113504" cy="1377600"/>
          </a:xfrm>
          <a:prstGeom prst="rect">
            <a:avLst/>
          </a:prstGeom>
          <a:noFill/>
          <a:ln>
            <a:noFill/>
          </a:ln>
        </p:spPr>
      </p:pic>
      <p:pic>
        <p:nvPicPr>
          <p:cNvPr id="442" name="Google Shape;442;p67"/>
          <p:cNvPicPr preferRelativeResize="0"/>
          <p:nvPr/>
        </p:nvPicPr>
        <p:blipFill>
          <a:blip r:embed="rId5">
            <a:alphaModFix/>
          </a:blip>
          <a:stretch>
            <a:fillRect/>
          </a:stretch>
        </p:blipFill>
        <p:spPr>
          <a:xfrm>
            <a:off x="6234088" y="3278749"/>
            <a:ext cx="1580127" cy="1571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68"/>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Edge Detection</a:t>
            </a:r>
            <a:endParaRPr/>
          </a:p>
        </p:txBody>
      </p:sp>
      <p:pic>
        <p:nvPicPr>
          <p:cNvPr id="448" name="Google Shape;448;p68"/>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449" name="Google Shape;449;p68"/>
          <p:cNvSpPr txBox="1"/>
          <p:nvPr/>
        </p:nvSpPr>
        <p:spPr>
          <a:xfrm>
            <a:off x="151575" y="1045325"/>
            <a:ext cx="4790400" cy="15270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2"/>
              </a:buClr>
              <a:buSzPts val="1200"/>
              <a:buChar char="❏"/>
            </a:pPr>
            <a:r>
              <a:rPr lang="en" sz="1200">
                <a:solidFill>
                  <a:schemeClr val="dk2"/>
                </a:solidFill>
              </a:rPr>
              <a:t>cv2.Canny(): The Canny edge detection algorithm is a popular method used to detect edges in an image, based on the intensity gradient of pixels.</a:t>
            </a:r>
            <a:endParaRPr sz="1200">
              <a:solidFill>
                <a:schemeClr val="dk2"/>
              </a:solidFill>
            </a:endParaRPr>
          </a:p>
          <a:p>
            <a:pPr marL="914400" lvl="0" indent="0" algn="l" rtl="0">
              <a:lnSpc>
                <a:spcPct val="115000"/>
              </a:lnSpc>
              <a:spcBef>
                <a:spcPts val="1200"/>
              </a:spcBef>
              <a:spcAft>
                <a:spcPts val="0"/>
              </a:spcAft>
              <a:buNone/>
            </a:pPr>
            <a:endParaRPr sz="1200">
              <a:solidFill>
                <a:schemeClr val="dk2"/>
              </a:solidFill>
            </a:endParaRPr>
          </a:p>
          <a:p>
            <a:pPr marL="457200" lvl="0" indent="0" algn="l" rtl="0">
              <a:lnSpc>
                <a:spcPct val="115000"/>
              </a:lnSpc>
              <a:spcBef>
                <a:spcPts val="1200"/>
              </a:spcBef>
              <a:spcAft>
                <a:spcPts val="1200"/>
              </a:spcAft>
              <a:buNone/>
            </a:pPr>
            <a:endParaRPr sz="1200">
              <a:solidFill>
                <a:schemeClr val="dk2"/>
              </a:solidFill>
            </a:endParaRPr>
          </a:p>
        </p:txBody>
      </p:sp>
      <p:sp>
        <p:nvSpPr>
          <p:cNvPr id="450" name="Google Shape;450;p68"/>
          <p:cNvSpPr txBox="1"/>
          <p:nvPr/>
        </p:nvSpPr>
        <p:spPr>
          <a:xfrm rot="-5395054">
            <a:off x="6110074" y="2485450"/>
            <a:ext cx="1459502"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Canny Edge Detection</a:t>
            </a:r>
            <a:endParaRPr sz="900"/>
          </a:p>
        </p:txBody>
      </p:sp>
      <p:cxnSp>
        <p:nvCxnSpPr>
          <p:cNvPr id="451" name="Google Shape;451;p68"/>
          <p:cNvCxnSpPr>
            <a:stCxn id="448" idx="2"/>
            <a:endCxn id="452" idx="0"/>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453" name="Google Shape;453;p68"/>
          <p:cNvPicPr preferRelativeResize="0"/>
          <p:nvPr/>
        </p:nvPicPr>
        <p:blipFill>
          <a:blip r:embed="rId4">
            <a:alphaModFix/>
          </a:blip>
          <a:stretch>
            <a:fillRect/>
          </a:stretch>
        </p:blipFill>
        <p:spPr>
          <a:xfrm>
            <a:off x="538775" y="2820625"/>
            <a:ext cx="3876675" cy="1476375"/>
          </a:xfrm>
          <a:prstGeom prst="rect">
            <a:avLst/>
          </a:prstGeom>
          <a:noFill/>
          <a:ln>
            <a:noFill/>
          </a:ln>
        </p:spPr>
      </p:pic>
      <p:pic>
        <p:nvPicPr>
          <p:cNvPr id="454" name="Google Shape;454;p68"/>
          <p:cNvPicPr preferRelativeResize="0"/>
          <p:nvPr/>
        </p:nvPicPr>
        <p:blipFill>
          <a:blip r:embed="rId5">
            <a:alphaModFix/>
          </a:blip>
          <a:stretch>
            <a:fillRect/>
          </a:stretch>
        </p:blipFill>
        <p:spPr>
          <a:xfrm>
            <a:off x="6222838" y="3340999"/>
            <a:ext cx="1602625" cy="159688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9"/>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Image Contours</a:t>
            </a:r>
            <a:endParaRPr/>
          </a:p>
        </p:txBody>
      </p:sp>
      <p:pic>
        <p:nvPicPr>
          <p:cNvPr id="460" name="Google Shape;460;p69"/>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461" name="Google Shape;461;p69"/>
          <p:cNvSpPr txBox="1"/>
          <p:nvPr/>
        </p:nvSpPr>
        <p:spPr>
          <a:xfrm>
            <a:off x="151575" y="1045325"/>
            <a:ext cx="5655600" cy="30138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2"/>
              </a:buClr>
              <a:buSzPts val="1200"/>
              <a:buChar char="❏"/>
            </a:pPr>
            <a:r>
              <a:rPr lang="en" sz="1200" b="1">
                <a:solidFill>
                  <a:schemeClr val="dk2"/>
                </a:solidFill>
              </a:rPr>
              <a:t>cv2.findContours()</a:t>
            </a:r>
            <a:r>
              <a:rPr lang="en" sz="1200">
                <a:solidFill>
                  <a:schemeClr val="dk2"/>
                </a:solidFill>
              </a:rPr>
              <a:t>: This function is used to find contours in a binary image. It takes three arguments: the binary image (thresh), the </a:t>
            </a:r>
            <a:r>
              <a:rPr lang="en" sz="1200" i="1">
                <a:solidFill>
                  <a:schemeClr val="dk2"/>
                </a:solidFill>
              </a:rPr>
              <a:t>contour retrieval mode (cv2.RETR_TREE</a:t>
            </a:r>
            <a:r>
              <a:rPr lang="en" sz="1200">
                <a:solidFill>
                  <a:schemeClr val="dk2"/>
                </a:solidFill>
              </a:rPr>
              <a:t>), and the</a:t>
            </a:r>
            <a:r>
              <a:rPr lang="en" sz="1200" i="1">
                <a:solidFill>
                  <a:schemeClr val="dk2"/>
                </a:solidFill>
              </a:rPr>
              <a:t> contour approximation method (cv2.CHAIN_APPROX_SIMPLE)</a:t>
            </a:r>
            <a:r>
              <a:rPr lang="en" sz="1200">
                <a:solidFill>
                  <a:schemeClr val="dk2"/>
                </a:solidFill>
              </a:rPr>
              <a:t>. It returns a list of contours and a hierarchy representing the relationship between contours.</a:t>
            </a:r>
            <a:endParaRPr sz="1200">
              <a:solidFill>
                <a:schemeClr val="dk2"/>
              </a:solidFill>
            </a:endParaRPr>
          </a:p>
          <a:p>
            <a:pPr marL="457200" lvl="0" indent="-304800" algn="l" rtl="0">
              <a:lnSpc>
                <a:spcPct val="115000"/>
              </a:lnSpc>
              <a:spcBef>
                <a:spcPts val="0"/>
              </a:spcBef>
              <a:spcAft>
                <a:spcPts val="0"/>
              </a:spcAft>
              <a:buClr>
                <a:schemeClr val="dk2"/>
              </a:buClr>
              <a:buSzPts val="1200"/>
              <a:buChar char="❏"/>
            </a:pPr>
            <a:r>
              <a:rPr lang="en" sz="1200" b="1">
                <a:solidFill>
                  <a:schemeClr val="dk2"/>
                </a:solidFill>
              </a:rPr>
              <a:t>cv2.drawContours()</a:t>
            </a:r>
            <a:r>
              <a:rPr lang="en" sz="1200">
                <a:solidFill>
                  <a:schemeClr val="dk2"/>
                </a:solidFill>
              </a:rPr>
              <a:t>: This function is used to draw contours on an image. It takes five arguments: the original image (img), the </a:t>
            </a:r>
            <a:r>
              <a:rPr lang="en" sz="1200" i="1">
                <a:solidFill>
                  <a:schemeClr val="dk2"/>
                </a:solidFill>
              </a:rPr>
              <a:t>list of contours</a:t>
            </a:r>
            <a:r>
              <a:rPr lang="en" sz="1200">
                <a:solidFill>
                  <a:schemeClr val="dk2"/>
                </a:solidFill>
              </a:rPr>
              <a:t>, the contour index </a:t>
            </a:r>
            <a:r>
              <a:rPr lang="en" sz="1200" i="1">
                <a:solidFill>
                  <a:schemeClr val="dk2"/>
                </a:solidFill>
              </a:rPr>
              <a:t>(-1 to draw all contours)</a:t>
            </a:r>
            <a:r>
              <a:rPr lang="en" sz="1200">
                <a:solidFill>
                  <a:schemeClr val="dk2"/>
                </a:solidFill>
              </a:rPr>
              <a:t>, the contour color </a:t>
            </a:r>
            <a:r>
              <a:rPr lang="en" sz="1200" i="1">
                <a:solidFill>
                  <a:schemeClr val="dk2"/>
                </a:solidFill>
              </a:rPr>
              <a:t>((0,255,0) </a:t>
            </a:r>
            <a:r>
              <a:rPr lang="en" sz="1200">
                <a:solidFill>
                  <a:schemeClr val="dk2"/>
                </a:solidFill>
              </a:rPr>
              <a:t>for green), and the contour</a:t>
            </a:r>
            <a:r>
              <a:rPr lang="en" sz="1200" i="1">
                <a:solidFill>
                  <a:schemeClr val="dk2"/>
                </a:solidFill>
              </a:rPr>
              <a:t> thickness (3 pixels)</a:t>
            </a:r>
            <a:r>
              <a:rPr lang="en" sz="1200">
                <a:solidFill>
                  <a:schemeClr val="dk2"/>
                </a:solidFill>
              </a:rPr>
              <a:t>. The function modifies the original image by drawing the contours on it.</a:t>
            </a:r>
            <a:endParaRPr sz="1200">
              <a:solidFill>
                <a:schemeClr val="dk2"/>
              </a:solidFill>
            </a:endParaRPr>
          </a:p>
          <a:p>
            <a:pPr marL="914400" lvl="0" indent="0" algn="l" rtl="0">
              <a:lnSpc>
                <a:spcPct val="115000"/>
              </a:lnSpc>
              <a:spcBef>
                <a:spcPts val="1200"/>
              </a:spcBef>
              <a:spcAft>
                <a:spcPts val="0"/>
              </a:spcAft>
              <a:buNone/>
            </a:pPr>
            <a:endParaRPr sz="1200">
              <a:solidFill>
                <a:schemeClr val="dk2"/>
              </a:solidFill>
            </a:endParaRPr>
          </a:p>
          <a:p>
            <a:pPr marL="457200" lvl="0" indent="0" algn="l" rtl="0">
              <a:lnSpc>
                <a:spcPct val="115000"/>
              </a:lnSpc>
              <a:spcBef>
                <a:spcPts val="1200"/>
              </a:spcBef>
              <a:spcAft>
                <a:spcPts val="1200"/>
              </a:spcAft>
              <a:buNone/>
            </a:pPr>
            <a:endParaRPr sz="1200">
              <a:solidFill>
                <a:schemeClr val="dk2"/>
              </a:solidFill>
            </a:endParaRPr>
          </a:p>
        </p:txBody>
      </p:sp>
      <p:sp>
        <p:nvSpPr>
          <p:cNvPr id="462" name="Google Shape;462;p69"/>
          <p:cNvSpPr txBox="1"/>
          <p:nvPr/>
        </p:nvSpPr>
        <p:spPr>
          <a:xfrm rot="-5395596">
            <a:off x="6527279" y="2232347"/>
            <a:ext cx="702601"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Plot contours</a:t>
            </a:r>
            <a:endParaRPr sz="900"/>
          </a:p>
        </p:txBody>
      </p:sp>
      <p:cxnSp>
        <p:nvCxnSpPr>
          <p:cNvPr id="463" name="Google Shape;463;p69"/>
          <p:cNvCxnSpPr>
            <a:stCxn id="460" idx="2"/>
            <a:endCxn id="464" idx="0"/>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465" name="Google Shape;465;p69"/>
          <p:cNvPicPr preferRelativeResize="0"/>
          <p:nvPr/>
        </p:nvPicPr>
        <p:blipFill rotWithShape="1">
          <a:blip r:embed="rId4">
            <a:alphaModFix/>
          </a:blip>
          <a:srcRect l="-2430" t="-8510" r="2429" b="8510"/>
          <a:stretch/>
        </p:blipFill>
        <p:spPr>
          <a:xfrm>
            <a:off x="6170475" y="3217400"/>
            <a:ext cx="1679125" cy="1676138"/>
          </a:xfrm>
          <a:prstGeom prst="rect">
            <a:avLst/>
          </a:prstGeom>
          <a:noFill/>
          <a:ln>
            <a:noFill/>
          </a:ln>
        </p:spPr>
      </p:pic>
      <p:pic>
        <p:nvPicPr>
          <p:cNvPr id="466" name="Google Shape;466;p69"/>
          <p:cNvPicPr preferRelativeResize="0"/>
          <p:nvPr/>
        </p:nvPicPr>
        <p:blipFill>
          <a:blip r:embed="rId5">
            <a:alphaModFix/>
          </a:blip>
          <a:stretch>
            <a:fillRect/>
          </a:stretch>
        </p:blipFill>
        <p:spPr>
          <a:xfrm>
            <a:off x="568708" y="3558900"/>
            <a:ext cx="4821325" cy="113009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Drawing a line on Image</a:t>
            </a:r>
            <a:endParaRPr/>
          </a:p>
        </p:txBody>
      </p:sp>
      <p:pic>
        <p:nvPicPr>
          <p:cNvPr id="472" name="Google Shape;472;p70"/>
          <p:cNvPicPr preferRelativeResize="0"/>
          <p:nvPr/>
        </p:nvPicPr>
        <p:blipFill>
          <a:blip r:embed="rId3">
            <a:alphaModFix/>
          </a:blip>
          <a:stretch>
            <a:fillRect/>
          </a:stretch>
        </p:blipFill>
        <p:spPr>
          <a:xfrm>
            <a:off x="152400" y="1170125"/>
            <a:ext cx="4839775" cy="1180300"/>
          </a:xfrm>
          <a:prstGeom prst="rect">
            <a:avLst/>
          </a:prstGeom>
          <a:noFill/>
          <a:ln>
            <a:noFill/>
          </a:ln>
        </p:spPr>
      </p:pic>
      <p:pic>
        <p:nvPicPr>
          <p:cNvPr id="473" name="Google Shape;473;p70"/>
          <p:cNvPicPr preferRelativeResize="0"/>
          <p:nvPr/>
        </p:nvPicPr>
        <p:blipFill rotWithShape="1">
          <a:blip r:embed="rId4">
            <a:alphaModFix/>
          </a:blip>
          <a:srcRect t="15746"/>
          <a:stretch/>
        </p:blipFill>
        <p:spPr>
          <a:xfrm>
            <a:off x="6170475" y="360199"/>
            <a:ext cx="1707375" cy="1571600"/>
          </a:xfrm>
          <a:prstGeom prst="rect">
            <a:avLst/>
          </a:prstGeom>
          <a:noFill/>
          <a:ln>
            <a:noFill/>
          </a:ln>
        </p:spPr>
      </p:pic>
      <p:sp>
        <p:nvSpPr>
          <p:cNvPr id="474" name="Google Shape;474;p70"/>
          <p:cNvSpPr txBox="1"/>
          <p:nvPr/>
        </p:nvSpPr>
        <p:spPr>
          <a:xfrm rot="-5395054">
            <a:off x="6110074" y="2485450"/>
            <a:ext cx="1459502"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Drawing a line</a:t>
            </a:r>
            <a:endParaRPr sz="900"/>
          </a:p>
        </p:txBody>
      </p:sp>
      <p:cxnSp>
        <p:nvCxnSpPr>
          <p:cNvPr id="475" name="Google Shape;475;p70"/>
          <p:cNvCxnSpPr>
            <a:stCxn id="473" idx="2"/>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476" name="Google Shape;476;p70"/>
          <p:cNvPicPr preferRelativeResize="0"/>
          <p:nvPr/>
        </p:nvPicPr>
        <p:blipFill>
          <a:blip r:embed="rId5">
            <a:alphaModFix/>
          </a:blip>
          <a:stretch>
            <a:fillRect/>
          </a:stretch>
        </p:blipFill>
        <p:spPr>
          <a:xfrm>
            <a:off x="6293100" y="3376750"/>
            <a:ext cx="1513225" cy="154225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Drawing a Rectangle on Image</a:t>
            </a:r>
            <a:endParaRPr/>
          </a:p>
        </p:txBody>
      </p:sp>
      <p:pic>
        <p:nvPicPr>
          <p:cNvPr id="482" name="Google Shape;482;p71"/>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483" name="Google Shape;483;p71"/>
          <p:cNvSpPr txBox="1"/>
          <p:nvPr/>
        </p:nvSpPr>
        <p:spPr>
          <a:xfrm rot="-5395054">
            <a:off x="6110074" y="2485450"/>
            <a:ext cx="1459502"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Drawing a Rectangle</a:t>
            </a:r>
            <a:endParaRPr sz="900"/>
          </a:p>
        </p:txBody>
      </p:sp>
      <p:cxnSp>
        <p:nvCxnSpPr>
          <p:cNvPr id="484" name="Google Shape;484;p71"/>
          <p:cNvCxnSpPr>
            <a:stCxn id="482" idx="2"/>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485" name="Google Shape;485;p71"/>
          <p:cNvPicPr preferRelativeResize="0"/>
          <p:nvPr/>
        </p:nvPicPr>
        <p:blipFill>
          <a:blip r:embed="rId4">
            <a:alphaModFix/>
          </a:blip>
          <a:stretch>
            <a:fillRect/>
          </a:stretch>
        </p:blipFill>
        <p:spPr>
          <a:xfrm>
            <a:off x="206375" y="1427195"/>
            <a:ext cx="5381433" cy="1377600"/>
          </a:xfrm>
          <a:prstGeom prst="rect">
            <a:avLst/>
          </a:prstGeom>
          <a:noFill/>
          <a:ln>
            <a:noFill/>
          </a:ln>
        </p:spPr>
      </p:pic>
      <p:pic>
        <p:nvPicPr>
          <p:cNvPr id="486" name="Google Shape;486;p71"/>
          <p:cNvPicPr preferRelativeResize="0"/>
          <p:nvPr/>
        </p:nvPicPr>
        <p:blipFill>
          <a:blip r:embed="rId5">
            <a:alphaModFix/>
          </a:blip>
          <a:stretch>
            <a:fillRect/>
          </a:stretch>
        </p:blipFill>
        <p:spPr>
          <a:xfrm>
            <a:off x="6236950" y="3470900"/>
            <a:ext cx="1574399" cy="15715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Drawing a Circle on Image</a:t>
            </a:r>
            <a:endParaRPr/>
          </a:p>
        </p:txBody>
      </p:sp>
      <p:pic>
        <p:nvPicPr>
          <p:cNvPr id="492" name="Google Shape;492;p72"/>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493" name="Google Shape;493;p72"/>
          <p:cNvSpPr txBox="1"/>
          <p:nvPr/>
        </p:nvSpPr>
        <p:spPr>
          <a:xfrm rot="-5395054">
            <a:off x="6110074" y="2485450"/>
            <a:ext cx="1459502"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Drawing a Circle</a:t>
            </a:r>
            <a:endParaRPr sz="900"/>
          </a:p>
        </p:txBody>
      </p:sp>
      <p:cxnSp>
        <p:nvCxnSpPr>
          <p:cNvPr id="494" name="Google Shape;494;p72"/>
          <p:cNvCxnSpPr>
            <a:stCxn id="492" idx="2"/>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495" name="Google Shape;495;p72"/>
          <p:cNvPicPr preferRelativeResize="0"/>
          <p:nvPr/>
        </p:nvPicPr>
        <p:blipFill>
          <a:blip r:embed="rId4">
            <a:alphaModFix/>
          </a:blip>
          <a:stretch>
            <a:fillRect/>
          </a:stretch>
        </p:blipFill>
        <p:spPr>
          <a:xfrm>
            <a:off x="192544" y="1251150"/>
            <a:ext cx="4182825" cy="1213566"/>
          </a:xfrm>
          <a:prstGeom prst="rect">
            <a:avLst/>
          </a:prstGeom>
          <a:noFill/>
          <a:ln>
            <a:noFill/>
          </a:ln>
        </p:spPr>
      </p:pic>
      <p:pic>
        <p:nvPicPr>
          <p:cNvPr id="496" name="Google Shape;496;p72"/>
          <p:cNvPicPr preferRelativeResize="0"/>
          <p:nvPr/>
        </p:nvPicPr>
        <p:blipFill>
          <a:blip r:embed="rId5">
            <a:alphaModFix/>
          </a:blip>
          <a:stretch>
            <a:fillRect/>
          </a:stretch>
        </p:blipFill>
        <p:spPr>
          <a:xfrm>
            <a:off x="6170475" y="3376750"/>
            <a:ext cx="1707375" cy="169209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Writing text on Image</a:t>
            </a:r>
            <a:endParaRPr/>
          </a:p>
        </p:txBody>
      </p:sp>
      <p:pic>
        <p:nvPicPr>
          <p:cNvPr id="502" name="Google Shape;502;p73"/>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503" name="Google Shape;503;p73"/>
          <p:cNvSpPr txBox="1"/>
          <p:nvPr/>
        </p:nvSpPr>
        <p:spPr>
          <a:xfrm rot="-5395054">
            <a:off x="6110074" y="2485450"/>
            <a:ext cx="1459502"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Writing Text</a:t>
            </a:r>
            <a:endParaRPr sz="900"/>
          </a:p>
        </p:txBody>
      </p:sp>
      <p:cxnSp>
        <p:nvCxnSpPr>
          <p:cNvPr id="504" name="Google Shape;504;p73"/>
          <p:cNvCxnSpPr>
            <a:stCxn id="502" idx="2"/>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505" name="Google Shape;505;p73"/>
          <p:cNvPicPr preferRelativeResize="0"/>
          <p:nvPr/>
        </p:nvPicPr>
        <p:blipFill>
          <a:blip r:embed="rId4">
            <a:alphaModFix/>
          </a:blip>
          <a:stretch>
            <a:fillRect/>
          </a:stretch>
        </p:blipFill>
        <p:spPr>
          <a:xfrm>
            <a:off x="6184238" y="3309400"/>
            <a:ext cx="1679850" cy="1661950"/>
          </a:xfrm>
          <a:prstGeom prst="rect">
            <a:avLst/>
          </a:prstGeom>
          <a:noFill/>
          <a:ln>
            <a:noFill/>
          </a:ln>
        </p:spPr>
      </p:pic>
      <p:pic>
        <p:nvPicPr>
          <p:cNvPr id="506" name="Google Shape;506;p73"/>
          <p:cNvPicPr preferRelativeResize="0"/>
          <p:nvPr/>
        </p:nvPicPr>
        <p:blipFill>
          <a:blip r:embed="rId5">
            <a:alphaModFix/>
          </a:blip>
          <a:stretch>
            <a:fillRect/>
          </a:stretch>
        </p:blipFill>
        <p:spPr>
          <a:xfrm>
            <a:off x="241400" y="1478254"/>
            <a:ext cx="5029050" cy="10935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74"/>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Template Matching</a:t>
            </a:r>
            <a:endParaRPr/>
          </a:p>
        </p:txBody>
      </p:sp>
      <p:pic>
        <p:nvPicPr>
          <p:cNvPr id="512" name="Google Shape;512;p74"/>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513" name="Google Shape;513;p74"/>
          <p:cNvSpPr txBox="1"/>
          <p:nvPr/>
        </p:nvSpPr>
        <p:spPr>
          <a:xfrm>
            <a:off x="151575" y="1045325"/>
            <a:ext cx="5655600" cy="38634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2"/>
              </a:buClr>
              <a:buSzPts val="1200"/>
              <a:buChar char="❏"/>
            </a:pPr>
            <a:r>
              <a:rPr lang="en" sz="1200" b="1">
                <a:solidFill>
                  <a:schemeClr val="dk2"/>
                </a:solidFill>
              </a:rPr>
              <a:t>cv2.matchTemplate()</a:t>
            </a:r>
            <a:r>
              <a:rPr lang="en" sz="1200">
                <a:solidFill>
                  <a:schemeClr val="dk2"/>
                </a:solidFill>
              </a:rPr>
              <a:t>: This function is used to find the template (pattern) in the input image. It takes three arguments: the input image </a:t>
            </a:r>
            <a:r>
              <a:rPr lang="en" sz="1200" i="1">
                <a:solidFill>
                  <a:schemeClr val="dk2"/>
                </a:solidFill>
              </a:rPr>
              <a:t>(image_gray)</a:t>
            </a:r>
            <a:r>
              <a:rPr lang="en" sz="1200">
                <a:solidFill>
                  <a:schemeClr val="dk2"/>
                </a:solidFill>
              </a:rPr>
              <a:t>, the </a:t>
            </a:r>
            <a:r>
              <a:rPr lang="en" sz="1200" i="1">
                <a:solidFill>
                  <a:schemeClr val="dk2"/>
                </a:solidFill>
              </a:rPr>
              <a:t>template image (template)</a:t>
            </a:r>
            <a:r>
              <a:rPr lang="en" sz="1200">
                <a:solidFill>
                  <a:schemeClr val="dk2"/>
                </a:solidFill>
              </a:rPr>
              <a:t>, and the matching method </a:t>
            </a:r>
            <a:r>
              <a:rPr lang="en" sz="1200" i="1">
                <a:solidFill>
                  <a:schemeClr val="dk2"/>
                </a:solidFill>
              </a:rPr>
              <a:t>(cv2.TM_CCOEFF_NORMED)</a:t>
            </a:r>
            <a:r>
              <a:rPr lang="en" sz="1200">
                <a:solidFill>
                  <a:schemeClr val="dk2"/>
                </a:solidFill>
              </a:rPr>
              <a:t>. The matching method determines how the template is compared to the input image to find the best match. </a:t>
            </a:r>
            <a:endParaRPr sz="1200">
              <a:solidFill>
                <a:schemeClr val="dk2"/>
              </a:solidFill>
            </a:endParaRPr>
          </a:p>
          <a:p>
            <a:pPr marL="457200" lvl="0" indent="-304800" algn="l" rtl="0">
              <a:lnSpc>
                <a:spcPct val="115000"/>
              </a:lnSpc>
              <a:spcBef>
                <a:spcPts val="0"/>
              </a:spcBef>
              <a:spcAft>
                <a:spcPts val="0"/>
              </a:spcAft>
              <a:buClr>
                <a:schemeClr val="dk2"/>
              </a:buClr>
              <a:buSzPts val="1200"/>
              <a:buChar char="❏"/>
            </a:pPr>
            <a:r>
              <a:rPr lang="en" sz="1200">
                <a:solidFill>
                  <a:schemeClr val="dk2"/>
                </a:solidFill>
              </a:rPr>
              <a:t>res: This variable stores the result of the template matching operation. It represents a </a:t>
            </a:r>
            <a:r>
              <a:rPr lang="en" sz="1200" b="1">
                <a:solidFill>
                  <a:schemeClr val="dk2"/>
                </a:solidFill>
              </a:rPr>
              <a:t>correlation map</a:t>
            </a:r>
            <a:r>
              <a:rPr lang="en" sz="1200">
                <a:solidFill>
                  <a:schemeClr val="dk2"/>
                </a:solidFill>
              </a:rPr>
              <a:t>, where each pixel value indicates the similarity </a:t>
            </a:r>
            <a:r>
              <a:rPr lang="en" sz="1200" b="1">
                <a:solidFill>
                  <a:schemeClr val="dk2"/>
                </a:solidFill>
              </a:rPr>
              <a:t>between the template and the corresponding region</a:t>
            </a:r>
            <a:r>
              <a:rPr lang="en" sz="1200">
                <a:solidFill>
                  <a:schemeClr val="dk2"/>
                </a:solidFill>
              </a:rPr>
              <a:t> in the input image. </a:t>
            </a:r>
            <a:endParaRPr sz="1200">
              <a:solidFill>
                <a:schemeClr val="dk2"/>
              </a:solidFill>
            </a:endParaRPr>
          </a:p>
          <a:p>
            <a:pPr marL="457200" lvl="0" indent="-304800" algn="l" rtl="0">
              <a:lnSpc>
                <a:spcPct val="115000"/>
              </a:lnSpc>
              <a:spcBef>
                <a:spcPts val="0"/>
              </a:spcBef>
              <a:spcAft>
                <a:spcPts val="0"/>
              </a:spcAft>
              <a:buClr>
                <a:schemeClr val="dk2"/>
              </a:buClr>
              <a:buSzPts val="1200"/>
              <a:buChar char="❏"/>
            </a:pPr>
            <a:r>
              <a:rPr lang="en" sz="1200">
                <a:solidFill>
                  <a:schemeClr val="dk2"/>
                </a:solidFill>
              </a:rPr>
              <a:t>cv2.minMaxLoc(): This function is used to find the minimum and maximum values in an array. In this case, it is used to find the minimum and maximum values in the correlation map (res). It returns the minimum value (min_val), maximum value (max_val), coordinates of the minimum value (min_loc), and coordinates of the maximum value (max_loc).</a:t>
            </a:r>
            <a:endParaRPr sz="1200">
              <a:solidFill>
                <a:schemeClr val="dk2"/>
              </a:solidFill>
            </a:endParaRPr>
          </a:p>
          <a:p>
            <a:pPr marL="914400" lvl="0" indent="0" algn="l" rtl="0">
              <a:lnSpc>
                <a:spcPct val="115000"/>
              </a:lnSpc>
              <a:spcBef>
                <a:spcPts val="1200"/>
              </a:spcBef>
              <a:spcAft>
                <a:spcPts val="0"/>
              </a:spcAft>
              <a:buNone/>
            </a:pPr>
            <a:endParaRPr sz="1200">
              <a:solidFill>
                <a:schemeClr val="dk2"/>
              </a:solidFill>
            </a:endParaRPr>
          </a:p>
          <a:p>
            <a:pPr marL="457200" lvl="0" indent="0" algn="l" rtl="0">
              <a:lnSpc>
                <a:spcPct val="115000"/>
              </a:lnSpc>
              <a:spcBef>
                <a:spcPts val="1200"/>
              </a:spcBef>
              <a:spcAft>
                <a:spcPts val="1200"/>
              </a:spcAft>
              <a:buNone/>
            </a:pPr>
            <a:endParaRPr sz="1200">
              <a:solidFill>
                <a:schemeClr val="dk2"/>
              </a:solidFill>
            </a:endParaRPr>
          </a:p>
        </p:txBody>
      </p:sp>
      <p:sp>
        <p:nvSpPr>
          <p:cNvPr id="514" name="Google Shape;514;p74"/>
          <p:cNvSpPr txBox="1"/>
          <p:nvPr/>
        </p:nvSpPr>
        <p:spPr>
          <a:xfrm rot="-5395596">
            <a:off x="6527279" y="2232347"/>
            <a:ext cx="702601"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Template Matching</a:t>
            </a:r>
            <a:endParaRPr sz="900"/>
          </a:p>
        </p:txBody>
      </p:sp>
      <p:cxnSp>
        <p:nvCxnSpPr>
          <p:cNvPr id="515" name="Google Shape;515;p74"/>
          <p:cNvCxnSpPr>
            <a:stCxn id="512" idx="2"/>
            <a:endCxn id="516" idx="0"/>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517" name="Google Shape;517;p74"/>
          <p:cNvPicPr preferRelativeResize="0"/>
          <p:nvPr/>
        </p:nvPicPr>
        <p:blipFill>
          <a:blip r:embed="rId4">
            <a:alphaModFix/>
          </a:blip>
          <a:stretch>
            <a:fillRect/>
          </a:stretch>
        </p:blipFill>
        <p:spPr>
          <a:xfrm>
            <a:off x="8079300" y="710175"/>
            <a:ext cx="400050" cy="361950"/>
          </a:xfrm>
          <a:prstGeom prst="rect">
            <a:avLst/>
          </a:prstGeom>
          <a:noFill/>
          <a:ln>
            <a:noFill/>
          </a:ln>
        </p:spPr>
      </p:pic>
      <p:cxnSp>
        <p:nvCxnSpPr>
          <p:cNvPr id="518" name="Google Shape;518;p74"/>
          <p:cNvCxnSpPr>
            <a:stCxn id="517" idx="2"/>
            <a:endCxn id="519" idx="0"/>
          </p:cNvCxnSpPr>
          <p:nvPr/>
        </p:nvCxnSpPr>
        <p:spPr>
          <a:xfrm rot="5400000">
            <a:off x="6572025" y="1510125"/>
            <a:ext cx="2145300" cy="1269300"/>
          </a:xfrm>
          <a:prstGeom prst="curvedConnector3">
            <a:avLst>
              <a:gd name="adj1" fmla="val 50000"/>
            </a:avLst>
          </a:prstGeom>
          <a:noFill/>
          <a:ln w="9525" cap="flat" cmpd="sng">
            <a:solidFill>
              <a:schemeClr val="dk2"/>
            </a:solidFill>
            <a:prstDash val="solid"/>
            <a:round/>
            <a:headEnd type="none" w="med" len="med"/>
            <a:tailEnd type="none" w="med" len="med"/>
          </a:ln>
        </p:spPr>
      </p:cxnSp>
      <p:pic>
        <p:nvPicPr>
          <p:cNvPr id="520" name="Google Shape;520;p74"/>
          <p:cNvPicPr preferRelativeResize="0"/>
          <p:nvPr/>
        </p:nvPicPr>
        <p:blipFill rotWithShape="1">
          <a:blip r:embed="rId3">
            <a:alphaModFix/>
          </a:blip>
          <a:srcRect t="15746"/>
          <a:stretch/>
        </p:blipFill>
        <p:spPr>
          <a:xfrm>
            <a:off x="6145025" y="3337125"/>
            <a:ext cx="1707375" cy="1571600"/>
          </a:xfrm>
          <a:prstGeom prst="rect">
            <a:avLst/>
          </a:prstGeom>
          <a:noFill/>
          <a:ln>
            <a:noFill/>
          </a:ln>
        </p:spPr>
      </p:pic>
      <p:pic>
        <p:nvPicPr>
          <p:cNvPr id="521" name="Google Shape;521;p74"/>
          <p:cNvPicPr preferRelativeResize="0"/>
          <p:nvPr/>
        </p:nvPicPr>
        <p:blipFill>
          <a:blip r:embed="rId4">
            <a:alphaModFix/>
          </a:blip>
          <a:stretch>
            <a:fillRect/>
          </a:stretch>
        </p:blipFill>
        <p:spPr>
          <a:xfrm>
            <a:off x="6929800" y="4070725"/>
            <a:ext cx="154825" cy="140075"/>
          </a:xfrm>
          <a:prstGeom prst="rect">
            <a:avLst/>
          </a:prstGeom>
          <a:noFill/>
          <a:ln w="19050" cap="flat" cmpd="sng">
            <a:solidFill>
              <a:srgbClr val="FF0000"/>
            </a:solidFill>
            <a:prstDash val="solid"/>
            <a:round/>
            <a:headEnd type="none" w="sm" len="sm"/>
            <a:tailEnd type="none" w="sm" len="sm"/>
          </a:ln>
        </p:spPr>
      </p:pic>
      <p:pic>
        <p:nvPicPr>
          <p:cNvPr id="522" name="Google Shape;522;p74"/>
          <p:cNvPicPr preferRelativeResize="0"/>
          <p:nvPr/>
        </p:nvPicPr>
        <p:blipFill>
          <a:blip r:embed="rId5">
            <a:alphaModFix/>
          </a:blip>
          <a:stretch>
            <a:fillRect/>
          </a:stretch>
        </p:blipFill>
        <p:spPr>
          <a:xfrm>
            <a:off x="609925" y="4210797"/>
            <a:ext cx="4269218" cy="5727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75"/>
          <p:cNvSpPr txBox="1">
            <a:spLocks noGrp="1"/>
          </p:cNvSpPr>
          <p:nvPr>
            <p:ph type="title"/>
          </p:nvPr>
        </p:nvSpPr>
        <p:spPr>
          <a:xfrm>
            <a:off x="62775" y="445025"/>
            <a:ext cx="901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Face and Eye Detection</a:t>
            </a:r>
            <a:endParaRPr/>
          </a:p>
        </p:txBody>
      </p:sp>
      <p:pic>
        <p:nvPicPr>
          <p:cNvPr id="528" name="Google Shape;528;p75"/>
          <p:cNvPicPr preferRelativeResize="0"/>
          <p:nvPr/>
        </p:nvPicPr>
        <p:blipFill rotWithShape="1">
          <a:blip r:embed="rId3">
            <a:alphaModFix/>
          </a:blip>
          <a:srcRect t="15746"/>
          <a:stretch/>
        </p:blipFill>
        <p:spPr>
          <a:xfrm>
            <a:off x="6170475" y="360199"/>
            <a:ext cx="1707375" cy="1571600"/>
          </a:xfrm>
          <a:prstGeom prst="rect">
            <a:avLst/>
          </a:prstGeom>
          <a:noFill/>
          <a:ln>
            <a:noFill/>
          </a:ln>
        </p:spPr>
      </p:pic>
      <p:sp>
        <p:nvSpPr>
          <p:cNvPr id="529" name="Google Shape;529;p75"/>
          <p:cNvSpPr txBox="1"/>
          <p:nvPr/>
        </p:nvSpPr>
        <p:spPr>
          <a:xfrm>
            <a:off x="151575" y="1045325"/>
            <a:ext cx="5655600" cy="19518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2"/>
              </a:buClr>
              <a:buSzPts val="1200"/>
              <a:buChar char="❏"/>
            </a:pPr>
            <a:r>
              <a:rPr lang="en" sz="1200">
                <a:solidFill>
                  <a:schemeClr val="dk2"/>
                </a:solidFill>
              </a:rPr>
              <a:t>The input image is read using cv2.imread() and converted to grayscale using cv2.cvtColor(). Then, the </a:t>
            </a:r>
            <a:r>
              <a:rPr lang="en" sz="1200" i="1">
                <a:solidFill>
                  <a:schemeClr val="dk2"/>
                </a:solidFill>
              </a:rPr>
              <a:t>detectMultiScale() </a:t>
            </a:r>
            <a:r>
              <a:rPr lang="en" sz="1200">
                <a:solidFill>
                  <a:schemeClr val="dk2"/>
                </a:solidFill>
              </a:rPr>
              <a:t>method is applied to the grayscale image using the face_cascade classifier to detect faces. The resulting face regions are stored in the faces variable as rectangles. Same goes for eyes.</a:t>
            </a:r>
            <a:endParaRPr sz="1200">
              <a:solidFill>
                <a:schemeClr val="dk2"/>
              </a:solidFill>
            </a:endParaRPr>
          </a:p>
          <a:p>
            <a:pPr marL="914400" lvl="0" indent="0" algn="l" rtl="0">
              <a:lnSpc>
                <a:spcPct val="115000"/>
              </a:lnSpc>
              <a:spcBef>
                <a:spcPts val="1200"/>
              </a:spcBef>
              <a:spcAft>
                <a:spcPts val="0"/>
              </a:spcAft>
              <a:buNone/>
            </a:pPr>
            <a:endParaRPr sz="1200">
              <a:solidFill>
                <a:schemeClr val="dk2"/>
              </a:solidFill>
            </a:endParaRPr>
          </a:p>
          <a:p>
            <a:pPr marL="457200" lvl="0" indent="0" algn="l" rtl="0">
              <a:lnSpc>
                <a:spcPct val="115000"/>
              </a:lnSpc>
              <a:spcBef>
                <a:spcPts val="1200"/>
              </a:spcBef>
              <a:spcAft>
                <a:spcPts val="1200"/>
              </a:spcAft>
              <a:buNone/>
            </a:pPr>
            <a:endParaRPr sz="1200">
              <a:solidFill>
                <a:schemeClr val="dk2"/>
              </a:solidFill>
            </a:endParaRPr>
          </a:p>
        </p:txBody>
      </p:sp>
      <p:sp>
        <p:nvSpPr>
          <p:cNvPr id="530" name="Google Shape;530;p75"/>
          <p:cNvSpPr txBox="1"/>
          <p:nvPr/>
        </p:nvSpPr>
        <p:spPr>
          <a:xfrm rot="-5395436">
            <a:off x="6244125" y="2515377"/>
            <a:ext cx="1129801"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Haar Classifiers</a:t>
            </a:r>
            <a:endParaRPr sz="900"/>
          </a:p>
        </p:txBody>
      </p:sp>
      <p:cxnSp>
        <p:nvCxnSpPr>
          <p:cNvPr id="531" name="Google Shape;531;p75"/>
          <p:cNvCxnSpPr>
            <a:stCxn id="528" idx="2"/>
            <a:endCxn id="532" idx="0"/>
          </p:cNvCxnSpPr>
          <p:nvPr/>
        </p:nvCxnSpPr>
        <p:spPr>
          <a:xfrm>
            <a:off x="7024162" y="1931799"/>
            <a:ext cx="0" cy="1377600"/>
          </a:xfrm>
          <a:prstGeom prst="straightConnector1">
            <a:avLst/>
          </a:prstGeom>
          <a:noFill/>
          <a:ln w="9525" cap="flat" cmpd="sng">
            <a:solidFill>
              <a:schemeClr val="dk2"/>
            </a:solidFill>
            <a:prstDash val="solid"/>
            <a:round/>
            <a:headEnd type="none" w="med" len="med"/>
            <a:tailEnd type="triangle" w="med" len="med"/>
          </a:ln>
        </p:spPr>
      </p:cxnSp>
      <p:pic>
        <p:nvPicPr>
          <p:cNvPr id="533" name="Google Shape;533;p75"/>
          <p:cNvPicPr preferRelativeResize="0"/>
          <p:nvPr/>
        </p:nvPicPr>
        <p:blipFill rotWithShape="1">
          <a:blip r:embed="rId3">
            <a:alphaModFix/>
          </a:blip>
          <a:srcRect t="15746"/>
          <a:stretch/>
        </p:blipFill>
        <p:spPr>
          <a:xfrm>
            <a:off x="6145025" y="3337125"/>
            <a:ext cx="1707375" cy="1571600"/>
          </a:xfrm>
          <a:prstGeom prst="rect">
            <a:avLst/>
          </a:prstGeom>
          <a:noFill/>
          <a:ln>
            <a:noFill/>
          </a:ln>
        </p:spPr>
      </p:pic>
      <p:pic>
        <p:nvPicPr>
          <p:cNvPr id="534" name="Google Shape;534;p75"/>
          <p:cNvPicPr preferRelativeResize="0"/>
          <p:nvPr/>
        </p:nvPicPr>
        <p:blipFill>
          <a:blip r:embed="rId4">
            <a:alphaModFix/>
          </a:blip>
          <a:stretch>
            <a:fillRect/>
          </a:stretch>
        </p:blipFill>
        <p:spPr>
          <a:xfrm>
            <a:off x="152400" y="2303500"/>
            <a:ext cx="4526474" cy="2687601"/>
          </a:xfrm>
          <a:prstGeom prst="rect">
            <a:avLst/>
          </a:prstGeom>
          <a:noFill/>
          <a:ln>
            <a:noFill/>
          </a:ln>
        </p:spPr>
      </p:pic>
      <p:sp>
        <p:nvSpPr>
          <p:cNvPr id="535" name="Google Shape;535;p75"/>
          <p:cNvSpPr/>
          <p:nvPr/>
        </p:nvSpPr>
        <p:spPr>
          <a:xfrm>
            <a:off x="6745425" y="3879625"/>
            <a:ext cx="582600" cy="641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75"/>
          <p:cNvSpPr/>
          <p:nvPr/>
        </p:nvSpPr>
        <p:spPr>
          <a:xfrm>
            <a:off x="6929400" y="4094275"/>
            <a:ext cx="141000" cy="1044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75"/>
          <p:cNvSpPr/>
          <p:nvPr/>
        </p:nvSpPr>
        <p:spPr>
          <a:xfrm>
            <a:off x="7109875" y="4094275"/>
            <a:ext cx="141000" cy="1044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Writing an Image file</a:t>
            </a:r>
            <a:endParaRPr/>
          </a:p>
        </p:txBody>
      </p:sp>
      <p:pic>
        <p:nvPicPr>
          <p:cNvPr id="543" name="Google Shape;543;p76"/>
          <p:cNvPicPr preferRelativeResize="0"/>
          <p:nvPr/>
        </p:nvPicPr>
        <p:blipFill>
          <a:blip r:embed="rId3">
            <a:alphaModFix/>
          </a:blip>
          <a:stretch>
            <a:fillRect/>
          </a:stretch>
        </p:blipFill>
        <p:spPr>
          <a:xfrm>
            <a:off x="342525" y="2126850"/>
            <a:ext cx="3552825" cy="6286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represent a video</a:t>
            </a:r>
            <a:endParaRPr/>
          </a:p>
        </p:txBody>
      </p:sp>
      <p:sp>
        <p:nvSpPr>
          <p:cNvPr id="549" name="Google Shape;549;p77"/>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1200"/>
              </a:spcAft>
              <a:buNone/>
            </a:pPr>
            <a:r>
              <a:rPr lang="en"/>
              <a:t>A video is sequence of frames</a:t>
            </a:r>
            <a:endParaRPr/>
          </a:p>
        </p:txBody>
      </p:sp>
      <p:pic>
        <p:nvPicPr>
          <p:cNvPr id="550" name="Google Shape;550;p77"/>
          <p:cNvPicPr preferRelativeResize="0"/>
          <p:nvPr/>
        </p:nvPicPr>
        <p:blipFill>
          <a:blip r:embed="rId3">
            <a:alphaModFix/>
          </a:blip>
          <a:stretch>
            <a:fillRect/>
          </a:stretch>
        </p:blipFill>
        <p:spPr>
          <a:xfrm>
            <a:off x="184125" y="2295025"/>
            <a:ext cx="2851375" cy="1620775"/>
          </a:xfrm>
          <a:prstGeom prst="rect">
            <a:avLst/>
          </a:prstGeom>
          <a:noFill/>
          <a:ln>
            <a:noFill/>
          </a:ln>
        </p:spPr>
      </p:pic>
      <p:pic>
        <p:nvPicPr>
          <p:cNvPr id="551" name="Google Shape;551;p77"/>
          <p:cNvPicPr preferRelativeResize="0"/>
          <p:nvPr/>
        </p:nvPicPr>
        <p:blipFill>
          <a:blip r:embed="rId4">
            <a:alphaModFix/>
          </a:blip>
          <a:stretch>
            <a:fillRect/>
          </a:stretch>
        </p:blipFill>
        <p:spPr>
          <a:xfrm>
            <a:off x="5154675" y="1979050"/>
            <a:ext cx="2714647" cy="1519300"/>
          </a:xfrm>
          <a:prstGeom prst="rect">
            <a:avLst/>
          </a:prstGeom>
          <a:noFill/>
          <a:ln>
            <a:noFill/>
          </a:ln>
        </p:spPr>
      </p:pic>
      <p:pic>
        <p:nvPicPr>
          <p:cNvPr id="552" name="Google Shape;552;p77"/>
          <p:cNvPicPr preferRelativeResize="0"/>
          <p:nvPr/>
        </p:nvPicPr>
        <p:blipFill>
          <a:blip r:embed="rId5">
            <a:alphaModFix/>
          </a:blip>
          <a:stretch>
            <a:fillRect/>
          </a:stretch>
        </p:blipFill>
        <p:spPr>
          <a:xfrm>
            <a:off x="5236401" y="2166675"/>
            <a:ext cx="2810000" cy="1572675"/>
          </a:xfrm>
          <a:prstGeom prst="rect">
            <a:avLst/>
          </a:prstGeom>
          <a:noFill/>
          <a:ln>
            <a:noFill/>
          </a:ln>
        </p:spPr>
      </p:pic>
      <p:pic>
        <p:nvPicPr>
          <p:cNvPr id="553" name="Google Shape;553;p77"/>
          <p:cNvPicPr preferRelativeResize="0"/>
          <p:nvPr/>
        </p:nvPicPr>
        <p:blipFill>
          <a:blip r:embed="rId5">
            <a:alphaModFix/>
          </a:blip>
          <a:stretch>
            <a:fillRect/>
          </a:stretch>
        </p:blipFill>
        <p:spPr>
          <a:xfrm>
            <a:off x="5388801" y="2319075"/>
            <a:ext cx="2810000" cy="1572675"/>
          </a:xfrm>
          <a:prstGeom prst="rect">
            <a:avLst/>
          </a:prstGeom>
          <a:noFill/>
          <a:ln>
            <a:noFill/>
          </a:ln>
        </p:spPr>
      </p:pic>
      <p:pic>
        <p:nvPicPr>
          <p:cNvPr id="554" name="Google Shape;554;p77"/>
          <p:cNvPicPr preferRelativeResize="0"/>
          <p:nvPr/>
        </p:nvPicPr>
        <p:blipFill>
          <a:blip r:embed="rId5">
            <a:alphaModFix/>
          </a:blip>
          <a:stretch>
            <a:fillRect/>
          </a:stretch>
        </p:blipFill>
        <p:spPr>
          <a:xfrm>
            <a:off x="5541201" y="2471475"/>
            <a:ext cx="2810000" cy="1572675"/>
          </a:xfrm>
          <a:prstGeom prst="rect">
            <a:avLst/>
          </a:prstGeom>
          <a:noFill/>
          <a:ln>
            <a:noFill/>
          </a:ln>
        </p:spPr>
      </p:pic>
      <p:cxnSp>
        <p:nvCxnSpPr>
          <p:cNvPr id="555" name="Google Shape;555;p77"/>
          <p:cNvCxnSpPr>
            <a:stCxn id="550" idx="3"/>
          </p:cNvCxnSpPr>
          <p:nvPr/>
        </p:nvCxnSpPr>
        <p:spPr>
          <a:xfrm rot="10800000" flipH="1">
            <a:off x="3035500" y="3092512"/>
            <a:ext cx="2056500" cy="129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Video Processing and Motion Detection</a:t>
            </a:r>
            <a:endParaRPr/>
          </a:p>
        </p:txBody>
      </p:sp>
      <p:pic>
        <p:nvPicPr>
          <p:cNvPr id="561" name="Google Shape;561;p78"/>
          <p:cNvPicPr preferRelativeResize="0"/>
          <p:nvPr/>
        </p:nvPicPr>
        <p:blipFill>
          <a:blip r:embed="rId3">
            <a:alphaModFix/>
          </a:blip>
          <a:stretch>
            <a:fillRect/>
          </a:stretch>
        </p:blipFill>
        <p:spPr>
          <a:xfrm>
            <a:off x="152400" y="1170125"/>
            <a:ext cx="4071524" cy="3494500"/>
          </a:xfrm>
          <a:prstGeom prst="rect">
            <a:avLst/>
          </a:prstGeom>
          <a:noFill/>
          <a:ln>
            <a:noFill/>
          </a:ln>
        </p:spPr>
      </p:pic>
      <p:pic>
        <p:nvPicPr>
          <p:cNvPr id="562" name="Google Shape;562;p78"/>
          <p:cNvPicPr preferRelativeResize="0"/>
          <p:nvPr/>
        </p:nvPicPr>
        <p:blipFill>
          <a:blip r:embed="rId4">
            <a:alphaModFix/>
          </a:blip>
          <a:stretch>
            <a:fillRect/>
          </a:stretch>
        </p:blipFill>
        <p:spPr>
          <a:xfrm>
            <a:off x="4955550" y="1227200"/>
            <a:ext cx="1590925" cy="894901"/>
          </a:xfrm>
          <a:prstGeom prst="rect">
            <a:avLst/>
          </a:prstGeom>
          <a:noFill/>
          <a:ln>
            <a:noFill/>
          </a:ln>
        </p:spPr>
      </p:pic>
      <p:pic>
        <p:nvPicPr>
          <p:cNvPr id="563" name="Google Shape;563;p78"/>
          <p:cNvPicPr preferRelativeResize="0"/>
          <p:nvPr/>
        </p:nvPicPr>
        <p:blipFill>
          <a:blip r:embed="rId4">
            <a:alphaModFix/>
          </a:blip>
          <a:stretch>
            <a:fillRect/>
          </a:stretch>
        </p:blipFill>
        <p:spPr>
          <a:xfrm>
            <a:off x="5038200" y="1284475"/>
            <a:ext cx="1590925" cy="894901"/>
          </a:xfrm>
          <a:prstGeom prst="rect">
            <a:avLst/>
          </a:prstGeom>
          <a:noFill/>
          <a:ln>
            <a:noFill/>
          </a:ln>
        </p:spPr>
      </p:pic>
      <p:pic>
        <p:nvPicPr>
          <p:cNvPr id="564" name="Google Shape;564;p78"/>
          <p:cNvPicPr preferRelativeResize="0"/>
          <p:nvPr/>
        </p:nvPicPr>
        <p:blipFill>
          <a:blip r:embed="rId4">
            <a:alphaModFix/>
          </a:blip>
          <a:stretch>
            <a:fillRect/>
          </a:stretch>
        </p:blipFill>
        <p:spPr>
          <a:xfrm>
            <a:off x="5114475" y="1335400"/>
            <a:ext cx="1590925" cy="894901"/>
          </a:xfrm>
          <a:prstGeom prst="rect">
            <a:avLst/>
          </a:prstGeom>
          <a:noFill/>
          <a:ln>
            <a:noFill/>
          </a:ln>
        </p:spPr>
      </p:pic>
      <p:pic>
        <p:nvPicPr>
          <p:cNvPr id="565" name="Google Shape;565;p78"/>
          <p:cNvPicPr preferRelativeResize="0"/>
          <p:nvPr/>
        </p:nvPicPr>
        <p:blipFill>
          <a:blip r:embed="rId4">
            <a:alphaModFix/>
          </a:blip>
          <a:stretch>
            <a:fillRect/>
          </a:stretch>
        </p:blipFill>
        <p:spPr>
          <a:xfrm>
            <a:off x="5176600" y="1386325"/>
            <a:ext cx="1590925" cy="894901"/>
          </a:xfrm>
          <a:prstGeom prst="rect">
            <a:avLst/>
          </a:prstGeom>
          <a:noFill/>
          <a:ln>
            <a:noFill/>
          </a:ln>
        </p:spPr>
      </p:pic>
      <p:pic>
        <p:nvPicPr>
          <p:cNvPr id="566" name="Google Shape;566;p78"/>
          <p:cNvPicPr preferRelativeResize="0"/>
          <p:nvPr/>
        </p:nvPicPr>
        <p:blipFill>
          <a:blip r:embed="rId4">
            <a:alphaModFix/>
          </a:blip>
          <a:stretch>
            <a:fillRect/>
          </a:stretch>
        </p:blipFill>
        <p:spPr>
          <a:xfrm>
            <a:off x="5241700" y="1475300"/>
            <a:ext cx="1590925" cy="894901"/>
          </a:xfrm>
          <a:prstGeom prst="rect">
            <a:avLst/>
          </a:prstGeom>
          <a:noFill/>
          <a:ln>
            <a:noFill/>
          </a:ln>
        </p:spPr>
      </p:pic>
      <p:pic>
        <p:nvPicPr>
          <p:cNvPr id="567" name="Google Shape;567;p78"/>
          <p:cNvPicPr preferRelativeResize="0"/>
          <p:nvPr/>
        </p:nvPicPr>
        <p:blipFill>
          <a:blip r:embed="rId5">
            <a:alphaModFix/>
          </a:blip>
          <a:stretch>
            <a:fillRect/>
          </a:stretch>
        </p:blipFill>
        <p:spPr>
          <a:xfrm>
            <a:off x="5176600" y="3347000"/>
            <a:ext cx="1678275" cy="944024"/>
          </a:xfrm>
          <a:prstGeom prst="rect">
            <a:avLst/>
          </a:prstGeom>
          <a:noFill/>
          <a:ln>
            <a:noFill/>
          </a:ln>
        </p:spPr>
      </p:pic>
      <p:pic>
        <p:nvPicPr>
          <p:cNvPr id="568" name="Google Shape;568;p78"/>
          <p:cNvPicPr preferRelativeResize="0"/>
          <p:nvPr/>
        </p:nvPicPr>
        <p:blipFill>
          <a:blip r:embed="rId5">
            <a:alphaModFix/>
          </a:blip>
          <a:stretch>
            <a:fillRect/>
          </a:stretch>
        </p:blipFill>
        <p:spPr>
          <a:xfrm>
            <a:off x="5329000" y="3499400"/>
            <a:ext cx="1678275" cy="944024"/>
          </a:xfrm>
          <a:prstGeom prst="rect">
            <a:avLst/>
          </a:prstGeom>
          <a:noFill/>
          <a:ln>
            <a:noFill/>
          </a:ln>
        </p:spPr>
      </p:pic>
      <p:pic>
        <p:nvPicPr>
          <p:cNvPr id="569" name="Google Shape;569;p78"/>
          <p:cNvPicPr preferRelativeResize="0"/>
          <p:nvPr/>
        </p:nvPicPr>
        <p:blipFill>
          <a:blip r:embed="rId5">
            <a:alphaModFix/>
          </a:blip>
          <a:stretch>
            <a:fillRect/>
          </a:stretch>
        </p:blipFill>
        <p:spPr>
          <a:xfrm>
            <a:off x="5481400" y="3651800"/>
            <a:ext cx="1678275" cy="944024"/>
          </a:xfrm>
          <a:prstGeom prst="rect">
            <a:avLst/>
          </a:prstGeom>
          <a:noFill/>
          <a:ln>
            <a:noFill/>
          </a:ln>
        </p:spPr>
      </p:pic>
      <p:pic>
        <p:nvPicPr>
          <p:cNvPr id="570" name="Google Shape;570;p78"/>
          <p:cNvPicPr preferRelativeResize="0"/>
          <p:nvPr/>
        </p:nvPicPr>
        <p:blipFill>
          <a:blip r:embed="rId5">
            <a:alphaModFix/>
          </a:blip>
          <a:stretch>
            <a:fillRect/>
          </a:stretch>
        </p:blipFill>
        <p:spPr>
          <a:xfrm>
            <a:off x="5633800" y="3804200"/>
            <a:ext cx="1678275" cy="944024"/>
          </a:xfrm>
          <a:prstGeom prst="rect">
            <a:avLst/>
          </a:prstGeom>
          <a:noFill/>
          <a:ln>
            <a:noFill/>
          </a:ln>
        </p:spPr>
      </p:pic>
      <p:cxnSp>
        <p:nvCxnSpPr>
          <p:cNvPr id="571" name="Google Shape;571;p78"/>
          <p:cNvCxnSpPr>
            <a:stCxn id="566" idx="2"/>
            <a:endCxn id="567" idx="0"/>
          </p:cNvCxnSpPr>
          <p:nvPr/>
        </p:nvCxnSpPr>
        <p:spPr>
          <a:xfrm flipH="1">
            <a:off x="6015862" y="2370201"/>
            <a:ext cx="21300" cy="976800"/>
          </a:xfrm>
          <a:prstGeom prst="straightConnector1">
            <a:avLst/>
          </a:prstGeom>
          <a:noFill/>
          <a:ln w="9525" cap="flat" cmpd="sng">
            <a:solidFill>
              <a:schemeClr val="dk2"/>
            </a:solidFill>
            <a:prstDash val="solid"/>
            <a:round/>
            <a:headEnd type="none" w="med" len="med"/>
            <a:tailEnd type="triangle" w="med" len="med"/>
          </a:ln>
        </p:spPr>
      </p:cxnSp>
      <p:sp>
        <p:nvSpPr>
          <p:cNvPr id="572" name="Google Shape;572;p78"/>
          <p:cNvSpPr txBox="1"/>
          <p:nvPr/>
        </p:nvSpPr>
        <p:spPr>
          <a:xfrm>
            <a:off x="6404950" y="2769000"/>
            <a:ext cx="1173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Motion Detection</a:t>
            </a:r>
            <a:endParaRPr sz="1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Demo</a:t>
            </a:r>
            <a:endParaRPr/>
          </a:p>
        </p:txBody>
      </p:sp>
      <p:sp>
        <p:nvSpPr>
          <p:cNvPr id="578" name="Google Shape;578;p79"/>
          <p:cNvSpPr txBox="1"/>
          <p:nvPr/>
        </p:nvSpPr>
        <p:spPr>
          <a:xfrm>
            <a:off x="525750" y="1145400"/>
            <a:ext cx="8016600" cy="1046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rabicPeriod"/>
            </a:pPr>
            <a:r>
              <a:rPr lang="en"/>
              <a:t>Face Detection from live stream at Google Colab</a:t>
            </a:r>
            <a:endParaRPr/>
          </a:p>
          <a:p>
            <a:pPr marL="457200" lvl="0" indent="-317500" algn="l" rtl="0">
              <a:spcBef>
                <a:spcPts val="0"/>
              </a:spcBef>
              <a:spcAft>
                <a:spcPts val="0"/>
              </a:spcAft>
              <a:buSzPts val="1400"/>
              <a:buAutoNum type="arabicPeriod"/>
            </a:pPr>
            <a:r>
              <a:rPr lang="en"/>
              <a:t>Virtual Makeup (</a:t>
            </a:r>
            <a:r>
              <a:rPr lang="en" u="sng">
                <a:solidFill>
                  <a:schemeClr val="hlink"/>
                </a:solidFill>
                <a:hlinkClick r:id="rId3"/>
              </a:rPr>
              <a:t>https://pavankunchala-virtual-makeup-streamlit-app-4rnqh4.streamlit.app/</a:t>
            </a:r>
            <a:r>
              <a:rPr lang="en"/>
              <a:t>)</a:t>
            </a:r>
            <a:endParaRPr/>
          </a:p>
          <a:p>
            <a:pPr marL="457200" lvl="0" indent="-317500" algn="l" rtl="0">
              <a:spcBef>
                <a:spcPts val="0"/>
              </a:spcBef>
              <a:spcAft>
                <a:spcPts val="0"/>
              </a:spcAft>
              <a:buSzPts val="1400"/>
              <a:buAutoNum type="arabicPeriod"/>
            </a:pPr>
            <a:r>
              <a:rPr lang="en"/>
              <a:t>Various Filters (</a:t>
            </a:r>
            <a:r>
              <a:rPr lang="en" u="sng">
                <a:solidFill>
                  <a:schemeClr val="hlink"/>
                </a:solidFill>
                <a:hlinkClick r:id="rId4"/>
              </a:rPr>
              <a:t>https://hars-singh-photo-converter-photo-converter-6di3kd.streamlit.app/</a:t>
            </a:r>
            <a:r>
              <a:rPr lang="en"/>
              <a:t>  )</a:t>
            </a:r>
            <a:endParaRPr/>
          </a:p>
          <a:p>
            <a:pPr marL="457200" lvl="0" indent="-317500" algn="l" rtl="0">
              <a:spcBef>
                <a:spcPts val="0"/>
              </a:spcBef>
              <a:spcAft>
                <a:spcPts val="0"/>
              </a:spcAft>
              <a:buSzPts val="1400"/>
              <a:buAutoNum type="arabicPeriod"/>
            </a:pPr>
            <a:r>
              <a:rPr lang="en"/>
              <a:t>Real time edge detection and other filters (</a:t>
            </a:r>
            <a:r>
              <a:rPr lang="en" u="sng">
                <a:solidFill>
                  <a:schemeClr val="hlink"/>
                </a:solidFill>
                <a:hlinkClick r:id="rId5"/>
              </a:rPr>
              <a:t>https://webrtc.streamlit.app/opencv_filters</a:t>
            </a:r>
            <a:r>
              <a:rPr lang="en"/>
              <a:t>) </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1685</Words>
  <Application>Microsoft Office PowerPoint</Application>
  <PresentationFormat>On-screen Show (16:9)</PresentationFormat>
  <Paragraphs>162</Paragraphs>
  <Slides>54</Slides>
  <Notes>52</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Simple Light</vt:lpstr>
      <vt:lpstr>Introduction to Python, and OpenCV</vt:lpstr>
      <vt:lpstr>Python Variable and Data Types</vt:lpstr>
      <vt:lpstr>Python Variable</vt:lpstr>
      <vt:lpstr>Numerical Value</vt:lpstr>
      <vt:lpstr>Strings: indexing, slicing, string methods </vt:lpstr>
      <vt:lpstr>Lists</vt:lpstr>
      <vt:lpstr>Tuples</vt:lpstr>
      <vt:lpstr>Sets</vt:lpstr>
      <vt:lpstr>Dictionaries</vt:lpstr>
      <vt:lpstr>Python Operators</vt:lpstr>
      <vt:lpstr>Arithmetic Operators</vt:lpstr>
      <vt:lpstr>Assignment Operators</vt:lpstr>
      <vt:lpstr>Comparison Operators</vt:lpstr>
      <vt:lpstr>Logical Operators(and/or/not)</vt:lpstr>
      <vt:lpstr>Identity Operators(is/is not)</vt:lpstr>
      <vt:lpstr>Membership Operators (in/not in)</vt:lpstr>
      <vt:lpstr>Conditional statements and loops</vt:lpstr>
      <vt:lpstr>Conditional Statements: 'if', 'elif', 'else'</vt:lpstr>
      <vt:lpstr>Looping: 'for' and 'while' loops</vt:lpstr>
      <vt:lpstr>Flow control with 'break', 'continue', and 'pass'</vt:lpstr>
      <vt:lpstr>Functions, Classes, and Modules</vt:lpstr>
      <vt:lpstr>Functions in Python</vt:lpstr>
      <vt:lpstr>Classes in Python</vt:lpstr>
      <vt:lpstr>Inheritance in Python</vt:lpstr>
      <vt:lpstr>Modules in Python</vt:lpstr>
      <vt:lpstr>Quick Introduction of Important Modules in Python (Numpy, Pandas, Matplotlib)</vt:lpstr>
      <vt:lpstr>NumPy</vt:lpstr>
      <vt:lpstr>Pandas</vt:lpstr>
      <vt:lpstr>Matplotlib</vt:lpstr>
      <vt:lpstr>PowerPoint Presentation</vt:lpstr>
      <vt:lpstr>Introduction to OpenCV</vt:lpstr>
      <vt:lpstr>How to represent an Image?</vt:lpstr>
      <vt:lpstr>Reading and Displaying Images using OpenCV</vt:lpstr>
      <vt:lpstr>Image Properties</vt:lpstr>
      <vt:lpstr>Image ROI (Region of Interest), Splitting, and Merging Images</vt:lpstr>
      <vt:lpstr>Rotate image</vt:lpstr>
      <vt:lpstr>Flipping Image</vt:lpstr>
      <vt:lpstr>Color Spaces</vt:lpstr>
      <vt:lpstr>Arithmetic Operations on Images</vt:lpstr>
      <vt:lpstr>Image Thresholding</vt:lpstr>
      <vt:lpstr>Image Resizing</vt:lpstr>
      <vt:lpstr>Gaussian Blur</vt:lpstr>
      <vt:lpstr>Edge Detection</vt:lpstr>
      <vt:lpstr>Image Contours</vt:lpstr>
      <vt:lpstr>Drawing a line on Image</vt:lpstr>
      <vt:lpstr>Drawing a Rectangle on Image</vt:lpstr>
      <vt:lpstr>Drawing a Circle on Image</vt:lpstr>
      <vt:lpstr>Writing text on Image</vt:lpstr>
      <vt:lpstr>Template Matching</vt:lpstr>
      <vt:lpstr>Face and Eye Detection</vt:lpstr>
      <vt:lpstr>Writing an Image file</vt:lpstr>
      <vt:lpstr>How to represent a video</vt:lpstr>
      <vt:lpstr>Video Processing and Motion Detection</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Vasireddy, Siva Sai Nagender</cp:lastModifiedBy>
  <cp:revision>17</cp:revision>
  <dcterms:modified xsi:type="dcterms:W3CDTF">2025-08-06T05:36:21Z</dcterms:modified>
</cp:coreProperties>
</file>