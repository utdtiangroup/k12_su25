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/>
    <p:restoredTop sz="94719"/>
  </p:normalViewPr>
  <p:slideViewPr>
    <p:cSldViewPr snapToGrid="0">
      <p:cViewPr varScale="1">
        <p:scale>
          <a:sx n="152" d="100"/>
          <a:sy n="152" d="100"/>
        </p:scale>
        <p:origin x="1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D170-7D75-B31A-D7D0-5128F3D86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AFB81-A209-2D23-EA59-FA4ABA770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C12D5-175A-8553-517B-C3842E335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D922B-D4B7-A7BC-99B9-6A23112C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421CA-E412-AF7A-A8CD-9D6EE526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7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6B1CC-18CA-C90E-6EB3-E8E2FDD0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B5431-532E-CA36-2B20-BD413C16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3D865-C818-53E5-82E2-4A00F1433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F0250-070A-0598-F615-737F992C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9F7C7-6FB3-D326-F96A-1C568597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5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ABA7-FA9A-836D-0839-0E7AAD2BD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B36AA-2853-DF15-1022-041128917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C8C8E-1B17-EDE8-3BF6-8DB2CCE5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D9E53-7247-77FF-F11A-90647A82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F628-8F0C-73E5-29DD-37905152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9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7179-DCAE-1847-1BF4-50737FAB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2F7B1-583A-7288-1B2E-D69BF310E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FBDAF-C661-20C3-7DE0-A9857DCB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4E157-538B-A18A-3139-757DB5A8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D0559-3558-8FB3-222F-C328DE375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68448-AA2C-2D34-8203-5AE8BF0E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5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087B-2655-D646-8E30-98C0CFAE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68067-3B30-BF90-A44F-7D868522C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D9821-F82E-E0DC-E10F-4AF74C4F8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023D8-19C0-B253-91DB-07C04354A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211CF-E72A-EFA6-D213-CD668AD4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ACB9A-8F71-F277-9188-CB48AC2F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76579-40AB-B4E2-9730-4ACF0F49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0BB49-E60A-5B43-E3A2-6D55052F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7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B4BD-409C-8197-EB80-1B0DCECF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9422A-E249-6DBC-DFFF-03935D25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A40D8-FD5F-C03F-2880-680F4136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53D33-7DE3-DF26-AF85-B291638F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3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CBB8A0-25F5-0700-F43D-3D94C69E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8C341-908A-F97F-58B0-0A4FDA97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A10E9-5265-D94B-4EC0-C71B7C9E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1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F1DF8-4186-793B-26D0-EBBBCDF2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33D8A-F781-1B68-E818-C992426BB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11001-8A6A-6A2C-9426-4B1069884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75EBD-4282-8D87-C657-F1D46C33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AFA1-71AA-B94D-72C2-396CF95C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0DD08-7CCA-5999-0B25-59E4777F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3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91B6-749D-F227-3894-FBF1B816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924E6-44F9-FB42-7E26-0445A6E96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7AFCE-49AE-8C25-3F54-B01DB90D6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B45F-96A9-DD78-0142-5DF33AFD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4A3D5-0832-B280-A36B-26A3E28E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0A487-4C80-CE1C-F8C8-54167606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66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2FDA-9414-90A6-4DA3-CA18BF60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FAB57-C349-443F-7366-3F1D24743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92A9C-F26E-2569-7D72-C2E936EE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79ADB-3C2A-7448-4409-37B44AAB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516F5-4077-25E5-60F3-67EB0492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9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4C2D8-4434-896B-51C8-957E20EED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44337-864F-8CE7-98C5-4FC8186FD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E24B4-C9B0-AAC8-C358-08C9BCB3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51ED0-F33F-5A3A-B6C2-9BBD362BB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636FA-8E37-62A0-E316-7EFDCA6C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0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FD95C-711D-637D-68DE-7A232072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AE6D5-9A88-A935-6C88-F238A61F9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E626A-ACBE-BDF2-E32D-377EC98C6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C74F7-2DA5-164D-8B7A-323DA5B8BFE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B0114-4EC2-1724-E59F-DE5B06DBA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0E0FB-C5D9-B59F-43E7-A09E993CB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82F5C-1800-C34D-820A-9018975F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2984-BCE6-98F6-9545-5A55E6DE33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PyTorch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FFD9A-E7D8-40FA-BD2B-F0B12380D2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7155-4BBC-50E1-A55E-BF6354D4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705F2-2AC3-CE67-0C25-0F85DC945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Either create a new </a:t>
            </a:r>
            <a:r>
              <a:rPr lang="en-US" dirty="0" err="1"/>
              <a:t>conda</a:t>
            </a:r>
            <a:r>
              <a:rPr lang="en-US" dirty="0"/>
              <a:t> environment and activate it or activate an existing environment</a:t>
            </a:r>
          </a:p>
          <a:p>
            <a:r>
              <a:rPr lang="en-US" dirty="0"/>
              <a:t>Run the installation command</a:t>
            </a:r>
          </a:p>
          <a:p>
            <a:pPr lvl="1"/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install </a:t>
            </a:r>
            <a:r>
              <a:rPr lang="en-US" dirty="0" err="1">
                <a:highlight>
                  <a:srgbClr val="C0C0C0"/>
                </a:highlight>
              </a:rPr>
              <a:t>pytorch</a:t>
            </a:r>
            <a:r>
              <a:rPr lang="en-US" dirty="0">
                <a:highlight>
                  <a:srgbClr val="C0C0C0"/>
                </a:highlight>
              </a:rPr>
              <a:t>==1.13.1 </a:t>
            </a:r>
            <a:r>
              <a:rPr lang="en-US" dirty="0" err="1">
                <a:highlight>
                  <a:srgbClr val="C0C0C0"/>
                </a:highlight>
              </a:rPr>
              <a:t>torchvision</a:t>
            </a:r>
            <a:r>
              <a:rPr lang="en-US" dirty="0">
                <a:highlight>
                  <a:srgbClr val="C0C0C0"/>
                </a:highlight>
              </a:rPr>
              <a:t>==0.14.1 </a:t>
            </a:r>
            <a:r>
              <a:rPr lang="en-US" dirty="0" err="1">
                <a:highlight>
                  <a:srgbClr val="C0C0C0"/>
                </a:highlight>
              </a:rPr>
              <a:t>torchaudio</a:t>
            </a:r>
            <a:r>
              <a:rPr lang="en-US" dirty="0">
                <a:highlight>
                  <a:srgbClr val="C0C0C0"/>
                </a:highlight>
              </a:rPr>
              <a:t>==0.13.1 </a:t>
            </a:r>
            <a:r>
              <a:rPr lang="en-US" dirty="0" err="1">
                <a:highlight>
                  <a:srgbClr val="C0C0C0"/>
                </a:highlight>
              </a:rPr>
              <a:t>pytorch-cuda</a:t>
            </a:r>
            <a:r>
              <a:rPr lang="en-US" dirty="0">
                <a:highlight>
                  <a:srgbClr val="C0C0C0"/>
                </a:highlight>
              </a:rPr>
              <a:t>=11.7 -c </a:t>
            </a:r>
            <a:r>
              <a:rPr lang="en-US" dirty="0" err="1">
                <a:highlight>
                  <a:srgbClr val="C0C0C0"/>
                </a:highlight>
              </a:rPr>
              <a:t>pytorch</a:t>
            </a:r>
            <a:r>
              <a:rPr lang="en-US" dirty="0">
                <a:highlight>
                  <a:srgbClr val="C0C0C0"/>
                </a:highlight>
              </a:rPr>
              <a:t> -c </a:t>
            </a:r>
            <a:r>
              <a:rPr lang="en-US" dirty="0" err="1">
                <a:highlight>
                  <a:srgbClr val="C0C0C0"/>
                </a:highlight>
              </a:rPr>
              <a:t>nvidia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3DB2B-A022-9C2A-B176-02DA09E3900F}"/>
              </a:ext>
            </a:extLst>
          </p:cNvPr>
          <p:cNvSpPr txBox="1"/>
          <p:nvPr/>
        </p:nvSpPr>
        <p:spPr>
          <a:xfrm>
            <a:off x="2946323" y="6308209"/>
            <a:ext cx="629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: https://</a:t>
            </a:r>
            <a:r>
              <a:rPr lang="en-US" dirty="0" err="1"/>
              <a:t>pytorch.org</a:t>
            </a:r>
            <a:r>
              <a:rPr lang="en-US" dirty="0"/>
              <a:t>/get-started/previous-versions/</a:t>
            </a:r>
          </a:p>
        </p:txBody>
      </p:sp>
    </p:spTree>
    <p:extLst>
      <p:ext uri="{BB962C8B-B14F-4D97-AF65-F5344CB8AC3E}">
        <p14:creationId xmlns:p14="http://schemas.microsoft.com/office/powerpoint/2010/main" val="285386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D5250-FA52-8F62-4BFB-918169AE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PyTorch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07F15-4CEB-0399-A1F7-696F27A22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2400300"/>
            <a:ext cx="51435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0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6551-3D0A-04FE-1574-A239D23E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Fully Connected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1EE7E-7FA5-42F0-A132-341B7CACE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995450" cy="5167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66E3F-FF2A-4B45-6D7A-A42CB764E891}"/>
              </a:ext>
            </a:extLst>
          </p:cNvPr>
          <p:cNvSpPr txBox="1"/>
          <p:nvPr/>
        </p:nvSpPr>
        <p:spPr>
          <a:xfrm>
            <a:off x="6096000" y="2088107"/>
            <a:ext cx="406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PyTorch models inherit from </a:t>
            </a:r>
            <a:r>
              <a:rPr lang="en-US" dirty="0" err="1">
                <a:solidFill>
                  <a:schemeClr val="accent4"/>
                </a:solidFill>
              </a:rPr>
              <a:t>nn.Module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76D63-47AB-1AD7-47AF-B62B0BB77694}"/>
              </a:ext>
            </a:extLst>
          </p:cNvPr>
          <p:cNvSpPr txBox="1"/>
          <p:nvPr/>
        </p:nvSpPr>
        <p:spPr>
          <a:xfrm>
            <a:off x="6095999" y="3444922"/>
            <a:ext cx="615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__</a:t>
            </a:r>
            <a:r>
              <a:rPr lang="en-US" dirty="0" err="1">
                <a:solidFill>
                  <a:schemeClr val="accent6"/>
                </a:solidFill>
              </a:rPr>
              <a:t>init</a:t>
            </a:r>
            <a:r>
              <a:rPr lang="en-US" dirty="0">
                <a:solidFill>
                  <a:schemeClr val="accent6"/>
                </a:solidFill>
              </a:rPr>
              <a:t>__ method is used to initialize model parameters/layers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FD4A4-6BE2-78B7-6D0B-AA9AC3348618}"/>
              </a:ext>
            </a:extLst>
          </p:cNvPr>
          <p:cNvSpPr txBox="1"/>
          <p:nvPr/>
        </p:nvSpPr>
        <p:spPr>
          <a:xfrm>
            <a:off x="5982030" y="5199156"/>
            <a:ext cx="4540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forward method computes the forward pass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CDB7B-D32A-5667-1932-95DB76B16FC3}"/>
              </a:ext>
            </a:extLst>
          </p:cNvPr>
          <p:cNvSpPr txBox="1"/>
          <p:nvPr/>
        </p:nvSpPr>
        <p:spPr>
          <a:xfrm>
            <a:off x="5982030" y="6123543"/>
            <a:ext cx="251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Move the model to GPU</a:t>
            </a:r>
          </a:p>
        </p:txBody>
      </p:sp>
    </p:spTree>
    <p:extLst>
      <p:ext uri="{BB962C8B-B14F-4D97-AF65-F5344CB8AC3E}">
        <p14:creationId xmlns:p14="http://schemas.microsoft.com/office/powerpoint/2010/main" val="89607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6333-5FD9-6477-D20F-286C5018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Computation with GPUs</a:t>
            </a:r>
          </a:p>
        </p:txBody>
      </p:sp>
      <p:pic>
        <p:nvPicPr>
          <p:cNvPr id="1026" name="Picture 2" descr="CPU and GPU architecture">
            <a:extLst>
              <a:ext uri="{FF2B5EF4-FFF2-40B4-BE49-F238E27FC236}">
                <a16:creationId xmlns:a16="http://schemas.microsoft.com/office/drawing/2014/main" id="{DC349995-1F3F-C659-9144-EEECC9D68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22" y="2080989"/>
            <a:ext cx="57658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77BAC-D910-0FBF-20EB-CD4E441EA193}"/>
              </a:ext>
            </a:extLst>
          </p:cNvPr>
          <p:cNvSpPr txBox="1"/>
          <p:nvPr/>
        </p:nvSpPr>
        <p:spPr>
          <a:xfrm>
            <a:off x="298164" y="4977045"/>
            <a:ext cx="557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Picture Credit : https://</a:t>
            </a:r>
            <a:r>
              <a:rPr lang="en-US" sz="1400" dirty="0" err="1"/>
              <a:t>nyu-cds.github.io</a:t>
            </a:r>
            <a:r>
              <a:rPr lang="en-US" sz="1400" dirty="0"/>
              <a:t>/python-</a:t>
            </a:r>
            <a:r>
              <a:rPr lang="en-US" sz="1400" dirty="0" err="1"/>
              <a:t>gpu</a:t>
            </a:r>
            <a:r>
              <a:rPr lang="en-US" sz="1400" dirty="0"/>
              <a:t>/01-introduction/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60295-1D72-BC0A-8AC3-30AFCFBC01DD}"/>
              </a:ext>
            </a:extLst>
          </p:cNvPr>
          <p:cNvSpPr txBox="1"/>
          <p:nvPr/>
        </p:nvSpPr>
        <p:spPr>
          <a:xfrm>
            <a:off x="6096000" y="2497540"/>
            <a:ext cx="161550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Property</a:t>
            </a:r>
          </a:p>
          <a:p>
            <a:endParaRPr lang="en-US" b="1" dirty="0"/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# Processors</a:t>
            </a: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Clock Speed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Best suited for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A22B3-E695-79DF-8F6F-6B92E373DCD3}"/>
              </a:ext>
            </a:extLst>
          </p:cNvPr>
          <p:cNvSpPr txBox="1"/>
          <p:nvPr/>
        </p:nvSpPr>
        <p:spPr>
          <a:xfrm>
            <a:off x="8026012" y="2497539"/>
            <a:ext cx="198349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CPU</a:t>
            </a:r>
          </a:p>
          <a:p>
            <a:endParaRPr lang="en-US" b="1" dirty="0"/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Small</a:t>
            </a: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High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2-4 GHz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Single Instruction,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Single Data (SISD)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1C199B-3857-1A02-910C-70AF7DAA11E9}"/>
              </a:ext>
            </a:extLst>
          </p:cNvPr>
          <p:cNvSpPr txBox="1"/>
          <p:nvPr/>
        </p:nvSpPr>
        <p:spPr>
          <a:xfrm>
            <a:off x="10009504" y="2497540"/>
            <a:ext cx="223170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GPU</a:t>
            </a:r>
          </a:p>
          <a:p>
            <a:endParaRPr lang="en-US" b="1" dirty="0"/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Large</a:t>
            </a: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Lower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700 MHz – 1 GHz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Single Instruction,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Multiple Data (SIMD)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688593-7C75-F11D-0EAA-96EF3E99CDFD}"/>
              </a:ext>
            </a:extLst>
          </p:cNvPr>
          <p:cNvCxnSpPr>
            <a:cxnSpLocks/>
          </p:cNvCxnSpPr>
          <p:nvPr/>
        </p:nvCxnSpPr>
        <p:spPr>
          <a:xfrm>
            <a:off x="7848591" y="1690688"/>
            <a:ext cx="0" cy="4199025"/>
          </a:xfrm>
          <a:prstGeom prst="line">
            <a:avLst/>
          </a:prstGeom>
          <a:ln w="28575">
            <a:solidFill>
              <a:schemeClr val="accent2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18A06-56D3-472A-1213-228ABF42E4F4}"/>
              </a:ext>
            </a:extLst>
          </p:cNvPr>
          <p:cNvCxnSpPr>
            <a:cxnSpLocks/>
          </p:cNvCxnSpPr>
          <p:nvPr/>
        </p:nvCxnSpPr>
        <p:spPr>
          <a:xfrm>
            <a:off x="10009504" y="1690688"/>
            <a:ext cx="0" cy="4199025"/>
          </a:xfrm>
          <a:prstGeom prst="line">
            <a:avLst/>
          </a:prstGeom>
          <a:ln w="28575">
            <a:solidFill>
              <a:schemeClr val="accent2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84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3EB1-FA07-309A-6CCD-8B8B7A24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Loader – Data Loading Pipeline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729806D8-BCB2-6A98-B819-D1483305B5B2}"/>
              </a:ext>
            </a:extLst>
          </p:cNvPr>
          <p:cNvSpPr/>
          <p:nvPr/>
        </p:nvSpPr>
        <p:spPr>
          <a:xfrm>
            <a:off x="1624084" y="4094329"/>
            <a:ext cx="1091820" cy="573206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6053C2-0BF0-0FF2-F652-430EC55F6EDA}"/>
              </a:ext>
            </a:extLst>
          </p:cNvPr>
          <p:cNvSpPr/>
          <p:nvPr/>
        </p:nvSpPr>
        <p:spPr>
          <a:xfrm>
            <a:off x="1712794" y="1978108"/>
            <a:ext cx="914400" cy="9144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RAM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4F862F-AA53-1886-13AA-82B50AEFA0D4}"/>
              </a:ext>
            </a:extLst>
          </p:cNvPr>
          <p:cNvSpPr/>
          <p:nvPr/>
        </p:nvSpPr>
        <p:spPr>
          <a:xfrm>
            <a:off x="3930555" y="1978108"/>
            <a:ext cx="914400" cy="9144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GPU RAM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EC7537-6643-5E4F-7BFE-40B7E6D484D4}"/>
              </a:ext>
            </a:extLst>
          </p:cNvPr>
          <p:cNvSpPr/>
          <p:nvPr/>
        </p:nvSpPr>
        <p:spPr>
          <a:xfrm>
            <a:off x="6432647" y="1978108"/>
            <a:ext cx="172871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NN Model Computations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629776-446B-2686-86DF-FCF3A3664EDA}"/>
              </a:ext>
            </a:extLst>
          </p:cNvPr>
          <p:cNvCxnSpPr>
            <a:cxnSpLocks/>
            <a:stCxn id="4" idx="1"/>
            <a:endCxn id="5" idx="2"/>
          </p:cNvCxnSpPr>
          <p:nvPr/>
        </p:nvCxnSpPr>
        <p:spPr>
          <a:xfrm flipV="1">
            <a:off x="2169994" y="2892508"/>
            <a:ext cx="0" cy="1201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22698B-9F3D-7934-BA89-964281CD99E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627194" y="2435308"/>
            <a:ext cx="1303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7ECA5F-3B76-C2AF-2851-F68B909FDB9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844955" y="2435308"/>
            <a:ext cx="15876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C7A4E6-704F-712A-48A9-BE8A5787E597}"/>
              </a:ext>
            </a:extLst>
          </p:cNvPr>
          <p:cNvSpPr txBox="1"/>
          <p:nvPr/>
        </p:nvSpPr>
        <p:spPr>
          <a:xfrm>
            <a:off x="4162580" y="3807725"/>
            <a:ext cx="33027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Inefficiencies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GPU waits while data is being loaded by CPU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CPU speed is still a bottleneck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6EC010-8833-51A3-7831-90BCBF4E50A4}"/>
              </a:ext>
            </a:extLst>
          </p:cNvPr>
          <p:cNvSpPr txBox="1"/>
          <p:nvPr/>
        </p:nvSpPr>
        <p:spPr>
          <a:xfrm>
            <a:off x="8334492" y="3807725"/>
            <a:ext cx="35390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Solutions</a:t>
            </a:r>
          </a:p>
          <a:p>
            <a:endParaRPr lang="en-US" b="1" dirty="0"/>
          </a:p>
          <a:p>
            <a:r>
              <a:rPr lang="en-US" dirty="0">
                <a:solidFill>
                  <a:schemeClr val="accent6"/>
                </a:solidFill>
              </a:rPr>
              <a:t>Load next iteration’s data in parallel to current computation</a:t>
            </a:r>
          </a:p>
          <a:p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Use multiple threads for data loading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9E9486-4675-7AE9-FD74-ED33FE3EE160}"/>
              </a:ext>
            </a:extLst>
          </p:cNvPr>
          <p:cNvCxnSpPr>
            <a:cxnSpLocks/>
          </p:cNvCxnSpPr>
          <p:nvPr/>
        </p:nvCxnSpPr>
        <p:spPr>
          <a:xfrm flipV="1">
            <a:off x="2168638" y="2892508"/>
            <a:ext cx="0" cy="1201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3A8EBF-3144-B337-FE7A-783595CAF501}"/>
              </a:ext>
            </a:extLst>
          </p:cNvPr>
          <p:cNvCxnSpPr>
            <a:cxnSpLocks/>
          </p:cNvCxnSpPr>
          <p:nvPr/>
        </p:nvCxnSpPr>
        <p:spPr>
          <a:xfrm>
            <a:off x="2627194" y="2439207"/>
            <a:ext cx="1303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86ECB8-CF77-A085-63FA-0EF3FFF7A986}"/>
              </a:ext>
            </a:extLst>
          </p:cNvPr>
          <p:cNvCxnSpPr>
            <a:cxnSpLocks/>
          </p:cNvCxnSpPr>
          <p:nvPr/>
        </p:nvCxnSpPr>
        <p:spPr>
          <a:xfrm flipV="1">
            <a:off x="2312649" y="2892508"/>
            <a:ext cx="0" cy="1201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02B3B2-728D-F6B9-92ED-6B720EBA8CDA}"/>
              </a:ext>
            </a:extLst>
          </p:cNvPr>
          <p:cNvCxnSpPr>
            <a:cxnSpLocks/>
          </p:cNvCxnSpPr>
          <p:nvPr/>
        </p:nvCxnSpPr>
        <p:spPr>
          <a:xfrm flipV="1">
            <a:off x="2020433" y="2892508"/>
            <a:ext cx="0" cy="1201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F2B0DB-FBCA-BAEB-64AF-2AE5CC66D9C8}"/>
              </a:ext>
            </a:extLst>
          </p:cNvPr>
          <p:cNvCxnSpPr>
            <a:cxnSpLocks/>
          </p:cNvCxnSpPr>
          <p:nvPr/>
        </p:nvCxnSpPr>
        <p:spPr>
          <a:xfrm>
            <a:off x="2627194" y="2558051"/>
            <a:ext cx="1303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06B6B0-AE39-EB17-BB3C-46F83B8615B3}"/>
              </a:ext>
            </a:extLst>
          </p:cNvPr>
          <p:cNvCxnSpPr>
            <a:cxnSpLocks/>
          </p:cNvCxnSpPr>
          <p:nvPr/>
        </p:nvCxnSpPr>
        <p:spPr>
          <a:xfrm>
            <a:off x="2627194" y="2316168"/>
            <a:ext cx="1303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19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671C-60CD-8B96-920B-4381372E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Loader with PyTorch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23066-0002-E0CF-A2E7-D6729A13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426192"/>
            <a:ext cx="5067300" cy="4229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5BCC1B-20FE-9561-3A49-36E6E4441EC4}"/>
              </a:ext>
            </a:extLst>
          </p:cNvPr>
          <p:cNvSpPr txBox="1"/>
          <p:nvPr/>
        </p:nvSpPr>
        <p:spPr>
          <a:xfrm>
            <a:off x="684094" y="5789210"/>
            <a:ext cx="3889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FashionMNIST</a:t>
            </a:r>
            <a:r>
              <a:rPr lang="en-US" dirty="0"/>
              <a:t> is provided by PyTorch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6F1C0-1C55-FCFC-EA3D-B8E6E5A7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1969920"/>
            <a:ext cx="7029450" cy="1703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D203A8-3842-6BD7-3CAD-3FCEF9A21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4166415"/>
            <a:ext cx="7029450" cy="14888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227934-101D-8B15-C15A-BD82D02CE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95" y="5551817"/>
            <a:ext cx="65913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9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2C7D-F7AA-7FB7-2ED9-B992E8CF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Model – Loss And Optimizer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DCC18-45DE-4A0E-3F7F-76C7D4CF1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680" y="2692779"/>
            <a:ext cx="6781800" cy="1117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76A35F-270E-8F7A-4A4C-98CC8179DB92}"/>
              </a:ext>
            </a:extLst>
          </p:cNvPr>
          <p:cNvSpPr txBox="1"/>
          <p:nvPr/>
        </p:nvSpPr>
        <p:spPr>
          <a:xfrm>
            <a:off x="3822108" y="3808939"/>
            <a:ext cx="4192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 a Loss Function and an Optimizer</a:t>
            </a:r>
          </a:p>
        </p:txBody>
      </p:sp>
    </p:spTree>
    <p:extLst>
      <p:ext uri="{BB962C8B-B14F-4D97-AF65-F5344CB8AC3E}">
        <p14:creationId xmlns:p14="http://schemas.microsoft.com/office/powerpoint/2010/main" val="36078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C856-60FB-8E55-134A-4D91C212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Model – Training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83242-951A-36A2-0BF5-F351AEF0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533" y="1349802"/>
            <a:ext cx="7378700" cy="535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DEE9A-211E-9BBC-0090-0101ECC087FA}"/>
              </a:ext>
            </a:extLst>
          </p:cNvPr>
          <p:cNvSpPr txBox="1"/>
          <p:nvPr/>
        </p:nvSpPr>
        <p:spPr>
          <a:xfrm>
            <a:off x="7812125" y="2401569"/>
            <a:ext cx="354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Iterate through each batch of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42E99-2ED6-7208-B66E-4C59D9D440AA}"/>
              </a:ext>
            </a:extLst>
          </p:cNvPr>
          <p:cNvSpPr txBox="1"/>
          <p:nvPr/>
        </p:nvSpPr>
        <p:spPr>
          <a:xfrm>
            <a:off x="7227547" y="2689417"/>
            <a:ext cx="2328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Move data to the GPU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60D06-4D51-0868-DD66-F19EB2950585}"/>
              </a:ext>
            </a:extLst>
          </p:cNvPr>
          <p:cNvSpPr txBox="1"/>
          <p:nvPr/>
        </p:nvSpPr>
        <p:spPr>
          <a:xfrm>
            <a:off x="5605738" y="3454892"/>
            <a:ext cx="1527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Forward 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15B5C-B070-3BA7-1346-DBF93ECD1AF2}"/>
              </a:ext>
            </a:extLst>
          </p:cNvPr>
          <p:cNvSpPr txBox="1"/>
          <p:nvPr/>
        </p:nvSpPr>
        <p:spPr>
          <a:xfrm>
            <a:off x="6210883" y="3751587"/>
            <a:ext cx="2019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Loss Computation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B32E2-7C7D-7E48-B62D-4CBF084110B7}"/>
              </a:ext>
            </a:extLst>
          </p:cNvPr>
          <p:cNvSpPr txBox="1"/>
          <p:nvPr/>
        </p:nvSpPr>
        <p:spPr>
          <a:xfrm>
            <a:off x="5310379" y="4544358"/>
            <a:ext cx="3820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Compute gradients of all parameters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559AD-695C-3ABD-453F-EE821C770B8B}"/>
              </a:ext>
            </a:extLst>
          </p:cNvPr>
          <p:cNvSpPr txBox="1"/>
          <p:nvPr/>
        </p:nvSpPr>
        <p:spPr>
          <a:xfrm>
            <a:off x="2126784" y="4797264"/>
            <a:ext cx="1402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Update 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BA9A8-C1EE-014D-4062-1BE9701B5450}"/>
              </a:ext>
            </a:extLst>
          </p:cNvPr>
          <p:cNvSpPr txBox="1"/>
          <p:nvPr/>
        </p:nvSpPr>
        <p:spPr>
          <a:xfrm>
            <a:off x="5877422" y="5068297"/>
            <a:ext cx="4730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Reset gradients to zero – important in PyTorch</a:t>
            </a:r>
          </a:p>
        </p:txBody>
      </p:sp>
    </p:spTree>
    <p:extLst>
      <p:ext uri="{BB962C8B-B14F-4D97-AF65-F5344CB8AC3E}">
        <p14:creationId xmlns:p14="http://schemas.microsoft.com/office/powerpoint/2010/main" val="140384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3C-CA9F-A179-5CD7-DEB8E534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8A459-6636-66D3-1F76-E6560F8A3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80162"/>
            <a:ext cx="7772400" cy="3297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446BEE-129C-4BE6-0508-405D2E3FC9FB}"/>
              </a:ext>
            </a:extLst>
          </p:cNvPr>
          <p:cNvSpPr txBox="1"/>
          <p:nvPr/>
        </p:nvSpPr>
        <p:spPr>
          <a:xfrm>
            <a:off x="2094744" y="5167312"/>
            <a:ext cx="8002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 to train(), except for the missing gradient computation and update steps</a:t>
            </a:r>
          </a:p>
        </p:txBody>
      </p:sp>
    </p:spTree>
    <p:extLst>
      <p:ext uri="{BB962C8B-B14F-4D97-AF65-F5344CB8AC3E}">
        <p14:creationId xmlns:p14="http://schemas.microsoft.com/office/powerpoint/2010/main" val="289203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2EAB-3E99-12A6-F4C0-896EA359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the Model – Perform update steps for multiple epochs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E8AD1-E1BB-3EE8-3866-60CC1B3D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343150"/>
            <a:ext cx="66675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14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A6F2-AFD4-622C-32E7-411F2D0F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and Loading the Model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616A4-3751-528A-869C-F79691D4A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3" y="2113223"/>
            <a:ext cx="56515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A2CFD-8ED4-08C3-FD7E-56E493C1E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465" y="2113223"/>
            <a:ext cx="5588000" cy="1130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4D700-8503-C895-4E03-19228A67E286}"/>
              </a:ext>
            </a:extLst>
          </p:cNvPr>
          <p:cNvSpPr txBox="1"/>
          <p:nvPr/>
        </p:nvSpPr>
        <p:spPr>
          <a:xfrm>
            <a:off x="955343" y="3425588"/>
            <a:ext cx="3063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Saving the Model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E2A0E-75FA-81FE-2236-4188CED08FA0}"/>
              </a:ext>
            </a:extLst>
          </p:cNvPr>
          <p:cNvSpPr txBox="1"/>
          <p:nvPr/>
        </p:nvSpPr>
        <p:spPr>
          <a:xfrm>
            <a:off x="7701610" y="3425588"/>
            <a:ext cx="32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Loading the Model Parameters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90BD7-5F5E-7EAC-3D7F-EC0B03A87892}"/>
              </a:ext>
            </a:extLst>
          </p:cNvPr>
          <p:cNvSpPr txBox="1"/>
          <p:nvPr/>
        </p:nvSpPr>
        <p:spPr>
          <a:xfrm>
            <a:off x="199503" y="4872251"/>
            <a:ext cx="11896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Save models parameters at regular intervals. If training is interrupted, we can restart training from one of the saved checkpoints instead of training from the beginning.</a:t>
            </a:r>
          </a:p>
        </p:txBody>
      </p:sp>
    </p:spTree>
    <p:extLst>
      <p:ext uri="{BB962C8B-B14F-4D97-AF65-F5344CB8AC3E}">
        <p14:creationId xmlns:p14="http://schemas.microsoft.com/office/powerpoint/2010/main" val="132164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A966-3C96-D9A8-9225-C369A3E1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Dataset Loader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E4599-2B23-1A75-D7A8-080BC54E5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20" y="1442535"/>
            <a:ext cx="7772400" cy="52012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3F08D9-A4BC-2078-53E8-D94249E8D3C5}"/>
              </a:ext>
            </a:extLst>
          </p:cNvPr>
          <p:cNvSpPr txBox="1"/>
          <p:nvPr/>
        </p:nvSpPr>
        <p:spPr>
          <a:xfrm>
            <a:off x="3152632" y="4490114"/>
            <a:ext cx="4880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Default function that is called to fetch each datapoint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40F3A-23E4-7563-5599-7E90BEDA9D40}"/>
              </a:ext>
            </a:extLst>
          </p:cNvPr>
          <p:cNvSpPr txBox="1"/>
          <p:nvPr/>
        </p:nvSpPr>
        <p:spPr>
          <a:xfrm>
            <a:off x="8379725" y="3304484"/>
            <a:ext cx="3548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Collate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Default : Creates one tensor with all data in a batch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Modify by writing a custom function, if necessary</a:t>
            </a:r>
          </a:p>
        </p:txBody>
      </p:sp>
    </p:spTree>
    <p:extLst>
      <p:ext uri="{BB962C8B-B14F-4D97-AF65-F5344CB8AC3E}">
        <p14:creationId xmlns:p14="http://schemas.microsoft.com/office/powerpoint/2010/main" val="252404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FC83-B265-44FE-C08A-BEFEC0E6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Collate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D9DD8-1705-9D73-75DD-145D985C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7" y="1955800"/>
            <a:ext cx="7188200" cy="147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AC2C4-9428-3CB7-937F-AD3EF6835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100" y="4725443"/>
            <a:ext cx="6616700" cy="546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C4D94-3548-34E4-F76F-C133806E924A}"/>
              </a:ext>
            </a:extLst>
          </p:cNvPr>
          <p:cNvSpPr txBox="1"/>
          <p:nvPr/>
        </p:nvSpPr>
        <p:spPr>
          <a:xfrm>
            <a:off x="1790403" y="6260209"/>
            <a:ext cx="8193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Picture Credit : https://</a:t>
            </a:r>
            <a:r>
              <a:rPr lang="en-US" sz="1400" dirty="0" err="1"/>
              <a:t>stackoverflow.com</a:t>
            </a:r>
            <a:r>
              <a:rPr lang="en-US" sz="1400" dirty="0"/>
              <a:t>/questions/65279115/how-to-use-collate-</a:t>
            </a:r>
            <a:r>
              <a:rPr lang="en-US" sz="1400" dirty="0" err="1"/>
              <a:t>fn</a:t>
            </a:r>
            <a:r>
              <a:rPr lang="en-US" sz="1400" dirty="0"/>
              <a:t>-with-</a:t>
            </a:r>
            <a:r>
              <a:rPr lang="en-US" sz="1400" dirty="0" err="1"/>
              <a:t>dataloaders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837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8873-30AA-D261-2979-60227B21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54E59-AF02-8E9D-F8C2-7FC929E77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Tutorials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pytorch.org</a:t>
            </a:r>
            <a:r>
              <a:rPr lang="en-US" dirty="0"/>
              <a:t>/tutorials/beginner/basics/</a:t>
            </a:r>
            <a:r>
              <a:rPr lang="en-US" dirty="0" err="1"/>
              <a:t>intro.html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4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388</Words>
  <Application>Microsoft Macintosh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PyTorch</vt:lpstr>
      <vt:lpstr>Installation</vt:lpstr>
      <vt:lpstr>Import PyTorch</vt:lpstr>
      <vt:lpstr>Defining a Fully Connected Model</vt:lpstr>
      <vt:lpstr>Parallel Computation with GPUs</vt:lpstr>
      <vt:lpstr>Data Loader – Data Loading Pipeline</vt:lpstr>
      <vt:lpstr>Data Loader with PyTorch</vt:lpstr>
      <vt:lpstr>Training a Model – Loss And Optimizer</vt:lpstr>
      <vt:lpstr>Training a Model – Training Function</vt:lpstr>
      <vt:lpstr>Testing the Model</vt:lpstr>
      <vt:lpstr>Training the Model – Perform update steps for multiple epochs</vt:lpstr>
      <vt:lpstr>Saving and Loading the Model Parameters</vt:lpstr>
      <vt:lpstr>Custom Dataset Loader</vt:lpstr>
      <vt:lpstr>Sample Collate Function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94</cp:revision>
  <dcterms:created xsi:type="dcterms:W3CDTF">2024-06-09T20:18:24Z</dcterms:created>
  <dcterms:modified xsi:type="dcterms:W3CDTF">2024-06-10T00:57:51Z</dcterms:modified>
</cp:coreProperties>
</file>