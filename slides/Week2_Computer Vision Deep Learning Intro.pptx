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60" r:id="rId2"/>
    <p:sldMasterId id="2147483771" r:id="rId3"/>
  </p:sldMasterIdLst>
  <p:notesMasterIdLst>
    <p:notesMasterId r:id="rId127"/>
  </p:notesMasterIdLst>
  <p:sldIdLst>
    <p:sldId id="256" r:id="rId4"/>
    <p:sldId id="275" r:id="rId5"/>
    <p:sldId id="274" r:id="rId6"/>
    <p:sldId id="273" r:id="rId7"/>
    <p:sldId id="272" r:id="rId8"/>
    <p:sldId id="271" r:id="rId9"/>
    <p:sldId id="270" r:id="rId10"/>
    <p:sldId id="269" r:id="rId11"/>
    <p:sldId id="268" r:id="rId12"/>
    <p:sldId id="267" r:id="rId13"/>
    <p:sldId id="266" r:id="rId14"/>
    <p:sldId id="265" r:id="rId15"/>
    <p:sldId id="264" r:id="rId16"/>
    <p:sldId id="263" r:id="rId17"/>
    <p:sldId id="262" r:id="rId18"/>
    <p:sldId id="261" r:id="rId19"/>
    <p:sldId id="260" r:id="rId20"/>
    <p:sldId id="259" r:id="rId21"/>
    <p:sldId id="258" r:id="rId22"/>
    <p:sldId id="257" r:id="rId23"/>
    <p:sldId id="320" r:id="rId24"/>
    <p:sldId id="319" r:id="rId25"/>
    <p:sldId id="318" r:id="rId26"/>
    <p:sldId id="317" r:id="rId27"/>
    <p:sldId id="316" r:id="rId28"/>
    <p:sldId id="315" r:id="rId29"/>
    <p:sldId id="314" r:id="rId30"/>
    <p:sldId id="313" r:id="rId31"/>
    <p:sldId id="312" r:id="rId32"/>
    <p:sldId id="380" r:id="rId33"/>
    <p:sldId id="311" r:id="rId34"/>
    <p:sldId id="310" r:id="rId35"/>
    <p:sldId id="309" r:id="rId36"/>
    <p:sldId id="308" r:id="rId37"/>
    <p:sldId id="307" r:id="rId38"/>
    <p:sldId id="306" r:id="rId39"/>
    <p:sldId id="305" r:id="rId40"/>
    <p:sldId id="304" r:id="rId41"/>
    <p:sldId id="303" r:id="rId42"/>
    <p:sldId id="302" r:id="rId43"/>
    <p:sldId id="301" r:id="rId44"/>
    <p:sldId id="300" r:id="rId45"/>
    <p:sldId id="299" r:id="rId46"/>
    <p:sldId id="298" r:id="rId47"/>
    <p:sldId id="297" r:id="rId48"/>
    <p:sldId id="296" r:id="rId49"/>
    <p:sldId id="295" r:id="rId50"/>
    <p:sldId id="294" r:id="rId51"/>
    <p:sldId id="293" r:id="rId52"/>
    <p:sldId id="292" r:id="rId53"/>
    <p:sldId id="291" r:id="rId54"/>
    <p:sldId id="290" r:id="rId55"/>
    <p:sldId id="289" r:id="rId56"/>
    <p:sldId id="288" r:id="rId57"/>
    <p:sldId id="287" r:id="rId58"/>
    <p:sldId id="286" r:id="rId59"/>
    <p:sldId id="285" r:id="rId60"/>
    <p:sldId id="284" r:id="rId61"/>
    <p:sldId id="283" r:id="rId62"/>
    <p:sldId id="282" r:id="rId63"/>
    <p:sldId id="281" r:id="rId64"/>
    <p:sldId id="280" r:id="rId65"/>
    <p:sldId id="279" r:id="rId66"/>
    <p:sldId id="278" r:id="rId67"/>
    <p:sldId id="277" r:id="rId68"/>
    <p:sldId id="276" r:id="rId69"/>
    <p:sldId id="345" r:id="rId70"/>
    <p:sldId id="344" r:id="rId71"/>
    <p:sldId id="343" r:id="rId72"/>
    <p:sldId id="342" r:id="rId73"/>
    <p:sldId id="341" r:id="rId74"/>
    <p:sldId id="340" r:id="rId75"/>
    <p:sldId id="339" r:id="rId76"/>
    <p:sldId id="338" r:id="rId77"/>
    <p:sldId id="337" r:id="rId78"/>
    <p:sldId id="336" r:id="rId79"/>
    <p:sldId id="335" r:id="rId80"/>
    <p:sldId id="334" r:id="rId81"/>
    <p:sldId id="333" r:id="rId82"/>
    <p:sldId id="332" r:id="rId83"/>
    <p:sldId id="331" r:id="rId84"/>
    <p:sldId id="330" r:id="rId85"/>
    <p:sldId id="329" r:id="rId86"/>
    <p:sldId id="328" r:id="rId87"/>
    <p:sldId id="381" r:id="rId88"/>
    <p:sldId id="327" r:id="rId89"/>
    <p:sldId id="326" r:id="rId90"/>
    <p:sldId id="325" r:id="rId91"/>
    <p:sldId id="324" r:id="rId92"/>
    <p:sldId id="323" r:id="rId93"/>
    <p:sldId id="322" r:id="rId94"/>
    <p:sldId id="321" r:id="rId95"/>
    <p:sldId id="347" r:id="rId96"/>
    <p:sldId id="348" r:id="rId97"/>
    <p:sldId id="350" r:id="rId98"/>
    <p:sldId id="363" r:id="rId99"/>
    <p:sldId id="362" r:id="rId100"/>
    <p:sldId id="361" r:id="rId101"/>
    <p:sldId id="360" r:id="rId102"/>
    <p:sldId id="359" r:id="rId103"/>
    <p:sldId id="358" r:id="rId104"/>
    <p:sldId id="357" r:id="rId105"/>
    <p:sldId id="356" r:id="rId106"/>
    <p:sldId id="355" r:id="rId107"/>
    <p:sldId id="354" r:id="rId108"/>
    <p:sldId id="353" r:id="rId109"/>
    <p:sldId id="352" r:id="rId110"/>
    <p:sldId id="351" r:id="rId111"/>
    <p:sldId id="373" r:id="rId112"/>
    <p:sldId id="372" r:id="rId113"/>
    <p:sldId id="371" r:id="rId114"/>
    <p:sldId id="370" r:id="rId115"/>
    <p:sldId id="369" r:id="rId116"/>
    <p:sldId id="368" r:id="rId117"/>
    <p:sldId id="367" r:id="rId118"/>
    <p:sldId id="366" r:id="rId119"/>
    <p:sldId id="365" r:id="rId120"/>
    <p:sldId id="364" r:id="rId121"/>
    <p:sldId id="374" r:id="rId122"/>
    <p:sldId id="375" r:id="rId123"/>
    <p:sldId id="376" r:id="rId124"/>
    <p:sldId id="378" r:id="rId125"/>
    <p:sldId id="379" r:id="rId1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4EA895-74DA-4FF9-840F-94E9A9944C5A}" v="16" dt="2023-06-12T04:21:05.284"/>
    <p1510:client id="{E2CFDB2A-2608-4846-9F3B-EF5F0474BCA8}" v="229" dt="2023-06-12T13:50:33.5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115" d="100"/>
          <a:sy n="115" d="100"/>
        </p:scale>
        <p:origin x="216"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presProps" Target="pres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viewProps" Target="view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theme" Target="theme/theme1.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microsoft.com/office/2016/11/relationships/changesInfo" Target="changesInfos/changesInfo1.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 Sai Nagender Vasireddy" userId="uYCnjPpBgMg6RgHbw9fc4TXQxlFkerQmdP2dxZZTDbY=" providerId="None" clId="Web-{AD4EA895-74DA-4FF9-840F-94E9A9944C5A}"/>
    <pc:docChg chg="modSld">
      <pc:chgData name="Siva Sai Nagender Vasireddy" userId="uYCnjPpBgMg6RgHbw9fc4TXQxlFkerQmdP2dxZZTDbY=" providerId="None" clId="Web-{AD4EA895-74DA-4FF9-840F-94E9A9944C5A}" dt="2023-06-12T04:21:03.425" v="13" actId="20577"/>
      <pc:docMkLst>
        <pc:docMk/>
      </pc:docMkLst>
      <pc:sldChg chg="modSp">
        <pc:chgData name="Siva Sai Nagender Vasireddy" userId="uYCnjPpBgMg6RgHbw9fc4TXQxlFkerQmdP2dxZZTDbY=" providerId="None" clId="Web-{AD4EA895-74DA-4FF9-840F-94E9A9944C5A}" dt="2023-06-12T04:21:03.425" v="13" actId="20577"/>
        <pc:sldMkLst>
          <pc:docMk/>
          <pc:sldMk cId="109857222" sldId="256"/>
        </pc:sldMkLst>
        <pc:spChg chg="mod">
          <ac:chgData name="Siva Sai Nagender Vasireddy" userId="uYCnjPpBgMg6RgHbw9fc4TXQxlFkerQmdP2dxZZTDbY=" providerId="None" clId="Web-{AD4EA895-74DA-4FF9-840F-94E9A9944C5A}" dt="2023-06-12T04:21:00.034" v="12" actId="20577"/>
          <ac:spMkLst>
            <pc:docMk/>
            <pc:sldMk cId="109857222" sldId="256"/>
            <ac:spMk id="2" creationId="{00000000-0000-0000-0000-000000000000}"/>
          </ac:spMkLst>
        </pc:spChg>
        <pc:spChg chg="mod">
          <ac:chgData name="Siva Sai Nagender Vasireddy" userId="uYCnjPpBgMg6RgHbw9fc4TXQxlFkerQmdP2dxZZTDbY=" providerId="None" clId="Web-{AD4EA895-74DA-4FF9-840F-94E9A9944C5A}" dt="2023-06-12T04:21:03.425" v="13" actId="20577"/>
          <ac:spMkLst>
            <pc:docMk/>
            <pc:sldMk cId="109857222" sldId="256"/>
            <ac:spMk id="3" creationId="{00000000-0000-0000-0000-000000000000}"/>
          </ac:spMkLst>
        </pc:spChg>
      </pc:sldChg>
    </pc:docChg>
  </pc:docChgLst>
  <pc:docChgLst>
    <pc:chgData name="Siva Sai Nagender Vasireddy" clId="Web-{E2CFDB2A-2608-4846-9F3B-EF5F0474BCA8}"/>
    <pc:docChg chg="addSld delSld modSld addMainMaster">
      <pc:chgData name="Siva Sai Nagender Vasireddy" userId="" providerId="" clId="Web-{E2CFDB2A-2608-4846-9F3B-EF5F0474BCA8}" dt="2023-06-12T13:50:33.576" v="194"/>
      <pc:docMkLst>
        <pc:docMk/>
      </pc:docMkLst>
      <pc:sldChg chg="add">
        <pc:chgData name="Siva Sai Nagender Vasireddy" userId="" providerId="" clId="Web-{E2CFDB2A-2608-4846-9F3B-EF5F0474BCA8}" dt="2023-06-12T13:06:30.673" v="0"/>
        <pc:sldMkLst>
          <pc:docMk/>
          <pc:sldMk cId="1050360871" sldId="276"/>
        </pc:sldMkLst>
      </pc:sldChg>
      <pc:sldChg chg="add">
        <pc:chgData name="Siva Sai Nagender Vasireddy" userId="" providerId="" clId="Web-{E2CFDB2A-2608-4846-9F3B-EF5F0474BCA8}" dt="2023-06-12T13:06:30.751" v="1"/>
        <pc:sldMkLst>
          <pc:docMk/>
          <pc:sldMk cId="1186813302" sldId="277"/>
        </pc:sldMkLst>
      </pc:sldChg>
      <pc:sldChg chg="add">
        <pc:chgData name="Siva Sai Nagender Vasireddy" userId="" providerId="" clId="Web-{E2CFDB2A-2608-4846-9F3B-EF5F0474BCA8}" dt="2023-06-12T13:06:30.798" v="2"/>
        <pc:sldMkLst>
          <pc:docMk/>
          <pc:sldMk cId="1284555808" sldId="278"/>
        </pc:sldMkLst>
      </pc:sldChg>
      <pc:sldChg chg="add">
        <pc:chgData name="Siva Sai Nagender Vasireddy" userId="" providerId="" clId="Web-{E2CFDB2A-2608-4846-9F3B-EF5F0474BCA8}" dt="2023-06-12T13:06:30.845" v="3"/>
        <pc:sldMkLst>
          <pc:docMk/>
          <pc:sldMk cId="1227460985" sldId="279"/>
        </pc:sldMkLst>
      </pc:sldChg>
      <pc:sldChg chg="add">
        <pc:chgData name="Siva Sai Nagender Vasireddy" userId="" providerId="" clId="Web-{E2CFDB2A-2608-4846-9F3B-EF5F0474BCA8}" dt="2023-06-12T13:06:30.908" v="4"/>
        <pc:sldMkLst>
          <pc:docMk/>
          <pc:sldMk cId="2864950800" sldId="280"/>
        </pc:sldMkLst>
      </pc:sldChg>
      <pc:sldChg chg="add">
        <pc:chgData name="Siva Sai Nagender Vasireddy" userId="" providerId="" clId="Web-{E2CFDB2A-2608-4846-9F3B-EF5F0474BCA8}" dt="2023-06-12T13:06:30.970" v="5"/>
        <pc:sldMkLst>
          <pc:docMk/>
          <pc:sldMk cId="3516113194" sldId="281"/>
        </pc:sldMkLst>
      </pc:sldChg>
      <pc:sldChg chg="add">
        <pc:chgData name="Siva Sai Nagender Vasireddy" userId="" providerId="" clId="Web-{E2CFDB2A-2608-4846-9F3B-EF5F0474BCA8}" dt="2023-06-12T13:06:31.001" v="6"/>
        <pc:sldMkLst>
          <pc:docMk/>
          <pc:sldMk cId="1323412792" sldId="282"/>
        </pc:sldMkLst>
      </pc:sldChg>
      <pc:sldChg chg="add">
        <pc:chgData name="Siva Sai Nagender Vasireddy" userId="" providerId="" clId="Web-{E2CFDB2A-2608-4846-9F3B-EF5F0474BCA8}" dt="2023-06-12T13:06:31.048" v="7"/>
        <pc:sldMkLst>
          <pc:docMk/>
          <pc:sldMk cId="3241675143" sldId="283"/>
        </pc:sldMkLst>
      </pc:sldChg>
      <pc:sldChg chg="add">
        <pc:chgData name="Siva Sai Nagender Vasireddy" userId="" providerId="" clId="Web-{E2CFDB2A-2608-4846-9F3B-EF5F0474BCA8}" dt="2023-06-12T13:06:31.095" v="8"/>
        <pc:sldMkLst>
          <pc:docMk/>
          <pc:sldMk cId="3365860386" sldId="284"/>
        </pc:sldMkLst>
      </pc:sldChg>
      <pc:sldChg chg="add">
        <pc:chgData name="Siva Sai Nagender Vasireddy" userId="" providerId="" clId="Web-{E2CFDB2A-2608-4846-9F3B-EF5F0474BCA8}" dt="2023-06-12T13:06:31.142" v="9"/>
        <pc:sldMkLst>
          <pc:docMk/>
          <pc:sldMk cId="2109175694" sldId="285"/>
        </pc:sldMkLst>
      </pc:sldChg>
      <pc:sldChg chg="add">
        <pc:chgData name="Siva Sai Nagender Vasireddy" userId="" providerId="" clId="Web-{E2CFDB2A-2608-4846-9F3B-EF5F0474BCA8}" dt="2023-06-12T13:06:31.220" v="10"/>
        <pc:sldMkLst>
          <pc:docMk/>
          <pc:sldMk cId="1330665331" sldId="286"/>
        </pc:sldMkLst>
      </pc:sldChg>
      <pc:sldChg chg="add">
        <pc:chgData name="Siva Sai Nagender Vasireddy" userId="" providerId="" clId="Web-{E2CFDB2A-2608-4846-9F3B-EF5F0474BCA8}" dt="2023-06-12T13:06:31.298" v="11"/>
        <pc:sldMkLst>
          <pc:docMk/>
          <pc:sldMk cId="646643965" sldId="287"/>
        </pc:sldMkLst>
      </pc:sldChg>
      <pc:sldChg chg="add">
        <pc:chgData name="Siva Sai Nagender Vasireddy" userId="" providerId="" clId="Web-{E2CFDB2A-2608-4846-9F3B-EF5F0474BCA8}" dt="2023-06-12T13:06:31.376" v="12"/>
        <pc:sldMkLst>
          <pc:docMk/>
          <pc:sldMk cId="1644330393" sldId="288"/>
        </pc:sldMkLst>
      </pc:sldChg>
      <pc:sldChg chg="add">
        <pc:chgData name="Siva Sai Nagender Vasireddy" userId="" providerId="" clId="Web-{E2CFDB2A-2608-4846-9F3B-EF5F0474BCA8}" dt="2023-06-12T13:06:31.423" v="13"/>
        <pc:sldMkLst>
          <pc:docMk/>
          <pc:sldMk cId="778098680" sldId="289"/>
        </pc:sldMkLst>
      </pc:sldChg>
      <pc:sldChg chg="add">
        <pc:chgData name="Siva Sai Nagender Vasireddy" userId="" providerId="" clId="Web-{E2CFDB2A-2608-4846-9F3B-EF5F0474BCA8}" dt="2023-06-12T13:06:31.486" v="14"/>
        <pc:sldMkLst>
          <pc:docMk/>
          <pc:sldMk cId="3668768927" sldId="290"/>
        </pc:sldMkLst>
      </pc:sldChg>
      <pc:sldChg chg="add">
        <pc:chgData name="Siva Sai Nagender Vasireddy" userId="" providerId="" clId="Web-{E2CFDB2A-2608-4846-9F3B-EF5F0474BCA8}" dt="2023-06-12T13:06:31.533" v="15"/>
        <pc:sldMkLst>
          <pc:docMk/>
          <pc:sldMk cId="1957003452" sldId="291"/>
        </pc:sldMkLst>
      </pc:sldChg>
      <pc:sldChg chg="add">
        <pc:chgData name="Siva Sai Nagender Vasireddy" userId="" providerId="" clId="Web-{E2CFDB2A-2608-4846-9F3B-EF5F0474BCA8}" dt="2023-06-12T13:06:31.580" v="16"/>
        <pc:sldMkLst>
          <pc:docMk/>
          <pc:sldMk cId="3115241749" sldId="292"/>
        </pc:sldMkLst>
      </pc:sldChg>
      <pc:sldChg chg="add">
        <pc:chgData name="Siva Sai Nagender Vasireddy" userId="" providerId="" clId="Web-{E2CFDB2A-2608-4846-9F3B-EF5F0474BCA8}" dt="2023-06-12T13:06:31.642" v="17"/>
        <pc:sldMkLst>
          <pc:docMk/>
          <pc:sldMk cId="1334419871" sldId="293"/>
        </pc:sldMkLst>
      </pc:sldChg>
      <pc:sldChg chg="add">
        <pc:chgData name="Siva Sai Nagender Vasireddy" userId="" providerId="" clId="Web-{E2CFDB2A-2608-4846-9F3B-EF5F0474BCA8}" dt="2023-06-12T13:06:31.689" v="18"/>
        <pc:sldMkLst>
          <pc:docMk/>
          <pc:sldMk cId="275365545" sldId="294"/>
        </pc:sldMkLst>
      </pc:sldChg>
      <pc:sldChg chg="add">
        <pc:chgData name="Siva Sai Nagender Vasireddy" userId="" providerId="" clId="Web-{E2CFDB2A-2608-4846-9F3B-EF5F0474BCA8}" dt="2023-06-12T13:06:31.736" v="19"/>
        <pc:sldMkLst>
          <pc:docMk/>
          <pc:sldMk cId="1022924497" sldId="295"/>
        </pc:sldMkLst>
      </pc:sldChg>
      <pc:sldChg chg="add">
        <pc:chgData name="Siva Sai Nagender Vasireddy" userId="" providerId="" clId="Web-{E2CFDB2A-2608-4846-9F3B-EF5F0474BCA8}" dt="2023-06-12T13:06:31.798" v="20"/>
        <pc:sldMkLst>
          <pc:docMk/>
          <pc:sldMk cId="1914332382" sldId="296"/>
        </pc:sldMkLst>
      </pc:sldChg>
      <pc:sldChg chg="add">
        <pc:chgData name="Siva Sai Nagender Vasireddy" userId="" providerId="" clId="Web-{E2CFDB2A-2608-4846-9F3B-EF5F0474BCA8}" dt="2023-06-12T13:06:31.845" v="21"/>
        <pc:sldMkLst>
          <pc:docMk/>
          <pc:sldMk cId="2612279082" sldId="297"/>
        </pc:sldMkLst>
      </pc:sldChg>
      <pc:sldChg chg="add">
        <pc:chgData name="Siva Sai Nagender Vasireddy" userId="" providerId="" clId="Web-{E2CFDB2A-2608-4846-9F3B-EF5F0474BCA8}" dt="2023-06-12T13:06:31.892" v="22"/>
        <pc:sldMkLst>
          <pc:docMk/>
          <pc:sldMk cId="478566939" sldId="298"/>
        </pc:sldMkLst>
      </pc:sldChg>
      <pc:sldChg chg="add">
        <pc:chgData name="Siva Sai Nagender Vasireddy" userId="" providerId="" clId="Web-{E2CFDB2A-2608-4846-9F3B-EF5F0474BCA8}" dt="2023-06-12T13:06:31.939" v="23"/>
        <pc:sldMkLst>
          <pc:docMk/>
          <pc:sldMk cId="3607507159" sldId="299"/>
        </pc:sldMkLst>
      </pc:sldChg>
      <pc:sldChg chg="add">
        <pc:chgData name="Siva Sai Nagender Vasireddy" userId="" providerId="" clId="Web-{E2CFDB2A-2608-4846-9F3B-EF5F0474BCA8}" dt="2023-06-12T13:06:32.001" v="24"/>
        <pc:sldMkLst>
          <pc:docMk/>
          <pc:sldMk cId="3018944083" sldId="300"/>
        </pc:sldMkLst>
      </pc:sldChg>
      <pc:sldChg chg="add">
        <pc:chgData name="Siva Sai Nagender Vasireddy" userId="" providerId="" clId="Web-{E2CFDB2A-2608-4846-9F3B-EF5F0474BCA8}" dt="2023-06-12T13:06:32.048" v="25"/>
        <pc:sldMkLst>
          <pc:docMk/>
          <pc:sldMk cId="477834091" sldId="301"/>
        </pc:sldMkLst>
      </pc:sldChg>
      <pc:sldChg chg="add">
        <pc:chgData name="Siva Sai Nagender Vasireddy" userId="" providerId="" clId="Web-{E2CFDB2A-2608-4846-9F3B-EF5F0474BCA8}" dt="2023-06-12T13:06:32.095" v="26"/>
        <pc:sldMkLst>
          <pc:docMk/>
          <pc:sldMk cId="2537572631" sldId="302"/>
        </pc:sldMkLst>
      </pc:sldChg>
      <pc:sldChg chg="add">
        <pc:chgData name="Siva Sai Nagender Vasireddy" userId="" providerId="" clId="Web-{E2CFDB2A-2608-4846-9F3B-EF5F0474BCA8}" dt="2023-06-12T13:06:32.142" v="27"/>
        <pc:sldMkLst>
          <pc:docMk/>
          <pc:sldMk cId="3208053302" sldId="303"/>
        </pc:sldMkLst>
      </pc:sldChg>
      <pc:sldChg chg="add">
        <pc:chgData name="Siva Sai Nagender Vasireddy" userId="" providerId="" clId="Web-{E2CFDB2A-2608-4846-9F3B-EF5F0474BCA8}" dt="2023-06-12T13:06:32.189" v="28"/>
        <pc:sldMkLst>
          <pc:docMk/>
          <pc:sldMk cId="3755117976" sldId="304"/>
        </pc:sldMkLst>
      </pc:sldChg>
      <pc:sldChg chg="add">
        <pc:chgData name="Siva Sai Nagender Vasireddy" userId="" providerId="" clId="Web-{E2CFDB2A-2608-4846-9F3B-EF5F0474BCA8}" dt="2023-06-12T13:06:32.236" v="29"/>
        <pc:sldMkLst>
          <pc:docMk/>
          <pc:sldMk cId="1380858368" sldId="305"/>
        </pc:sldMkLst>
      </pc:sldChg>
      <pc:sldChg chg="add">
        <pc:chgData name="Siva Sai Nagender Vasireddy" userId="" providerId="" clId="Web-{E2CFDB2A-2608-4846-9F3B-EF5F0474BCA8}" dt="2023-06-12T13:06:32.283" v="30"/>
        <pc:sldMkLst>
          <pc:docMk/>
          <pc:sldMk cId="3561458186" sldId="306"/>
        </pc:sldMkLst>
      </pc:sldChg>
      <pc:sldChg chg="add">
        <pc:chgData name="Siva Sai Nagender Vasireddy" userId="" providerId="" clId="Web-{E2CFDB2A-2608-4846-9F3B-EF5F0474BCA8}" dt="2023-06-12T13:06:32.330" v="31"/>
        <pc:sldMkLst>
          <pc:docMk/>
          <pc:sldMk cId="4065355123" sldId="307"/>
        </pc:sldMkLst>
      </pc:sldChg>
      <pc:sldChg chg="add">
        <pc:chgData name="Siva Sai Nagender Vasireddy" userId="" providerId="" clId="Web-{E2CFDB2A-2608-4846-9F3B-EF5F0474BCA8}" dt="2023-06-12T13:06:32.361" v="32"/>
        <pc:sldMkLst>
          <pc:docMk/>
          <pc:sldMk cId="1803922959" sldId="308"/>
        </pc:sldMkLst>
      </pc:sldChg>
      <pc:sldChg chg="add">
        <pc:chgData name="Siva Sai Nagender Vasireddy" userId="" providerId="" clId="Web-{E2CFDB2A-2608-4846-9F3B-EF5F0474BCA8}" dt="2023-06-12T13:06:32.392" v="33"/>
        <pc:sldMkLst>
          <pc:docMk/>
          <pc:sldMk cId="1929483774" sldId="309"/>
        </pc:sldMkLst>
      </pc:sldChg>
      <pc:sldChg chg="add">
        <pc:chgData name="Siva Sai Nagender Vasireddy" userId="" providerId="" clId="Web-{E2CFDB2A-2608-4846-9F3B-EF5F0474BCA8}" dt="2023-06-12T13:06:32.486" v="34"/>
        <pc:sldMkLst>
          <pc:docMk/>
          <pc:sldMk cId="2246507412" sldId="310"/>
        </pc:sldMkLst>
      </pc:sldChg>
      <pc:sldChg chg="add">
        <pc:chgData name="Siva Sai Nagender Vasireddy" userId="" providerId="" clId="Web-{E2CFDB2A-2608-4846-9F3B-EF5F0474BCA8}" dt="2023-06-12T13:06:32.580" v="35"/>
        <pc:sldMkLst>
          <pc:docMk/>
          <pc:sldMk cId="2260434194" sldId="311"/>
        </pc:sldMkLst>
      </pc:sldChg>
      <pc:sldChg chg="add">
        <pc:chgData name="Siva Sai Nagender Vasireddy" userId="" providerId="" clId="Web-{E2CFDB2A-2608-4846-9F3B-EF5F0474BCA8}" dt="2023-06-12T13:06:33.486" v="36"/>
        <pc:sldMkLst>
          <pc:docMk/>
          <pc:sldMk cId="244887755" sldId="312"/>
        </pc:sldMkLst>
      </pc:sldChg>
      <pc:sldChg chg="add">
        <pc:chgData name="Siva Sai Nagender Vasireddy" userId="" providerId="" clId="Web-{E2CFDB2A-2608-4846-9F3B-EF5F0474BCA8}" dt="2023-06-12T13:06:33.564" v="37"/>
        <pc:sldMkLst>
          <pc:docMk/>
          <pc:sldMk cId="2469298368" sldId="313"/>
        </pc:sldMkLst>
      </pc:sldChg>
      <pc:sldChg chg="add">
        <pc:chgData name="Siva Sai Nagender Vasireddy" userId="" providerId="" clId="Web-{E2CFDB2A-2608-4846-9F3B-EF5F0474BCA8}" dt="2023-06-12T13:06:33.689" v="38"/>
        <pc:sldMkLst>
          <pc:docMk/>
          <pc:sldMk cId="960781577" sldId="314"/>
        </pc:sldMkLst>
      </pc:sldChg>
      <pc:sldChg chg="add">
        <pc:chgData name="Siva Sai Nagender Vasireddy" userId="" providerId="" clId="Web-{E2CFDB2A-2608-4846-9F3B-EF5F0474BCA8}" dt="2023-06-12T13:06:33.861" v="39"/>
        <pc:sldMkLst>
          <pc:docMk/>
          <pc:sldMk cId="2966850349" sldId="315"/>
        </pc:sldMkLst>
      </pc:sldChg>
      <pc:sldChg chg="add">
        <pc:chgData name="Siva Sai Nagender Vasireddy" userId="" providerId="" clId="Web-{E2CFDB2A-2608-4846-9F3B-EF5F0474BCA8}" dt="2023-06-12T13:06:33.939" v="40"/>
        <pc:sldMkLst>
          <pc:docMk/>
          <pc:sldMk cId="2864567214" sldId="316"/>
        </pc:sldMkLst>
      </pc:sldChg>
      <pc:sldChg chg="add">
        <pc:chgData name="Siva Sai Nagender Vasireddy" userId="" providerId="" clId="Web-{E2CFDB2A-2608-4846-9F3B-EF5F0474BCA8}" dt="2023-06-12T13:06:34.048" v="41"/>
        <pc:sldMkLst>
          <pc:docMk/>
          <pc:sldMk cId="792951852" sldId="317"/>
        </pc:sldMkLst>
      </pc:sldChg>
      <pc:sldChg chg="add">
        <pc:chgData name="Siva Sai Nagender Vasireddy" userId="" providerId="" clId="Web-{E2CFDB2A-2608-4846-9F3B-EF5F0474BCA8}" dt="2023-06-12T13:06:34.127" v="42"/>
        <pc:sldMkLst>
          <pc:docMk/>
          <pc:sldMk cId="1959960828" sldId="318"/>
        </pc:sldMkLst>
      </pc:sldChg>
      <pc:sldChg chg="add">
        <pc:chgData name="Siva Sai Nagender Vasireddy" userId="" providerId="" clId="Web-{E2CFDB2A-2608-4846-9F3B-EF5F0474BCA8}" dt="2023-06-12T13:06:34.205" v="43"/>
        <pc:sldMkLst>
          <pc:docMk/>
          <pc:sldMk cId="2776484357" sldId="319"/>
        </pc:sldMkLst>
      </pc:sldChg>
      <pc:sldChg chg="add">
        <pc:chgData name="Siva Sai Nagender Vasireddy" userId="" providerId="" clId="Web-{E2CFDB2A-2608-4846-9F3B-EF5F0474BCA8}" dt="2023-06-12T13:06:34.361" v="44"/>
        <pc:sldMkLst>
          <pc:docMk/>
          <pc:sldMk cId="4100205754" sldId="320"/>
        </pc:sldMkLst>
      </pc:sldChg>
      <pc:sldChg chg="add">
        <pc:chgData name="Siva Sai Nagender Vasireddy" userId="" providerId="" clId="Web-{E2CFDB2A-2608-4846-9F3B-EF5F0474BCA8}" dt="2023-06-12T13:17:26.414" v="45"/>
        <pc:sldMkLst>
          <pc:docMk/>
          <pc:sldMk cId="2006212947" sldId="321"/>
        </pc:sldMkLst>
      </pc:sldChg>
      <pc:sldChg chg="add">
        <pc:chgData name="Siva Sai Nagender Vasireddy" userId="" providerId="" clId="Web-{E2CFDB2A-2608-4846-9F3B-EF5F0474BCA8}" dt="2023-06-12T13:17:26.508" v="46"/>
        <pc:sldMkLst>
          <pc:docMk/>
          <pc:sldMk cId="570114875" sldId="322"/>
        </pc:sldMkLst>
      </pc:sldChg>
      <pc:sldChg chg="add">
        <pc:chgData name="Siva Sai Nagender Vasireddy" userId="" providerId="" clId="Web-{E2CFDB2A-2608-4846-9F3B-EF5F0474BCA8}" dt="2023-06-12T13:17:26.602" v="47"/>
        <pc:sldMkLst>
          <pc:docMk/>
          <pc:sldMk cId="494451887" sldId="323"/>
        </pc:sldMkLst>
      </pc:sldChg>
      <pc:sldChg chg="add">
        <pc:chgData name="Siva Sai Nagender Vasireddy" userId="" providerId="" clId="Web-{E2CFDB2A-2608-4846-9F3B-EF5F0474BCA8}" dt="2023-06-12T13:17:26.680" v="48"/>
        <pc:sldMkLst>
          <pc:docMk/>
          <pc:sldMk cId="2987612542" sldId="324"/>
        </pc:sldMkLst>
      </pc:sldChg>
      <pc:sldChg chg="add">
        <pc:chgData name="Siva Sai Nagender Vasireddy" userId="" providerId="" clId="Web-{E2CFDB2A-2608-4846-9F3B-EF5F0474BCA8}" dt="2023-06-12T13:17:26.758" v="49"/>
        <pc:sldMkLst>
          <pc:docMk/>
          <pc:sldMk cId="3235964170" sldId="325"/>
        </pc:sldMkLst>
      </pc:sldChg>
      <pc:sldChg chg="add">
        <pc:chgData name="Siva Sai Nagender Vasireddy" userId="" providerId="" clId="Web-{E2CFDB2A-2608-4846-9F3B-EF5F0474BCA8}" dt="2023-06-12T13:17:26.836" v="50"/>
        <pc:sldMkLst>
          <pc:docMk/>
          <pc:sldMk cId="4234920008" sldId="326"/>
        </pc:sldMkLst>
      </pc:sldChg>
      <pc:sldChg chg="add">
        <pc:chgData name="Siva Sai Nagender Vasireddy" userId="" providerId="" clId="Web-{E2CFDB2A-2608-4846-9F3B-EF5F0474BCA8}" dt="2023-06-12T13:17:26.899" v="51"/>
        <pc:sldMkLst>
          <pc:docMk/>
          <pc:sldMk cId="989789338" sldId="327"/>
        </pc:sldMkLst>
      </pc:sldChg>
      <pc:sldChg chg="add">
        <pc:chgData name="Siva Sai Nagender Vasireddy" userId="" providerId="" clId="Web-{E2CFDB2A-2608-4846-9F3B-EF5F0474BCA8}" dt="2023-06-12T13:17:27.008" v="52"/>
        <pc:sldMkLst>
          <pc:docMk/>
          <pc:sldMk cId="1373503458" sldId="328"/>
        </pc:sldMkLst>
      </pc:sldChg>
      <pc:sldChg chg="add">
        <pc:chgData name="Siva Sai Nagender Vasireddy" userId="" providerId="" clId="Web-{E2CFDB2A-2608-4846-9F3B-EF5F0474BCA8}" dt="2023-06-12T13:17:27.071" v="53"/>
        <pc:sldMkLst>
          <pc:docMk/>
          <pc:sldMk cId="1274159291" sldId="329"/>
        </pc:sldMkLst>
      </pc:sldChg>
      <pc:sldChg chg="add">
        <pc:chgData name="Siva Sai Nagender Vasireddy" userId="" providerId="" clId="Web-{E2CFDB2A-2608-4846-9F3B-EF5F0474BCA8}" dt="2023-06-12T13:17:27.196" v="54"/>
        <pc:sldMkLst>
          <pc:docMk/>
          <pc:sldMk cId="2246512216" sldId="330"/>
        </pc:sldMkLst>
      </pc:sldChg>
      <pc:sldChg chg="add">
        <pc:chgData name="Siva Sai Nagender Vasireddy" userId="" providerId="" clId="Web-{E2CFDB2A-2608-4846-9F3B-EF5F0474BCA8}" dt="2023-06-12T13:17:27.321" v="55"/>
        <pc:sldMkLst>
          <pc:docMk/>
          <pc:sldMk cId="3797815073" sldId="331"/>
        </pc:sldMkLst>
      </pc:sldChg>
      <pc:sldChg chg="add">
        <pc:chgData name="Siva Sai Nagender Vasireddy" userId="" providerId="" clId="Web-{E2CFDB2A-2608-4846-9F3B-EF5F0474BCA8}" dt="2023-06-12T13:17:27.414" v="56"/>
        <pc:sldMkLst>
          <pc:docMk/>
          <pc:sldMk cId="1205645072" sldId="332"/>
        </pc:sldMkLst>
      </pc:sldChg>
      <pc:sldChg chg="add">
        <pc:chgData name="Siva Sai Nagender Vasireddy" userId="" providerId="" clId="Web-{E2CFDB2A-2608-4846-9F3B-EF5F0474BCA8}" dt="2023-06-12T13:17:27.555" v="57"/>
        <pc:sldMkLst>
          <pc:docMk/>
          <pc:sldMk cId="3577579131" sldId="333"/>
        </pc:sldMkLst>
      </pc:sldChg>
      <pc:sldChg chg="add">
        <pc:chgData name="Siva Sai Nagender Vasireddy" userId="" providerId="" clId="Web-{E2CFDB2A-2608-4846-9F3B-EF5F0474BCA8}" dt="2023-06-12T13:17:27.696" v="58"/>
        <pc:sldMkLst>
          <pc:docMk/>
          <pc:sldMk cId="4094217281" sldId="334"/>
        </pc:sldMkLst>
      </pc:sldChg>
      <pc:sldChg chg="add">
        <pc:chgData name="Siva Sai Nagender Vasireddy" userId="" providerId="" clId="Web-{E2CFDB2A-2608-4846-9F3B-EF5F0474BCA8}" dt="2023-06-12T13:17:27.805" v="59"/>
        <pc:sldMkLst>
          <pc:docMk/>
          <pc:sldMk cId="4154883" sldId="335"/>
        </pc:sldMkLst>
      </pc:sldChg>
      <pc:sldChg chg="add">
        <pc:chgData name="Siva Sai Nagender Vasireddy" userId="" providerId="" clId="Web-{E2CFDB2A-2608-4846-9F3B-EF5F0474BCA8}" dt="2023-06-12T13:17:27.977" v="60"/>
        <pc:sldMkLst>
          <pc:docMk/>
          <pc:sldMk cId="957191754" sldId="336"/>
        </pc:sldMkLst>
      </pc:sldChg>
      <pc:sldChg chg="add">
        <pc:chgData name="Siva Sai Nagender Vasireddy" userId="" providerId="" clId="Web-{E2CFDB2A-2608-4846-9F3B-EF5F0474BCA8}" dt="2023-06-12T13:17:28.086" v="61"/>
        <pc:sldMkLst>
          <pc:docMk/>
          <pc:sldMk cId="1684398879" sldId="337"/>
        </pc:sldMkLst>
      </pc:sldChg>
      <pc:sldChg chg="add">
        <pc:chgData name="Siva Sai Nagender Vasireddy" userId="" providerId="" clId="Web-{E2CFDB2A-2608-4846-9F3B-EF5F0474BCA8}" dt="2023-06-12T13:17:28.321" v="62"/>
        <pc:sldMkLst>
          <pc:docMk/>
          <pc:sldMk cId="4173707028" sldId="338"/>
        </pc:sldMkLst>
      </pc:sldChg>
      <pc:sldChg chg="add">
        <pc:chgData name="Siva Sai Nagender Vasireddy" userId="" providerId="" clId="Web-{E2CFDB2A-2608-4846-9F3B-EF5F0474BCA8}" dt="2023-06-12T13:17:28.446" v="63"/>
        <pc:sldMkLst>
          <pc:docMk/>
          <pc:sldMk cId="3588726416" sldId="339"/>
        </pc:sldMkLst>
      </pc:sldChg>
      <pc:sldChg chg="add">
        <pc:chgData name="Siva Sai Nagender Vasireddy" userId="" providerId="" clId="Web-{E2CFDB2A-2608-4846-9F3B-EF5F0474BCA8}" dt="2023-06-12T13:17:28.618" v="64"/>
        <pc:sldMkLst>
          <pc:docMk/>
          <pc:sldMk cId="2441131179" sldId="340"/>
        </pc:sldMkLst>
      </pc:sldChg>
      <pc:sldChg chg="add">
        <pc:chgData name="Siva Sai Nagender Vasireddy" userId="" providerId="" clId="Web-{E2CFDB2A-2608-4846-9F3B-EF5F0474BCA8}" dt="2023-06-12T13:17:28.711" v="65"/>
        <pc:sldMkLst>
          <pc:docMk/>
          <pc:sldMk cId="3901027923" sldId="341"/>
        </pc:sldMkLst>
      </pc:sldChg>
      <pc:sldChg chg="add">
        <pc:chgData name="Siva Sai Nagender Vasireddy" userId="" providerId="" clId="Web-{E2CFDB2A-2608-4846-9F3B-EF5F0474BCA8}" dt="2023-06-12T13:17:28.852" v="66"/>
        <pc:sldMkLst>
          <pc:docMk/>
          <pc:sldMk cId="848348229" sldId="342"/>
        </pc:sldMkLst>
      </pc:sldChg>
      <pc:sldChg chg="add">
        <pc:chgData name="Siva Sai Nagender Vasireddy" userId="" providerId="" clId="Web-{E2CFDB2A-2608-4846-9F3B-EF5F0474BCA8}" dt="2023-06-12T13:17:28.977" v="67"/>
        <pc:sldMkLst>
          <pc:docMk/>
          <pc:sldMk cId="1974542481" sldId="343"/>
        </pc:sldMkLst>
      </pc:sldChg>
      <pc:sldChg chg="add">
        <pc:chgData name="Siva Sai Nagender Vasireddy" userId="" providerId="" clId="Web-{E2CFDB2A-2608-4846-9F3B-EF5F0474BCA8}" dt="2023-06-12T13:17:29.055" v="68"/>
        <pc:sldMkLst>
          <pc:docMk/>
          <pc:sldMk cId="973763830" sldId="344"/>
        </pc:sldMkLst>
      </pc:sldChg>
      <pc:sldChg chg="add">
        <pc:chgData name="Siva Sai Nagender Vasireddy" userId="" providerId="" clId="Web-{E2CFDB2A-2608-4846-9F3B-EF5F0474BCA8}" dt="2023-06-12T13:17:29.149" v="69"/>
        <pc:sldMkLst>
          <pc:docMk/>
          <pc:sldMk cId="1908010987" sldId="345"/>
        </pc:sldMkLst>
      </pc:sldChg>
      <pc:sldChg chg="modSp new del">
        <pc:chgData name="Siva Sai Nagender Vasireddy" userId="" providerId="" clId="Web-{E2CFDB2A-2608-4846-9F3B-EF5F0474BCA8}" dt="2023-06-12T13:29:30.205" v="80"/>
        <pc:sldMkLst>
          <pc:docMk/>
          <pc:sldMk cId="3826441638" sldId="346"/>
        </pc:sldMkLst>
        <pc:spChg chg="mod">
          <ac:chgData name="Siva Sai Nagender Vasireddy" userId="" providerId="" clId="Web-{E2CFDB2A-2608-4846-9F3B-EF5F0474BCA8}" dt="2023-06-12T13:24:17.616" v="78" actId="20577"/>
          <ac:spMkLst>
            <pc:docMk/>
            <pc:sldMk cId="3826441638" sldId="346"/>
            <ac:spMk id="2" creationId="{74895C74-BCBC-EF50-A722-F8DF79809F25}"/>
          </ac:spMkLst>
        </pc:spChg>
      </pc:sldChg>
      <pc:sldChg chg="add">
        <pc:chgData name="Siva Sai Nagender Vasireddy" userId="" providerId="" clId="Web-{E2CFDB2A-2608-4846-9F3B-EF5F0474BCA8}" dt="2023-06-12T13:29:24.923" v="79"/>
        <pc:sldMkLst>
          <pc:docMk/>
          <pc:sldMk cId="1118396824" sldId="347"/>
        </pc:sldMkLst>
      </pc:sldChg>
      <pc:sldChg chg="addSp delSp modSp new">
        <pc:chgData name="Siva Sai Nagender Vasireddy" userId="" providerId="" clId="Web-{E2CFDB2A-2608-4846-9F3B-EF5F0474BCA8}" dt="2023-06-12T13:38:53.474" v="154" actId="14100"/>
        <pc:sldMkLst>
          <pc:docMk/>
          <pc:sldMk cId="2174534171" sldId="348"/>
        </pc:sldMkLst>
        <pc:spChg chg="mod">
          <ac:chgData name="Siva Sai Nagender Vasireddy" userId="" providerId="" clId="Web-{E2CFDB2A-2608-4846-9F3B-EF5F0474BCA8}" dt="2023-06-12T13:32:49.180" v="93" actId="20577"/>
          <ac:spMkLst>
            <pc:docMk/>
            <pc:sldMk cId="2174534171" sldId="348"/>
            <ac:spMk id="2" creationId="{C3352A2E-8DC9-AB7A-20B2-2315236F4013}"/>
          </ac:spMkLst>
        </pc:spChg>
        <pc:spChg chg="del">
          <ac:chgData name="Siva Sai Nagender Vasireddy" userId="" providerId="" clId="Web-{E2CFDB2A-2608-4846-9F3B-EF5F0474BCA8}" dt="2023-06-12T13:32:54.837" v="94"/>
          <ac:spMkLst>
            <pc:docMk/>
            <pc:sldMk cId="2174534171" sldId="348"/>
            <ac:spMk id="3" creationId="{15B18B75-F65D-6ED3-9740-B100BAB66A16}"/>
          </ac:spMkLst>
        </pc:spChg>
        <pc:spChg chg="add mod">
          <ac:chgData name="Siva Sai Nagender Vasireddy" userId="" providerId="" clId="Web-{E2CFDB2A-2608-4846-9F3B-EF5F0474BCA8}" dt="2023-06-12T13:35:05.310" v="119" actId="14100"/>
          <ac:spMkLst>
            <pc:docMk/>
            <pc:sldMk cId="2174534171" sldId="348"/>
            <ac:spMk id="8" creationId="{C28BDCC5-E876-B2C4-9814-ED279388BE69}"/>
          </ac:spMkLst>
        </pc:spChg>
        <pc:spChg chg="add mod">
          <ac:chgData name="Siva Sai Nagender Vasireddy" userId="" providerId="" clId="Web-{E2CFDB2A-2608-4846-9F3B-EF5F0474BCA8}" dt="2023-06-12T13:35:17.639" v="123" actId="20577"/>
          <ac:spMkLst>
            <pc:docMk/>
            <pc:sldMk cId="2174534171" sldId="348"/>
            <ac:spMk id="9" creationId="{529AA994-08B3-BA0C-978B-564B0C53A97A}"/>
          </ac:spMkLst>
        </pc:spChg>
        <pc:spChg chg="add mod">
          <ac:chgData name="Siva Sai Nagender Vasireddy" userId="" providerId="" clId="Web-{E2CFDB2A-2608-4846-9F3B-EF5F0474BCA8}" dt="2023-06-12T13:35:44.249" v="131" actId="20577"/>
          <ac:spMkLst>
            <pc:docMk/>
            <pc:sldMk cId="2174534171" sldId="348"/>
            <ac:spMk id="10" creationId="{F5D6AE10-7B80-C882-61C1-6F560BDF2227}"/>
          </ac:spMkLst>
        </pc:spChg>
        <pc:spChg chg="add mod">
          <ac:chgData name="Siva Sai Nagender Vasireddy" userId="" providerId="" clId="Web-{E2CFDB2A-2608-4846-9F3B-EF5F0474BCA8}" dt="2023-06-12T13:36:09.984" v="134" actId="14100"/>
          <ac:spMkLst>
            <pc:docMk/>
            <pc:sldMk cId="2174534171" sldId="348"/>
            <ac:spMk id="11" creationId="{54F3B00C-AF9E-0EC7-5042-7525C884B328}"/>
          </ac:spMkLst>
        </pc:spChg>
        <pc:spChg chg="add mod">
          <ac:chgData name="Siva Sai Nagender Vasireddy" userId="" providerId="" clId="Web-{E2CFDB2A-2608-4846-9F3B-EF5F0474BCA8}" dt="2023-06-12T13:36:25.657" v="137" actId="14100"/>
          <ac:spMkLst>
            <pc:docMk/>
            <pc:sldMk cId="2174534171" sldId="348"/>
            <ac:spMk id="12" creationId="{1C01E291-81D0-09B0-2C5F-F4DE86583CB9}"/>
          </ac:spMkLst>
        </pc:spChg>
        <pc:spChg chg="add mod">
          <ac:chgData name="Siva Sai Nagender Vasireddy" userId="" providerId="" clId="Web-{E2CFDB2A-2608-4846-9F3B-EF5F0474BCA8}" dt="2023-06-12T13:36:47.501" v="140" actId="14100"/>
          <ac:spMkLst>
            <pc:docMk/>
            <pc:sldMk cId="2174534171" sldId="348"/>
            <ac:spMk id="13" creationId="{8E2CC6E6-0593-A13F-E333-83F00C8170C6}"/>
          </ac:spMkLst>
        </pc:spChg>
        <pc:spChg chg="add mod">
          <ac:chgData name="Siva Sai Nagender Vasireddy" userId="" providerId="" clId="Web-{E2CFDB2A-2608-4846-9F3B-EF5F0474BCA8}" dt="2023-06-12T13:37:59.941" v="145" actId="14100"/>
          <ac:spMkLst>
            <pc:docMk/>
            <pc:sldMk cId="2174534171" sldId="348"/>
            <ac:spMk id="14" creationId="{70F56397-5EBF-FF34-C570-A461A951B2CB}"/>
          </ac:spMkLst>
        </pc:spChg>
        <pc:spChg chg="add del mod">
          <ac:chgData name="Siva Sai Nagender Vasireddy" userId="" providerId="" clId="Web-{E2CFDB2A-2608-4846-9F3B-EF5F0474BCA8}" dt="2023-06-12T13:38:14.723" v="148"/>
          <ac:spMkLst>
            <pc:docMk/>
            <pc:sldMk cId="2174534171" sldId="348"/>
            <ac:spMk id="15" creationId="{476708E1-1A99-8F0C-4F7A-7FCDBE528FFB}"/>
          </ac:spMkLst>
        </pc:spChg>
        <pc:spChg chg="add mod">
          <ac:chgData name="Siva Sai Nagender Vasireddy" userId="" providerId="" clId="Web-{E2CFDB2A-2608-4846-9F3B-EF5F0474BCA8}" dt="2023-06-12T13:38:53.474" v="154" actId="14100"/>
          <ac:spMkLst>
            <pc:docMk/>
            <pc:sldMk cId="2174534171" sldId="348"/>
            <ac:spMk id="16" creationId="{1BE6AED2-FDAD-7040-129D-AA1179BE4706}"/>
          </ac:spMkLst>
        </pc:spChg>
        <pc:picChg chg="add mod ord">
          <ac:chgData name="Siva Sai Nagender Vasireddy" userId="" providerId="" clId="Web-{E2CFDB2A-2608-4846-9F3B-EF5F0474BCA8}" dt="2023-06-12T13:32:59.493" v="95" actId="1076"/>
          <ac:picMkLst>
            <pc:docMk/>
            <pc:sldMk cId="2174534171" sldId="348"/>
            <ac:picMk id="5" creationId="{3230E9CC-8CE0-9D8C-AB32-A4B4BFA25732}"/>
          </ac:picMkLst>
        </pc:picChg>
        <pc:picChg chg="add mod">
          <ac:chgData name="Siva Sai Nagender Vasireddy" userId="" providerId="" clId="Web-{E2CFDB2A-2608-4846-9F3B-EF5F0474BCA8}" dt="2023-06-12T13:33:34.870" v="97" actId="1076"/>
          <ac:picMkLst>
            <pc:docMk/>
            <pc:sldMk cId="2174534171" sldId="348"/>
            <ac:picMk id="6" creationId="{6A76E391-0599-101A-0AB8-6C2FF5EF19B5}"/>
          </ac:picMkLst>
        </pc:picChg>
        <pc:picChg chg="add mod">
          <ac:chgData name="Siva Sai Nagender Vasireddy" userId="" providerId="" clId="Web-{E2CFDB2A-2608-4846-9F3B-EF5F0474BCA8}" dt="2023-06-12T13:34:15.262" v="99" actId="1076"/>
          <ac:picMkLst>
            <pc:docMk/>
            <pc:sldMk cId="2174534171" sldId="348"/>
            <ac:picMk id="7" creationId="{A7D5FC90-1709-3160-2220-904EB152A0EC}"/>
          </ac:picMkLst>
        </pc:picChg>
      </pc:sldChg>
      <pc:sldChg chg="new del">
        <pc:chgData name="Siva Sai Nagender Vasireddy" userId="" providerId="" clId="Web-{E2CFDB2A-2608-4846-9F3B-EF5F0474BCA8}" dt="2023-06-12T13:39:25.194" v="157"/>
        <pc:sldMkLst>
          <pc:docMk/>
          <pc:sldMk cId="75675335" sldId="349"/>
        </pc:sldMkLst>
      </pc:sldChg>
      <pc:sldChg chg="add">
        <pc:chgData name="Siva Sai Nagender Vasireddy" userId="" providerId="" clId="Web-{E2CFDB2A-2608-4846-9F3B-EF5F0474BCA8}" dt="2023-06-12T13:39:21.397" v="156"/>
        <pc:sldMkLst>
          <pc:docMk/>
          <pc:sldMk cId="1533562012" sldId="350"/>
        </pc:sldMkLst>
      </pc:sldChg>
      <pc:sldChg chg="add">
        <pc:chgData name="Siva Sai Nagender Vasireddy" userId="" providerId="" clId="Web-{E2CFDB2A-2608-4846-9F3B-EF5F0474BCA8}" dt="2023-06-12T13:43:01.639" v="158"/>
        <pc:sldMkLst>
          <pc:docMk/>
          <pc:sldMk cId="1140519075" sldId="351"/>
        </pc:sldMkLst>
      </pc:sldChg>
      <pc:sldChg chg="add">
        <pc:chgData name="Siva Sai Nagender Vasireddy" userId="" providerId="" clId="Web-{E2CFDB2A-2608-4846-9F3B-EF5F0474BCA8}" dt="2023-06-12T13:43:01.795" v="159"/>
        <pc:sldMkLst>
          <pc:docMk/>
          <pc:sldMk cId="647263352" sldId="352"/>
        </pc:sldMkLst>
      </pc:sldChg>
      <pc:sldChg chg="add">
        <pc:chgData name="Siva Sai Nagender Vasireddy" userId="" providerId="" clId="Web-{E2CFDB2A-2608-4846-9F3B-EF5F0474BCA8}" dt="2023-06-12T13:43:01.936" v="160"/>
        <pc:sldMkLst>
          <pc:docMk/>
          <pc:sldMk cId="3244885966" sldId="353"/>
        </pc:sldMkLst>
      </pc:sldChg>
      <pc:sldChg chg="add">
        <pc:chgData name="Siva Sai Nagender Vasireddy" userId="" providerId="" clId="Web-{E2CFDB2A-2608-4846-9F3B-EF5F0474BCA8}" dt="2023-06-12T13:43:02.045" v="161"/>
        <pc:sldMkLst>
          <pc:docMk/>
          <pc:sldMk cId="1996465538" sldId="354"/>
        </pc:sldMkLst>
      </pc:sldChg>
      <pc:sldChg chg="add">
        <pc:chgData name="Siva Sai Nagender Vasireddy" userId="" providerId="" clId="Web-{E2CFDB2A-2608-4846-9F3B-EF5F0474BCA8}" dt="2023-06-12T13:43:02.139" v="162"/>
        <pc:sldMkLst>
          <pc:docMk/>
          <pc:sldMk cId="2330945208" sldId="355"/>
        </pc:sldMkLst>
      </pc:sldChg>
      <pc:sldChg chg="add">
        <pc:chgData name="Siva Sai Nagender Vasireddy" userId="" providerId="" clId="Web-{E2CFDB2A-2608-4846-9F3B-EF5F0474BCA8}" dt="2023-06-12T13:43:02.217" v="163"/>
        <pc:sldMkLst>
          <pc:docMk/>
          <pc:sldMk cId="3476377270" sldId="356"/>
        </pc:sldMkLst>
      </pc:sldChg>
      <pc:sldChg chg="add">
        <pc:chgData name="Siva Sai Nagender Vasireddy" userId="" providerId="" clId="Web-{E2CFDB2A-2608-4846-9F3B-EF5F0474BCA8}" dt="2023-06-12T13:43:02.295" v="164"/>
        <pc:sldMkLst>
          <pc:docMk/>
          <pc:sldMk cId="1235066540" sldId="357"/>
        </pc:sldMkLst>
      </pc:sldChg>
      <pc:sldChg chg="add">
        <pc:chgData name="Siva Sai Nagender Vasireddy" userId="" providerId="" clId="Web-{E2CFDB2A-2608-4846-9F3B-EF5F0474BCA8}" dt="2023-06-12T13:43:02.373" v="165"/>
        <pc:sldMkLst>
          <pc:docMk/>
          <pc:sldMk cId="3790667521" sldId="358"/>
        </pc:sldMkLst>
      </pc:sldChg>
      <pc:sldChg chg="add">
        <pc:chgData name="Siva Sai Nagender Vasireddy" userId="" providerId="" clId="Web-{E2CFDB2A-2608-4846-9F3B-EF5F0474BCA8}" dt="2023-06-12T13:43:02.452" v="166"/>
        <pc:sldMkLst>
          <pc:docMk/>
          <pc:sldMk cId="2383212328" sldId="359"/>
        </pc:sldMkLst>
      </pc:sldChg>
      <pc:sldChg chg="add">
        <pc:chgData name="Siva Sai Nagender Vasireddy" userId="" providerId="" clId="Web-{E2CFDB2A-2608-4846-9F3B-EF5F0474BCA8}" dt="2023-06-12T13:43:02.561" v="167"/>
        <pc:sldMkLst>
          <pc:docMk/>
          <pc:sldMk cId="346158373" sldId="360"/>
        </pc:sldMkLst>
      </pc:sldChg>
      <pc:sldChg chg="add">
        <pc:chgData name="Siva Sai Nagender Vasireddy" userId="" providerId="" clId="Web-{E2CFDB2A-2608-4846-9F3B-EF5F0474BCA8}" dt="2023-06-12T13:43:02.780" v="168"/>
        <pc:sldMkLst>
          <pc:docMk/>
          <pc:sldMk cId="123131786" sldId="361"/>
        </pc:sldMkLst>
      </pc:sldChg>
      <pc:sldChg chg="add">
        <pc:chgData name="Siva Sai Nagender Vasireddy" userId="" providerId="" clId="Web-{E2CFDB2A-2608-4846-9F3B-EF5F0474BCA8}" dt="2023-06-12T13:43:02.905" v="169"/>
        <pc:sldMkLst>
          <pc:docMk/>
          <pc:sldMk cId="866912204" sldId="362"/>
        </pc:sldMkLst>
      </pc:sldChg>
      <pc:sldChg chg="add">
        <pc:chgData name="Siva Sai Nagender Vasireddy" userId="" providerId="" clId="Web-{E2CFDB2A-2608-4846-9F3B-EF5F0474BCA8}" dt="2023-06-12T13:43:02.967" v="170"/>
        <pc:sldMkLst>
          <pc:docMk/>
          <pc:sldMk cId="4106330800" sldId="363"/>
        </pc:sldMkLst>
      </pc:sldChg>
      <pc:sldChg chg="add">
        <pc:chgData name="Siva Sai Nagender Vasireddy" userId="" providerId="" clId="Web-{E2CFDB2A-2608-4846-9F3B-EF5F0474BCA8}" dt="2023-06-12T13:47:06.476" v="171"/>
        <pc:sldMkLst>
          <pc:docMk/>
          <pc:sldMk cId="1889846765" sldId="364"/>
        </pc:sldMkLst>
      </pc:sldChg>
      <pc:sldChg chg="add">
        <pc:chgData name="Siva Sai Nagender Vasireddy" userId="" providerId="" clId="Web-{E2CFDB2A-2608-4846-9F3B-EF5F0474BCA8}" dt="2023-06-12T13:47:06.819" v="172"/>
        <pc:sldMkLst>
          <pc:docMk/>
          <pc:sldMk cId="2893872550" sldId="365"/>
        </pc:sldMkLst>
      </pc:sldChg>
      <pc:sldChg chg="add">
        <pc:chgData name="Siva Sai Nagender Vasireddy" userId="" providerId="" clId="Web-{E2CFDB2A-2608-4846-9F3B-EF5F0474BCA8}" dt="2023-06-12T13:47:07.022" v="173"/>
        <pc:sldMkLst>
          <pc:docMk/>
          <pc:sldMk cId="2725989573" sldId="366"/>
        </pc:sldMkLst>
      </pc:sldChg>
      <pc:sldChg chg="add">
        <pc:chgData name="Siva Sai Nagender Vasireddy" userId="" providerId="" clId="Web-{E2CFDB2A-2608-4846-9F3B-EF5F0474BCA8}" dt="2023-06-12T13:47:07.288" v="174"/>
        <pc:sldMkLst>
          <pc:docMk/>
          <pc:sldMk cId="1805142848" sldId="367"/>
        </pc:sldMkLst>
      </pc:sldChg>
      <pc:sldChg chg="add">
        <pc:chgData name="Siva Sai Nagender Vasireddy" userId="" providerId="" clId="Web-{E2CFDB2A-2608-4846-9F3B-EF5F0474BCA8}" dt="2023-06-12T13:47:07.632" v="175"/>
        <pc:sldMkLst>
          <pc:docMk/>
          <pc:sldMk cId="2384383933" sldId="368"/>
        </pc:sldMkLst>
      </pc:sldChg>
      <pc:sldChg chg="add">
        <pc:chgData name="Siva Sai Nagender Vasireddy" userId="" providerId="" clId="Web-{E2CFDB2A-2608-4846-9F3B-EF5F0474BCA8}" dt="2023-06-12T13:47:07.835" v="176"/>
        <pc:sldMkLst>
          <pc:docMk/>
          <pc:sldMk cId="2761729354" sldId="369"/>
        </pc:sldMkLst>
      </pc:sldChg>
      <pc:sldChg chg="add">
        <pc:chgData name="Siva Sai Nagender Vasireddy" userId="" providerId="" clId="Web-{E2CFDB2A-2608-4846-9F3B-EF5F0474BCA8}" dt="2023-06-12T13:47:07.991" v="177"/>
        <pc:sldMkLst>
          <pc:docMk/>
          <pc:sldMk cId="3520721540" sldId="370"/>
        </pc:sldMkLst>
      </pc:sldChg>
      <pc:sldChg chg="add">
        <pc:chgData name="Siva Sai Nagender Vasireddy" userId="" providerId="" clId="Web-{E2CFDB2A-2608-4846-9F3B-EF5F0474BCA8}" dt="2023-06-12T13:47:08.054" v="178"/>
        <pc:sldMkLst>
          <pc:docMk/>
          <pc:sldMk cId="2191129389" sldId="371"/>
        </pc:sldMkLst>
      </pc:sldChg>
      <pc:sldChg chg="add">
        <pc:chgData name="Siva Sai Nagender Vasireddy" userId="" providerId="" clId="Web-{E2CFDB2A-2608-4846-9F3B-EF5F0474BCA8}" dt="2023-06-12T13:47:08.179" v="179"/>
        <pc:sldMkLst>
          <pc:docMk/>
          <pc:sldMk cId="1938966830" sldId="372"/>
        </pc:sldMkLst>
      </pc:sldChg>
      <pc:sldChg chg="add">
        <pc:chgData name="Siva Sai Nagender Vasireddy" userId="" providerId="" clId="Web-{E2CFDB2A-2608-4846-9F3B-EF5F0474BCA8}" dt="2023-06-12T13:47:08.241" v="180"/>
        <pc:sldMkLst>
          <pc:docMk/>
          <pc:sldMk cId="2023381391" sldId="373"/>
        </pc:sldMkLst>
      </pc:sldChg>
      <pc:sldChg chg="add">
        <pc:chgData name="Siva Sai Nagender Vasireddy" userId="" providerId="" clId="Web-{E2CFDB2A-2608-4846-9F3B-EF5F0474BCA8}" dt="2023-06-12T13:47:42.977" v="181"/>
        <pc:sldMkLst>
          <pc:docMk/>
          <pc:sldMk cId="137958753" sldId="374"/>
        </pc:sldMkLst>
      </pc:sldChg>
      <pc:sldChg chg="add">
        <pc:chgData name="Siva Sai Nagender Vasireddy" userId="" providerId="" clId="Web-{E2CFDB2A-2608-4846-9F3B-EF5F0474BCA8}" dt="2023-06-12T13:48:34.041" v="184"/>
        <pc:sldMkLst>
          <pc:docMk/>
          <pc:sldMk cId="1751456177" sldId="375"/>
        </pc:sldMkLst>
      </pc:sldChg>
      <pc:sldChg chg="add del">
        <pc:chgData name="Siva Sai Nagender Vasireddy" userId="" providerId="" clId="Web-{E2CFDB2A-2608-4846-9F3B-EF5F0474BCA8}" dt="2023-06-12T13:48:25.197" v="183"/>
        <pc:sldMkLst>
          <pc:docMk/>
          <pc:sldMk cId="3067843828" sldId="375"/>
        </pc:sldMkLst>
      </pc:sldChg>
      <pc:sldChg chg="modSp add">
        <pc:chgData name="Siva Sai Nagender Vasireddy" userId="" providerId="" clId="Web-{E2CFDB2A-2608-4846-9F3B-EF5F0474BCA8}" dt="2023-06-12T13:49:32.059" v="190" actId="20577"/>
        <pc:sldMkLst>
          <pc:docMk/>
          <pc:sldMk cId="1821943797" sldId="376"/>
        </pc:sldMkLst>
        <pc:spChg chg="mod">
          <ac:chgData name="Siva Sai Nagender Vasireddy" userId="" providerId="" clId="Web-{E2CFDB2A-2608-4846-9F3B-EF5F0474BCA8}" dt="2023-06-12T13:49:32.059" v="190" actId="20577"/>
          <ac:spMkLst>
            <pc:docMk/>
            <pc:sldMk cId="1821943797" sldId="376"/>
            <ac:spMk id="3" creationId="{FC928892-31D2-4080-B5E0-D381D00958C0}"/>
          </ac:spMkLst>
        </pc:spChg>
      </pc:sldChg>
      <pc:sldChg chg="new del">
        <pc:chgData name="Siva Sai Nagender Vasireddy" userId="" providerId="" clId="Web-{E2CFDB2A-2608-4846-9F3B-EF5F0474BCA8}" dt="2023-06-12T13:50:06.247" v="193"/>
        <pc:sldMkLst>
          <pc:docMk/>
          <pc:sldMk cId="771299738" sldId="377"/>
        </pc:sldMkLst>
      </pc:sldChg>
      <pc:sldChg chg="add">
        <pc:chgData name="Siva Sai Nagender Vasireddy" userId="" providerId="" clId="Web-{E2CFDB2A-2608-4846-9F3B-EF5F0474BCA8}" dt="2023-06-12T13:50:01.716" v="192"/>
        <pc:sldMkLst>
          <pc:docMk/>
          <pc:sldMk cId="3043433636" sldId="378"/>
        </pc:sldMkLst>
      </pc:sldChg>
      <pc:sldChg chg="add">
        <pc:chgData name="Siva Sai Nagender Vasireddy" userId="" providerId="" clId="Web-{E2CFDB2A-2608-4846-9F3B-EF5F0474BCA8}" dt="2023-06-12T13:50:33.576" v="194"/>
        <pc:sldMkLst>
          <pc:docMk/>
          <pc:sldMk cId="660949576" sldId="379"/>
        </pc:sldMkLst>
      </pc:sldChg>
      <pc:sldMasterChg chg="add addSldLayout">
        <pc:chgData name="Siva Sai Nagender Vasireddy" userId="" providerId="" clId="Web-{E2CFDB2A-2608-4846-9F3B-EF5F0474BCA8}" dt="2023-06-12T13:06:30.673" v="0"/>
        <pc:sldMasterMkLst>
          <pc:docMk/>
          <pc:sldMasterMk cId="2624593944" sldId="2147483771"/>
        </pc:sldMasterMkLst>
        <pc:sldLayoutChg chg="add">
          <pc:chgData name="Siva Sai Nagender Vasireddy" userId="" providerId="" clId="Web-{E2CFDB2A-2608-4846-9F3B-EF5F0474BCA8}" dt="2023-06-12T13:06:30.673" v="0"/>
          <pc:sldLayoutMkLst>
            <pc:docMk/>
            <pc:sldMasterMk cId="2624593944" sldId="2147483771"/>
            <pc:sldLayoutMk cId="2097277120" sldId="2147483770"/>
          </pc:sldLayoutMkLst>
        </pc:sldLayoutChg>
        <pc:sldLayoutChg chg="add">
          <pc:chgData name="Siva Sai Nagender Vasireddy" userId="" providerId="" clId="Web-{E2CFDB2A-2608-4846-9F3B-EF5F0474BCA8}" dt="2023-06-12T13:06:30.673" v="0"/>
          <pc:sldLayoutMkLst>
            <pc:docMk/>
            <pc:sldMasterMk cId="2624593944" sldId="2147483771"/>
            <pc:sldLayoutMk cId="2664792266" sldId="2147483772"/>
          </pc:sldLayoutMkLst>
        </pc:sldLayoutChg>
        <pc:sldLayoutChg chg="add">
          <pc:chgData name="Siva Sai Nagender Vasireddy" userId="" providerId="" clId="Web-{E2CFDB2A-2608-4846-9F3B-EF5F0474BCA8}" dt="2023-06-12T13:06:30.673" v="0"/>
          <pc:sldLayoutMkLst>
            <pc:docMk/>
            <pc:sldMasterMk cId="2624593944" sldId="2147483771"/>
            <pc:sldLayoutMk cId="2011464019" sldId="2147483773"/>
          </pc:sldLayoutMkLst>
        </pc:sldLayoutChg>
        <pc:sldLayoutChg chg="add">
          <pc:chgData name="Siva Sai Nagender Vasireddy" userId="" providerId="" clId="Web-{E2CFDB2A-2608-4846-9F3B-EF5F0474BCA8}" dt="2023-06-12T13:06:30.673" v="0"/>
          <pc:sldLayoutMkLst>
            <pc:docMk/>
            <pc:sldMasterMk cId="2624593944" sldId="2147483771"/>
            <pc:sldLayoutMk cId="2013388173" sldId="2147483774"/>
          </pc:sldLayoutMkLst>
        </pc:sldLayoutChg>
        <pc:sldLayoutChg chg="add">
          <pc:chgData name="Siva Sai Nagender Vasireddy" userId="" providerId="" clId="Web-{E2CFDB2A-2608-4846-9F3B-EF5F0474BCA8}" dt="2023-06-12T13:06:30.673" v="0"/>
          <pc:sldLayoutMkLst>
            <pc:docMk/>
            <pc:sldMasterMk cId="2624593944" sldId="2147483771"/>
            <pc:sldLayoutMk cId="1871384707" sldId="2147483775"/>
          </pc:sldLayoutMkLst>
        </pc:sldLayoutChg>
        <pc:sldLayoutChg chg="add">
          <pc:chgData name="Siva Sai Nagender Vasireddy" userId="" providerId="" clId="Web-{E2CFDB2A-2608-4846-9F3B-EF5F0474BCA8}" dt="2023-06-12T13:06:30.673" v="0"/>
          <pc:sldLayoutMkLst>
            <pc:docMk/>
            <pc:sldMasterMk cId="2624593944" sldId="2147483771"/>
            <pc:sldLayoutMk cId="1065862765" sldId="2147483776"/>
          </pc:sldLayoutMkLst>
        </pc:sldLayoutChg>
        <pc:sldLayoutChg chg="add">
          <pc:chgData name="Siva Sai Nagender Vasireddy" userId="" providerId="" clId="Web-{E2CFDB2A-2608-4846-9F3B-EF5F0474BCA8}" dt="2023-06-12T13:06:30.673" v="0"/>
          <pc:sldLayoutMkLst>
            <pc:docMk/>
            <pc:sldMasterMk cId="2624593944" sldId="2147483771"/>
            <pc:sldLayoutMk cId="4013456390" sldId="2147483777"/>
          </pc:sldLayoutMkLst>
        </pc:sldLayoutChg>
        <pc:sldLayoutChg chg="add">
          <pc:chgData name="Siva Sai Nagender Vasireddy" userId="" providerId="" clId="Web-{E2CFDB2A-2608-4846-9F3B-EF5F0474BCA8}" dt="2023-06-12T13:06:30.673" v="0"/>
          <pc:sldLayoutMkLst>
            <pc:docMk/>
            <pc:sldMasterMk cId="2624593944" sldId="2147483771"/>
            <pc:sldLayoutMk cId="0" sldId="2147483778"/>
          </pc:sldLayoutMkLst>
        </pc:sldLayoutChg>
      </pc:sldMasterChg>
    </pc:docChg>
  </pc:docChgLst>
  <pc:docChgLst>
    <pc:chgData name="Siva Sai Nagender Vasireddy" userId="uYCnjPpBgMg6RgHbw9fc4TXQxlFkerQmdP2dxZZTDbY=" providerId="None" clId="Web-{E2CFDB2A-2608-4846-9F3B-EF5F0474BCA8}"/>
    <pc:docChg chg="addSld modSld addMainMaster modMainMaster">
      <pc:chgData name="Siva Sai Nagender Vasireddy" userId="uYCnjPpBgMg6RgHbw9fc4TXQxlFkerQmdP2dxZZTDbY=" providerId="None" clId="Web-{E2CFDB2A-2608-4846-9F3B-EF5F0474BCA8}" dt="2023-06-12T12:35:12.574" v="28"/>
      <pc:docMkLst>
        <pc:docMk/>
      </pc:docMkLst>
      <pc:sldChg chg="modSp">
        <pc:chgData name="Siva Sai Nagender Vasireddy" userId="uYCnjPpBgMg6RgHbw9fc4TXQxlFkerQmdP2dxZZTDbY=" providerId="None" clId="Web-{E2CFDB2A-2608-4846-9F3B-EF5F0474BCA8}" dt="2023-06-12T12:26:39.915" v="9" actId="20577"/>
        <pc:sldMkLst>
          <pc:docMk/>
          <pc:sldMk cId="109857222" sldId="256"/>
        </pc:sldMkLst>
        <pc:spChg chg="mod">
          <ac:chgData name="Siva Sai Nagender Vasireddy" userId="uYCnjPpBgMg6RgHbw9fc4TXQxlFkerQmdP2dxZZTDbY=" providerId="None" clId="Web-{E2CFDB2A-2608-4846-9F3B-EF5F0474BCA8}" dt="2023-06-12T12:26:39.915" v="9" actId="20577"/>
          <ac:spMkLst>
            <pc:docMk/>
            <pc:sldMk cId="109857222" sldId="256"/>
            <ac:spMk id="3" creationId="{00000000-0000-0000-0000-000000000000}"/>
          </ac:spMkLst>
        </pc:spChg>
      </pc:sldChg>
      <pc:sldChg chg="add">
        <pc:chgData name="Siva Sai Nagender Vasireddy" userId="uYCnjPpBgMg6RgHbw9fc4TXQxlFkerQmdP2dxZZTDbY=" providerId="None" clId="Web-{E2CFDB2A-2608-4846-9F3B-EF5F0474BCA8}" dt="2023-06-12T12:35:10.012" v="10"/>
        <pc:sldMkLst>
          <pc:docMk/>
          <pc:sldMk cId="982990077" sldId="257"/>
        </pc:sldMkLst>
      </pc:sldChg>
      <pc:sldChg chg="add">
        <pc:chgData name="Siva Sai Nagender Vasireddy" userId="uYCnjPpBgMg6RgHbw9fc4TXQxlFkerQmdP2dxZZTDbY=" providerId="None" clId="Web-{E2CFDB2A-2608-4846-9F3B-EF5F0474BCA8}" dt="2023-06-12T12:35:10.199" v="11"/>
        <pc:sldMkLst>
          <pc:docMk/>
          <pc:sldMk cId="3815029346" sldId="258"/>
        </pc:sldMkLst>
      </pc:sldChg>
      <pc:sldChg chg="add">
        <pc:chgData name="Siva Sai Nagender Vasireddy" userId="uYCnjPpBgMg6RgHbw9fc4TXQxlFkerQmdP2dxZZTDbY=" providerId="None" clId="Web-{E2CFDB2A-2608-4846-9F3B-EF5F0474BCA8}" dt="2023-06-12T12:35:10.324" v="12"/>
        <pc:sldMkLst>
          <pc:docMk/>
          <pc:sldMk cId="125122844" sldId="259"/>
        </pc:sldMkLst>
      </pc:sldChg>
      <pc:sldChg chg="add">
        <pc:chgData name="Siva Sai Nagender Vasireddy" userId="uYCnjPpBgMg6RgHbw9fc4TXQxlFkerQmdP2dxZZTDbY=" providerId="None" clId="Web-{E2CFDB2A-2608-4846-9F3B-EF5F0474BCA8}" dt="2023-06-12T12:35:10.418" v="13"/>
        <pc:sldMkLst>
          <pc:docMk/>
          <pc:sldMk cId="469990939" sldId="260"/>
        </pc:sldMkLst>
      </pc:sldChg>
      <pc:sldChg chg="add">
        <pc:chgData name="Siva Sai Nagender Vasireddy" userId="uYCnjPpBgMg6RgHbw9fc4TXQxlFkerQmdP2dxZZTDbY=" providerId="None" clId="Web-{E2CFDB2A-2608-4846-9F3B-EF5F0474BCA8}" dt="2023-06-12T12:35:10.512" v="14"/>
        <pc:sldMkLst>
          <pc:docMk/>
          <pc:sldMk cId="34770146" sldId="261"/>
        </pc:sldMkLst>
      </pc:sldChg>
      <pc:sldChg chg="add">
        <pc:chgData name="Siva Sai Nagender Vasireddy" userId="uYCnjPpBgMg6RgHbw9fc4TXQxlFkerQmdP2dxZZTDbY=" providerId="None" clId="Web-{E2CFDB2A-2608-4846-9F3B-EF5F0474BCA8}" dt="2023-06-12T12:35:10.621" v="15"/>
        <pc:sldMkLst>
          <pc:docMk/>
          <pc:sldMk cId="2132481343" sldId="262"/>
        </pc:sldMkLst>
      </pc:sldChg>
      <pc:sldChg chg="add">
        <pc:chgData name="Siva Sai Nagender Vasireddy" userId="uYCnjPpBgMg6RgHbw9fc4TXQxlFkerQmdP2dxZZTDbY=" providerId="None" clId="Web-{E2CFDB2A-2608-4846-9F3B-EF5F0474BCA8}" dt="2023-06-12T12:35:10.715" v="16"/>
        <pc:sldMkLst>
          <pc:docMk/>
          <pc:sldMk cId="1364414430" sldId="263"/>
        </pc:sldMkLst>
      </pc:sldChg>
      <pc:sldChg chg="add">
        <pc:chgData name="Siva Sai Nagender Vasireddy" userId="uYCnjPpBgMg6RgHbw9fc4TXQxlFkerQmdP2dxZZTDbY=" providerId="None" clId="Web-{E2CFDB2A-2608-4846-9F3B-EF5F0474BCA8}" dt="2023-06-12T12:35:10.887" v="17"/>
        <pc:sldMkLst>
          <pc:docMk/>
          <pc:sldMk cId="1466462838" sldId="264"/>
        </pc:sldMkLst>
      </pc:sldChg>
      <pc:sldChg chg="add">
        <pc:chgData name="Siva Sai Nagender Vasireddy" userId="uYCnjPpBgMg6RgHbw9fc4TXQxlFkerQmdP2dxZZTDbY=" providerId="None" clId="Web-{E2CFDB2A-2608-4846-9F3B-EF5F0474BCA8}" dt="2023-06-12T12:35:11.058" v="18"/>
        <pc:sldMkLst>
          <pc:docMk/>
          <pc:sldMk cId="2396464139" sldId="265"/>
        </pc:sldMkLst>
      </pc:sldChg>
      <pc:sldChg chg="add">
        <pc:chgData name="Siva Sai Nagender Vasireddy" userId="uYCnjPpBgMg6RgHbw9fc4TXQxlFkerQmdP2dxZZTDbY=" providerId="None" clId="Web-{E2CFDB2A-2608-4846-9F3B-EF5F0474BCA8}" dt="2023-06-12T12:35:11.215" v="19"/>
        <pc:sldMkLst>
          <pc:docMk/>
          <pc:sldMk cId="958515244" sldId="266"/>
        </pc:sldMkLst>
      </pc:sldChg>
      <pc:sldChg chg="add">
        <pc:chgData name="Siva Sai Nagender Vasireddy" userId="uYCnjPpBgMg6RgHbw9fc4TXQxlFkerQmdP2dxZZTDbY=" providerId="None" clId="Web-{E2CFDB2A-2608-4846-9F3B-EF5F0474BCA8}" dt="2023-06-12T12:35:11.371" v="20"/>
        <pc:sldMkLst>
          <pc:docMk/>
          <pc:sldMk cId="2920058299" sldId="267"/>
        </pc:sldMkLst>
      </pc:sldChg>
      <pc:sldChg chg="add">
        <pc:chgData name="Siva Sai Nagender Vasireddy" userId="uYCnjPpBgMg6RgHbw9fc4TXQxlFkerQmdP2dxZZTDbY=" providerId="None" clId="Web-{E2CFDB2A-2608-4846-9F3B-EF5F0474BCA8}" dt="2023-06-12T12:35:11.527" v="21"/>
        <pc:sldMkLst>
          <pc:docMk/>
          <pc:sldMk cId="1175385692" sldId="268"/>
        </pc:sldMkLst>
      </pc:sldChg>
      <pc:sldChg chg="add">
        <pc:chgData name="Siva Sai Nagender Vasireddy" userId="uYCnjPpBgMg6RgHbw9fc4TXQxlFkerQmdP2dxZZTDbY=" providerId="None" clId="Web-{E2CFDB2A-2608-4846-9F3B-EF5F0474BCA8}" dt="2023-06-12T12:35:11.683" v="22"/>
        <pc:sldMkLst>
          <pc:docMk/>
          <pc:sldMk cId="582126901" sldId="269"/>
        </pc:sldMkLst>
      </pc:sldChg>
      <pc:sldChg chg="add">
        <pc:chgData name="Siva Sai Nagender Vasireddy" userId="uYCnjPpBgMg6RgHbw9fc4TXQxlFkerQmdP2dxZZTDbY=" providerId="None" clId="Web-{E2CFDB2A-2608-4846-9F3B-EF5F0474BCA8}" dt="2023-06-12T12:35:12.027" v="23"/>
        <pc:sldMkLst>
          <pc:docMk/>
          <pc:sldMk cId="3641558381" sldId="270"/>
        </pc:sldMkLst>
      </pc:sldChg>
      <pc:sldChg chg="add">
        <pc:chgData name="Siva Sai Nagender Vasireddy" userId="uYCnjPpBgMg6RgHbw9fc4TXQxlFkerQmdP2dxZZTDbY=" providerId="None" clId="Web-{E2CFDB2A-2608-4846-9F3B-EF5F0474BCA8}" dt="2023-06-12T12:35:12.105" v="24"/>
        <pc:sldMkLst>
          <pc:docMk/>
          <pc:sldMk cId="224783268" sldId="271"/>
        </pc:sldMkLst>
      </pc:sldChg>
      <pc:sldChg chg="add">
        <pc:chgData name="Siva Sai Nagender Vasireddy" userId="uYCnjPpBgMg6RgHbw9fc4TXQxlFkerQmdP2dxZZTDbY=" providerId="None" clId="Web-{E2CFDB2A-2608-4846-9F3B-EF5F0474BCA8}" dt="2023-06-12T12:35:12.199" v="25"/>
        <pc:sldMkLst>
          <pc:docMk/>
          <pc:sldMk cId="316457791" sldId="272"/>
        </pc:sldMkLst>
      </pc:sldChg>
      <pc:sldChg chg="add">
        <pc:chgData name="Siva Sai Nagender Vasireddy" userId="uYCnjPpBgMg6RgHbw9fc4TXQxlFkerQmdP2dxZZTDbY=" providerId="None" clId="Web-{E2CFDB2A-2608-4846-9F3B-EF5F0474BCA8}" dt="2023-06-12T12:35:12.293" v="26"/>
        <pc:sldMkLst>
          <pc:docMk/>
          <pc:sldMk cId="976236712" sldId="273"/>
        </pc:sldMkLst>
      </pc:sldChg>
      <pc:sldChg chg="add">
        <pc:chgData name="Siva Sai Nagender Vasireddy" userId="uYCnjPpBgMg6RgHbw9fc4TXQxlFkerQmdP2dxZZTDbY=" providerId="None" clId="Web-{E2CFDB2A-2608-4846-9F3B-EF5F0474BCA8}" dt="2023-06-12T12:35:12.449" v="27"/>
        <pc:sldMkLst>
          <pc:docMk/>
          <pc:sldMk cId="1702486855" sldId="274"/>
        </pc:sldMkLst>
      </pc:sldChg>
      <pc:sldChg chg="add">
        <pc:chgData name="Siva Sai Nagender Vasireddy" userId="uYCnjPpBgMg6RgHbw9fc4TXQxlFkerQmdP2dxZZTDbY=" providerId="None" clId="Web-{E2CFDB2A-2608-4846-9F3B-EF5F0474BCA8}" dt="2023-06-12T12:35:12.574" v="28"/>
        <pc:sldMkLst>
          <pc:docMk/>
          <pc:sldMk cId="4106065295" sldId="275"/>
        </pc:sldMkLst>
      </pc:sldChg>
      <pc:sldMasterChg chg="add addSldLayout">
        <pc:chgData name="Siva Sai Nagender Vasireddy" userId="uYCnjPpBgMg6RgHbw9fc4TXQxlFkerQmdP2dxZZTDbY=" providerId="None" clId="Web-{E2CFDB2A-2608-4846-9F3B-EF5F0474BCA8}" dt="2023-06-12T12:35:10.012" v="10"/>
        <pc:sldMasterMkLst>
          <pc:docMk/>
          <pc:sldMasterMk cId="2624593944" sldId="2147483660"/>
        </pc:sldMasterMkLst>
        <pc:sldLayoutChg chg="add">
          <pc:chgData name="Siva Sai Nagender Vasireddy" userId="uYCnjPpBgMg6RgHbw9fc4TXQxlFkerQmdP2dxZZTDbY=" providerId="None" clId="Web-{E2CFDB2A-2608-4846-9F3B-EF5F0474BCA8}" dt="2023-06-12T12:35:10.012" v="10"/>
          <pc:sldLayoutMkLst>
            <pc:docMk/>
            <pc:sldMasterMk cId="2624593944" sldId="2147483660"/>
            <pc:sldLayoutMk cId="2664792266" sldId="2147483661"/>
          </pc:sldLayoutMkLst>
        </pc:sldLayoutChg>
        <pc:sldLayoutChg chg="add">
          <pc:chgData name="Siva Sai Nagender Vasireddy" userId="uYCnjPpBgMg6RgHbw9fc4TXQxlFkerQmdP2dxZZTDbY=" providerId="None" clId="Web-{E2CFDB2A-2608-4846-9F3B-EF5F0474BCA8}" dt="2023-06-12T12:35:10.012" v="10"/>
          <pc:sldLayoutMkLst>
            <pc:docMk/>
            <pc:sldMasterMk cId="2624593944" sldId="2147483660"/>
            <pc:sldLayoutMk cId="1065862765" sldId="2147483662"/>
          </pc:sldLayoutMkLst>
        </pc:sldLayoutChg>
        <pc:sldLayoutChg chg="add">
          <pc:chgData name="Siva Sai Nagender Vasireddy" userId="uYCnjPpBgMg6RgHbw9fc4TXQxlFkerQmdP2dxZZTDbY=" providerId="None" clId="Web-{E2CFDB2A-2608-4846-9F3B-EF5F0474BCA8}" dt="2023-06-12T12:35:10.012" v="10"/>
          <pc:sldLayoutMkLst>
            <pc:docMk/>
            <pc:sldMasterMk cId="2624593944" sldId="2147483660"/>
            <pc:sldLayoutMk cId="4013456390" sldId="2147483666"/>
          </pc:sldLayoutMkLst>
        </pc:sldLayoutChg>
        <pc:sldLayoutChg chg="add">
          <pc:chgData name="Siva Sai Nagender Vasireddy" userId="uYCnjPpBgMg6RgHbw9fc4TXQxlFkerQmdP2dxZZTDbY=" providerId="None" clId="Web-{E2CFDB2A-2608-4846-9F3B-EF5F0474BCA8}" dt="2023-06-12T12:35:10.012" v="10"/>
          <pc:sldLayoutMkLst>
            <pc:docMk/>
            <pc:sldMasterMk cId="2624593944" sldId="2147483660"/>
            <pc:sldLayoutMk cId="0" sldId="2147483670"/>
          </pc:sldLayoutMkLst>
        </pc:sldLayoutChg>
        <pc:sldLayoutChg chg="add">
          <pc:chgData name="Siva Sai Nagender Vasireddy" userId="uYCnjPpBgMg6RgHbw9fc4TXQxlFkerQmdP2dxZZTDbY=" providerId="None" clId="Web-{E2CFDB2A-2608-4846-9F3B-EF5F0474BCA8}" dt="2023-06-12T12:35:10.012" v="10"/>
          <pc:sldLayoutMkLst>
            <pc:docMk/>
            <pc:sldMasterMk cId="2624593944" sldId="2147483660"/>
            <pc:sldLayoutMk cId="2011464019" sldId="2147483671"/>
          </pc:sldLayoutMkLst>
        </pc:sldLayoutChg>
        <pc:sldLayoutChg chg="add">
          <pc:chgData name="Siva Sai Nagender Vasireddy" userId="uYCnjPpBgMg6RgHbw9fc4TXQxlFkerQmdP2dxZZTDbY=" providerId="None" clId="Web-{E2CFDB2A-2608-4846-9F3B-EF5F0474BCA8}" dt="2023-06-12T12:35:10.012" v="10"/>
          <pc:sldLayoutMkLst>
            <pc:docMk/>
            <pc:sldMasterMk cId="2624593944" sldId="2147483660"/>
            <pc:sldLayoutMk cId="2013388173" sldId="2147483672"/>
          </pc:sldLayoutMkLst>
        </pc:sldLayoutChg>
        <pc:sldLayoutChg chg="add">
          <pc:chgData name="Siva Sai Nagender Vasireddy" userId="uYCnjPpBgMg6RgHbw9fc4TXQxlFkerQmdP2dxZZTDbY=" providerId="None" clId="Web-{E2CFDB2A-2608-4846-9F3B-EF5F0474BCA8}" dt="2023-06-12T12:35:10.012" v="10"/>
          <pc:sldLayoutMkLst>
            <pc:docMk/>
            <pc:sldMasterMk cId="2624593944" sldId="2147483660"/>
            <pc:sldLayoutMk cId="1871384707" sldId="2147483673"/>
          </pc:sldLayoutMkLst>
        </pc:sldLayoutChg>
      </pc:sldMasterChg>
      <pc:sldMasterChg chg="replId modSldLayout">
        <pc:chgData name="Siva Sai Nagender Vasireddy" userId="uYCnjPpBgMg6RgHbw9fc4TXQxlFkerQmdP2dxZZTDbY=" providerId="None" clId="Web-{E2CFDB2A-2608-4846-9F3B-EF5F0474BCA8}" dt="2023-06-12T12:35:10.012" v="10"/>
        <pc:sldMasterMkLst>
          <pc:docMk/>
          <pc:sldMasterMk cId="2460954070" sldId="2147483674"/>
        </pc:sldMasterMkLst>
        <pc:sldLayoutChg chg="replId">
          <pc:chgData name="Siva Sai Nagender Vasireddy" userId="uYCnjPpBgMg6RgHbw9fc4TXQxlFkerQmdP2dxZZTDbY=" providerId="None" clId="Web-{E2CFDB2A-2608-4846-9F3B-EF5F0474BCA8}" dt="2023-06-12T12:35:10.012" v="10"/>
          <pc:sldLayoutMkLst>
            <pc:docMk/>
            <pc:sldMasterMk cId="2460954070" sldId="2147483674"/>
            <pc:sldLayoutMk cId="2385387890" sldId="2147483675"/>
          </pc:sldLayoutMkLst>
        </pc:sldLayoutChg>
        <pc:sldLayoutChg chg="replId">
          <pc:chgData name="Siva Sai Nagender Vasireddy" userId="uYCnjPpBgMg6RgHbw9fc4TXQxlFkerQmdP2dxZZTDbY=" providerId="None" clId="Web-{E2CFDB2A-2608-4846-9F3B-EF5F0474BCA8}" dt="2023-06-12T12:35:10.012" v="10"/>
          <pc:sldLayoutMkLst>
            <pc:docMk/>
            <pc:sldMasterMk cId="2460954070" sldId="2147483674"/>
            <pc:sldLayoutMk cId="3479445657" sldId="2147483676"/>
          </pc:sldLayoutMkLst>
        </pc:sldLayoutChg>
        <pc:sldLayoutChg chg="replId">
          <pc:chgData name="Siva Sai Nagender Vasireddy" userId="uYCnjPpBgMg6RgHbw9fc4TXQxlFkerQmdP2dxZZTDbY=" providerId="None" clId="Web-{E2CFDB2A-2608-4846-9F3B-EF5F0474BCA8}" dt="2023-06-12T12:35:10.012" v="10"/>
          <pc:sldLayoutMkLst>
            <pc:docMk/>
            <pc:sldMasterMk cId="2460954070" sldId="2147483674"/>
            <pc:sldLayoutMk cId="949138452" sldId="2147483677"/>
          </pc:sldLayoutMkLst>
        </pc:sldLayoutChg>
        <pc:sldLayoutChg chg="replId">
          <pc:chgData name="Siva Sai Nagender Vasireddy" userId="uYCnjPpBgMg6RgHbw9fc4TXQxlFkerQmdP2dxZZTDbY=" providerId="None" clId="Web-{E2CFDB2A-2608-4846-9F3B-EF5F0474BCA8}" dt="2023-06-12T12:35:10.012" v="10"/>
          <pc:sldLayoutMkLst>
            <pc:docMk/>
            <pc:sldMasterMk cId="2460954070" sldId="2147483674"/>
            <pc:sldLayoutMk cId="3210312558" sldId="2147483678"/>
          </pc:sldLayoutMkLst>
        </pc:sldLayoutChg>
        <pc:sldLayoutChg chg="replId">
          <pc:chgData name="Siva Sai Nagender Vasireddy" userId="uYCnjPpBgMg6RgHbw9fc4TXQxlFkerQmdP2dxZZTDbY=" providerId="None" clId="Web-{E2CFDB2A-2608-4846-9F3B-EF5F0474BCA8}" dt="2023-06-12T12:35:10.012" v="10"/>
          <pc:sldLayoutMkLst>
            <pc:docMk/>
            <pc:sldMasterMk cId="2460954070" sldId="2147483674"/>
            <pc:sldLayoutMk cId="2202905451" sldId="214748367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0C5AA-FE50-4964-BA6F-AED1DBBBFBF2}" type="datetimeFigureOut">
              <a:t>6/30/25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EA912-A3D0-47B0-A60D-37587DC06784}" type="slidenum">
              <a:t>‹#›</a:t>
            </a:fld>
            <a:endParaRPr lang="en-US"/>
          </a:p>
        </p:txBody>
      </p:sp>
    </p:spTree>
    <p:extLst>
      <p:ext uri="{BB962C8B-B14F-4D97-AF65-F5344CB8AC3E}">
        <p14:creationId xmlns:p14="http://schemas.microsoft.com/office/powerpoint/2010/main" val="1388600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www.baeldung.com/cs/no-free-lunch-theorem"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www.baeldung.com/cs/no-free-lunch-theorem" TargetMode="External"/><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hyperlink" Target="https://en.wikipedia.org/wiki/Statistics" TargetMode="External"/><Relationship Id="rId7" Type="http://schemas.openxmlformats.org/officeDocument/2006/relationships/hyperlink" Target="https://en.wikipedia.org/wiki/Squared_error_loss" TargetMode="External"/><Relationship Id="rId2" Type="http://schemas.openxmlformats.org/officeDocument/2006/relationships/slide" Target="../slides/slide89.xml"/><Relationship Id="rId1" Type="http://schemas.openxmlformats.org/officeDocument/2006/relationships/notesMaster" Target="../notesMasters/notesMaster1.xml"/><Relationship Id="rId6" Type="http://schemas.openxmlformats.org/officeDocument/2006/relationships/hyperlink" Target="https://en.wikipedia.org/wiki/Outlier" TargetMode="External"/><Relationship Id="rId5" Type="http://schemas.openxmlformats.org/officeDocument/2006/relationships/hyperlink" Target="https://en.wikipedia.org/wiki/Robust_regression" TargetMode="External"/><Relationship Id="rId4" Type="http://schemas.openxmlformats.org/officeDocument/2006/relationships/hyperlink" Target="https://en.wikipedia.org/wiki/Loss_function" TargetMode="Externa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B6C6D3D-63F5-43F0-8220-69118B54FBAB}" type="slidenum">
              <a:rPr lang="en-US" smtClean="0"/>
              <a:pPr/>
              <a:t>14</a:t>
            </a:fld>
            <a:endParaRPr lang="en-US"/>
          </a:p>
        </p:txBody>
      </p:sp>
      <p:sp>
        <p:nvSpPr>
          <p:cNvPr id="57347" name="Rectangle 2"/>
          <p:cNvSpPr>
            <a:spLocks noGrp="1" noRot="1" noChangeAspect="1" noChangeArrowheads="1" noTextEdit="1"/>
          </p:cNvSpPr>
          <p:nvPr>
            <p:ph type="sldImg"/>
          </p:nvPr>
        </p:nvSpPr>
        <p:spPr>
          <a:xfrm>
            <a:off x="406400" y="696913"/>
            <a:ext cx="6197600" cy="3486150"/>
          </a:xfrm>
          <a:ln/>
        </p:spPr>
      </p:sp>
      <p:sp>
        <p:nvSpPr>
          <p:cNvPr id="57348" name="Rectangle 3"/>
          <p:cNvSpPr>
            <a:spLocks noGrp="1" noChangeArrowheads="1"/>
          </p:cNvSpPr>
          <p:nvPr>
            <p:ph type="body" idx="1"/>
          </p:nvPr>
        </p:nvSpPr>
        <p:spPr>
          <a:xfrm>
            <a:off x="934113" y="4416099"/>
            <a:ext cx="5142177" cy="4182457"/>
          </a:xfrm>
          <a:noFill/>
          <a:ln/>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B6C6D3D-63F5-43F0-8220-69118B54FBAB}" type="slidenum">
              <a:rPr lang="en-US" smtClean="0"/>
              <a:pPr/>
              <a:t>15</a:t>
            </a:fld>
            <a:endParaRPr lang="en-US"/>
          </a:p>
        </p:txBody>
      </p:sp>
      <p:sp>
        <p:nvSpPr>
          <p:cNvPr id="57347" name="Rectangle 2"/>
          <p:cNvSpPr>
            <a:spLocks noGrp="1" noRot="1" noChangeAspect="1" noChangeArrowheads="1" noTextEdit="1"/>
          </p:cNvSpPr>
          <p:nvPr>
            <p:ph type="sldImg"/>
          </p:nvPr>
        </p:nvSpPr>
        <p:spPr>
          <a:xfrm>
            <a:off x="406400" y="696913"/>
            <a:ext cx="6197600" cy="3486150"/>
          </a:xfrm>
          <a:ln/>
        </p:spPr>
      </p:sp>
      <p:sp>
        <p:nvSpPr>
          <p:cNvPr id="57348" name="Rectangle 3"/>
          <p:cNvSpPr>
            <a:spLocks noGrp="1" noChangeArrowheads="1"/>
          </p:cNvSpPr>
          <p:nvPr>
            <p:ph type="body" idx="1"/>
          </p:nvPr>
        </p:nvSpPr>
        <p:spPr>
          <a:xfrm>
            <a:off x="934113" y="4416099"/>
            <a:ext cx="5142177" cy="4182457"/>
          </a:xfrm>
          <a:noFill/>
          <a:ln/>
        </p:spPr>
        <p:txBody>
          <a:bodyPr/>
          <a:lstStyle/>
          <a:p>
            <a:pPr eaLnBrk="1" hangingPunct="1"/>
            <a:endParaRPr lang="en-US" dirty="0"/>
          </a:p>
        </p:txBody>
      </p:sp>
    </p:spTree>
    <p:extLst>
      <p:ext uri="{BB962C8B-B14F-4D97-AF65-F5344CB8AC3E}">
        <p14:creationId xmlns:p14="http://schemas.microsoft.com/office/powerpoint/2010/main" val="3997279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B2076CC1-63DF-4546-832F-7B3740A94E4E}" type="slidenum">
              <a:rPr lang="en-US" smtClean="0"/>
              <a:pPr/>
              <a:t>16</a:t>
            </a:fld>
            <a:endParaRPr lang="en-US"/>
          </a:p>
        </p:txBody>
      </p:sp>
      <p:sp>
        <p:nvSpPr>
          <p:cNvPr id="59395" name="Rectangle 2"/>
          <p:cNvSpPr>
            <a:spLocks noGrp="1" noRot="1" noChangeAspect="1" noChangeArrowheads="1" noTextEdit="1"/>
          </p:cNvSpPr>
          <p:nvPr>
            <p:ph type="sldImg"/>
          </p:nvPr>
        </p:nvSpPr>
        <p:spPr>
          <a:xfrm>
            <a:off x="406400" y="696913"/>
            <a:ext cx="6197600" cy="3486150"/>
          </a:xfrm>
          <a:ln/>
        </p:spPr>
      </p:sp>
      <p:sp>
        <p:nvSpPr>
          <p:cNvPr id="59396"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B2076CC1-63DF-4546-832F-7B3740A94E4E}" type="slidenum">
              <a:rPr lang="en-US" smtClean="0"/>
              <a:pPr/>
              <a:t>17</a:t>
            </a:fld>
            <a:endParaRPr lang="en-US"/>
          </a:p>
        </p:txBody>
      </p:sp>
      <p:sp>
        <p:nvSpPr>
          <p:cNvPr id="59395" name="Rectangle 2"/>
          <p:cNvSpPr>
            <a:spLocks noGrp="1" noRot="1" noChangeAspect="1" noChangeArrowheads="1" noTextEdit="1"/>
          </p:cNvSpPr>
          <p:nvPr>
            <p:ph type="sldImg"/>
          </p:nvPr>
        </p:nvSpPr>
        <p:spPr>
          <a:xfrm>
            <a:off x="406400" y="696913"/>
            <a:ext cx="6197600" cy="3486150"/>
          </a:xfrm>
          <a:ln/>
        </p:spPr>
      </p:sp>
      <p:sp>
        <p:nvSpPr>
          <p:cNvPr id="59396"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extLst>
      <p:ext uri="{BB962C8B-B14F-4D97-AF65-F5344CB8AC3E}">
        <p14:creationId xmlns:p14="http://schemas.microsoft.com/office/powerpoint/2010/main" val="2604616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507A330F-0BC8-49D7-A944-695EB46CD0AF}" type="slidenum">
              <a:rPr lang="en-US" smtClean="0"/>
              <a:pPr/>
              <a:t>18</a:t>
            </a:fld>
            <a:endParaRPr lang="en-US"/>
          </a:p>
        </p:txBody>
      </p:sp>
      <p:sp>
        <p:nvSpPr>
          <p:cNvPr id="61443" name="Rectangle 2"/>
          <p:cNvSpPr>
            <a:spLocks noGrp="1" noRot="1" noChangeAspect="1" noChangeArrowheads="1" noTextEdit="1"/>
          </p:cNvSpPr>
          <p:nvPr>
            <p:ph type="sldImg"/>
          </p:nvPr>
        </p:nvSpPr>
        <p:spPr>
          <a:xfrm>
            <a:off x="406400" y="696913"/>
            <a:ext cx="6197600" cy="3486150"/>
          </a:xfrm>
          <a:ln/>
        </p:spPr>
      </p:sp>
      <p:sp>
        <p:nvSpPr>
          <p:cNvPr id="61444" name="Rectangle 3"/>
          <p:cNvSpPr>
            <a:spLocks noGrp="1" noChangeArrowheads="1"/>
          </p:cNvSpPr>
          <p:nvPr>
            <p:ph type="body" idx="1"/>
          </p:nvPr>
        </p:nvSpPr>
        <p:spPr>
          <a:xfrm>
            <a:off x="934113" y="4416099"/>
            <a:ext cx="5142177" cy="4182457"/>
          </a:xfrm>
          <a:noFill/>
          <a:ln/>
        </p:spPr>
        <p:txBody>
          <a:bodyPr/>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5FC87F93-8D1F-4BCD-9CEA-002EA20EF340}" type="slidenum">
              <a:rPr lang="en-US" smtClean="0"/>
              <a:pPr/>
              <a:t>19</a:t>
            </a:fld>
            <a:endParaRPr lang="en-US"/>
          </a:p>
        </p:txBody>
      </p:sp>
      <p:sp>
        <p:nvSpPr>
          <p:cNvPr id="63491" name="Rectangle 2"/>
          <p:cNvSpPr>
            <a:spLocks noGrp="1" noRot="1" noChangeAspect="1" noChangeArrowheads="1" noTextEdit="1"/>
          </p:cNvSpPr>
          <p:nvPr>
            <p:ph type="sldImg"/>
          </p:nvPr>
        </p:nvSpPr>
        <p:spPr>
          <a:xfrm>
            <a:off x="406400" y="696913"/>
            <a:ext cx="6197600" cy="3486150"/>
          </a:xfrm>
          <a:ln/>
        </p:spPr>
      </p:sp>
      <p:sp>
        <p:nvSpPr>
          <p:cNvPr id="63492"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22BA76B8-4245-438E-AE87-AEABE722B1BB}" type="slidenum">
              <a:rPr lang="en-US" smtClean="0"/>
              <a:pPr/>
              <a:t>20</a:t>
            </a:fld>
            <a:endParaRPr lang="en-US"/>
          </a:p>
        </p:txBody>
      </p:sp>
      <p:sp>
        <p:nvSpPr>
          <p:cNvPr id="64515" name="Rectangle 2"/>
          <p:cNvSpPr>
            <a:spLocks noGrp="1" noRot="1" noChangeAspect="1" noChangeArrowheads="1" noTextEdit="1"/>
          </p:cNvSpPr>
          <p:nvPr>
            <p:ph type="sldImg"/>
          </p:nvPr>
        </p:nvSpPr>
        <p:spPr>
          <a:xfrm>
            <a:off x="406400" y="696913"/>
            <a:ext cx="6197600" cy="3486150"/>
          </a:xfrm>
          <a:ln/>
        </p:spPr>
      </p:sp>
      <p:sp>
        <p:nvSpPr>
          <p:cNvPr id="64516"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Similar</a:t>
            </a:r>
            <a:r>
              <a:rPr lang="zh-CN" altLang="en-US" dirty="0"/>
              <a:t> </a:t>
            </a:r>
            <a:r>
              <a:rPr lang="en-US" altLang="zh-CN" dirty="0"/>
              <a:t>to</a:t>
            </a:r>
            <a:r>
              <a:rPr lang="zh-CN" altLang="en-US" dirty="0"/>
              <a:t> </a:t>
            </a:r>
            <a:r>
              <a:rPr lang="en-US" altLang="zh-CN" dirty="0"/>
              <a:t>human</a:t>
            </a:r>
            <a:r>
              <a:rPr lang="zh-CN" altLang="en-US" dirty="0"/>
              <a:t> </a:t>
            </a:r>
            <a:r>
              <a:rPr lang="en-US" altLang="zh-CN" dirty="0"/>
              <a:t>visual</a:t>
            </a:r>
            <a:r>
              <a:rPr lang="zh-CN" altLang="en-US" dirty="0"/>
              <a:t> </a:t>
            </a:r>
            <a:r>
              <a:rPr lang="en-US" altLang="zh-CN" dirty="0"/>
              <a:t>perception,</a:t>
            </a:r>
            <a:r>
              <a:rPr lang="zh-CN" altLang="en-US" dirty="0"/>
              <a:t> </a:t>
            </a:r>
            <a:r>
              <a:rPr lang="en-US" altLang="zh-CN" dirty="0"/>
              <a:t>our</a:t>
            </a:r>
            <a:r>
              <a:rPr lang="zh-CN" altLang="en-US" dirty="0"/>
              <a:t> </a:t>
            </a:r>
            <a:r>
              <a:rPr lang="en-US" altLang="zh-CN" dirty="0"/>
              <a:t>deep</a:t>
            </a:r>
            <a:r>
              <a:rPr lang="zh-CN" altLang="en-US" dirty="0"/>
              <a:t> </a:t>
            </a:r>
            <a:r>
              <a:rPr lang="en-US" altLang="zh-CN" dirty="0"/>
              <a:t>neural</a:t>
            </a:r>
            <a:r>
              <a:rPr lang="zh-CN" altLang="en-US" dirty="0"/>
              <a:t> </a:t>
            </a:r>
            <a:r>
              <a:rPr lang="en-US" altLang="zh-CN" dirty="0" err="1"/>
              <a:t>networls</a:t>
            </a:r>
            <a:r>
              <a:rPr lang="zh-CN" altLang="en-US" dirty="0"/>
              <a:t> </a:t>
            </a:r>
            <a:r>
              <a:rPr lang="en-US" altLang="zh-CN" dirty="0"/>
              <a:t>can</a:t>
            </a:r>
            <a:r>
              <a:rPr lang="zh-CN" altLang="en-US" dirty="0"/>
              <a:t> </a:t>
            </a:r>
            <a:r>
              <a:rPr lang="en-US" altLang="zh-CN" dirty="0"/>
              <a:t>perform</a:t>
            </a:r>
            <a:r>
              <a:rPr lang="zh-CN" altLang="en-US" dirty="0"/>
              <a:t> </a:t>
            </a:r>
            <a:r>
              <a:rPr lang="en-US" altLang="zh-CN" dirty="0" err="1"/>
              <a:t>compulational</a:t>
            </a:r>
            <a:r>
              <a:rPr lang="zh-CN" altLang="en-US" dirty="0"/>
              <a:t> </a:t>
            </a:r>
            <a:r>
              <a:rPr lang="en-US" altLang="zh-CN" dirty="0"/>
              <a:t>perception</a:t>
            </a:r>
            <a:r>
              <a:rPr lang="zh-CN" altLang="en-US" dirty="0"/>
              <a:t> </a:t>
            </a:r>
            <a:r>
              <a:rPr lang="en-US" altLang="zh-CN" dirty="0"/>
              <a:t>to</a:t>
            </a:r>
            <a:r>
              <a:rPr lang="zh-CN" altLang="en-US" dirty="0"/>
              <a:t> </a:t>
            </a:r>
            <a:r>
              <a:rPr lang="en-US" altLang="zh-CN" dirty="0"/>
              <a:t>understand</a:t>
            </a:r>
            <a:r>
              <a:rPr lang="zh-CN" altLang="en-US" dirty="0"/>
              <a:t> </a:t>
            </a:r>
            <a:r>
              <a:rPr lang="en-US" altLang="zh-CN" dirty="0"/>
              <a:t>high-level</a:t>
            </a:r>
            <a:r>
              <a:rPr lang="zh-CN" altLang="en-US" dirty="0"/>
              <a:t> </a:t>
            </a:r>
            <a:r>
              <a:rPr lang="en-US" altLang="zh-CN" dirty="0"/>
              <a:t>visual</a:t>
            </a:r>
            <a:r>
              <a:rPr lang="zh-CN" altLang="en-US" dirty="0"/>
              <a:t> </a:t>
            </a:r>
            <a:r>
              <a:rPr lang="en-US" altLang="zh-CN" dirty="0" err="1"/>
              <a:t>inforation</a:t>
            </a:r>
            <a:r>
              <a:rPr lang="zh-CN" altLang="en-US" dirty="0"/>
              <a:t> </a:t>
            </a:r>
            <a:r>
              <a:rPr lang="en-US" altLang="zh-CN" dirty="0"/>
              <a:t>in</a:t>
            </a:r>
            <a:r>
              <a:rPr lang="zh-CN" altLang="en-US" dirty="0"/>
              <a:t> </a:t>
            </a:r>
            <a:r>
              <a:rPr lang="en-US" altLang="zh-CN" dirty="0"/>
              <a:t>visual</a:t>
            </a:r>
            <a:r>
              <a:rPr lang="zh-CN" altLang="en-US" dirty="0"/>
              <a:t> </a:t>
            </a:r>
            <a:r>
              <a:rPr lang="en-US" altLang="zh-CN" dirty="0"/>
              <a:t>images.</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21</a:t>
            </a:fld>
            <a:endParaRPr lang="en-US"/>
          </a:p>
        </p:txBody>
      </p:sp>
    </p:spTree>
    <p:extLst>
      <p:ext uri="{BB962C8B-B14F-4D97-AF65-F5344CB8AC3E}">
        <p14:creationId xmlns:p14="http://schemas.microsoft.com/office/powerpoint/2010/main" val="781550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More</a:t>
            </a:r>
            <a:r>
              <a:rPr lang="zh-CN" altLang="en-US" dirty="0"/>
              <a:t> </a:t>
            </a:r>
            <a:r>
              <a:rPr lang="en-US" altLang="zh-CN" dirty="0"/>
              <a:t>formally</a:t>
            </a:r>
            <a:r>
              <a:rPr lang="zh-CN" altLang="en-US" dirty="0"/>
              <a:t> </a:t>
            </a:r>
            <a:r>
              <a:rPr lang="en-US" altLang="zh-CN" dirty="0" err="1"/>
              <a:t>spearking</a:t>
            </a:r>
            <a:r>
              <a:rPr lang="en-US" altLang="zh-CN" dirty="0"/>
              <a:t>,</a:t>
            </a:r>
            <a:r>
              <a:rPr lang="zh-CN" altLang="en-US" dirty="0"/>
              <a:t> </a:t>
            </a:r>
            <a:r>
              <a:rPr lang="en-US" altLang="zh-CN" dirty="0"/>
              <a:t>we</a:t>
            </a:r>
            <a:r>
              <a:rPr lang="zh-CN" altLang="en-US" dirty="0"/>
              <a:t> </a:t>
            </a:r>
            <a:r>
              <a:rPr lang="en-US" altLang="zh-CN" dirty="0"/>
              <a:t>try</a:t>
            </a:r>
            <a:r>
              <a:rPr lang="zh-CN" altLang="en-US" dirty="0"/>
              <a:t> </a:t>
            </a:r>
            <a:r>
              <a:rPr lang="en-US" altLang="zh-CN" dirty="0"/>
              <a:t>to</a:t>
            </a:r>
            <a:r>
              <a:rPr lang="zh-CN" altLang="en-US" dirty="0"/>
              <a:t> </a:t>
            </a:r>
            <a:r>
              <a:rPr lang="en-US" altLang="zh-CN" dirty="0"/>
              <a:t>model</a:t>
            </a:r>
            <a:r>
              <a:rPr lang="zh-CN" altLang="en-US" dirty="0"/>
              <a:t> </a:t>
            </a:r>
            <a:r>
              <a:rPr lang="en-US" altLang="zh-CN" dirty="0"/>
              <a:t>the</a:t>
            </a:r>
            <a:r>
              <a:rPr lang="zh-CN" altLang="en-US" dirty="0"/>
              <a:t> </a:t>
            </a:r>
            <a:r>
              <a:rPr lang="en-US" altLang="zh-CN" dirty="0"/>
              <a:t>human</a:t>
            </a:r>
            <a:r>
              <a:rPr lang="zh-CN" altLang="en-US" dirty="0"/>
              <a:t> </a:t>
            </a:r>
            <a:r>
              <a:rPr lang="en-US" altLang="zh-CN" dirty="0"/>
              <a:t>brain</a:t>
            </a:r>
            <a:r>
              <a:rPr lang="zh-CN" altLang="en-US" dirty="0"/>
              <a:t> </a:t>
            </a:r>
            <a:r>
              <a:rPr lang="en-US" altLang="zh-CN" dirty="0"/>
              <a:t>with</a:t>
            </a:r>
            <a:r>
              <a:rPr lang="zh-CN" altLang="en-US" dirty="0"/>
              <a:t> </a:t>
            </a:r>
            <a:r>
              <a:rPr lang="en-US" altLang="zh-CN" dirty="0"/>
              <a:t>a</a:t>
            </a:r>
            <a:r>
              <a:rPr lang="zh-CN" altLang="en-US" dirty="0"/>
              <a:t> </a:t>
            </a:r>
            <a:r>
              <a:rPr lang="en-US" altLang="zh-CN" dirty="0"/>
              <a:t>nonlinear</a:t>
            </a:r>
            <a:r>
              <a:rPr lang="zh-CN" altLang="en-US" dirty="0"/>
              <a:t> </a:t>
            </a:r>
            <a:r>
              <a:rPr lang="en-US" altLang="zh-CN" dirty="0"/>
              <a:t>function</a:t>
            </a:r>
            <a:r>
              <a:rPr lang="zh-CN" altLang="en-US" dirty="0"/>
              <a:t> </a:t>
            </a:r>
            <a:r>
              <a:rPr lang="en-US" altLang="zh-CN" dirty="0"/>
              <a:t>f(x).</a:t>
            </a:r>
            <a:r>
              <a:rPr lang="zh-CN" altLang="en-US" dirty="0"/>
              <a:t> </a:t>
            </a:r>
            <a:r>
              <a:rPr lang="en-US" altLang="zh-CN" dirty="0"/>
              <a:t>Neural</a:t>
            </a:r>
            <a:r>
              <a:rPr lang="zh-CN" altLang="en-US" dirty="0"/>
              <a:t> </a:t>
            </a:r>
            <a:r>
              <a:rPr lang="en-US" altLang="zh-CN" dirty="0"/>
              <a:t>network</a:t>
            </a:r>
            <a:r>
              <a:rPr lang="zh-CN" altLang="en-US" dirty="0"/>
              <a:t> </a:t>
            </a:r>
            <a:r>
              <a:rPr lang="en-US" altLang="zh-CN" dirty="0"/>
              <a:t>can</a:t>
            </a:r>
            <a:r>
              <a:rPr lang="zh-CN" altLang="en-US" dirty="0"/>
              <a:t> </a:t>
            </a:r>
            <a:r>
              <a:rPr lang="en-US" altLang="zh-CN" dirty="0"/>
              <a:t>be</a:t>
            </a:r>
            <a:r>
              <a:rPr lang="zh-CN" altLang="en-US" dirty="0"/>
              <a:t> </a:t>
            </a:r>
            <a:r>
              <a:rPr lang="en-US" altLang="zh-CN" dirty="0"/>
              <a:t>used</a:t>
            </a:r>
            <a:r>
              <a:rPr lang="zh-CN" altLang="en-US" dirty="0"/>
              <a:t> </a:t>
            </a:r>
            <a:r>
              <a:rPr lang="en-US" altLang="zh-CN" dirty="0"/>
              <a:t>to</a:t>
            </a:r>
            <a:r>
              <a:rPr lang="zh-CN" altLang="en-US" dirty="0"/>
              <a:t> </a:t>
            </a:r>
            <a:r>
              <a:rPr lang="en-US" altLang="zh-CN" dirty="0"/>
              <a:t>learn</a:t>
            </a:r>
            <a:r>
              <a:rPr lang="zh-CN" altLang="en-US" dirty="0"/>
              <a:t> </a:t>
            </a:r>
            <a:r>
              <a:rPr lang="en-US" altLang="zh-CN" dirty="0"/>
              <a:t>the</a:t>
            </a:r>
            <a:r>
              <a:rPr lang="zh-CN" altLang="en-US" dirty="0"/>
              <a:t> </a:t>
            </a:r>
            <a:r>
              <a:rPr lang="en-US" altLang="zh-CN" dirty="0"/>
              <a:t>function</a:t>
            </a:r>
            <a:r>
              <a:rPr lang="zh-CN" altLang="en-US" dirty="0"/>
              <a:t> </a:t>
            </a:r>
            <a:r>
              <a:rPr lang="en-US" altLang="zh-CN" dirty="0"/>
              <a:t>using</a:t>
            </a:r>
            <a:r>
              <a:rPr lang="zh-CN" altLang="en-US" dirty="0"/>
              <a:t> </a:t>
            </a:r>
            <a:r>
              <a:rPr lang="en-US" altLang="zh-CN" dirty="0"/>
              <a:t>massive</a:t>
            </a:r>
            <a:r>
              <a:rPr lang="zh-CN" altLang="en-US" dirty="0"/>
              <a:t> </a:t>
            </a:r>
            <a:r>
              <a:rPr lang="en-US" altLang="zh-CN" dirty="0"/>
              <a:t>training</a:t>
            </a:r>
            <a:r>
              <a:rPr lang="zh-CN" altLang="en-US" dirty="0"/>
              <a:t> </a:t>
            </a:r>
            <a:r>
              <a:rPr lang="en-US" altLang="zh-CN" dirty="0"/>
              <a:t>images.</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22</a:t>
            </a:fld>
            <a:endParaRPr lang="en-US"/>
          </a:p>
        </p:txBody>
      </p:sp>
    </p:spTree>
    <p:extLst>
      <p:ext uri="{BB962C8B-B14F-4D97-AF65-F5344CB8AC3E}">
        <p14:creationId xmlns:p14="http://schemas.microsoft.com/office/powerpoint/2010/main" val="2447066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One</a:t>
            </a:r>
            <a:r>
              <a:rPr lang="zh-CN" altLang="en-US" dirty="0"/>
              <a:t> </a:t>
            </a:r>
            <a:r>
              <a:rPr lang="en-US" altLang="zh-CN" dirty="0"/>
              <a:t>question</a:t>
            </a:r>
            <a:r>
              <a:rPr lang="zh-CN" altLang="en-US" dirty="0"/>
              <a:t> </a:t>
            </a:r>
            <a:r>
              <a:rPr lang="en-US" altLang="zh-CN" dirty="0"/>
              <a:t>is</a:t>
            </a:r>
            <a:r>
              <a:rPr lang="zh-CN" altLang="en-US" dirty="0"/>
              <a:t> </a:t>
            </a:r>
            <a:r>
              <a:rPr lang="en-US" altLang="zh-CN" dirty="0"/>
              <a:t>what</a:t>
            </a:r>
            <a:r>
              <a:rPr lang="zh-CN" altLang="en-US" dirty="0"/>
              <a:t> </a:t>
            </a:r>
            <a:r>
              <a:rPr lang="en-US" altLang="zh-CN" dirty="0"/>
              <a:t>the</a:t>
            </a:r>
            <a:r>
              <a:rPr lang="zh-CN" altLang="en-US" dirty="0"/>
              <a:t> </a:t>
            </a:r>
            <a:r>
              <a:rPr lang="en-US" altLang="zh-CN" dirty="0"/>
              <a:t>form</a:t>
            </a:r>
            <a:r>
              <a:rPr lang="zh-CN" altLang="en-US" dirty="0"/>
              <a:t> </a:t>
            </a:r>
            <a:r>
              <a:rPr lang="en-US" altLang="zh-CN" dirty="0"/>
              <a:t>of</a:t>
            </a:r>
            <a:r>
              <a:rPr lang="zh-CN" altLang="en-US" dirty="0"/>
              <a:t> </a:t>
            </a:r>
            <a:r>
              <a:rPr lang="en-US" altLang="zh-CN" dirty="0"/>
              <a:t>the</a:t>
            </a:r>
            <a:r>
              <a:rPr lang="zh-CN" altLang="en-US" dirty="0"/>
              <a:t> </a:t>
            </a:r>
            <a:r>
              <a:rPr lang="en-US" altLang="zh-CN" dirty="0"/>
              <a:t>function</a:t>
            </a:r>
            <a:r>
              <a:rPr lang="zh-CN" altLang="en-US" dirty="0"/>
              <a:t> </a:t>
            </a:r>
            <a:r>
              <a:rPr lang="en-US" altLang="zh-CN" dirty="0"/>
              <a:t>is.</a:t>
            </a:r>
            <a:r>
              <a:rPr lang="zh-CN" altLang="en-US" dirty="0"/>
              <a:t> </a:t>
            </a:r>
            <a:r>
              <a:rPr lang="en-US" altLang="zh-CN" dirty="0"/>
              <a:t>The</a:t>
            </a:r>
            <a:r>
              <a:rPr lang="zh-CN" altLang="en-US" dirty="0"/>
              <a:t> </a:t>
            </a:r>
            <a:r>
              <a:rPr lang="en-US" altLang="zh-CN" dirty="0"/>
              <a:t>answer</a:t>
            </a:r>
            <a:r>
              <a:rPr lang="zh-CN" altLang="en-US" dirty="0"/>
              <a:t> </a:t>
            </a:r>
            <a:r>
              <a:rPr lang="en-US" altLang="zh-CN" dirty="0"/>
              <a:t>is</a:t>
            </a:r>
            <a:r>
              <a:rPr lang="zh-CN" altLang="en-US" dirty="0"/>
              <a:t> </a:t>
            </a:r>
            <a:r>
              <a:rPr lang="en-US" altLang="zh-CN" dirty="0"/>
              <a:t>we</a:t>
            </a:r>
            <a:r>
              <a:rPr lang="zh-CN" altLang="en-US" dirty="0"/>
              <a:t> </a:t>
            </a:r>
            <a:r>
              <a:rPr lang="en-US" altLang="zh-CN" dirty="0"/>
              <a:t>do</a:t>
            </a:r>
            <a:r>
              <a:rPr lang="zh-CN" altLang="en-US" dirty="0"/>
              <a:t> </a:t>
            </a:r>
            <a:r>
              <a:rPr lang="en-US" altLang="zh-CN" dirty="0"/>
              <a:t>not</a:t>
            </a:r>
            <a:r>
              <a:rPr lang="zh-CN" altLang="en-US" dirty="0"/>
              <a:t> </a:t>
            </a:r>
            <a:r>
              <a:rPr lang="en-US" altLang="zh-CN" dirty="0"/>
              <a:t>know.</a:t>
            </a:r>
            <a:r>
              <a:rPr lang="zh-CN" altLang="en-US" dirty="0"/>
              <a:t> </a:t>
            </a:r>
            <a:r>
              <a:rPr lang="en-US" altLang="zh-CN" dirty="0"/>
              <a:t>It</a:t>
            </a:r>
            <a:r>
              <a:rPr lang="zh-CN" altLang="en-US" dirty="0"/>
              <a:t> </a:t>
            </a:r>
            <a:r>
              <a:rPr lang="en-US" altLang="zh-CN" dirty="0"/>
              <a:t>is</a:t>
            </a:r>
            <a:r>
              <a:rPr lang="zh-CN" altLang="en-US" dirty="0"/>
              <a:t> </a:t>
            </a:r>
            <a:r>
              <a:rPr lang="en-US" altLang="zh-CN" dirty="0"/>
              <a:t>too</a:t>
            </a:r>
            <a:r>
              <a:rPr lang="zh-CN" altLang="en-US" dirty="0"/>
              <a:t> </a:t>
            </a:r>
            <a:r>
              <a:rPr lang="en-US" altLang="zh-CN" dirty="0"/>
              <a:t>complicated</a:t>
            </a:r>
            <a:r>
              <a:rPr lang="zh-CN" altLang="en-US" dirty="0"/>
              <a:t> </a:t>
            </a:r>
            <a:r>
              <a:rPr lang="en-US" altLang="zh-CN" dirty="0"/>
              <a:t>to</a:t>
            </a:r>
            <a:r>
              <a:rPr lang="zh-CN" altLang="en-US" dirty="0"/>
              <a:t> </a:t>
            </a:r>
            <a:r>
              <a:rPr lang="en-US" altLang="zh-CN" dirty="0"/>
              <a:t>write</a:t>
            </a:r>
            <a:r>
              <a:rPr lang="zh-CN" altLang="en-US" dirty="0"/>
              <a:t> </a:t>
            </a:r>
            <a:r>
              <a:rPr lang="en-US" altLang="zh-CN" dirty="0"/>
              <a:t>the</a:t>
            </a:r>
            <a:r>
              <a:rPr lang="zh-CN" altLang="en-US" dirty="0"/>
              <a:t> </a:t>
            </a:r>
            <a:r>
              <a:rPr lang="en-US" altLang="zh-CN" dirty="0"/>
              <a:t>function.</a:t>
            </a:r>
            <a:r>
              <a:rPr lang="zh-CN" altLang="en-US" dirty="0"/>
              <a:t> </a:t>
            </a:r>
            <a:endParaRPr lang="en-US" altLang="zh-CN" dirty="0"/>
          </a:p>
          <a:p>
            <a:endParaRPr lang="en-US" dirty="0"/>
          </a:p>
          <a:p>
            <a:r>
              <a:rPr lang="en-US" altLang="zh-CN" dirty="0"/>
              <a:t>Here,</a:t>
            </a:r>
            <a:r>
              <a:rPr lang="zh-CN" altLang="en-US" dirty="0"/>
              <a:t> </a:t>
            </a:r>
            <a:r>
              <a:rPr lang="en-US" altLang="zh-CN" dirty="0"/>
              <a:t>we</a:t>
            </a:r>
            <a:r>
              <a:rPr lang="zh-CN" altLang="en-US" dirty="0"/>
              <a:t> </a:t>
            </a:r>
            <a:r>
              <a:rPr lang="en-US" altLang="zh-CN" dirty="0"/>
              <a:t>use</a:t>
            </a:r>
            <a:r>
              <a:rPr lang="zh-CN" altLang="en-US" dirty="0"/>
              <a:t> </a:t>
            </a:r>
            <a:r>
              <a:rPr lang="en-US" altLang="zh-CN" dirty="0" err="1"/>
              <a:t>cancatenate</a:t>
            </a:r>
            <a:r>
              <a:rPr lang="zh-CN" altLang="en-US" dirty="0"/>
              <a:t> </a:t>
            </a:r>
            <a:r>
              <a:rPr lang="en-US" altLang="zh-CN" dirty="0"/>
              <a:t>simple</a:t>
            </a:r>
            <a:r>
              <a:rPr lang="zh-CN" altLang="en-US" dirty="0"/>
              <a:t> </a:t>
            </a:r>
            <a:r>
              <a:rPr lang="en-US" altLang="zh-CN" dirty="0"/>
              <a:t>functions</a:t>
            </a:r>
            <a:r>
              <a:rPr lang="zh-CN" altLang="en-US" dirty="0"/>
              <a:t> </a:t>
            </a:r>
            <a:r>
              <a:rPr lang="en-US" altLang="zh-CN" dirty="0"/>
              <a:t>to</a:t>
            </a:r>
            <a:r>
              <a:rPr lang="zh-CN" altLang="en-US" dirty="0"/>
              <a:t> </a:t>
            </a:r>
            <a:r>
              <a:rPr lang="en-US" altLang="zh-CN" dirty="0"/>
              <a:t>approximate</a:t>
            </a:r>
            <a:r>
              <a:rPr lang="zh-CN" altLang="en-US" dirty="0"/>
              <a:t> </a:t>
            </a:r>
            <a:r>
              <a:rPr lang="en-US" altLang="zh-CN" dirty="0"/>
              <a:t>the</a:t>
            </a:r>
            <a:r>
              <a:rPr lang="zh-CN" altLang="en-US" dirty="0"/>
              <a:t> </a:t>
            </a:r>
            <a:r>
              <a:rPr lang="en-US" altLang="zh-CN" dirty="0"/>
              <a:t>f.</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23</a:t>
            </a:fld>
            <a:endParaRPr lang="en-US"/>
          </a:p>
        </p:txBody>
      </p:sp>
    </p:spTree>
    <p:extLst>
      <p:ext uri="{BB962C8B-B14F-4D97-AF65-F5344CB8AC3E}">
        <p14:creationId xmlns:p14="http://schemas.microsoft.com/office/powerpoint/2010/main" val="816881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Here</a:t>
            </a:r>
            <a:r>
              <a:rPr lang="zh-CN" altLang="en-US" dirty="0"/>
              <a:t> </a:t>
            </a:r>
            <a:r>
              <a:rPr lang="en-US" altLang="zh-CN" dirty="0"/>
              <a:t>is</a:t>
            </a:r>
            <a:r>
              <a:rPr lang="zh-CN" altLang="en-US" dirty="0"/>
              <a:t> </a:t>
            </a:r>
            <a:r>
              <a:rPr lang="en-US" altLang="zh-CN" dirty="0"/>
              <a:t>a</a:t>
            </a:r>
            <a:r>
              <a:rPr lang="zh-CN" altLang="en-US" dirty="0"/>
              <a:t> </a:t>
            </a:r>
            <a:r>
              <a:rPr lang="en-US" altLang="zh-CN" dirty="0"/>
              <a:t>linear</a:t>
            </a:r>
            <a:r>
              <a:rPr lang="zh-CN" altLang="en-US" dirty="0"/>
              <a:t> </a:t>
            </a:r>
            <a:r>
              <a:rPr lang="en-US" altLang="zh-CN" dirty="0"/>
              <a:t>score</a:t>
            </a:r>
            <a:r>
              <a:rPr lang="zh-CN" altLang="en-US" dirty="0"/>
              <a:t> </a:t>
            </a:r>
            <a:r>
              <a:rPr lang="en-US" altLang="zh-CN" dirty="0"/>
              <a:t>function</a:t>
            </a:r>
            <a:r>
              <a:rPr lang="zh-CN" altLang="en-US" dirty="0"/>
              <a:t> </a:t>
            </a:r>
            <a:r>
              <a:rPr lang="en-US" altLang="zh-CN" dirty="0"/>
              <a:t>f</a:t>
            </a:r>
            <a:r>
              <a:rPr lang="zh-CN" altLang="en-US" dirty="0"/>
              <a:t> </a:t>
            </a:r>
            <a:r>
              <a:rPr lang="en-US" altLang="zh-CN" dirty="0"/>
              <a:t>=</a:t>
            </a:r>
            <a:r>
              <a:rPr lang="zh-CN" altLang="en-US" dirty="0"/>
              <a:t> </a:t>
            </a:r>
            <a:r>
              <a:rPr lang="en-US" altLang="zh-CN" dirty="0" err="1"/>
              <a:t>Wx</a:t>
            </a:r>
            <a:r>
              <a:rPr lang="en-US" altLang="zh-CN" dirty="0"/>
              <a:t>.</a:t>
            </a:r>
            <a:r>
              <a:rPr lang="zh-CN" altLang="en-US" dirty="0"/>
              <a:t> </a:t>
            </a:r>
            <a:endParaRPr lang="en-US" altLang="zh-CN" dirty="0"/>
          </a:p>
          <a:p>
            <a:r>
              <a:rPr lang="en-US" altLang="zh-CN" dirty="0"/>
              <a:t>We</a:t>
            </a:r>
            <a:r>
              <a:rPr lang="zh-CN" altLang="en-US" dirty="0"/>
              <a:t> </a:t>
            </a:r>
            <a:r>
              <a:rPr lang="en-US" altLang="zh-CN" dirty="0"/>
              <a:t>can</a:t>
            </a:r>
            <a:r>
              <a:rPr lang="zh-CN" altLang="en-US" dirty="0"/>
              <a:t> </a:t>
            </a:r>
            <a:r>
              <a:rPr lang="en-US" altLang="zh-CN" dirty="0"/>
              <a:t>concatenate</a:t>
            </a:r>
            <a:r>
              <a:rPr lang="zh-CN" altLang="en-US" dirty="0"/>
              <a:t> </a:t>
            </a:r>
            <a:r>
              <a:rPr lang="en-US" altLang="zh-CN" dirty="0"/>
              <a:t>it</a:t>
            </a:r>
            <a:r>
              <a:rPr lang="zh-CN" altLang="en-US" dirty="0"/>
              <a:t> </a:t>
            </a:r>
            <a:r>
              <a:rPr lang="en-US" altLang="zh-CN" dirty="0"/>
              <a:t>to</a:t>
            </a:r>
            <a:r>
              <a:rPr lang="zh-CN" altLang="en-US" dirty="0"/>
              <a:t> </a:t>
            </a:r>
            <a:r>
              <a:rPr lang="en-US" altLang="zh-CN" dirty="0"/>
              <a:t>learn</a:t>
            </a:r>
            <a:r>
              <a:rPr lang="zh-CN" altLang="en-US" dirty="0"/>
              <a:t> </a:t>
            </a:r>
            <a:r>
              <a:rPr lang="en-US" altLang="zh-CN" dirty="0"/>
              <a:t>a</a:t>
            </a:r>
            <a:r>
              <a:rPr lang="zh-CN" altLang="en-US" dirty="0"/>
              <a:t> </a:t>
            </a:r>
            <a:r>
              <a:rPr lang="en-US" altLang="zh-CN" dirty="0"/>
              <a:t>2-layer</a:t>
            </a:r>
            <a:r>
              <a:rPr lang="zh-CN" altLang="en-US" dirty="0"/>
              <a:t> </a:t>
            </a:r>
            <a:r>
              <a:rPr lang="en-US" altLang="zh-CN" dirty="0"/>
              <a:t>neural</a:t>
            </a:r>
            <a:r>
              <a:rPr lang="zh-CN" altLang="en-US" dirty="0"/>
              <a:t> </a:t>
            </a:r>
            <a:r>
              <a:rPr lang="en-US" altLang="zh-CN" dirty="0"/>
              <a:t>network.</a:t>
            </a:r>
            <a:r>
              <a:rPr lang="zh-CN" altLang="en-US" dirty="0"/>
              <a:t> </a:t>
            </a:r>
            <a:r>
              <a:rPr lang="en-US" altLang="zh-CN" dirty="0"/>
              <a:t>A</a:t>
            </a:r>
            <a:r>
              <a:rPr lang="zh-CN" altLang="en-US" dirty="0"/>
              <a:t> </a:t>
            </a:r>
            <a:r>
              <a:rPr lang="en-US" altLang="zh-CN" dirty="0"/>
              <a:t>nonlinear</a:t>
            </a:r>
            <a:r>
              <a:rPr lang="zh-CN" altLang="en-US" dirty="0"/>
              <a:t> </a:t>
            </a:r>
            <a:r>
              <a:rPr lang="en-US" altLang="zh-CN" dirty="0"/>
              <a:t>function</a:t>
            </a:r>
            <a:r>
              <a:rPr lang="zh-CN" altLang="en-US" dirty="0"/>
              <a:t> </a:t>
            </a:r>
            <a:r>
              <a:rPr lang="en-US" altLang="zh-CN" dirty="0"/>
              <a:t>is</a:t>
            </a:r>
            <a:r>
              <a:rPr lang="zh-CN" altLang="en-US" dirty="0"/>
              <a:t> </a:t>
            </a:r>
            <a:r>
              <a:rPr lang="en-US" altLang="zh-CN" dirty="0"/>
              <a:t>used</a:t>
            </a:r>
            <a:r>
              <a:rPr lang="zh-CN" altLang="en-US" dirty="0"/>
              <a:t> </a:t>
            </a:r>
            <a:r>
              <a:rPr lang="en-US" altLang="zh-CN" dirty="0"/>
              <a:t>at</a:t>
            </a:r>
            <a:r>
              <a:rPr lang="zh-CN" altLang="en-US" dirty="0"/>
              <a:t> </a:t>
            </a:r>
            <a:r>
              <a:rPr lang="en-US" altLang="zh-CN" dirty="0"/>
              <a:t>the</a:t>
            </a:r>
            <a:r>
              <a:rPr lang="zh-CN" altLang="en-US" dirty="0"/>
              <a:t> </a:t>
            </a:r>
            <a:r>
              <a:rPr lang="en-US" altLang="zh-CN" dirty="0"/>
              <a:t>end</a:t>
            </a:r>
            <a:r>
              <a:rPr lang="zh-CN" altLang="en-US" dirty="0"/>
              <a:t> </a:t>
            </a:r>
            <a:r>
              <a:rPr lang="en-US" altLang="zh-CN" dirty="0"/>
              <a:t>of</a:t>
            </a:r>
            <a:r>
              <a:rPr lang="zh-CN" altLang="en-US" dirty="0"/>
              <a:t> </a:t>
            </a:r>
            <a:r>
              <a:rPr lang="en-US" altLang="zh-CN" dirty="0"/>
              <a:t>the</a:t>
            </a:r>
            <a:r>
              <a:rPr lang="zh-CN" altLang="en-US" dirty="0"/>
              <a:t> </a:t>
            </a:r>
            <a:r>
              <a:rPr lang="en-US" altLang="zh-CN" dirty="0"/>
              <a:t>first</a:t>
            </a:r>
            <a:r>
              <a:rPr lang="zh-CN" altLang="en-US" dirty="0"/>
              <a:t> </a:t>
            </a:r>
            <a:r>
              <a:rPr lang="en-US" altLang="zh-CN" dirty="0"/>
              <a:t>layer.</a:t>
            </a:r>
            <a:r>
              <a:rPr lang="zh-CN" altLang="en-US" dirty="0"/>
              <a:t> </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24</a:t>
            </a:fld>
            <a:endParaRPr lang="en-US"/>
          </a:p>
        </p:txBody>
      </p:sp>
    </p:spTree>
    <p:extLst>
      <p:ext uri="{BB962C8B-B14F-4D97-AF65-F5344CB8AC3E}">
        <p14:creationId xmlns:p14="http://schemas.microsoft.com/office/powerpoint/2010/main" val="3194270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There</a:t>
            </a:r>
            <a:r>
              <a:rPr lang="zh-CN" altLang="en-US" dirty="0"/>
              <a:t> </a:t>
            </a:r>
            <a:r>
              <a:rPr lang="en-US" altLang="zh-CN" dirty="0"/>
              <a:t>is</a:t>
            </a:r>
            <a:r>
              <a:rPr lang="zh-CN" altLang="en-US" dirty="0"/>
              <a:t> </a:t>
            </a:r>
            <a:r>
              <a:rPr lang="en-US" altLang="zh-CN" dirty="0"/>
              <a:t>a</a:t>
            </a:r>
            <a:r>
              <a:rPr lang="zh-CN" altLang="en-US" dirty="0"/>
              <a:t> </a:t>
            </a:r>
            <a:r>
              <a:rPr lang="en-US" altLang="zh-CN" dirty="0"/>
              <a:t>nonlinear</a:t>
            </a:r>
            <a:r>
              <a:rPr lang="zh-CN" altLang="en-US" dirty="0"/>
              <a:t> </a:t>
            </a:r>
            <a:r>
              <a:rPr lang="en-US" altLang="zh-CN" dirty="0"/>
              <a:t>function</a:t>
            </a:r>
            <a:r>
              <a:rPr lang="zh-CN" altLang="en-US" dirty="0"/>
              <a:t> </a:t>
            </a:r>
            <a:r>
              <a:rPr lang="en-US" altLang="zh-CN" dirty="0"/>
              <a:t>inside</a:t>
            </a:r>
            <a:r>
              <a:rPr lang="zh-CN" altLang="en-US" dirty="0"/>
              <a:t> </a:t>
            </a:r>
            <a:r>
              <a:rPr lang="en-US" altLang="zh-CN" dirty="0"/>
              <a:t>the</a:t>
            </a:r>
            <a:r>
              <a:rPr lang="zh-CN" altLang="en-US" dirty="0"/>
              <a:t> </a:t>
            </a:r>
            <a:r>
              <a:rPr lang="en-US" altLang="zh-CN" dirty="0"/>
              <a:t>network.</a:t>
            </a:r>
            <a:r>
              <a:rPr lang="zh-CN" altLang="en-US" dirty="0"/>
              <a:t> </a:t>
            </a:r>
            <a:r>
              <a:rPr lang="en-US" altLang="zh-CN" dirty="0"/>
              <a:t>The</a:t>
            </a:r>
            <a:r>
              <a:rPr lang="zh-CN" altLang="en-US" dirty="0"/>
              <a:t> </a:t>
            </a:r>
            <a:r>
              <a:rPr lang="en-US" altLang="zh-CN" dirty="0"/>
              <a:t>nonlinear</a:t>
            </a:r>
            <a:r>
              <a:rPr lang="zh-CN" altLang="en-US" dirty="0"/>
              <a:t> </a:t>
            </a:r>
            <a:r>
              <a:rPr lang="en-US" altLang="zh-CN" dirty="0"/>
              <a:t>function</a:t>
            </a:r>
            <a:r>
              <a:rPr lang="zh-CN" altLang="en-US" dirty="0"/>
              <a:t> </a:t>
            </a:r>
            <a:r>
              <a:rPr lang="en-US" altLang="zh-CN" dirty="0"/>
              <a:t>is</a:t>
            </a:r>
            <a:r>
              <a:rPr lang="zh-CN" altLang="en-US" dirty="0"/>
              <a:t> </a:t>
            </a:r>
            <a:r>
              <a:rPr lang="en-US" altLang="zh-CN" dirty="0"/>
              <a:t>called</a:t>
            </a:r>
            <a:r>
              <a:rPr lang="zh-CN" altLang="en-US" dirty="0"/>
              <a:t> </a:t>
            </a:r>
            <a:r>
              <a:rPr lang="en-US" altLang="zh-CN" dirty="0"/>
              <a:t>as</a:t>
            </a:r>
            <a:r>
              <a:rPr lang="zh-CN" altLang="en-US" dirty="0"/>
              <a:t> </a:t>
            </a:r>
            <a:r>
              <a:rPr lang="en-US" altLang="zh-CN" dirty="0"/>
              <a:t>activation</a:t>
            </a:r>
            <a:r>
              <a:rPr lang="zh-CN" altLang="en-US" dirty="0"/>
              <a:t> </a:t>
            </a:r>
            <a:r>
              <a:rPr lang="en-US" altLang="zh-CN" dirty="0"/>
              <a:t>function.</a:t>
            </a:r>
            <a:r>
              <a:rPr lang="zh-CN" altLang="en-US" dirty="0"/>
              <a:t> </a:t>
            </a:r>
            <a:r>
              <a:rPr lang="en-US" altLang="zh-CN" dirty="0"/>
              <a:t>This</a:t>
            </a:r>
            <a:r>
              <a:rPr lang="zh-CN" altLang="en-US" dirty="0"/>
              <a:t> </a:t>
            </a:r>
            <a:r>
              <a:rPr lang="en-US" altLang="zh-CN" dirty="0"/>
              <a:t>max(0,</a:t>
            </a:r>
            <a:r>
              <a:rPr lang="zh-CN" altLang="en-US" dirty="0"/>
              <a:t> </a:t>
            </a:r>
            <a:r>
              <a:rPr lang="en-US" altLang="zh-CN" dirty="0"/>
              <a:t>x)</a:t>
            </a:r>
            <a:r>
              <a:rPr lang="zh-CN" altLang="en-US" dirty="0"/>
              <a:t>  </a:t>
            </a:r>
            <a:r>
              <a:rPr lang="en-US" altLang="zh-CN" dirty="0"/>
              <a:t>is</a:t>
            </a:r>
            <a:r>
              <a:rPr lang="zh-CN" altLang="en-US" dirty="0"/>
              <a:t> </a:t>
            </a:r>
            <a:r>
              <a:rPr lang="en-US" altLang="zh-CN" dirty="0"/>
              <a:t>usually</a:t>
            </a:r>
            <a:r>
              <a:rPr lang="zh-CN" altLang="en-US" dirty="0"/>
              <a:t> </a:t>
            </a:r>
            <a:r>
              <a:rPr lang="en-US" altLang="zh-CN" dirty="0"/>
              <a:t>named</a:t>
            </a:r>
            <a:r>
              <a:rPr lang="zh-CN" altLang="en-US" dirty="0"/>
              <a:t> </a:t>
            </a:r>
            <a:r>
              <a:rPr lang="en-US" altLang="zh-CN" dirty="0"/>
              <a:t>as</a:t>
            </a:r>
            <a:r>
              <a:rPr lang="zh-CN" altLang="en-US" dirty="0"/>
              <a:t> </a:t>
            </a:r>
            <a:r>
              <a:rPr lang="en-US" altLang="zh-CN" dirty="0" err="1"/>
              <a:t>ReLU</a:t>
            </a:r>
            <a:r>
              <a:rPr lang="zh-CN" altLang="en-US" dirty="0"/>
              <a:t> </a:t>
            </a:r>
            <a:r>
              <a:rPr lang="en-US" altLang="zh-CN" dirty="0"/>
              <a:t>function.</a:t>
            </a:r>
            <a:r>
              <a:rPr lang="zh-CN" altLang="en-US" dirty="0"/>
              <a:t> </a:t>
            </a:r>
            <a:endParaRPr lang="en-US" altLang="zh-CN" dirty="0"/>
          </a:p>
          <a:p>
            <a:endParaRPr lang="en-US" dirty="0"/>
          </a:p>
          <a:p>
            <a:r>
              <a:rPr lang="en-US" altLang="zh-CN" dirty="0"/>
              <a:t>When,</a:t>
            </a:r>
            <a:r>
              <a:rPr lang="zh-CN" altLang="en-US" dirty="0"/>
              <a:t> </a:t>
            </a:r>
            <a:r>
              <a:rPr lang="en-US" altLang="zh-CN" dirty="0"/>
              <a:t>x</a:t>
            </a:r>
            <a:r>
              <a:rPr lang="zh-CN" altLang="en-US" dirty="0"/>
              <a:t> </a:t>
            </a:r>
            <a:r>
              <a:rPr lang="en-US" altLang="zh-CN" dirty="0"/>
              <a:t>is</a:t>
            </a:r>
            <a:r>
              <a:rPr lang="zh-CN" altLang="en-US" dirty="0"/>
              <a:t> </a:t>
            </a:r>
            <a:r>
              <a:rPr lang="en-US" altLang="zh-CN" dirty="0"/>
              <a:t>smaller</a:t>
            </a:r>
            <a:r>
              <a:rPr lang="zh-CN" altLang="en-US" dirty="0"/>
              <a:t> </a:t>
            </a:r>
            <a:r>
              <a:rPr lang="en-US" altLang="zh-CN" dirty="0"/>
              <a:t>than</a:t>
            </a:r>
            <a:r>
              <a:rPr lang="zh-CN" altLang="en-US" dirty="0"/>
              <a:t> </a:t>
            </a:r>
            <a:r>
              <a:rPr lang="en-US" altLang="zh-CN" dirty="0"/>
              <a:t>0,</a:t>
            </a:r>
            <a:r>
              <a:rPr lang="zh-CN" altLang="en-US" dirty="0"/>
              <a:t> </a:t>
            </a:r>
            <a:r>
              <a:rPr lang="en-US" altLang="zh-CN" dirty="0"/>
              <a:t>the</a:t>
            </a:r>
            <a:r>
              <a:rPr lang="zh-CN" altLang="en-US" dirty="0"/>
              <a:t> </a:t>
            </a:r>
            <a:r>
              <a:rPr lang="en-US" altLang="zh-CN" dirty="0"/>
              <a:t>function</a:t>
            </a:r>
            <a:r>
              <a:rPr lang="zh-CN" altLang="en-US" dirty="0"/>
              <a:t> </a:t>
            </a:r>
            <a:r>
              <a:rPr lang="en-US" altLang="zh-CN" dirty="0"/>
              <a:t>output</a:t>
            </a:r>
            <a:r>
              <a:rPr lang="zh-CN" altLang="en-US" dirty="0"/>
              <a:t> </a:t>
            </a:r>
            <a:r>
              <a:rPr lang="en-US" altLang="zh-CN" dirty="0"/>
              <a:t>is</a:t>
            </a:r>
            <a:r>
              <a:rPr lang="zh-CN" altLang="en-US" dirty="0"/>
              <a:t> </a:t>
            </a:r>
            <a:r>
              <a:rPr lang="en-US" altLang="zh-CN" dirty="0"/>
              <a:t>0,</a:t>
            </a:r>
            <a:r>
              <a:rPr lang="zh-CN" altLang="en-US" dirty="0"/>
              <a:t> </a:t>
            </a:r>
            <a:r>
              <a:rPr lang="en-US" altLang="zh-CN" dirty="0"/>
              <a:t>when</a:t>
            </a:r>
            <a:r>
              <a:rPr lang="zh-CN" altLang="en-US" dirty="0"/>
              <a:t> </a:t>
            </a:r>
            <a:r>
              <a:rPr lang="en-US" altLang="zh-CN" dirty="0"/>
              <a:t>it</a:t>
            </a:r>
            <a:r>
              <a:rPr lang="zh-CN" altLang="en-US" dirty="0"/>
              <a:t> </a:t>
            </a:r>
            <a:r>
              <a:rPr lang="en-US" altLang="zh-CN" dirty="0"/>
              <a:t>is</a:t>
            </a:r>
            <a:r>
              <a:rPr lang="zh-CN" altLang="en-US" dirty="0"/>
              <a:t> </a:t>
            </a:r>
            <a:r>
              <a:rPr lang="en-US" altLang="zh-CN" dirty="0"/>
              <a:t>larger</a:t>
            </a:r>
            <a:r>
              <a:rPr lang="zh-CN" altLang="en-US" dirty="0"/>
              <a:t> </a:t>
            </a:r>
            <a:r>
              <a:rPr lang="en-US" altLang="zh-CN" dirty="0"/>
              <a:t>than</a:t>
            </a:r>
            <a:r>
              <a:rPr lang="zh-CN" altLang="en-US" dirty="0"/>
              <a:t> </a:t>
            </a:r>
            <a:r>
              <a:rPr lang="en-US" altLang="zh-CN" dirty="0"/>
              <a:t>0,</a:t>
            </a:r>
            <a:r>
              <a:rPr lang="zh-CN" altLang="en-US" dirty="0"/>
              <a:t> </a:t>
            </a:r>
            <a:r>
              <a:rPr lang="en-US" altLang="zh-CN" dirty="0"/>
              <a:t>it</a:t>
            </a:r>
            <a:r>
              <a:rPr lang="zh-CN" altLang="en-US" dirty="0"/>
              <a:t> </a:t>
            </a:r>
            <a:r>
              <a:rPr lang="en-US" altLang="zh-CN" dirty="0"/>
              <a:t>is</a:t>
            </a:r>
            <a:r>
              <a:rPr lang="zh-CN" altLang="en-US" dirty="0"/>
              <a:t> </a:t>
            </a:r>
            <a:r>
              <a:rPr lang="en-US" altLang="zh-CN" dirty="0"/>
              <a:t>equal</a:t>
            </a:r>
            <a:r>
              <a:rPr lang="zh-CN" altLang="en-US" dirty="0"/>
              <a:t> </a:t>
            </a:r>
            <a:r>
              <a:rPr lang="en-US" altLang="zh-CN" dirty="0"/>
              <a:t>to</a:t>
            </a:r>
            <a:r>
              <a:rPr lang="zh-CN" altLang="en-US" dirty="0"/>
              <a:t> </a:t>
            </a:r>
            <a:r>
              <a:rPr lang="en-US" altLang="zh-CN" dirty="0"/>
              <a:t>x.</a:t>
            </a:r>
            <a:r>
              <a:rPr lang="zh-CN" altLang="en-US" dirty="0"/>
              <a:t> </a:t>
            </a:r>
            <a:r>
              <a:rPr lang="en-US" altLang="zh-CN" dirty="0"/>
              <a:t>It</a:t>
            </a:r>
            <a:r>
              <a:rPr lang="zh-CN" altLang="en-US" dirty="0"/>
              <a:t> </a:t>
            </a:r>
            <a:r>
              <a:rPr lang="en-US" altLang="zh-CN" dirty="0"/>
              <a:t>introduces</a:t>
            </a:r>
            <a:r>
              <a:rPr lang="zh-CN" altLang="en-US" dirty="0"/>
              <a:t> </a:t>
            </a:r>
            <a:r>
              <a:rPr lang="en-US" altLang="zh-CN" dirty="0"/>
              <a:t>nonlinearity</a:t>
            </a:r>
            <a:r>
              <a:rPr lang="zh-CN" altLang="en-US" dirty="0"/>
              <a:t> </a:t>
            </a:r>
            <a:r>
              <a:rPr lang="en-US" altLang="zh-CN" dirty="0"/>
              <a:t>into</a:t>
            </a:r>
            <a:r>
              <a:rPr lang="zh-CN" altLang="en-US" dirty="0"/>
              <a:t> </a:t>
            </a:r>
            <a:r>
              <a:rPr lang="en-US" altLang="zh-CN" dirty="0"/>
              <a:t>to</a:t>
            </a:r>
            <a:r>
              <a:rPr lang="zh-CN" altLang="en-US" dirty="0"/>
              <a:t> </a:t>
            </a:r>
            <a:r>
              <a:rPr lang="en-US" altLang="zh-CN" dirty="0"/>
              <a:t>the</a:t>
            </a:r>
            <a:r>
              <a:rPr lang="zh-CN" altLang="en-US" dirty="0"/>
              <a:t> </a:t>
            </a:r>
            <a:r>
              <a:rPr lang="en-US" altLang="zh-CN" dirty="0"/>
              <a:t>network.</a:t>
            </a:r>
            <a:r>
              <a:rPr lang="zh-CN" altLang="en-US" dirty="0"/>
              <a:t> </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25</a:t>
            </a:fld>
            <a:endParaRPr lang="en-US"/>
          </a:p>
        </p:txBody>
      </p:sp>
    </p:spTree>
    <p:extLst>
      <p:ext uri="{BB962C8B-B14F-4D97-AF65-F5344CB8AC3E}">
        <p14:creationId xmlns:p14="http://schemas.microsoft.com/office/powerpoint/2010/main" val="388589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929"/>
                </a:solidFill>
                <a:effectLst/>
                <a:latin typeface="source-serif-pro"/>
              </a:rPr>
              <a:t>It suffers from saturation problem. A neuron is considered as saturated if it reaches its maximum or minimum value so that its derivative is equal to 0. In that case, there is no update in weights. </a:t>
            </a:r>
          </a:p>
          <a:p>
            <a:endParaRPr lang="en-US" b="0" i="0" dirty="0">
              <a:solidFill>
                <a:srgbClr val="292929"/>
              </a:solidFill>
              <a:effectLst/>
              <a:latin typeface="source-serif-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92929"/>
                </a:solidFill>
                <a:effectLst/>
                <a:latin typeface="source-serif-pro"/>
              </a:rPr>
              <a:t>As its derivative is not 0 for the positive values of the neuron (</a:t>
            </a:r>
            <a:r>
              <a:rPr lang="en-US" b="0" i="1" dirty="0">
                <a:solidFill>
                  <a:srgbClr val="292929"/>
                </a:solidFill>
                <a:effectLst/>
                <a:latin typeface="source-serif-pro"/>
              </a:rPr>
              <a:t>f’(x)=1 for x ≥ 0</a:t>
            </a:r>
            <a:r>
              <a:rPr lang="en-US" b="0" i="0" dirty="0">
                <a:solidFill>
                  <a:srgbClr val="292929"/>
                </a:solidFill>
                <a:effectLst/>
                <a:latin typeface="source-serif-pro"/>
              </a:rPr>
              <a:t>), </a:t>
            </a:r>
            <a:r>
              <a:rPr lang="en-US" b="0" i="0" dirty="0" err="1">
                <a:solidFill>
                  <a:srgbClr val="292929"/>
                </a:solidFill>
                <a:effectLst/>
                <a:latin typeface="source-serif-pro"/>
              </a:rPr>
              <a:t>ReLu</a:t>
            </a:r>
            <a:r>
              <a:rPr lang="en-US" b="0" i="0" dirty="0">
                <a:solidFill>
                  <a:srgbClr val="292929"/>
                </a:solidFill>
                <a:effectLst/>
                <a:latin typeface="source-serif-pro"/>
              </a:rPr>
              <a:t> does not saturate and no dead neurons are reported. Saturation and vanishing gradient only occur for negative values that, given to </a:t>
            </a:r>
            <a:r>
              <a:rPr lang="en-US" b="0" i="0" dirty="0" err="1">
                <a:solidFill>
                  <a:srgbClr val="292929"/>
                </a:solidFill>
                <a:effectLst/>
                <a:latin typeface="source-serif-pro"/>
              </a:rPr>
              <a:t>ReLu</a:t>
            </a:r>
            <a:r>
              <a:rPr lang="en-US" b="0" i="0" dirty="0">
                <a:solidFill>
                  <a:srgbClr val="292929"/>
                </a:solidFill>
                <a:effectLst/>
                <a:latin typeface="source-serif-pro"/>
              </a:rPr>
              <a:t>, are turned into 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92929"/>
              </a:solidFill>
              <a:effectLst/>
              <a:latin typeface="source-serif-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92929"/>
                </a:solidFill>
                <a:effectLst/>
                <a:latin typeface="source-serif-pro"/>
              </a:rPr>
              <a:t>In an attempt to solve the dying </a:t>
            </a:r>
            <a:r>
              <a:rPr lang="en-US" b="0" i="0" dirty="0" err="1">
                <a:solidFill>
                  <a:srgbClr val="292929"/>
                </a:solidFill>
                <a:effectLst/>
                <a:latin typeface="source-serif-pro"/>
              </a:rPr>
              <a:t>ReLu</a:t>
            </a:r>
            <a:r>
              <a:rPr lang="en-US" b="0" i="0" dirty="0">
                <a:solidFill>
                  <a:srgbClr val="292929"/>
                </a:solidFill>
                <a:effectLst/>
                <a:latin typeface="source-serif-pro"/>
              </a:rPr>
              <a:t> at negative values, Leaky </a:t>
            </a:r>
            <a:r>
              <a:rPr lang="en-US" b="0" i="0" dirty="0" err="1">
                <a:solidFill>
                  <a:srgbClr val="292929"/>
                </a:solidFill>
                <a:effectLst/>
                <a:latin typeface="source-serif-pro"/>
              </a:rPr>
              <a:t>ReLu</a:t>
            </a:r>
            <a:r>
              <a:rPr lang="en-US" b="0" i="0" dirty="0">
                <a:solidFill>
                  <a:srgbClr val="292929"/>
                </a:solidFill>
                <a:effectLst/>
                <a:latin typeface="source-serif-pro"/>
              </a:rPr>
              <a:t> introduces a small slope. Having the negative values scaled by </a:t>
            </a:r>
            <a:r>
              <a:rPr lang="el-GR" b="0" i="0" dirty="0">
                <a:solidFill>
                  <a:srgbClr val="292929"/>
                </a:solidFill>
                <a:effectLst/>
                <a:latin typeface="source-serif-pro"/>
              </a:rPr>
              <a:t>α </a:t>
            </a:r>
            <a:r>
              <a:rPr lang="en-US" b="0" i="0" dirty="0">
                <a:solidFill>
                  <a:srgbClr val="292929"/>
                </a:solidFill>
                <a:effectLst/>
                <a:latin typeface="source-serif-pro"/>
              </a:rPr>
              <a:t>enables their corresponding neurons to “stay alive”.</a:t>
            </a:r>
          </a:p>
          <a:p>
            <a:endParaRPr lang="en-US" b="0" i="0" dirty="0">
              <a:solidFill>
                <a:srgbClr val="292929"/>
              </a:solidFill>
              <a:effectLst/>
              <a:latin typeface="source-serif-pro"/>
            </a:endParaRPr>
          </a:p>
          <a:p>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26</a:t>
            </a:fld>
            <a:endParaRPr lang="en-US"/>
          </a:p>
        </p:txBody>
      </p:sp>
    </p:spTree>
    <p:extLst>
      <p:ext uri="{BB962C8B-B14F-4D97-AF65-F5344CB8AC3E}">
        <p14:creationId xmlns:p14="http://schemas.microsoft.com/office/powerpoint/2010/main" val="1798500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For</a:t>
            </a:r>
            <a:r>
              <a:rPr lang="zh-CN" altLang="en-US" dirty="0"/>
              <a:t> </a:t>
            </a:r>
            <a:r>
              <a:rPr lang="en-US" altLang="zh-CN" dirty="0"/>
              <a:t>the</a:t>
            </a:r>
            <a:r>
              <a:rPr lang="zh-CN" altLang="en-US" dirty="0"/>
              <a:t> </a:t>
            </a:r>
            <a:r>
              <a:rPr lang="en-US" altLang="zh-CN" dirty="0"/>
              <a:t>linear</a:t>
            </a:r>
            <a:r>
              <a:rPr lang="zh-CN" altLang="en-US" dirty="0"/>
              <a:t> </a:t>
            </a:r>
            <a:r>
              <a:rPr lang="en-US" altLang="zh-CN" dirty="0"/>
              <a:t>layer,</a:t>
            </a:r>
            <a:r>
              <a:rPr lang="zh-CN" altLang="en-US" dirty="0"/>
              <a:t> </a:t>
            </a:r>
            <a:r>
              <a:rPr lang="en-US" altLang="zh-CN" dirty="0"/>
              <a:t>given</a:t>
            </a:r>
            <a:r>
              <a:rPr lang="zh-CN" altLang="en-US" dirty="0"/>
              <a:t> </a:t>
            </a:r>
            <a:r>
              <a:rPr lang="en-US" altLang="zh-CN" dirty="0"/>
              <a:t>input</a:t>
            </a:r>
            <a:r>
              <a:rPr lang="zh-CN" altLang="en-US" dirty="0"/>
              <a:t> </a:t>
            </a:r>
            <a:r>
              <a:rPr lang="en-US" altLang="zh-CN" dirty="0"/>
              <a:t>x,</a:t>
            </a:r>
            <a:r>
              <a:rPr lang="zh-CN" altLang="en-US" dirty="0"/>
              <a:t> </a:t>
            </a:r>
            <a:r>
              <a:rPr lang="en-US" altLang="zh-CN" dirty="0"/>
              <a:t>the</a:t>
            </a:r>
            <a:r>
              <a:rPr lang="zh-CN" altLang="en-US" dirty="0"/>
              <a:t> </a:t>
            </a:r>
            <a:r>
              <a:rPr lang="en-US" altLang="zh-CN" dirty="0"/>
              <a:t>layer</a:t>
            </a:r>
            <a:r>
              <a:rPr lang="zh-CN" altLang="en-US" dirty="0"/>
              <a:t> </a:t>
            </a:r>
            <a:r>
              <a:rPr lang="en-US" altLang="zh-CN" dirty="0"/>
              <a:t>outputs</a:t>
            </a:r>
            <a:r>
              <a:rPr lang="zh-CN" altLang="en-US" dirty="0"/>
              <a:t> </a:t>
            </a:r>
            <a:r>
              <a:rPr lang="en-US" altLang="zh-CN" dirty="0"/>
              <a:t>y</a:t>
            </a:r>
            <a:r>
              <a:rPr lang="zh-CN" altLang="en-US" dirty="0"/>
              <a:t> </a:t>
            </a:r>
            <a:r>
              <a:rPr lang="en-US" altLang="zh-CN" dirty="0"/>
              <a:t>in</a:t>
            </a:r>
            <a:r>
              <a:rPr lang="zh-CN" altLang="en-US" dirty="0"/>
              <a:t> </a:t>
            </a:r>
            <a:r>
              <a:rPr lang="en-US" altLang="zh-CN" dirty="0"/>
              <a:t>terms</a:t>
            </a:r>
            <a:r>
              <a:rPr lang="zh-CN" altLang="en-US" dirty="0"/>
              <a:t> </a:t>
            </a:r>
            <a:r>
              <a:rPr lang="en-US" altLang="zh-CN" dirty="0"/>
              <a:t>of</a:t>
            </a:r>
            <a:r>
              <a:rPr lang="zh-CN" altLang="en-US" dirty="0"/>
              <a:t> </a:t>
            </a:r>
            <a:r>
              <a:rPr lang="en-US" altLang="zh-CN" dirty="0"/>
              <a:t>the</a:t>
            </a:r>
            <a:r>
              <a:rPr lang="zh-CN" altLang="en-US" dirty="0"/>
              <a:t> </a:t>
            </a:r>
            <a:r>
              <a:rPr lang="en-US" altLang="zh-CN" dirty="0"/>
              <a:t>learnt</a:t>
            </a:r>
            <a:r>
              <a:rPr lang="zh-CN" altLang="en-US" dirty="0"/>
              <a:t> </a:t>
            </a:r>
            <a:r>
              <a:rPr lang="en-US" altLang="zh-CN" dirty="0"/>
              <a:t>weights</a:t>
            </a:r>
            <a:r>
              <a:rPr lang="zh-CN" altLang="en-US" dirty="0"/>
              <a:t> </a:t>
            </a:r>
            <a:r>
              <a:rPr lang="en-US" altLang="zh-CN" dirty="0"/>
              <a:t>W.</a:t>
            </a:r>
            <a:r>
              <a:rPr lang="zh-CN" altLang="en-US" dirty="0"/>
              <a:t> </a:t>
            </a:r>
            <a:r>
              <a:rPr lang="en-US" altLang="zh-CN" dirty="0"/>
              <a:t>The</a:t>
            </a:r>
            <a:r>
              <a:rPr lang="zh-CN" altLang="en-US" dirty="0"/>
              <a:t> </a:t>
            </a:r>
            <a:r>
              <a:rPr lang="en-US" altLang="zh-CN" dirty="0"/>
              <a:t>fully</a:t>
            </a:r>
            <a:r>
              <a:rPr lang="zh-CN" altLang="en-US" dirty="0"/>
              <a:t> </a:t>
            </a:r>
            <a:r>
              <a:rPr lang="en-US" altLang="zh-CN" dirty="0"/>
              <a:t>connected</a:t>
            </a:r>
            <a:r>
              <a:rPr lang="zh-CN" altLang="en-US" dirty="0"/>
              <a:t> </a:t>
            </a:r>
            <a:r>
              <a:rPr lang="en-US" altLang="zh-CN" dirty="0"/>
              <a:t>layer</a:t>
            </a:r>
            <a:r>
              <a:rPr lang="zh-CN" altLang="en-US" dirty="0"/>
              <a:t> </a:t>
            </a:r>
            <a:r>
              <a:rPr lang="en-US" altLang="zh-CN" dirty="0"/>
              <a:t>defines</a:t>
            </a:r>
            <a:r>
              <a:rPr lang="zh-CN" altLang="en-US" dirty="0"/>
              <a:t> </a:t>
            </a:r>
            <a:r>
              <a:rPr lang="en-US" altLang="zh-CN" dirty="0"/>
              <a:t>a</a:t>
            </a:r>
            <a:r>
              <a:rPr lang="zh-CN" altLang="en-US" dirty="0"/>
              <a:t> </a:t>
            </a:r>
            <a:r>
              <a:rPr lang="en-US" altLang="zh-CN" dirty="0"/>
              <a:t>linear</a:t>
            </a:r>
            <a:r>
              <a:rPr lang="zh-CN" altLang="en-US" dirty="0"/>
              <a:t> </a:t>
            </a:r>
            <a:r>
              <a:rPr lang="en-US" altLang="zh-CN" dirty="0"/>
              <a:t>mapping</a:t>
            </a:r>
            <a:r>
              <a:rPr lang="zh-CN" altLang="en-US" dirty="0"/>
              <a:t> </a:t>
            </a:r>
            <a:r>
              <a:rPr lang="en-US" altLang="zh-CN" dirty="0"/>
              <a:t>between</a:t>
            </a:r>
            <a:r>
              <a:rPr lang="zh-CN" altLang="en-US" dirty="0"/>
              <a:t> </a:t>
            </a:r>
            <a:r>
              <a:rPr lang="en-US" altLang="zh-CN" dirty="0"/>
              <a:t>x</a:t>
            </a:r>
            <a:r>
              <a:rPr lang="zh-CN" altLang="en-US" dirty="0"/>
              <a:t> </a:t>
            </a:r>
            <a:r>
              <a:rPr lang="en-US" altLang="zh-CN" dirty="0"/>
              <a:t>and</a:t>
            </a:r>
            <a:r>
              <a:rPr lang="zh-CN" altLang="en-US" dirty="0"/>
              <a:t> </a:t>
            </a:r>
            <a:r>
              <a:rPr lang="en-US" altLang="zh-CN" dirty="0"/>
              <a:t>y.</a:t>
            </a:r>
          </a:p>
          <a:p>
            <a:endParaRPr lang="en-US" dirty="0"/>
          </a:p>
          <a:p>
            <a:r>
              <a:rPr lang="en-US" altLang="zh-CN" dirty="0"/>
              <a:t>Here</a:t>
            </a:r>
            <a:r>
              <a:rPr lang="zh-CN" altLang="en-US" dirty="0"/>
              <a:t> </a:t>
            </a:r>
            <a:r>
              <a:rPr lang="en-US" altLang="zh-CN" dirty="0"/>
              <a:t>we</a:t>
            </a:r>
            <a:r>
              <a:rPr lang="zh-CN" altLang="en-US" dirty="0"/>
              <a:t> </a:t>
            </a:r>
            <a:r>
              <a:rPr lang="en-US" altLang="zh-CN" dirty="0"/>
              <a:t>have</a:t>
            </a:r>
            <a:r>
              <a:rPr lang="zh-CN" altLang="en-US" dirty="0"/>
              <a:t> </a:t>
            </a:r>
            <a:r>
              <a:rPr lang="en-US" altLang="zh-CN" dirty="0"/>
              <a:t>n</a:t>
            </a:r>
            <a:r>
              <a:rPr lang="zh-CN" altLang="en-US" dirty="0"/>
              <a:t> </a:t>
            </a:r>
            <a:r>
              <a:rPr lang="en-US" altLang="zh-CN" dirty="0"/>
              <a:t>neurons</a:t>
            </a:r>
            <a:r>
              <a:rPr lang="zh-CN" altLang="en-US" dirty="0"/>
              <a:t> </a:t>
            </a:r>
            <a:r>
              <a:rPr lang="en-US" altLang="zh-CN" dirty="0"/>
              <a:t>in</a:t>
            </a:r>
            <a:r>
              <a:rPr lang="zh-CN" altLang="en-US" dirty="0"/>
              <a:t> </a:t>
            </a:r>
            <a:r>
              <a:rPr lang="en-US" altLang="zh-CN" dirty="0"/>
              <a:t>the</a:t>
            </a:r>
            <a:r>
              <a:rPr lang="zh-CN" altLang="en-US" dirty="0"/>
              <a:t> </a:t>
            </a:r>
            <a:r>
              <a:rPr lang="en-US" altLang="zh-CN" dirty="0"/>
              <a:t>input</a:t>
            </a:r>
            <a:r>
              <a:rPr lang="zh-CN" altLang="en-US" dirty="0"/>
              <a:t> </a:t>
            </a:r>
            <a:r>
              <a:rPr lang="en-US" altLang="zh-CN" dirty="0"/>
              <a:t>layer</a:t>
            </a:r>
            <a:r>
              <a:rPr lang="zh-CN" altLang="en-US" dirty="0"/>
              <a:t> </a:t>
            </a:r>
            <a:r>
              <a:rPr lang="en-US" altLang="zh-CN" dirty="0"/>
              <a:t>and</a:t>
            </a:r>
            <a:r>
              <a:rPr lang="zh-CN" altLang="en-US" dirty="0"/>
              <a:t> </a:t>
            </a:r>
            <a:r>
              <a:rPr lang="en-US" altLang="zh-CN" dirty="0"/>
              <a:t>m</a:t>
            </a:r>
            <a:r>
              <a:rPr lang="zh-CN" altLang="en-US" dirty="0"/>
              <a:t> </a:t>
            </a:r>
            <a:r>
              <a:rPr lang="en-US" altLang="zh-CN" dirty="0"/>
              <a:t>neurons</a:t>
            </a:r>
            <a:r>
              <a:rPr lang="zh-CN" altLang="en-US" dirty="0"/>
              <a:t> </a:t>
            </a:r>
            <a:r>
              <a:rPr lang="en-US" altLang="zh-CN" dirty="0"/>
              <a:t>in</a:t>
            </a:r>
            <a:r>
              <a:rPr lang="zh-CN" altLang="en-US" dirty="0"/>
              <a:t> </a:t>
            </a:r>
            <a:r>
              <a:rPr lang="en-US" altLang="zh-CN" dirty="0"/>
              <a:t>output</a:t>
            </a:r>
            <a:r>
              <a:rPr lang="zh-CN" altLang="en-US" dirty="0"/>
              <a:t> </a:t>
            </a:r>
            <a:r>
              <a:rPr lang="en-US" altLang="zh-CN" dirty="0"/>
              <a:t>and</a:t>
            </a:r>
            <a:r>
              <a:rPr lang="zh-CN" altLang="en-US" dirty="0"/>
              <a:t> </a:t>
            </a:r>
            <a:r>
              <a:rPr lang="en-US" altLang="zh-CN" dirty="0"/>
              <a:t>there</a:t>
            </a:r>
            <a:r>
              <a:rPr lang="zh-CN" altLang="en-US" dirty="0"/>
              <a:t> </a:t>
            </a:r>
            <a:r>
              <a:rPr lang="en-US" altLang="zh-CN" dirty="0" err="1"/>
              <a:t>mxn</a:t>
            </a:r>
            <a:r>
              <a:rPr lang="zh-CN" altLang="en-US" dirty="0"/>
              <a:t> </a:t>
            </a:r>
            <a:r>
              <a:rPr lang="en-US" altLang="zh-CN" dirty="0"/>
              <a:t>parameters</a:t>
            </a:r>
            <a:r>
              <a:rPr lang="zh-CN" altLang="en-US" dirty="0"/>
              <a:t> </a:t>
            </a:r>
            <a:r>
              <a:rPr lang="en-US" altLang="zh-CN" dirty="0"/>
              <a:t>in</a:t>
            </a:r>
            <a:r>
              <a:rPr lang="zh-CN" altLang="en-US" dirty="0"/>
              <a:t> </a:t>
            </a:r>
            <a:r>
              <a:rPr lang="en-US" altLang="zh-CN" dirty="0"/>
              <a:t>the</a:t>
            </a:r>
            <a:r>
              <a:rPr lang="zh-CN" altLang="en-US" dirty="0"/>
              <a:t> </a:t>
            </a:r>
            <a:r>
              <a:rPr lang="en-US" altLang="zh-CN" dirty="0"/>
              <a:t>FC</a:t>
            </a:r>
            <a:r>
              <a:rPr lang="zh-CN" altLang="en-US" dirty="0"/>
              <a:t> </a:t>
            </a:r>
            <a:r>
              <a:rPr lang="en-US" altLang="zh-CN" dirty="0"/>
              <a:t>layer.</a:t>
            </a:r>
            <a:r>
              <a:rPr lang="zh-CN" altLang="en-US" dirty="0"/>
              <a:t> </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27</a:t>
            </a:fld>
            <a:endParaRPr lang="en-US"/>
          </a:p>
        </p:txBody>
      </p:sp>
    </p:spTree>
    <p:extLst>
      <p:ext uri="{BB962C8B-B14F-4D97-AF65-F5344CB8AC3E}">
        <p14:creationId xmlns:p14="http://schemas.microsoft.com/office/powerpoint/2010/main" val="2680823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a:t>
            </a:r>
            <a:r>
              <a:rPr lang="zh-CN" altLang="en-US" dirty="0"/>
              <a:t> </a:t>
            </a:r>
            <a:r>
              <a:rPr lang="en-US" altLang="zh-CN" dirty="0"/>
              <a:t>FC</a:t>
            </a:r>
            <a:r>
              <a:rPr lang="zh-CN" altLang="en-US" dirty="0"/>
              <a:t> </a:t>
            </a:r>
            <a:r>
              <a:rPr lang="en-US" altLang="zh-CN" dirty="0"/>
              <a:t>layer</a:t>
            </a:r>
            <a:r>
              <a:rPr lang="zh-CN" altLang="en-US" dirty="0"/>
              <a:t> </a:t>
            </a:r>
            <a:r>
              <a:rPr lang="en-US" altLang="zh-CN" dirty="0"/>
              <a:t>is</a:t>
            </a:r>
            <a:r>
              <a:rPr lang="zh-CN" altLang="en-US" dirty="0"/>
              <a:t> </a:t>
            </a:r>
            <a:r>
              <a:rPr lang="en-US" altLang="zh-CN" dirty="0"/>
              <a:t>very</a:t>
            </a:r>
            <a:r>
              <a:rPr lang="zh-CN" altLang="en-US" dirty="0"/>
              <a:t> </a:t>
            </a:r>
            <a:r>
              <a:rPr lang="en-US" altLang="zh-CN" dirty="0"/>
              <a:t>simple.</a:t>
            </a:r>
            <a:r>
              <a:rPr lang="zh-CN" altLang="en-US" dirty="0"/>
              <a:t> </a:t>
            </a:r>
            <a:r>
              <a:rPr lang="en-US" altLang="zh-CN" dirty="0"/>
              <a:t>Whether</a:t>
            </a:r>
            <a:r>
              <a:rPr lang="zh-CN" altLang="en-US" dirty="0"/>
              <a:t> </a:t>
            </a:r>
            <a:r>
              <a:rPr lang="en-US" altLang="zh-CN" dirty="0"/>
              <a:t>there</a:t>
            </a:r>
            <a:r>
              <a:rPr lang="zh-CN" altLang="en-US" dirty="0"/>
              <a:t> </a:t>
            </a:r>
            <a:r>
              <a:rPr lang="en-US" altLang="zh-CN" dirty="0"/>
              <a:t>are</a:t>
            </a:r>
            <a:r>
              <a:rPr lang="zh-CN" altLang="en-US" dirty="0"/>
              <a:t> </a:t>
            </a:r>
            <a:r>
              <a:rPr lang="en-US" altLang="zh-CN" dirty="0"/>
              <a:t>any</a:t>
            </a:r>
            <a:r>
              <a:rPr lang="zh-CN" altLang="en-US" dirty="0"/>
              <a:t> </a:t>
            </a:r>
            <a:r>
              <a:rPr lang="en-US" altLang="zh-CN" dirty="0"/>
              <a:t>drawbacks</a:t>
            </a:r>
            <a:r>
              <a:rPr lang="zh-CN" altLang="en-US" dirty="0"/>
              <a:t> </a:t>
            </a:r>
            <a:r>
              <a:rPr lang="en-US" altLang="zh-CN" dirty="0"/>
              <a:t>for</a:t>
            </a:r>
            <a:r>
              <a:rPr lang="zh-CN" altLang="en-US" dirty="0"/>
              <a:t> </a:t>
            </a:r>
            <a:r>
              <a:rPr lang="en-US" altLang="zh-CN" dirty="0"/>
              <a:t>the</a:t>
            </a:r>
            <a:r>
              <a:rPr lang="zh-CN" altLang="en-US" dirty="0"/>
              <a:t> </a:t>
            </a:r>
            <a:r>
              <a:rPr lang="en-US" altLang="zh-CN" dirty="0"/>
              <a:t>FC</a:t>
            </a:r>
            <a:r>
              <a:rPr lang="zh-CN" altLang="en-US" dirty="0"/>
              <a:t> </a:t>
            </a:r>
            <a:r>
              <a:rPr lang="en-US" altLang="zh-CN" dirty="0"/>
              <a:t>layers?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Consider</a:t>
            </a:r>
            <a:r>
              <a:rPr lang="zh-CN" altLang="en-US" dirty="0"/>
              <a:t> </a:t>
            </a:r>
            <a:r>
              <a:rPr lang="en-US" altLang="zh-CN" dirty="0"/>
              <a:t>an</a:t>
            </a:r>
            <a:r>
              <a:rPr lang="zh-CN" altLang="en-US" dirty="0"/>
              <a:t> </a:t>
            </a:r>
            <a:r>
              <a:rPr lang="en-US" altLang="zh-CN" dirty="0"/>
              <a:t>image</a:t>
            </a:r>
            <a:r>
              <a:rPr lang="zh-CN" altLang="en-US" dirty="0"/>
              <a:t> </a:t>
            </a:r>
            <a:r>
              <a:rPr lang="en-US" altLang="zh-CN" dirty="0"/>
              <a:t>with</a:t>
            </a:r>
            <a:r>
              <a:rPr lang="zh-CN" altLang="en-US" dirty="0"/>
              <a:t> </a:t>
            </a:r>
            <a:r>
              <a:rPr lang="en-US" dirty="0"/>
              <a:t>640 x 480</a:t>
            </a:r>
            <a:r>
              <a:rPr lang="zh-CN" altLang="en-US" dirty="0"/>
              <a:t> </a:t>
            </a:r>
            <a:r>
              <a:rPr lang="en-US" altLang="zh-CN" dirty="0"/>
              <a:t>as</a:t>
            </a:r>
            <a:r>
              <a:rPr lang="zh-CN" altLang="en-US" dirty="0"/>
              <a:t> </a:t>
            </a:r>
            <a:r>
              <a:rPr lang="en-US" altLang="zh-CN" dirty="0"/>
              <a:t>the</a:t>
            </a:r>
            <a:r>
              <a:rPr lang="zh-CN" altLang="en-US" dirty="0"/>
              <a:t> </a:t>
            </a:r>
            <a:r>
              <a:rPr lang="en-US" altLang="zh-CN" dirty="0"/>
              <a:t>input,</a:t>
            </a:r>
            <a:r>
              <a:rPr lang="zh-CN" altLang="en-US" dirty="0"/>
              <a:t> </a:t>
            </a:r>
            <a:r>
              <a:rPr lang="en-US" altLang="zh-CN" dirty="0"/>
              <a:t>what</a:t>
            </a:r>
            <a:r>
              <a:rPr lang="zh-CN" altLang="en-US" dirty="0"/>
              <a:t> </a:t>
            </a:r>
            <a:r>
              <a:rPr lang="en-US" altLang="zh-CN" dirty="0"/>
              <a:t>is</a:t>
            </a:r>
            <a:r>
              <a:rPr lang="zh-CN" altLang="en-US" dirty="0"/>
              <a:t> </a:t>
            </a:r>
            <a:r>
              <a:rPr lang="en-US" altLang="zh-CN" dirty="0"/>
              <a:t>the</a:t>
            </a:r>
            <a:r>
              <a:rPr lang="zh-CN" altLang="en-US" dirty="0"/>
              <a:t> </a:t>
            </a:r>
            <a:r>
              <a:rPr lang="en-US" altLang="zh-CN" dirty="0"/>
              <a:t>dimension</a:t>
            </a:r>
            <a:r>
              <a:rPr lang="zh-CN" altLang="en-US" dirty="0"/>
              <a:t> </a:t>
            </a:r>
            <a:r>
              <a:rPr lang="en-US" altLang="zh-CN" dirty="0"/>
              <a:t>of</a:t>
            </a:r>
            <a:r>
              <a:rPr lang="zh-CN" altLang="en-US" dirty="0"/>
              <a:t> </a:t>
            </a:r>
            <a:r>
              <a:rPr lang="en-US" altLang="zh-CN" dirty="0"/>
              <a:t>x.</a:t>
            </a:r>
            <a:r>
              <a:rPr lang="zh-CN" altLang="en-US" dirty="0"/>
              <a:t> </a:t>
            </a:r>
            <a:r>
              <a:rPr lang="en-US" altLang="zh-CN" dirty="0"/>
              <a:t>It</a:t>
            </a:r>
            <a:r>
              <a:rPr lang="zh-CN" altLang="en-US" dirty="0"/>
              <a:t> </a:t>
            </a:r>
            <a:r>
              <a:rPr lang="en-US" altLang="zh-CN" dirty="0"/>
              <a:t>is</a:t>
            </a:r>
            <a:r>
              <a:rPr lang="zh-CN" altLang="en-US" dirty="0"/>
              <a:t> </a:t>
            </a:r>
            <a:r>
              <a:rPr lang="en-US" dirty="0"/>
              <a:t>307,200</a:t>
            </a:r>
            <a:r>
              <a:rPr lang="en-US" altLang="zh-CN" dirty="0"/>
              <a:t>.</a:t>
            </a:r>
            <a:r>
              <a:rPr lang="zh-CN" altLang="en-US" dirty="0"/>
              <a:t> </a:t>
            </a:r>
            <a:r>
              <a:rPr lang="en-US" altLang="zh-CN" dirty="0"/>
              <a:t>Then</a:t>
            </a:r>
            <a:r>
              <a:rPr lang="zh-CN" altLang="en-US" dirty="0"/>
              <a:t> </a:t>
            </a:r>
            <a:r>
              <a:rPr lang="en-US" altLang="zh-CN" dirty="0"/>
              <a:t>the</a:t>
            </a:r>
            <a:r>
              <a:rPr lang="zh-CN" altLang="en-US" dirty="0"/>
              <a:t> </a:t>
            </a:r>
            <a:r>
              <a:rPr lang="en-US" altLang="zh-CN" dirty="0"/>
              <a:t>weight</a:t>
            </a:r>
            <a:r>
              <a:rPr lang="zh-CN" altLang="en-US" dirty="0"/>
              <a:t> </a:t>
            </a:r>
            <a:r>
              <a:rPr lang="en-US" altLang="zh-CN" dirty="0"/>
              <a:t>matrix</a:t>
            </a:r>
            <a:r>
              <a:rPr lang="zh-CN" altLang="en-US" dirty="0"/>
              <a:t> </a:t>
            </a:r>
            <a:r>
              <a:rPr lang="en-US" altLang="zh-CN" dirty="0"/>
              <a:t>of</a:t>
            </a:r>
            <a:r>
              <a:rPr lang="zh-CN" altLang="en-US" dirty="0"/>
              <a:t> </a:t>
            </a:r>
            <a:r>
              <a:rPr lang="en-US" altLang="zh-CN" dirty="0"/>
              <a:t>the</a:t>
            </a:r>
            <a:r>
              <a:rPr lang="zh-CN" altLang="en-US" dirty="0"/>
              <a:t> </a:t>
            </a:r>
            <a:r>
              <a:rPr lang="en-US" altLang="zh-CN" dirty="0"/>
              <a:t>FC</a:t>
            </a:r>
            <a:r>
              <a:rPr lang="zh-CN" altLang="en-US" dirty="0"/>
              <a:t> </a:t>
            </a:r>
            <a:r>
              <a:rPr lang="en-US" altLang="zh-CN" dirty="0"/>
              <a:t>layer</a:t>
            </a:r>
            <a:r>
              <a:rPr lang="zh-CN" altLang="en-US" dirty="0"/>
              <a:t> </a:t>
            </a:r>
            <a:r>
              <a:rPr lang="en-US" altLang="zh-CN" dirty="0"/>
              <a:t>is</a:t>
            </a:r>
            <a:r>
              <a:rPr lang="zh-CN" altLang="en-US" dirty="0"/>
              <a:t> </a:t>
            </a:r>
            <a:r>
              <a:rPr lang="en-US" altLang="zh-CN" dirty="0"/>
              <a:t>very</a:t>
            </a:r>
            <a:r>
              <a:rPr lang="zh-CN" altLang="en-US" dirty="0"/>
              <a:t> </a:t>
            </a:r>
            <a:r>
              <a:rPr lang="en-US" altLang="zh-CN" dirty="0"/>
              <a:t>large.</a:t>
            </a:r>
            <a:endParaRPr lang="en-US" dirty="0"/>
          </a:p>
          <a:p>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28</a:t>
            </a:fld>
            <a:endParaRPr lang="en-US"/>
          </a:p>
        </p:txBody>
      </p:sp>
    </p:spTree>
    <p:extLst>
      <p:ext uri="{BB962C8B-B14F-4D97-AF65-F5344CB8AC3E}">
        <p14:creationId xmlns:p14="http://schemas.microsoft.com/office/powerpoint/2010/main" val="2574556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There</a:t>
            </a:r>
            <a:r>
              <a:rPr lang="zh-CN" altLang="en-US" dirty="0"/>
              <a:t> </a:t>
            </a:r>
            <a:r>
              <a:rPr lang="en-US" altLang="zh-CN" dirty="0"/>
              <a:t>are</a:t>
            </a:r>
            <a:r>
              <a:rPr lang="zh-CN" altLang="en-US" dirty="0"/>
              <a:t> </a:t>
            </a:r>
            <a:r>
              <a:rPr lang="en-US" altLang="zh-CN" dirty="0"/>
              <a:t>actually</a:t>
            </a:r>
            <a:r>
              <a:rPr lang="zh-CN" altLang="en-US" dirty="0"/>
              <a:t> </a:t>
            </a:r>
            <a:r>
              <a:rPr lang="en-US" altLang="zh-CN" dirty="0"/>
              <a:t>more</a:t>
            </a:r>
            <a:r>
              <a:rPr lang="zh-CN" altLang="en-US" dirty="0"/>
              <a:t> </a:t>
            </a:r>
            <a:r>
              <a:rPr lang="en-US" altLang="zh-CN" dirty="0"/>
              <a:t>efficient</a:t>
            </a:r>
            <a:r>
              <a:rPr lang="zh-CN" altLang="en-US" dirty="0"/>
              <a:t> </a:t>
            </a:r>
            <a:r>
              <a:rPr lang="en-US" altLang="zh-CN" dirty="0"/>
              <a:t>and</a:t>
            </a:r>
            <a:r>
              <a:rPr lang="zh-CN" altLang="en-US" dirty="0"/>
              <a:t> </a:t>
            </a:r>
            <a:r>
              <a:rPr lang="en-US" altLang="zh-CN" dirty="0"/>
              <a:t>effective</a:t>
            </a:r>
            <a:r>
              <a:rPr lang="zh-CN" altLang="en-US" dirty="0"/>
              <a:t> </a:t>
            </a:r>
            <a:r>
              <a:rPr lang="en-US" altLang="zh-CN" dirty="0"/>
              <a:t>neural</a:t>
            </a:r>
            <a:r>
              <a:rPr lang="zh-CN" altLang="en-US" dirty="0"/>
              <a:t> </a:t>
            </a:r>
            <a:r>
              <a:rPr lang="en-US" altLang="zh-CN" dirty="0"/>
              <a:t>layers:</a:t>
            </a:r>
            <a:r>
              <a:rPr lang="zh-CN" altLang="en-US" dirty="0"/>
              <a:t> </a:t>
            </a:r>
            <a:r>
              <a:rPr lang="en-US" altLang="zh-CN" dirty="0"/>
              <a:t>convolutional</a:t>
            </a:r>
            <a:r>
              <a:rPr lang="zh-CN" altLang="en-US" dirty="0"/>
              <a:t> </a:t>
            </a:r>
            <a:r>
              <a:rPr lang="en-US" altLang="zh-CN" dirty="0"/>
              <a:t>layers.</a:t>
            </a:r>
          </a:p>
          <a:p>
            <a:endParaRPr lang="en-US" dirty="0"/>
          </a:p>
          <a:p>
            <a:r>
              <a:rPr lang="en-US" altLang="zh-CN" dirty="0"/>
              <a:t>It</a:t>
            </a:r>
            <a:r>
              <a:rPr lang="zh-CN" altLang="en-US" dirty="0"/>
              <a:t> </a:t>
            </a:r>
            <a:r>
              <a:rPr lang="en-US" altLang="zh-CN" dirty="0"/>
              <a:t>consists</a:t>
            </a:r>
            <a:r>
              <a:rPr lang="zh-CN" altLang="en-US" dirty="0"/>
              <a:t> </a:t>
            </a:r>
            <a:r>
              <a:rPr lang="en-US" altLang="zh-CN" dirty="0"/>
              <a:t>convolutional</a:t>
            </a:r>
            <a:r>
              <a:rPr lang="zh-CN" altLang="en-US" dirty="0"/>
              <a:t> </a:t>
            </a:r>
            <a:r>
              <a:rPr lang="en-US" altLang="zh-CN" dirty="0"/>
              <a:t>filters</a:t>
            </a:r>
            <a:r>
              <a:rPr lang="zh-CN" altLang="en-US" dirty="0"/>
              <a:t> </a:t>
            </a:r>
            <a:r>
              <a:rPr lang="en-US" altLang="zh-CN" dirty="0"/>
              <a:t>and</a:t>
            </a:r>
            <a:r>
              <a:rPr lang="zh-CN" altLang="en-US" dirty="0"/>
              <a:t> </a:t>
            </a:r>
            <a:r>
              <a:rPr lang="en-US" altLang="zh-CN" dirty="0"/>
              <a:t>the</a:t>
            </a:r>
            <a:r>
              <a:rPr lang="zh-CN" altLang="en-US" dirty="0"/>
              <a:t> </a:t>
            </a:r>
            <a:r>
              <a:rPr lang="en-US" altLang="zh-CN" dirty="0"/>
              <a:t>filters</a:t>
            </a:r>
            <a:r>
              <a:rPr lang="zh-CN" altLang="en-US" dirty="0"/>
              <a:t> </a:t>
            </a:r>
            <a:r>
              <a:rPr lang="en-US" altLang="zh-CN" dirty="0"/>
              <a:t>share</a:t>
            </a:r>
            <a:r>
              <a:rPr lang="zh-CN" altLang="en-US" dirty="0"/>
              <a:t> </a:t>
            </a:r>
            <a:r>
              <a:rPr lang="en-US" altLang="zh-CN" dirty="0"/>
              <a:t>weights</a:t>
            </a:r>
            <a:r>
              <a:rPr lang="zh-CN" altLang="en-US" dirty="0"/>
              <a:t> </a:t>
            </a:r>
            <a:r>
              <a:rPr lang="en-US" altLang="zh-CN" dirty="0"/>
              <a:t>among</a:t>
            </a:r>
            <a:r>
              <a:rPr lang="zh-CN" altLang="en-US" dirty="0"/>
              <a:t> </a:t>
            </a:r>
            <a:r>
              <a:rPr lang="en-US" altLang="zh-CN" dirty="0"/>
              <a:t>different</a:t>
            </a:r>
            <a:r>
              <a:rPr lang="zh-CN" altLang="en-US" dirty="0"/>
              <a:t> </a:t>
            </a:r>
            <a:r>
              <a:rPr lang="en-US" altLang="zh-CN" dirty="0"/>
              <a:t>locations.</a:t>
            </a:r>
            <a:r>
              <a:rPr lang="zh-CN" altLang="en-US" dirty="0"/>
              <a:t> </a:t>
            </a:r>
            <a:endParaRPr lang="en-US" altLang="zh-CN" dirty="0"/>
          </a:p>
          <a:p>
            <a:endParaRPr lang="en-US" altLang="zh-CN" dirty="0"/>
          </a:p>
          <a:p>
            <a:r>
              <a:rPr lang="en-US" altLang="zh-CN" dirty="0"/>
              <a:t>Here</a:t>
            </a:r>
            <a:r>
              <a:rPr lang="zh-CN" altLang="en-US" dirty="0"/>
              <a:t> </a:t>
            </a:r>
            <a:r>
              <a:rPr lang="en-US" altLang="zh-CN" dirty="0"/>
              <a:t>the</a:t>
            </a:r>
            <a:r>
              <a:rPr lang="zh-CN" altLang="en-US" dirty="0"/>
              <a:t> </a:t>
            </a:r>
            <a:r>
              <a:rPr lang="en-US" altLang="zh-CN" dirty="0"/>
              <a:t>filters</a:t>
            </a:r>
            <a:r>
              <a:rPr lang="zh-CN" altLang="en-US" dirty="0"/>
              <a:t> </a:t>
            </a:r>
            <a:r>
              <a:rPr lang="en-US" altLang="zh-CN" dirty="0"/>
              <a:t>in</a:t>
            </a:r>
            <a:r>
              <a:rPr lang="zh-CN" altLang="en-US" dirty="0"/>
              <a:t> </a:t>
            </a:r>
            <a:r>
              <a:rPr lang="en-US" altLang="zh-CN" dirty="0"/>
              <a:t>convolutional</a:t>
            </a:r>
            <a:r>
              <a:rPr lang="zh-CN" altLang="en-US" dirty="0"/>
              <a:t> </a:t>
            </a:r>
            <a:r>
              <a:rPr lang="en-US" altLang="zh-CN" dirty="0" err="1"/>
              <a:t>neunural</a:t>
            </a:r>
            <a:r>
              <a:rPr lang="zh-CN" altLang="en-US" dirty="0"/>
              <a:t> </a:t>
            </a:r>
            <a:r>
              <a:rPr lang="en-US" altLang="zh-CN" dirty="0"/>
              <a:t>network</a:t>
            </a:r>
            <a:r>
              <a:rPr lang="zh-CN" altLang="en-US" dirty="0"/>
              <a:t> </a:t>
            </a:r>
            <a:r>
              <a:rPr lang="en-US" altLang="zh-CN" dirty="0"/>
              <a:t>are</a:t>
            </a:r>
            <a:r>
              <a:rPr lang="zh-CN" altLang="en-US" dirty="0"/>
              <a:t> </a:t>
            </a:r>
            <a:r>
              <a:rPr lang="en-US" altLang="zh-CN" dirty="0"/>
              <a:t>similar</a:t>
            </a:r>
            <a:r>
              <a:rPr lang="zh-CN" altLang="en-US" dirty="0"/>
              <a:t> </a:t>
            </a:r>
            <a:r>
              <a:rPr lang="en-US" altLang="zh-CN" dirty="0"/>
              <a:t>to</a:t>
            </a:r>
            <a:r>
              <a:rPr lang="zh-CN" altLang="en-US" dirty="0"/>
              <a:t> </a:t>
            </a:r>
            <a:r>
              <a:rPr lang="en-US" altLang="zh-CN" dirty="0"/>
              <a:t>image</a:t>
            </a:r>
            <a:r>
              <a:rPr lang="zh-CN" altLang="en-US" dirty="0"/>
              <a:t> </a:t>
            </a:r>
            <a:r>
              <a:rPr lang="en-US" altLang="zh-CN" dirty="0"/>
              <a:t>filters</a:t>
            </a:r>
            <a:r>
              <a:rPr lang="zh-CN" altLang="en-US" dirty="0"/>
              <a:t> </a:t>
            </a:r>
            <a:r>
              <a:rPr lang="en-US" altLang="zh-CN" dirty="0"/>
              <a:t>we</a:t>
            </a:r>
            <a:r>
              <a:rPr lang="zh-CN" altLang="en-US" dirty="0"/>
              <a:t> </a:t>
            </a:r>
            <a:r>
              <a:rPr lang="en-US" altLang="zh-CN" dirty="0"/>
              <a:t>introduced</a:t>
            </a:r>
            <a:r>
              <a:rPr lang="zh-CN" altLang="en-US" dirty="0"/>
              <a:t> </a:t>
            </a:r>
            <a:r>
              <a:rPr lang="en-US" altLang="zh-CN" dirty="0"/>
              <a:t>before.</a:t>
            </a:r>
            <a:r>
              <a:rPr lang="zh-CN" altLang="en-US" dirty="0"/>
              <a:t> </a:t>
            </a:r>
            <a:r>
              <a:rPr lang="en-US" altLang="zh-CN" dirty="0"/>
              <a:t>But</a:t>
            </a:r>
            <a:r>
              <a:rPr lang="zh-CN" altLang="en-US" dirty="0"/>
              <a:t> </a:t>
            </a:r>
            <a:r>
              <a:rPr lang="en-US" altLang="zh-CN" dirty="0"/>
              <a:t>differently,</a:t>
            </a:r>
            <a:r>
              <a:rPr lang="zh-CN" altLang="en-US" dirty="0"/>
              <a:t> </a:t>
            </a:r>
            <a:r>
              <a:rPr lang="en-US" altLang="zh-CN" dirty="0"/>
              <a:t>we</a:t>
            </a:r>
            <a:r>
              <a:rPr lang="zh-CN" altLang="en-US" dirty="0"/>
              <a:t> </a:t>
            </a:r>
            <a:r>
              <a:rPr lang="en-US" altLang="zh-CN" dirty="0"/>
              <a:t>will</a:t>
            </a:r>
            <a:r>
              <a:rPr lang="zh-CN" altLang="en-US" dirty="0"/>
              <a:t> </a:t>
            </a:r>
            <a:r>
              <a:rPr lang="en-US" altLang="zh-CN" dirty="0"/>
              <a:t>learn</a:t>
            </a:r>
            <a:r>
              <a:rPr lang="zh-CN" altLang="en-US" dirty="0"/>
              <a:t> </a:t>
            </a:r>
            <a:r>
              <a:rPr lang="en-US" altLang="zh-CN" dirty="0"/>
              <a:t>the</a:t>
            </a:r>
            <a:r>
              <a:rPr lang="zh-CN" altLang="en-US" dirty="0"/>
              <a:t> </a:t>
            </a:r>
            <a:r>
              <a:rPr lang="en-US" altLang="zh-CN" dirty="0"/>
              <a:t>weights</a:t>
            </a:r>
            <a:r>
              <a:rPr lang="zh-CN" altLang="en-US" dirty="0"/>
              <a:t> </a:t>
            </a:r>
            <a:r>
              <a:rPr lang="en-US" altLang="zh-CN" dirty="0"/>
              <a:t>rather</a:t>
            </a:r>
            <a:r>
              <a:rPr lang="zh-CN" altLang="en-US" dirty="0"/>
              <a:t> </a:t>
            </a:r>
            <a:r>
              <a:rPr lang="en-US" altLang="zh-CN" dirty="0"/>
              <a:t>than</a:t>
            </a:r>
            <a:r>
              <a:rPr lang="zh-CN" altLang="en-US" dirty="0"/>
              <a:t> </a:t>
            </a:r>
            <a:r>
              <a:rPr lang="en-US" altLang="zh-CN" dirty="0"/>
              <a:t>using</a:t>
            </a:r>
            <a:r>
              <a:rPr lang="zh-CN" altLang="en-US" dirty="0"/>
              <a:t> </a:t>
            </a:r>
            <a:r>
              <a:rPr lang="en-US" altLang="zh-CN" dirty="0"/>
              <a:t>fixed</a:t>
            </a:r>
            <a:r>
              <a:rPr lang="zh-CN" altLang="en-US" dirty="0"/>
              <a:t> </a:t>
            </a:r>
            <a:r>
              <a:rPr lang="en-US" altLang="zh-CN" dirty="0"/>
              <a:t>weights.</a:t>
            </a:r>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29</a:t>
            </a:fld>
            <a:endParaRPr lang="en-US"/>
          </a:p>
        </p:txBody>
      </p:sp>
    </p:spTree>
    <p:extLst>
      <p:ext uri="{BB962C8B-B14F-4D97-AF65-F5344CB8AC3E}">
        <p14:creationId xmlns:p14="http://schemas.microsoft.com/office/powerpoint/2010/main" val="714433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794E5-1E84-BD96-E475-889808022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FF540-4025-C5C9-01EA-8A84C3F6F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1695C-9D53-6350-3E81-8FBA7913A1F6}"/>
              </a:ext>
            </a:extLst>
          </p:cNvPr>
          <p:cNvSpPr>
            <a:spLocks noGrp="1"/>
          </p:cNvSpPr>
          <p:nvPr>
            <p:ph type="body" idx="1"/>
          </p:nvPr>
        </p:nvSpPr>
        <p:spPr/>
        <p:txBody>
          <a:bodyPr/>
          <a:lstStyle/>
          <a:p>
            <a:r>
              <a:rPr lang="en-US" altLang="zh-CN" dirty="0"/>
              <a:t>There</a:t>
            </a:r>
            <a:r>
              <a:rPr lang="zh-CN" altLang="en-US" dirty="0"/>
              <a:t> </a:t>
            </a:r>
            <a:r>
              <a:rPr lang="en-US" altLang="zh-CN" dirty="0"/>
              <a:t>are</a:t>
            </a:r>
            <a:r>
              <a:rPr lang="zh-CN" altLang="en-US" dirty="0"/>
              <a:t> </a:t>
            </a:r>
            <a:r>
              <a:rPr lang="en-US" altLang="zh-CN" dirty="0"/>
              <a:t>actually</a:t>
            </a:r>
            <a:r>
              <a:rPr lang="zh-CN" altLang="en-US" dirty="0"/>
              <a:t> </a:t>
            </a:r>
            <a:r>
              <a:rPr lang="en-US" altLang="zh-CN" dirty="0"/>
              <a:t>more</a:t>
            </a:r>
            <a:r>
              <a:rPr lang="zh-CN" altLang="en-US" dirty="0"/>
              <a:t> </a:t>
            </a:r>
            <a:r>
              <a:rPr lang="en-US" altLang="zh-CN" dirty="0"/>
              <a:t>efficient</a:t>
            </a:r>
            <a:r>
              <a:rPr lang="zh-CN" altLang="en-US" dirty="0"/>
              <a:t> </a:t>
            </a:r>
            <a:r>
              <a:rPr lang="en-US" altLang="zh-CN" dirty="0"/>
              <a:t>and</a:t>
            </a:r>
            <a:r>
              <a:rPr lang="zh-CN" altLang="en-US" dirty="0"/>
              <a:t> </a:t>
            </a:r>
            <a:r>
              <a:rPr lang="en-US" altLang="zh-CN" dirty="0"/>
              <a:t>effective</a:t>
            </a:r>
            <a:r>
              <a:rPr lang="zh-CN" altLang="en-US" dirty="0"/>
              <a:t> </a:t>
            </a:r>
            <a:r>
              <a:rPr lang="en-US" altLang="zh-CN" dirty="0"/>
              <a:t>neural</a:t>
            </a:r>
            <a:r>
              <a:rPr lang="zh-CN" altLang="en-US" dirty="0"/>
              <a:t> </a:t>
            </a:r>
            <a:r>
              <a:rPr lang="en-US" altLang="zh-CN" dirty="0"/>
              <a:t>layers:</a:t>
            </a:r>
            <a:r>
              <a:rPr lang="zh-CN" altLang="en-US" dirty="0"/>
              <a:t> </a:t>
            </a:r>
            <a:r>
              <a:rPr lang="en-US" altLang="zh-CN" dirty="0"/>
              <a:t>convolutional</a:t>
            </a:r>
            <a:r>
              <a:rPr lang="zh-CN" altLang="en-US" dirty="0"/>
              <a:t> </a:t>
            </a:r>
            <a:r>
              <a:rPr lang="en-US" altLang="zh-CN" dirty="0"/>
              <a:t>layers.</a:t>
            </a:r>
          </a:p>
          <a:p>
            <a:endParaRPr lang="en-US" dirty="0"/>
          </a:p>
          <a:p>
            <a:r>
              <a:rPr lang="en-US" altLang="zh-CN" dirty="0"/>
              <a:t>It</a:t>
            </a:r>
            <a:r>
              <a:rPr lang="zh-CN" altLang="en-US" dirty="0"/>
              <a:t> </a:t>
            </a:r>
            <a:r>
              <a:rPr lang="en-US" altLang="zh-CN" dirty="0"/>
              <a:t>consists</a:t>
            </a:r>
            <a:r>
              <a:rPr lang="zh-CN" altLang="en-US" dirty="0"/>
              <a:t> </a:t>
            </a:r>
            <a:r>
              <a:rPr lang="en-US" altLang="zh-CN" dirty="0"/>
              <a:t>convolutional</a:t>
            </a:r>
            <a:r>
              <a:rPr lang="zh-CN" altLang="en-US" dirty="0"/>
              <a:t> </a:t>
            </a:r>
            <a:r>
              <a:rPr lang="en-US" altLang="zh-CN" dirty="0"/>
              <a:t>filters</a:t>
            </a:r>
            <a:r>
              <a:rPr lang="zh-CN" altLang="en-US" dirty="0"/>
              <a:t> </a:t>
            </a:r>
            <a:r>
              <a:rPr lang="en-US" altLang="zh-CN" dirty="0"/>
              <a:t>and</a:t>
            </a:r>
            <a:r>
              <a:rPr lang="zh-CN" altLang="en-US" dirty="0"/>
              <a:t> </a:t>
            </a:r>
            <a:r>
              <a:rPr lang="en-US" altLang="zh-CN" dirty="0"/>
              <a:t>the</a:t>
            </a:r>
            <a:r>
              <a:rPr lang="zh-CN" altLang="en-US" dirty="0"/>
              <a:t> </a:t>
            </a:r>
            <a:r>
              <a:rPr lang="en-US" altLang="zh-CN" dirty="0"/>
              <a:t>filters</a:t>
            </a:r>
            <a:r>
              <a:rPr lang="zh-CN" altLang="en-US" dirty="0"/>
              <a:t> </a:t>
            </a:r>
            <a:r>
              <a:rPr lang="en-US" altLang="zh-CN" dirty="0"/>
              <a:t>share</a:t>
            </a:r>
            <a:r>
              <a:rPr lang="zh-CN" altLang="en-US" dirty="0"/>
              <a:t> </a:t>
            </a:r>
            <a:r>
              <a:rPr lang="en-US" altLang="zh-CN" dirty="0"/>
              <a:t>weights</a:t>
            </a:r>
            <a:r>
              <a:rPr lang="zh-CN" altLang="en-US" dirty="0"/>
              <a:t> </a:t>
            </a:r>
            <a:r>
              <a:rPr lang="en-US" altLang="zh-CN" dirty="0"/>
              <a:t>among</a:t>
            </a:r>
            <a:r>
              <a:rPr lang="zh-CN" altLang="en-US" dirty="0"/>
              <a:t> </a:t>
            </a:r>
            <a:r>
              <a:rPr lang="en-US" altLang="zh-CN" dirty="0"/>
              <a:t>different</a:t>
            </a:r>
            <a:r>
              <a:rPr lang="zh-CN" altLang="en-US" dirty="0"/>
              <a:t> </a:t>
            </a:r>
            <a:r>
              <a:rPr lang="en-US" altLang="zh-CN" dirty="0"/>
              <a:t>locations.</a:t>
            </a:r>
            <a:r>
              <a:rPr lang="zh-CN" altLang="en-US" dirty="0"/>
              <a:t> </a:t>
            </a:r>
            <a:endParaRPr lang="en-US" altLang="zh-CN" dirty="0"/>
          </a:p>
          <a:p>
            <a:endParaRPr lang="en-US" altLang="zh-CN" dirty="0"/>
          </a:p>
          <a:p>
            <a:r>
              <a:rPr lang="en-US" altLang="zh-CN" dirty="0"/>
              <a:t>Here</a:t>
            </a:r>
            <a:r>
              <a:rPr lang="zh-CN" altLang="en-US" dirty="0"/>
              <a:t> </a:t>
            </a:r>
            <a:r>
              <a:rPr lang="en-US" altLang="zh-CN" dirty="0"/>
              <a:t>the</a:t>
            </a:r>
            <a:r>
              <a:rPr lang="zh-CN" altLang="en-US" dirty="0"/>
              <a:t> </a:t>
            </a:r>
            <a:r>
              <a:rPr lang="en-US" altLang="zh-CN" dirty="0"/>
              <a:t>filters</a:t>
            </a:r>
            <a:r>
              <a:rPr lang="zh-CN" altLang="en-US" dirty="0"/>
              <a:t> </a:t>
            </a:r>
            <a:r>
              <a:rPr lang="en-US" altLang="zh-CN" dirty="0"/>
              <a:t>in</a:t>
            </a:r>
            <a:r>
              <a:rPr lang="zh-CN" altLang="en-US" dirty="0"/>
              <a:t> </a:t>
            </a:r>
            <a:r>
              <a:rPr lang="en-US" altLang="zh-CN" dirty="0"/>
              <a:t>convolutional</a:t>
            </a:r>
            <a:r>
              <a:rPr lang="zh-CN" altLang="en-US" dirty="0"/>
              <a:t> </a:t>
            </a:r>
            <a:r>
              <a:rPr lang="en-US" altLang="zh-CN" dirty="0" err="1"/>
              <a:t>neunural</a:t>
            </a:r>
            <a:r>
              <a:rPr lang="zh-CN" altLang="en-US" dirty="0"/>
              <a:t> </a:t>
            </a:r>
            <a:r>
              <a:rPr lang="en-US" altLang="zh-CN" dirty="0"/>
              <a:t>network</a:t>
            </a:r>
            <a:r>
              <a:rPr lang="zh-CN" altLang="en-US" dirty="0"/>
              <a:t> </a:t>
            </a:r>
            <a:r>
              <a:rPr lang="en-US" altLang="zh-CN" dirty="0"/>
              <a:t>are</a:t>
            </a:r>
            <a:r>
              <a:rPr lang="zh-CN" altLang="en-US" dirty="0"/>
              <a:t> </a:t>
            </a:r>
            <a:r>
              <a:rPr lang="en-US" altLang="zh-CN" dirty="0"/>
              <a:t>similar</a:t>
            </a:r>
            <a:r>
              <a:rPr lang="zh-CN" altLang="en-US" dirty="0"/>
              <a:t> </a:t>
            </a:r>
            <a:r>
              <a:rPr lang="en-US" altLang="zh-CN" dirty="0"/>
              <a:t>to</a:t>
            </a:r>
            <a:r>
              <a:rPr lang="zh-CN" altLang="en-US" dirty="0"/>
              <a:t> </a:t>
            </a:r>
            <a:r>
              <a:rPr lang="en-US" altLang="zh-CN" dirty="0"/>
              <a:t>image</a:t>
            </a:r>
            <a:r>
              <a:rPr lang="zh-CN" altLang="en-US" dirty="0"/>
              <a:t> </a:t>
            </a:r>
            <a:r>
              <a:rPr lang="en-US" altLang="zh-CN" dirty="0"/>
              <a:t>filters</a:t>
            </a:r>
            <a:r>
              <a:rPr lang="zh-CN" altLang="en-US" dirty="0"/>
              <a:t> </a:t>
            </a:r>
            <a:r>
              <a:rPr lang="en-US" altLang="zh-CN" dirty="0"/>
              <a:t>we</a:t>
            </a:r>
            <a:r>
              <a:rPr lang="zh-CN" altLang="en-US" dirty="0"/>
              <a:t> </a:t>
            </a:r>
            <a:r>
              <a:rPr lang="en-US" altLang="zh-CN" dirty="0"/>
              <a:t>introduced</a:t>
            </a:r>
            <a:r>
              <a:rPr lang="zh-CN" altLang="en-US" dirty="0"/>
              <a:t> </a:t>
            </a:r>
            <a:r>
              <a:rPr lang="en-US" altLang="zh-CN" dirty="0"/>
              <a:t>before.</a:t>
            </a:r>
            <a:r>
              <a:rPr lang="zh-CN" altLang="en-US" dirty="0"/>
              <a:t> </a:t>
            </a:r>
            <a:r>
              <a:rPr lang="en-US" altLang="zh-CN" dirty="0"/>
              <a:t>But</a:t>
            </a:r>
            <a:r>
              <a:rPr lang="zh-CN" altLang="en-US" dirty="0"/>
              <a:t> </a:t>
            </a:r>
            <a:r>
              <a:rPr lang="en-US" altLang="zh-CN" dirty="0"/>
              <a:t>differently,</a:t>
            </a:r>
            <a:r>
              <a:rPr lang="zh-CN" altLang="en-US" dirty="0"/>
              <a:t> </a:t>
            </a:r>
            <a:r>
              <a:rPr lang="en-US" altLang="zh-CN" dirty="0"/>
              <a:t>we</a:t>
            </a:r>
            <a:r>
              <a:rPr lang="zh-CN" altLang="en-US" dirty="0"/>
              <a:t> </a:t>
            </a:r>
            <a:r>
              <a:rPr lang="en-US" altLang="zh-CN" dirty="0"/>
              <a:t>will</a:t>
            </a:r>
            <a:r>
              <a:rPr lang="zh-CN" altLang="en-US" dirty="0"/>
              <a:t> </a:t>
            </a:r>
            <a:r>
              <a:rPr lang="en-US" altLang="zh-CN" dirty="0"/>
              <a:t>learn</a:t>
            </a:r>
            <a:r>
              <a:rPr lang="zh-CN" altLang="en-US" dirty="0"/>
              <a:t> </a:t>
            </a:r>
            <a:r>
              <a:rPr lang="en-US" altLang="zh-CN" dirty="0"/>
              <a:t>the</a:t>
            </a:r>
            <a:r>
              <a:rPr lang="zh-CN" altLang="en-US" dirty="0"/>
              <a:t> </a:t>
            </a:r>
            <a:r>
              <a:rPr lang="en-US" altLang="zh-CN" dirty="0"/>
              <a:t>weights</a:t>
            </a:r>
            <a:r>
              <a:rPr lang="zh-CN" altLang="en-US" dirty="0"/>
              <a:t> </a:t>
            </a:r>
            <a:r>
              <a:rPr lang="en-US" altLang="zh-CN" dirty="0"/>
              <a:t>rather</a:t>
            </a:r>
            <a:r>
              <a:rPr lang="zh-CN" altLang="en-US" dirty="0"/>
              <a:t> </a:t>
            </a:r>
            <a:r>
              <a:rPr lang="en-US" altLang="zh-CN" dirty="0"/>
              <a:t>than</a:t>
            </a:r>
            <a:r>
              <a:rPr lang="zh-CN" altLang="en-US" dirty="0"/>
              <a:t> </a:t>
            </a:r>
            <a:r>
              <a:rPr lang="en-US" altLang="zh-CN" dirty="0"/>
              <a:t>using</a:t>
            </a:r>
            <a:r>
              <a:rPr lang="zh-CN" altLang="en-US" dirty="0"/>
              <a:t> </a:t>
            </a:r>
            <a:r>
              <a:rPr lang="en-US" altLang="zh-CN" dirty="0"/>
              <a:t>fixed</a:t>
            </a:r>
            <a:r>
              <a:rPr lang="zh-CN" altLang="en-US" dirty="0"/>
              <a:t> </a:t>
            </a:r>
            <a:r>
              <a:rPr lang="en-US" altLang="zh-CN" dirty="0"/>
              <a:t>weights.</a:t>
            </a:r>
            <a:endParaRPr lang="en-US" dirty="0"/>
          </a:p>
        </p:txBody>
      </p:sp>
      <p:sp>
        <p:nvSpPr>
          <p:cNvPr id="4" name="Slide Number Placeholder 3">
            <a:extLst>
              <a:ext uri="{FF2B5EF4-FFF2-40B4-BE49-F238E27FC236}">
                <a16:creationId xmlns:a16="http://schemas.microsoft.com/office/drawing/2014/main" id="{DF2D8968-EB88-E4F8-628D-5307C7C23FA8}"/>
              </a:ext>
            </a:extLst>
          </p:cNvPr>
          <p:cNvSpPr>
            <a:spLocks noGrp="1"/>
          </p:cNvSpPr>
          <p:nvPr>
            <p:ph type="sldNum" sz="quarter" idx="5"/>
          </p:nvPr>
        </p:nvSpPr>
        <p:spPr/>
        <p:txBody>
          <a:bodyPr/>
          <a:lstStyle/>
          <a:p>
            <a:fld id="{C149EEB9-1E5D-4336-B1B3-152F63E4D131}" type="slidenum">
              <a:rPr lang="en-US" smtClean="0"/>
              <a:t>30</a:t>
            </a:fld>
            <a:endParaRPr lang="en-US"/>
          </a:p>
        </p:txBody>
      </p:sp>
    </p:spTree>
    <p:extLst>
      <p:ext uri="{BB962C8B-B14F-4D97-AF65-F5344CB8AC3E}">
        <p14:creationId xmlns:p14="http://schemas.microsoft.com/office/powerpoint/2010/main" val="201699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a:t>
            </a:r>
            <a:r>
              <a:rPr lang="zh-CN" altLang="en-US" dirty="0"/>
              <a:t> </a:t>
            </a:r>
            <a:r>
              <a:rPr lang="en-US" altLang="zh-CN" dirty="0"/>
              <a:t>is</a:t>
            </a:r>
            <a:r>
              <a:rPr lang="zh-CN" altLang="en-US" dirty="0"/>
              <a:t> </a:t>
            </a:r>
            <a:r>
              <a:rPr lang="en-US" altLang="zh-CN" dirty="0"/>
              <a:t>the</a:t>
            </a:r>
            <a:r>
              <a:rPr lang="zh-CN" altLang="en-US" dirty="0"/>
              <a:t> </a:t>
            </a:r>
            <a:r>
              <a:rPr lang="en-US" altLang="zh-CN" dirty="0"/>
              <a:t>LeNet-5,</a:t>
            </a:r>
            <a:r>
              <a:rPr lang="zh-CN" altLang="en-US" dirty="0"/>
              <a:t> </a:t>
            </a:r>
            <a:r>
              <a:rPr lang="en-US" altLang="zh-CN" dirty="0"/>
              <a:t>which</a:t>
            </a:r>
            <a:r>
              <a:rPr lang="zh-CN" altLang="en-US" dirty="0"/>
              <a:t> </a:t>
            </a:r>
            <a:r>
              <a:rPr lang="en-US" altLang="zh-CN" dirty="0"/>
              <a:t>is</a:t>
            </a:r>
            <a:r>
              <a:rPr lang="zh-CN" altLang="en-US" dirty="0"/>
              <a:t> </a:t>
            </a:r>
            <a:r>
              <a:rPr lang="en-US" altLang="zh-CN" dirty="0"/>
              <a:t>a</a:t>
            </a:r>
            <a:r>
              <a:rPr lang="zh-CN" altLang="en-US" dirty="0"/>
              <a:t> </a:t>
            </a:r>
            <a:r>
              <a:rPr lang="en-US" altLang="zh-CN" dirty="0"/>
              <a:t>father</a:t>
            </a:r>
            <a:r>
              <a:rPr lang="zh-CN" altLang="en-US" dirty="0"/>
              <a:t> </a:t>
            </a:r>
            <a:r>
              <a:rPr lang="en-US" altLang="zh-CN" dirty="0"/>
              <a:t>model</a:t>
            </a:r>
            <a:r>
              <a:rPr lang="zh-CN" altLang="en-US" dirty="0"/>
              <a:t> </a:t>
            </a:r>
            <a:r>
              <a:rPr lang="en-US" altLang="zh-CN" dirty="0"/>
              <a:t>for</a:t>
            </a:r>
            <a:r>
              <a:rPr lang="zh-CN" altLang="en-US" dirty="0"/>
              <a:t> </a:t>
            </a:r>
            <a:r>
              <a:rPr lang="en-US" altLang="zh-CN" dirty="0"/>
              <a:t>current</a:t>
            </a:r>
            <a:r>
              <a:rPr lang="zh-CN" altLang="en-US" dirty="0"/>
              <a:t> </a:t>
            </a:r>
            <a:r>
              <a:rPr lang="en-US" altLang="zh-CN" dirty="0"/>
              <a:t>modern</a:t>
            </a:r>
            <a:r>
              <a:rPr lang="zh-CN" altLang="en-US" dirty="0"/>
              <a:t> </a:t>
            </a:r>
            <a:r>
              <a:rPr lang="en-US" altLang="zh-CN" dirty="0"/>
              <a:t>deep</a:t>
            </a:r>
            <a:r>
              <a:rPr lang="zh-CN" altLang="en-US" dirty="0"/>
              <a:t> </a:t>
            </a:r>
            <a:r>
              <a:rPr lang="en-US" altLang="zh-CN" dirty="0"/>
              <a:t>networks.</a:t>
            </a:r>
            <a:r>
              <a:rPr lang="zh-CN" altLang="en-US" dirty="0"/>
              <a:t> </a:t>
            </a:r>
            <a:r>
              <a:rPr lang="en-US" altLang="zh-CN" dirty="0"/>
              <a:t>It</a:t>
            </a:r>
            <a:r>
              <a:rPr lang="zh-CN" altLang="en-US" dirty="0"/>
              <a:t> </a:t>
            </a:r>
            <a:r>
              <a:rPr lang="en-US" altLang="zh-CN" dirty="0"/>
              <a:t>was</a:t>
            </a:r>
            <a:r>
              <a:rPr lang="zh-CN" altLang="en-US" dirty="0"/>
              <a:t> </a:t>
            </a:r>
            <a:r>
              <a:rPr lang="en-US" altLang="zh-CN" dirty="0"/>
              <a:t>proposed</a:t>
            </a:r>
            <a:r>
              <a:rPr lang="zh-CN" altLang="en-US" dirty="0"/>
              <a:t> </a:t>
            </a:r>
            <a:r>
              <a:rPr lang="en-US" altLang="zh-CN" dirty="0"/>
              <a:t>in</a:t>
            </a:r>
            <a:r>
              <a:rPr lang="zh-CN" altLang="en-US" dirty="0"/>
              <a:t> </a:t>
            </a:r>
            <a:r>
              <a:rPr lang="en-US" altLang="zh-CN" dirty="0"/>
              <a:t>1980,</a:t>
            </a:r>
          </a:p>
          <a:p>
            <a:endParaRPr lang="en-US" altLang="zh-CN" dirty="0"/>
          </a:p>
          <a:p>
            <a:r>
              <a:rPr lang="zh-CN" altLang="en-US" dirty="0"/>
              <a:t> </a:t>
            </a:r>
            <a:r>
              <a:rPr lang="en-US" b="0" i="0" dirty="0">
                <a:solidFill>
                  <a:srgbClr val="292929"/>
                </a:solidFill>
                <a:effectLst/>
                <a:latin typeface="source-serif-pro"/>
              </a:rPr>
              <a:t>LeNet-5 CNN architecture is made up of 7 layers. The layer composition consists of 3 convolutional layers, 2 subsampling layers and 2 fully connected layers.</a:t>
            </a:r>
            <a:r>
              <a:rPr lang="zh-CN" altLang="en-US" b="0" i="0" dirty="0">
                <a:solidFill>
                  <a:srgbClr val="292929"/>
                </a:solidFill>
                <a:effectLst/>
                <a:latin typeface="source-serif-pro"/>
              </a:rPr>
              <a:t> </a:t>
            </a:r>
            <a:r>
              <a:rPr lang="en-US" altLang="zh-CN" b="0" i="0" dirty="0">
                <a:solidFill>
                  <a:srgbClr val="292929"/>
                </a:solidFill>
                <a:effectLst/>
                <a:latin typeface="source-serif-pro"/>
              </a:rPr>
              <a:t>For</a:t>
            </a:r>
            <a:r>
              <a:rPr lang="zh-CN" altLang="en-US" b="0" i="0" dirty="0">
                <a:solidFill>
                  <a:srgbClr val="292929"/>
                </a:solidFill>
                <a:effectLst/>
                <a:latin typeface="source-serif-pro"/>
              </a:rPr>
              <a:t> </a:t>
            </a:r>
            <a:r>
              <a:rPr lang="en-US" altLang="zh-CN" b="0" i="0" dirty="0">
                <a:solidFill>
                  <a:srgbClr val="292929"/>
                </a:solidFill>
                <a:effectLst/>
                <a:latin typeface="source-serif-pro"/>
              </a:rPr>
              <a:t>the</a:t>
            </a:r>
            <a:r>
              <a:rPr lang="zh-CN" altLang="en-US" b="0" i="0" dirty="0">
                <a:solidFill>
                  <a:srgbClr val="292929"/>
                </a:solidFill>
                <a:effectLst/>
                <a:latin typeface="source-serif-pro"/>
              </a:rPr>
              <a:t> </a:t>
            </a:r>
            <a:r>
              <a:rPr lang="en-US" altLang="zh-CN" b="0" i="0" dirty="0">
                <a:solidFill>
                  <a:srgbClr val="292929"/>
                </a:solidFill>
                <a:effectLst/>
                <a:latin typeface="source-serif-pro"/>
              </a:rPr>
              <a:t>next,</a:t>
            </a:r>
            <a:r>
              <a:rPr lang="zh-CN" altLang="en-US" b="0" i="0" dirty="0">
                <a:solidFill>
                  <a:srgbClr val="292929"/>
                </a:solidFill>
                <a:effectLst/>
                <a:latin typeface="source-serif-pro"/>
              </a:rPr>
              <a:t> </a:t>
            </a:r>
            <a:r>
              <a:rPr lang="en-US" altLang="zh-CN" b="0" i="0" dirty="0">
                <a:solidFill>
                  <a:srgbClr val="292929"/>
                </a:solidFill>
                <a:effectLst/>
                <a:latin typeface="source-serif-pro"/>
              </a:rPr>
              <a:t>we</a:t>
            </a:r>
            <a:r>
              <a:rPr lang="zh-CN" altLang="en-US" b="0" i="0" dirty="0">
                <a:solidFill>
                  <a:srgbClr val="292929"/>
                </a:solidFill>
                <a:effectLst/>
                <a:latin typeface="source-serif-pro"/>
              </a:rPr>
              <a:t> </a:t>
            </a:r>
            <a:r>
              <a:rPr lang="en-US" altLang="zh-CN" b="0" i="0" dirty="0">
                <a:solidFill>
                  <a:srgbClr val="292929"/>
                </a:solidFill>
                <a:effectLst/>
                <a:latin typeface="source-serif-pro"/>
              </a:rPr>
              <a:t>will</a:t>
            </a:r>
            <a:r>
              <a:rPr lang="zh-CN" altLang="en-US" b="0" i="0" dirty="0">
                <a:solidFill>
                  <a:srgbClr val="292929"/>
                </a:solidFill>
                <a:effectLst/>
                <a:latin typeface="source-serif-pro"/>
              </a:rPr>
              <a:t> </a:t>
            </a:r>
            <a:r>
              <a:rPr lang="en-US" altLang="zh-CN" b="0" i="0" dirty="0">
                <a:solidFill>
                  <a:srgbClr val="292929"/>
                </a:solidFill>
                <a:effectLst/>
                <a:latin typeface="source-serif-pro"/>
              </a:rPr>
              <a:t>dive</a:t>
            </a:r>
            <a:r>
              <a:rPr lang="zh-CN" altLang="en-US" b="0" i="0" dirty="0">
                <a:solidFill>
                  <a:srgbClr val="292929"/>
                </a:solidFill>
                <a:effectLst/>
                <a:latin typeface="source-serif-pro"/>
              </a:rPr>
              <a:t> </a:t>
            </a:r>
            <a:r>
              <a:rPr lang="en-US" altLang="zh-CN" b="0" i="0" dirty="0">
                <a:solidFill>
                  <a:srgbClr val="292929"/>
                </a:solidFill>
                <a:effectLst/>
                <a:latin typeface="source-serif-pro"/>
              </a:rPr>
              <a:t>into</a:t>
            </a:r>
            <a:r>
              <a:rPr lang="zh-CN" altLang="en-US" b="0" i="0" dirty="0">
                <a:solidFill>
                  <a:srgbClr val="292929"/>
                </a:solidFill>
                <a:effectLst/>
                <a:latin typeface="source-serif-pro"/>
              </a:rPr>
              <a:t> </a:t>
            </a:r>
            <a:r>
              <a:rPr lang="en-US" altLang="zh-CN" b="0" i="0" dirty="0">
                <a:solidFill>
                  <a:srgbClr val="292929"/>
                </a:solidFill>
                <a:effectLst/>
                <a:latin typeface="source-serif-pro"/>
              </a:rPr>
              <a:t>details</a:t>
            </a:r>
            <a:r>
              <a:rPr lang="zh-CN" altLang="en-US" b="0" i="0" dirty="0">
                <a:solidFill>
                  <a:srgbClr val="292929"/>
                </a:solidFill>
                <a:effectLst/>
                <a:latin typeface="source-serif-pro"/>
              </a:rPr>
              <a:t> </a:t>
            </a:r>
            <a:r>
              <a:rPr lang="en-US" altLang="zh-CN" b="0" i="0" dirty="0">
                <a:solidFill>
                  <a:srgbClr val="292929"/>
                </a:solidFill>
                <a:effectLst/>
                <a:latin typeface="source-serif-pro"/>
              </a:rPr>
              <a:t>about</a:t>
            </a:r>
            <a:r>
              <a:rPr lang="zh-CN" altLang="en-US" b="0" i="0" dirty="0">
                <a:solidFill>
                  <a:srgbClr val="292929"/>
                </a:solidFill>
                <a:effectLst/>
                <a:latin typeface="source-serif-pro"/>
              </a:rPr>
              <a:t> </a:t>
            </a:r>
            <a:r>
              <a:rPr lang="en-US" altLang="zh-CN" b="0" i="0" dirty="0">
                <a:solidFill>
                  <a:srgbClr val="292929"/>
                </a:solidFill>
                <a:effectLst/>
                <a:latin typeface="source-serif-pro"/>
              </a:rPr>
              <a:t>the</a:t>
            </a:r>
            <a:r>
              <a:rPr lang="zh-CN" altLang="en-US" b="0" i="0" dirty="0">
                <a:solidFill>
                  <a:srgbClr val="292929"/>
                </a:solidFill>
                <a:effectLst/>
                <a:latin typeface="source-serif-pro"/>
              </a:rPr>
              <a:t> </a:t>
            </a:r>
            <a:r>
              <a:rPr lang="en-US" altLang="zh-CN" b="0" i="0" dirty="0">
                <a:solidFill>
                  <a:srgbClr val="292929"/>
                </a:solidFill>
                <a:effectLst/>
                <a:latin typeface="source-serif-pro"/>
              </a:rPr>
              <a:t>network</a:t>
            </a:r>
            <a:r>
              <a:rPr lang="zh-CN" altLang="en-US" b="0" i="0" dirty="0">
                <a:solidFill>
                  <a:srgbClr val="292929"/>
                </a:solidFill>
                <a:effectLst/>
                <a:latin typeface="source-serif-pro"/>
              </a:rPr>
              <a:t> </a:t>
            </a:r>
            <a:r>
              <a:rPr lang="en-US" altLang="zh-CN" b="0" i="0" dirty="0">
                <a:solidFill>
                  <a:srgbClr val="292929"/>
                </a:solidFill>
                <a:effectLst/>
                <a:latin typeface="source-serif-pro"/>
              </a:rPr>
              <a:t>architecture.</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31</a:t>
            </a:fld>
            <a:endParaRPr lang="en-US"/>
          </a:p>
        </p:txBody>
      </p:sp>
    </p:spTree>
    <p:extLst>
      <p:ext uri="{BB962C8B-B14F-4D97-AF65-F5344CB8AC3E}">
        <p14:creationId xmlns:p14="http://schemas.microsoft.com/office/powerpoint/2010/main" val="7250652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Given</a:t>
            </a:r>
            <a:r>
              <a:rPr lang="zh-CN" altLang="en-US" dirty="0"/>
              <a:t> </a:t>
            </a:r>
            <a:r>
              <a:rPr lang="en-US" altLang="zh-CN" dirty="0"/>
              <a:t>an</a:t>
            </a:r>
            <a:r>
              <a:rPr lang="zh-CN" altLang="en-US" dirty="0"/>
              <a:t> </a:t>
            </a:r>
            <a:r>
              <a:rPr lang="en-US" altLang="zh-CN" dirty="0"/>
              <a:t>input</a:t>
            </a:r>
            <a:r>
              <a:rPr lang="zh-CN" altLang="en-US" dirty="0"/>
              <a:t> </a:t>
            </a:r>
            <a:r>
              <a:rPr lang="en-US" altLang="zh-CN" dirty="0"/>
              <a:t>image,</a:t>
            </a:r>
            <a:r>
              <a:rPr lang="zh-CN" altLang="en-US" dirty="0"/>
              <a:t> </a:t>
            </a:r>
            <a:r>
              <a:rPr lang="en-US" altLang="zh-CN" dirty="0"/>
              <a:t>we</a:t>
            </a:r>
            <a:r>
              <a:rPr lang="zh-CN" altLang="en-US" dirty="0"/>
              <a:t> </a:t>
            </a:r>
            <a:r>
              <a:rPr lang="en-US" altLang="zh-CN" dirty="0"/>
              <a:t>will</a:t>
            </a:r>
            <a:r>
              <a:rPr lang="zh-CN" altLang="en-US" dirty="0"/>
              <a:t> </a:t>
            </a:r>
            <a:r>
              <a:rPr lang="en-US" altLang="zh-CN" dirty="0"/>
              <a:t>stack</a:t>
            </a:r>
            <a:r>
              <a:rPr lang="zh-CN" altLang="en-US" dirty="0"/>
              <a:t> </a:t>
            </a:r>
            <a:r>
              <a:rPr lang="en-US" altLang="zh-CN" dirty="0"/>
              <a:t>multiple</a:t>
            </a:r>
            <a:r>
              <a:rPr lang="zh-CN" altLang="en-US" dirty="0"/>
              <a:t> </a:t>
            </a:r>
            <a:r>
              <a:rPr lang="en-US" altLang="zh-CN" dirty="0" err="1"/>
              <a:t>ocnvolution</a:t>
            </a:r>
            <a:r>
              <a:rPr lang="zh-CN" altLang="en-US" dirty="0"/>
              <a:t> </a:t>
            </a:r>
            <a:r>
              <a:rPr lang="en-US" altLang="zh-CN" dirty="0"/>
              <a:t>blocks</a:t>
            </a:r>
            <a:r>
              <a:rPr lang="zh-CN" altLang="en-US" dirty="0"/>
              <a:t> </a:t>
            </a:r>
            <a:r>
              <a:rPr lang="en-US" altLang="zh-CN" dirty="0"/>
              <a:t>to</a:t>
            </a:r>
            <a:r>
              <a:rPr lang="zh-CN" altLang="en-US" dirty="0"/>
              <a:t> </a:t>
            </a:r>
            <a:r>
              <a:rPr lang="en-US" altLang="zh-CN" dirty="0"/>
              <a:t>obtain</a:t>
            </a:r>
            <a:r>
              <a:rPr lang="zh-CN" altLang="en-US" dirty="0"/>
              <a:t> </a:t>
            </a:r>
            <a:r>
              <a:rPr lang="en-US" altLang="zh-CN" dirty="0"/>
              <a:t>feature</a:t>
            </a:r>
            <a:r>
              <a:rPr lang="zh-CN" altLang="en-US" dirty="0"/>
              <a:t> </a:t>
            </a:r>
            <a:r>
              <a:rPr lang="en-US" altLang="zh-CN" dirty="0"/>
              <a:t>maps</a:t>
            </a:r>
            <a:r>
              <a:rPr lang="zh-CN" altLang="en-US" dirty="0"/>
              <a:t> </a:t>
            </a:r>
            <a:r>
              <a:rPr lang="en-US" altLang="zh-CN" dirty="0"/>
              <a:t>and</a:t>
            </a:r>
            <a:r>
              <a:rPr lang="zh-CN" altLang="en-US" dirty="0"/>
              <a:t> </a:t>
            </a:r>
            <a:r>
              <a:rPr lang="en-US" altLang="zh-CN" dirty="0"/>
              <a:t>flatten</a:t>
            </a:r>
            <a:r>
              <a:rPr lang="zh-CN" altLang="en-US" dirty="0"/>
              <a:t> </a:t>
            </a:r>
            <a:r>
              <a:rPr lang="en-US" altLang="zh-CN" dirty="0"/>
              <a:t>them</a:t>
            </a:r>
            <a:r>
              <a:rPr lang="zh-CN" altLang="en-US" dirty="0"/>
              <a:t> </a:t>
            </a:r>
            <a:r>
              <a:rPr lang="en-US" altLang="zh-CN" dirty="0"/>
              <a:t>to</a:t>
            </a:r>
            <a:r>
              <a:rPr lang="zh-CN" altLang="en-US" dirty="0"/>
              <a:t> </a:t>
            </a:r>
            <a:r>
              <a:rPr lang="en-US" altLang="zh-CN" dirty="0"/>
              <a:t>a</a:t>
            </a:r>
            <a:r>
              <a:rPr lang="zh-CN" altLang="en-US" dirty="0"/>
              <a:t> </a:t>
            </a:r>
            <a:r>
              <a:rPr lang="en-US" altLang="zh-CN" dirty="0"/>
              <a:t>feature</a:t>
            </a:r>
            <a:r>
              <a:rPr lang="zh-CN" altLang="en-US" dirty="0"/>
              <a:t> </a:t>
            </a:r>
            <a:r>
              <a:rPr lang="en-US" altLang="zh-CN" dirty="0"/>
              <a:t>vector.</a:t>
            </a:r>
            <a:r>
              <a:rPr lang="zh-CN" altLang="en-US" dirty="0"/>
              <a:t> </a:t>
            </a:r>
            <a:r>
              <a:rPr lang="en-US" altLang="zh-CN" dirty="0"/>
              <a:t>We</a:t>
            </a:r>
            <a:r>
              <a:rPr lang="zh-CN" altLang="en-US" dirty="0"/>
              <a:t> </a:t>
            </a:r>
            <a:r>
              <a:rPr lang="en-US" altLang="zh-CN" dirty="0"/>
              <a:t>further</a:t>
            </a:r>
            <a:r>
              <a:rPr lang="zh-CN" altLang="en-US" dirty="0"/>
              <a:t> </a:t>
            </a:r>
            <a:r>
              <a:rPr lang="en-US" altLang="zh-CN" dirty="0"/>
              <a:t>use</a:t>
            </a:r>
            <a:r>
              <a:rPr lang="zh-CN" altLang="en-US" dirty="0"/>
              <a:t> </a:t>
            </a:r>
            <a:r>
              <a:rPr lang="en-US" altLang="zh-CN" dirty="0"/>
              <a:t>FC</a:t>
            </a:r>
            <a:r>
              <a:rPr lang="zh-CN" altLang="en-US" dirty="0"/>
              <a:t> </a:t>
            </a:r>
            <a:r>
              <a:rPr lang="en-US" altLang="zh-CN" dirty="0"/>
              <a:t>layers</a:t>
            </a:r>
            <a:r>
              <a:rPr lang="zh-CN" altLang="en-US" dirty="0"/>
              <a:t> </a:t>
            </a:r>
            <a:r>
              <a:rPr lang="en-US" altLang="zh-CN" dirty="0"/>
              <a:t>to</a:t>
            </a:r>
            <a:r>
              <a:rPr lang="zh-CN" altLang="en-US" dirty="0"/>
              <a:t> </a:t>
            </a:r>
            <a:r>
              <a:rPr lang="en-US" altLang="zh-CN" dirty="0"/>
              <a:t>process</a:t>
            </a:r>
            <a:r>
              <a:rPr lang="zh-CN" altLang="en-US" dirty="0"/>
              <a:t> </a:t>
            </a:r>
            <a:r>
              <a:rPr lang="en-US" altLang="zh-CN" dirty="0"/>
              <a:t>the</a:t>
            </a:r>
            <a:r>
              <a:rPr lang="zh-CN" altLang="en-US" dirty="0"/>
              <a:t> </a:t>
            </a:r>
            <a:r>
              <a:rPr lang="en-US" altLang="zh-CN" dirty="0"/>
              <a:t>feature</a:t>
            </a:r>
            <a:r>
              <a:rPr lang="zh-CN" altLang="en-US" dirty="0"/>
              <a:t> </a:t>
            </a:r>
            <a:r>
              <a:rPr lang="en-US" altLang="zh-CN" dirty="0"/>
              <a:t>to</a:t>
            </a:r>
            <a:r>
              <a:rPr lang="zh-CN" altLang="en-US" dirty="0"/>
              <a:t> </a:t>
            </a:r>
            <a:r>
              <a:rPr lang="en-US" altLang="zh-CN" dirty="0"/>
              <a:t>make</a:t>
            </a:r>
            <a:r>
              <a:rPr lang="zh-CN" altLang="en-US" dirty="0"/>
              <a:t> </a:t>
            </a:r>
            <a:r>
              <a:rPr lang="en-US" altLang="zh-CN" dirty="0" err="1"/>
              <a:t>precition</a:t>
            </a:r>
            <a:r>
              <a:rPr lang="en-US" altLang="zh-CN" dirty="0"/>
              <a:t>.</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32</a:t>
            </a:fld>
            <a:endParaRPr lang="en-US"/>
          </a:p>
        </p:txBody>
      </p:sp>
    </p:spTree>
    <p:extLst>
      <p:ext uri="{BB962C8B-B14F-4D97-AF65-F5344CB8AC3E}">
        <p14:creationId xmlns:p14="http://schemas.microsoft.com/office/powerpoint/2010/main" val="16939664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4" name="Shape 13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First, let’s say we have a 32</a:t>
            </a:r>
            <a:r>
              <a:rPr lang="en-US" baseline="0" dirty="0"/>
              <a:t> by 32 RGB(3 channel) image.</a:t>
            </a:r>
            <a:endParaRPr lang="en-US" dirty="0"/>
          </a:p>
        </p:txBody>
      </p:sp>
    </p:spTree>
    <p:extLst>
      <p:ext uri="{BB962C8B-B14F-4D97-AF65-F5344CB8AC3E}">
        <p14:creationId xmlns:p14="http://schemas.microsoft.com/office/powerpoint/2010/main" val="42263569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8" name="Shape 14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Convolution layer has a set of “convolution filters” as its parameters.</a:t>
            </a:r>
            <a:endParaRPr dirty="0"/>
          </a:p>
        </p:txBody>
      </p:sp>
    </p:spTree>
    <p:extLst>
      <p:ext uri="{BB962C8B-B14F-4D97-AF65-F5344CB8AC3E}">
        <p14:creationId xmlns:p14="http://schemas.microsoft.com/office/powerpoint/2010/main" val="29034634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Shape 1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9" name="Shape 17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The convolution operation can also</a:t>
            </a:r>
            <a:r>
              <a:rPr lang="en-US" baseline="0" dirty="0"/>
              <a:t> be understood as taking the inner product of the input with the “convolution filter” at every location of the input. For example, at the location where the blue filter is currently at, the output is going to be a single number taking the result from the dot product between the filter and the portion of size 5*5*3.</a:t>
            </a:r>
            <a:endParaRPr dirty="0"/>
          </a:p>
        </p:txBody>
      </p:sp>
    </p:spTree>
    <p:extLst>
      <p:ext uri="{BB962C8B-B14F-4D97-AF65-F5344CB8AC3E}">
        <p14:creationId xmlns:p14="http://schemas.microsoft.com/office/powerpoint/2010/main" val="34521176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2" name="Shape 20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The </a:t>
            </a:r>
            <a:r>
              <a:rPr lang="en-US" baseline="0" dirty="0"/>
              <a:t>output activation map corresponding to one convolution filter will be the result such dot products at all spatial location of the input.</a:t>
            </a:r>
            <a:endParaRPr dirty="0"/>
          </a:p>
        </p:txBody>
      </p:sp>
    </p:spTree>
    <p:extLst>
      <p:ext uri="{BB962C8B-B14F-4D97-AF65-F5344CB8AC3E}">
        <p14:creationId xmlns:p14="http://schemas.microsoft.com/office/powerpoint/2010/main" val="97525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Shape 3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92" name="Shape 39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For this example, we’ll assume</a:t>
            </a:r>
            <a:r>
              <a:rPr lang="en-US" baseline="0" dirty="0"/>
              <a:t> we have a 7 by 7 single channel input image and a 3 by 3 single channel convolutional filter with the convolution stride of 1. Watch how the spatial extend is changing in a sliding windows fashion at the sliding resolution of 1.</a:t>
            </a:r>
            <a:endParaRPr dirty="0"/>
          </a:p>
        </p:txBody>
      </p:sp>
    </p:spTree>
    <p:extLst>
      <p:ext uri="{BB962C8B-B14F-4D97-AF65-F5344CB8AC3E}">
        <p14:creationId xmlns:p14="http://schemas.microsoft.com/office/powerpoint/2010/main" val="11619413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Shape 4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02" name="Shape 40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12040930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Shape 4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12" name="Shape 41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5443754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Shape 42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22" name="Shape 42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8563619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32" name="Shape 4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6301395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32" name="Shape 4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9808840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32" name="Shape 4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2610175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32" name="Shape 4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0801733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32" name="Shape 4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4322650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32" name="Shape 4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altLang="zh-CN" dirty="0"/>
              <a:t>We</a:t>
            </a:r>
            <a:r>
              <a:rPr lang="zh-CN" altLang="en-US" dirty="0"/>
              <a:t> </a:t>
            </a:r>
            <a:r>
              <a:rPr lang="en-US" altLang="zh-CN" dirty="0"/>
              <a:t>obtain</a:t>
            </a:r>
            <a:r>
              <a:rPr lang="zh-CN" altLang="en-US" dirty="0"/>
              <a:t> </a:t>
            </a:r>
            <a:r>
              <a:rPr lang="en-US" altLang="zh-CN" dirty="0"/>
              <a:t>a</a:t>
            </a:r>
            <a:r>
              <a:rPr lang="zh-CN" altLang="en-US" dirty="0"/>
              <a:t> </a:t>
            </a:r>
            <a:r>
              <a:rPr lang="en-US" altLang="zh-CN" dirty="0"/>
              <a:t>5x5</a:t>
            </a:r>
            <a:r>
              <a:rPr lang="zh-CN" altLang="en-US" dirty="0"/>
              <a:t> </a:t>
            </a:r>
            <a:r>
              <a:rPr lang="en-US" altLang="zh-CN" dirty="0"/>
              <a:t>output</a:t>
            </a:r>
            <a:r>
              <a:rPr lang="zh-CN" altLang="en-US" dirty="0"/>
              <a:t> </a:t>
            </a:r>
            <a:r>
              <a:rPr lang="en-US" altLang="zh-CN" dirty="0"/>
              <a:t>using</a:t>
            </a:r>
            <a:r>
              <a:rPr lang="zh-CN" altLang="en-US" dirty="0"/>
              <a:t> </a:t>
            </a:r>
            <a:r>
              <a:rPr lang="en-US" altLang="zh-CN" dirty="0"/>
              <a:t>a</a:t>
            </a:r>
            <a:r>
              <a:rPr lang="zh-CN" altLang="en-US" dirty="0"/>
              <a:t> </a:t>
            </a:r>
            <a:r>
              <a:rPr lang="en-US" altLang="zh-CN" dirty="0"/>
              <a:t>3x3</a:t>
            </a:r>
            <a:r>
              <a:rPr lang="zh-CN" altLang="en-US" dirty="0"/>
              <a:t> </a:t>
            </a:r>
            <a:r>
              <a:rPr lang="en-US" altLang="zh-CN" dirty="0"/>
              <a:t>filter</a:t>
            </a:r>
            <a:r>
              <a:rPr lang="zh-CN" altLang="en-US" dirty="0"/>
              <a:t> </a:t>
            </a:r>
            <a:r>
              <a:rPr lang="en-US" altLang="zh-CN" dirty="0"/>
              <a:t>for</a:t>
            </a:r>
            <a:r>
              <a:rPr lang="zh-CN" altLang="en-US" dirty="0"/>
              <a:t> </a:t>
            </a:r>
            <a:r>
              <a:rPr lang="en-US" altLang="zh-CN" dirty="0"/>
              <a:t>the</a:t>
            </a:r>
            <a:r>
              <a:rPr lang="zh-CN" altLang="en-US" dirty="0"/>
              <a:t> </a:t>
            </a:r>
            <a:r>
              <a:rPr lang="en-US" altLang="zh-CN" dirty="0"/>
              <a:t>7x7</a:t>
            </a:r>
            <a:r>
              <a:rPr lang="zh-CN" altLang="en-US" dirty="0"/>
              <a:t> </a:t>
            </a:r>
            <a:r>
              <a:rPr lang="en-US" altLang="zh-CN" dirty="0"/>
              <a:t>input.</a:t>
            </a:r>
            <a:endParaRPr dirty="0"/>
          </a:p>
        </p:txBody>
      </p:sp>
    </p:spTree>
    <p:extLst>
      <p:ext uri="{BB962C8B-B14F-4D97-AF65-F5344CB8AC3E}">
        <p14:creationId xmlns:p14="http://schemas.microsoft.com/office/powerpoint/2010/main" val="9677670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Shape 44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42" name="Shape 44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Now, if we increase the stride, we get smaller</a:t>
            </a:r>
            <a:r>
              <a:rPr lang="en-US" baseline="0" dirty="0"/>
              <a:t> output activation map because we evaluate the filter at less locations.</a:t>
            </a:r>
            <a:endParaRPr lang="en-US" dirty="0"/>
          </a:p>
          <a:p>
            <a:pPr lvl="0" rtl="0">
              <a:spcBef>
                <a:spcPts val="0"/>
              </a:spcBef>
              <a:buNone/>
            </a:pPr>
            <a:endParaRPr dirty="0"/>
          </a:p>
        </p:txBody>
      </p:sp>
    </p:spTree>
    <p:extLst>
      <p:ext uri="{BB962C8B-B14F-4D97-AF65-F5344CB8AC3E}">
        <p14:creationId xmlns:p14="http://schemas.microsoft.com/office/powerpoint/2010/main" val="3581799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Shape 4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52" name="Shape 45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More animation</a:t>
            </a:r>
            <a:endParaRPr dirty="0"/>
          </a:p>
        </p:txBody>
      </p:sp>
    </p:spTree>
    <p:extLst>
      <p:ext uri="{BB962C8B-B14F-4D97-AF65-F5344CB8AC3E}">
        <p14:creationId xmlns:p14="http://schemas.microsoft.com/office/powerpoint/2010/main" val="20394296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Shape 4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62" name="Shape 46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In fact, the output dimension is determined as (N-F)/S</a:t>
            </a:r>
            <a:r>
              <a:rPr lang="en-US" baseline="0" dirty="0"/>
              <a:t>+ 1 where N is the input dimension, F is the filter dimension, and S is the stride.</a:t>
            </a:r>
            <a:endParaRPr dirty="0"/>
          </a:p>
        </p:txBody>
      </p:sp>
    </p:spTree>
    <p:extLst>
      <p:ext uri="{BB962C8B-B14F-4D97-AF65-F5344CB8AC3E}">
        <p14:creationId xmlns:p14="http://schemas.microsoft.com/office/powerpoint/2010/main" val="42134518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Shape 4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72" name="Shape 47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If (N-F) is not divisible by S, then we have a problem because the last stride goes</a:t>
            </a:r>
            <a:r>
              <a:rPr lang="en-US" baseline="0" dirty="0"/>
              <a:t> out of the bound.</a:t>
            </a:r>
            <a:endParaRPr dirty="0"/>
          </a:p>
        </p:txBody>
      </p:sp>
    </p:spTree>
    <p:extLst>
      <p:ext uri="{BB962C8B-B14F-4D97-AF65-F5344CB8AC3E}">
        <p14:creationId xmlns:p14="http://schemas.microsoft.com/office/powerpoint/2010/main" val="20936303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Shape 4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72" name="Shape 47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If (N-F) is not divisible by S, then we have a problem because the last stride goes</a:t>
            </a:r>
            <a:r>
              <a:rPr lang="en-US" baseline="0" dirty="0"/>
              <a:t> out of the bound.</a:t>
            </a:r>
            <a:endParaRPr dirty="0"/>
          </a:p>
        </p:txBody>
      </p:sp>
    </p:spTree>
    <p:extLst>
      <p:ext uri="{BB962C8B-B14F-4D97-AF65-F5344CB8AC3E}">
        <p14:creationId xmlns:p14="http://schemas.microsoft.com/office/powerpoint/2010/main" val="35323258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Shape 4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82" name="Shape 48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So in this particular</a:t>
            </a:r>
            <a:r>
              <a:rPr lang="en-US" baseline="0" dirty="0"/>
              <a:t> example with input dimension 7 and filter dimension 3, stride of 3 doesn’t work.</a:t>
            </a:r>
            <a:endParaRPr dirty="0"/>
          </a:p>
        </p:txBody>
      </p:sp>
    </p:spTree>
    <p:extLst>
      <p:ext uri="{BB962C8B-B14F-4D97-AF65-F5344CB8AC3E}">
        <p14:creationId xmlns:p14="http://schemas.microsoft.com/office/powerpoint/2010/main" val="22933747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Shape 4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93" name="Shape 4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If we calculate the output</a:t>
            </a:r>
            <a:r>
              <a:rPr lang="en-US" baseline="0" dirty="0"/>
              <a:t> dimension at the stride of 1,2, and 3, we can see that we get a fraction of 2.33 as opposed to a nice integer.</a:t>
            </a:r>
            <a:endParaRPr dirty="0"/>
          </a:p>
        </p:txBody>
      </p:sp>
    </p:spTree>
    <p:extLst>
      <p:ext uri="{BB962C8B-B14F-4D97-AF65-F5344CB8AC3E}">
        <p14:creationId xmlns:p14="http://schemas.microsoft.com/office/powerpoint/2010/main" val="3778489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Shape 5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06" name="Shape 50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The</a:t>
            </a:r>
            <a:r>
              <a:rPr lang="en-US" baseline="0" dirty="0"/>
              <a:t> common fix is to pad the four sides of the input data with zeros (thus the name zero-padding). Going back to the problem with stride of 3, we can see that we can complete exactly 3 strides by zero-padding one additional columns and rows.</a:t>
            </a:r>
            <a:endParaRPr dirty="0"/>
          </a:p>
        </p:txBody>
      </p:sp>
    </p:spTree>
    <p:extLst>
      <p:ext uri="{BB962C8B-B14F-4D97-AF65-F5344CB8AC3E}">
        <p14:creationId xmlns:p14="http://schemas.microsoft.com/office/powerpoint/2010/main" val="25849879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Shape 51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15" name="Shape 51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In this case, we have a 7 by 7 output.</a:t>
            </a:r>
            <a:endParaRPr dirty="0"/>
          </a:p>
        </p:txBody>
      </p:sp>
    </p:spTree>
    <p:extLst>
      <p:ext uri="{BB962C8B-B14F-4D97-AF65-F5344CB8AC3E}">
        <p14:creationId xmlns:p14="http://schemas.microsoft.com/office/powerpoint/2010/main" val="23629197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Shape 5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3" name="Shape 52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In short, we can decide how many rows and</a:t>
            </a:r>
            <a:r>
              <a:rPr lang="en-US" baseline="0" dirty="0"/>
              <a:t> columns or zeros to augment to the input dimension by making sure (N-F) is divisible by the stride S.</a:t>
            </a:r>
            <a:endParaRPr dirty="0"/>
          </a:p>
        </p:txBody>
      </p:sp>
    </p:spTree>
    <p:extLst>
      <p:ext uri="{BB962C8B-B14F-4D97-AF65-F5344CB8AC3E}">
        <p14:creationId xmlns:p14="http://schemas.microsoft.com/office/powerpoint/2010/main" val="41845899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Shape 36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66" name="Shape 36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One</a:t>
            </a:r>
            <a:r>
              <a:rPr lang="en-US" baseline="0" dirty="0"/>
              <a:t> convolutional filter outputs one activation map.</a:t>
            </a:r>
            <a:endParaRPr dirty="0"/>
          </a:p>
        </p:txBody>
      </p:sp>
    </p:spTree>
    <p:extLst>
      <p:ext uri="{BB962C8B-B14F-4D97-AF65-F5344CB8AC3E}">
        <p14:creationId xmlns:p14="http://schemas.microsoft.com/office/powerpoint/2010/main" val="7759468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8" name="Shape 22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baseline="0" dirty="0"/>
              <a:t>Each convolution layer typically has tens to hundreds of such “convolutional filters” as the learning parameter. The full output is the concatenation of all convolution activation maps. To be concrete, if the layer has K convolutional filters, it’ll have K activation maps stacked on top of each other.</a:t>
            </a:r>
            <a:endParaRPr dirty="0"/>
          </a:p>
        </p:txBody>
      </p:sp>
    </p:spTree>
    <p:extLst>
      <p:ext uri="{BB962C8B-B14F-4D97-AF65-F5344CB8AC3E}">
        <p14:creationId xmlns:p14="http://schemas.microsoft.com/office/powerpoint/2010/main" val="14899017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6" name="Shape 25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dirty="0"/>
              <a:t>For example, if the convolution layer</a:t>
            </a:r>
            <a:r>
              <a:rPr lang="en-US" baseline="0" dirty="0"/>
              <a:t> has 6 convolutional filters as the learning parameter, the final output will be 6 convolution activation maps stacked on top of each other.</a:t>
            </a:r>
            <a:endParaRPr dirty="0"/>
          </a:p>
        </p:txBody>
      </p:sp>
    </p:spTree>
    <p:extLst>
      <p:ext uri="{BB962C8B-B14F-4D97-AF65-F5344CB8AC3E}">
        <p14:creationId xmlns:p14="http://schemas.microsoft.com/office/powerpoint/2010/main" val="36568046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Shape 2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9" name="Shape 27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dirty="0"/>
              <a:t>Now, convolutional</a:t>
            </a:r>
            <a:r>
              <a:rPr lang="en-US" baseline="0" dirty="0"/>
              <a:t> network is a neural network which has series of a set of convolutional layer followed by non-linearity layer. </a:t>
            </a:r>
            <a:r>
              <a:rPr lang="en-US" baseline="0" dirty="0" err="1"/>
              <a:t>ReLU</a:t>
            </a:r>
            <a:r>
              <a:rPr lang="en-US" baseline="0" dirty="0"/>
              <a:t> here is the same non-linearity we saw earlier which clips negative values to zero.</a:t>
            </a:r>
          </a:p>
        </p:txBody>
      </p:sp>
    </p:spTree>
    <p:extLst>
      <p:ext uri="{BB962C8B-B14F-4D97-AF65-F5344CB8AC3E}">
        <p14:creationId xmlns:p14="http://schemas.microsoft.com/office/powerpoint/2010/main" val="10776966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Shape 2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95" name="Shape 29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US" altLang="zh-CN" baseline="0" dirty="0"/>
              <a:t>We</a:t>
            </a:r>
            <a:r>
              <a:rPr lang="zh-CN" altLang="en-US" baseline="0" dirty="0"/>
              <a:t> </a:t>
            </a:r>
            <a:r>
              <a:rPr lang="en-US" altLang="zh-CN" baseline="0" dirty="0"/>
              <a:t>can</a:t>
            </a:r>
            <a:r>
              <a:rPr lang="zh-CN" altLang="en-US" baseline="0" dirty="0"/>
              <a:t> </a:t>
            </a:r>
            <a:r>
              <a:rPr lang="en-US" altLang="zh-CN" baseline="0" dirty="0"/>
              <a:t>then</a:t>
            </a:r>
            <a:r>
              <a:rPr lang="zh-CN" altLang="en-US" baseline="0" dirty="0"/>
              <a:t> </a:t>
            </a:r>
            <a:r>
              <a:rPr lang="en-US" altLang="zh-CN" baseline="0" dirty="0"/>
              <a:t>stack</a:t>
            </a:r>
            <a:r>
              <a:rPr lang="zh-CN" altLang="en-US" baseline="0" dirty="0"/>
              <a:t> </a:t>
            </a:r>
            <a:r>
              <a:rPr lang="en-US" altLang="zh-CN" baseline="0" dirty="0"/>
              <a:t>multiple</a:t>
            </a:r>
            <a:r>
              <a:rPr lang="zh-CN" altLang="en-US" baseline="0" dirty="0"/>
              <a:t> </a:t>
            </a:r>
            <a:r>
              <a:rPr lang="en-US" altLang="zh-CN" baseline="0" dirty="0"/>
              <a:t>CONV-RELU</a:t>
            </a:r>
            <a:r>
              <a:rPr lang="zh-CN" altLang="en-US" baseline="0" dirty="0"/>
              <a:t> </a:t>
            </a:r>
            <a:r>
              <a:rPr lang="en-US" altLang="zh-CN" baseline="0" dirty="0"/>
              <a:t>blocks.</a:t>
            </a:r>
            <a:r>
              <a:rPr lang="zh-CN" altLang="en-US" baseline="0" dirty="0"/>
              <a:t> </a:t>
            </a:r>
            <a:endParaRPr lang="en-US" baseline="0" dirty="0"/>
          </a:p>
        </p:txBody>
      </p:sp>
    </p:spTree>
    <p:extLst>
      <p:ext uri="{BB962C8B-B14F-4D97-AF65-F5344CB8AC3E}">
        <p14:creationId xmlns:p14="http://schemas.microsoft.com/office/powerpoint/2010/main" val="5759774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talk about the</a:t>
            </a:r>
            <a:r>
              <a:rPr lang="en-US" baseline="0" dirty="0"/>
              <a:t> pooling layer.</a:t>
            </a:r>
            <a:endParaRPr lang="en-US" dirty="0"/>
          </a:p>
        </p:txBody>
      </p:sp>
      <p:sp>
        <p:nvSpPr>
          <p:cNvPr id="4" name="Slide Number Placeholder 3"/>
          <p:cNvSpPr>
            <a:spLocks noGrp="1"/>
          </p:cNvSpPr>
          <p:nvPr>
            <p:ph type="sldNum" sz="quarter" idx="10"/>
          </p:nvPr>
        </p:nvSpPr>
        <p:spPr/>
        <p:txBody>
          <a:bodyPr/>
          <a:lstStyle/>
          <a:p>
            <a:fld id="{66DDDD5A-7D70-411A-9162-C18B851F4D22}" type="slidenum">
              <a:rPr lang="en-US" smtClean="0"/>
              <a:pPr/>
              <a:t>62</a:t>
            </a:fld>
            <a:endParaRPr lang="en-US"/>
          </a:p>
        </p:txBody>
      </p:sp>
    </p:spTree>
    <p:extLst>
      <p:ext uri="{BB962C8B-B14F-4D97-AF65-F5344CB8AC3E}">
        <p14:creationId xmlns:p14="http://schemas.microsoft.com/office/powerpoint/2010/main" val="19297696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Shape 7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46" name="Shape 7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Pooling layer can be understood</a:t>
            </a:r>
            <a:r>
              <a:rPr lang="en-US" baseline="0" dirty="0"/>
              <a:t> as a down-sampling layer. The benefit of the pooling layer is that it makes the representations smaller in size and thus more manageable and also that it makes the representation more robust to small noise. Let’s take a look at “max-pooling” layer for example.</a:t>
            </a:r>
            <a:endParaRPr dirty="0"/>
          </a:p>
        </p:txBody>
      </p:sp>
    </p:spTree>
    <p:extLst>
      <p:ext uri="{BB962C8B-B14F-4D97-AF65-F5344CB8AC3E}">
        <p14:creationId xmlns:p14="http://schemas.microsoft.com/office/powerpoint/2010/main" val="7345884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Shape 7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53" name="Shape 75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Max</a:t>
            </a:r>
            <a:r>
              <a:rPr lang="en-US" baseline="0" dirty="0"/>
              <a:t> pooling layer basically convolves the input representation with a special parameter-less convolution filter which outputs the maximum of its spatial extent as opposed to the conventional convolution operations which outputs the inner-product values. Using the max value makes the representation robust against small noise present in the input representations.</a:t>
            </a:r>
            <a:endParaRPr dirty="0"/>
          </a:p>
        </p:txBody>
      </p:sp>
    </p:spTree>
    <p:extLst>
      <p:ext uri="{BB962C8B-B14F-4D97-AF65-F5344CB8AC3E}">
        <p14:creationId xmlns:p14="http://schemas.microsoft.com/office/powerpoint/2010/main" val="11103738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Weights are parameters of conv layers and FC layers. These weights are learned from data. Supervised learning is used to train these weights. A learning procedure called back-propagation is widely used.</a:t>
            </a:r>
            <a:endParaRPr lang="en-US" dirty="0"/>
          </a:p>
        </p:txBody>
      </p:sp>
      <p:sp>
        <p:nvSpPr>
          <p:cNvPr id="4" name="Slide Number Placeholder 3"/>
          <p:cNvSpPr>
            <a:spLocks noGrp="1"/>
          </p:cNvSpPr>
          <p:nvPr>
            <p:ph type="sldNum" sz="quarter" idx="10"/>
          </p:nvPr>
        </p:nvSpPr>
        <p:spPr/>
        <p:txBody>
          <a:bodyPr/>
          <a:lstStyle/>
          <a:p>
            <a:fld id="{66DDDD5A-7D70-411A-9162-C18B851F4D22}" type="slidenum">
              <a:rPr lang="en-US" smtClean="0"/>
              <a:pPr/>
              <a:t>65</a:t>
            </a:fld>
            <a:endParaRPr lang="en-US"/>
          </a:p>
        </p:txBody>
      </p:sp>
    </p:spTree>
    <p:extLst>
      <p:ext uri="{BB962C8B-B14F-4D97-AF65-F5344CB8AC3E}">
        <p14:creationId xmlns:p14="http://schemas.microsoft.com/office/powerpoint/2010/main" val="3784296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Shape 35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9" name="Shape 35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At the end of the convolutional network,</a:t>
            </a:r>
            <a:r>
              <a:rPr lang="en-US" baseline="0" dirty="0"/>
              <a:t> we can add a fully connected layer (matrix multiplication layer) and train a classifier which takes the convolutional activation map as input and outputs a probability vector corresponding the the classification likelihood. </a:t>
            </a:r>
          </a:p>
          <a:p>
            <a:pPr lvl="0">
              <a:spcBef>
                <a:spcPts val="0"/>
              </a:spcBef>
              <a:buNone/>
            </a:pPr>
            <a:endParaRPr lang="en-US" baseline="0" dirty="0"/>
          </a:p>
          <a:p>
            <a:pPr lvl="0">
              <a:spcBef>
                <a:spcPts val="0"/>
              </a:spcBef>
              <a:buNone/>
            </a:pPr>
            <a:r>
              <a:rPr lang="en-US" b="0" i="0" dirty="0">
                <a:solidFill>
                  <a:srgbClr val="575651"/>
                </a:solidFill>
                <a:effectLst/>
                <a:latin typeface="Roboto" panose="020F0502020204030204" pitchFamily="34" charset="0"/>
              </a:rPr>
              <a:t>The activations of an example </a:t>
            </a:r>
            <a:r>
              <a:rPr lang="en-US" b="0" i="0" dirty="0" err="1">
                <a:solidFill>
                  <a:srgbClr val="575651"/>
                </a:solidFill>
                <a:effectLst/>
                <a:latin typeface="Roboto" panose="020F0502020204030204" pitchFamily="34" charset="0"/>
              </a:rPr>
              <a:t>ConvNet</a:t>
            </a:r>
            <a:r>
              <a:rPr lang="en-US" b="0" i="0" dirty="0">
                <a:solidFill>
                  <a:srgbClr val="575651"/>
                </a:solidFill>
                <a:effectLst/>
                <a:latin typeface="Roboto" panose="020F0502020204030204" pitchFamily="34" charset="0"/>
              </a:rPr>
              <a:t> architecture. The initial volume stores the raw image pixels (left) and the last volume stores the class scores (right). Each volume of activations along the processing path is shown as a column. Since it's difficult to visualize 3D volumes, we lay out each volume's slices in rows. The last layer volume holds the scores for each class, but here we only visualize the sorted top 5 scores, and print the labels of each one.</a:t>
            </a:r>
            <a:endParaRPr dirty="0"/>
          </a:p>
        </p:txBody>
      </p:sp>
    </p:spTree>
    <p:extLst>
      <p:ext uri="{BB962C8B-B14F-4D97-AF65-F5344CB8AC3E}">
        <p14:creationId xmlns:p14="http://schemas.microsoft.com/office/powerpoint/2010/main" val="34547843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image classification as an example. One </a:t>
            </a:r>
            <a:r>
              <a:rPr lang="en-US" dirty="0" err="1"/>
              <a:t>representive</a:t>
            </a:r>
            <a:r>
              <a:rPr lang="en-US" dirty="0"/>
              <a:t> image classification dataset is </a:t>
            </a:r>
            <a:r>
              <a:rPr lang="en-US" dirty="0" err="1"/>
              <a:t>Imagenet</a:t>
            </a:r>
            <a:r>
              <a:rPr lang="en-US" dirty="0"/>
              <a:t>. It </a:t>
            </a:r>
          </a:p>
        </p:txBody>
      </p:sp>
      <p:sp>
        <p:nvSpPr>
          <p:cNvPr id="4" name="Slide Number Placeholder 3"/>
          <p:cNvSpPr>
            <a:spLocks noGrp="1"/>
          </p:cNvSpPr>
          <p:nvPr>
            <p:ph type="sldNum" sz="quarter" idx="5"/>
          </p:nvPr>
        </p:nvSpPr>
        <p:spPr/>
        <p:txBody>
          <a:bodyPr/>
          <a:lstStyle/>
          <a:p>
            <a:fld id="{C149EEB9-1E5D-4336-B1B3-152F63E4D131}" type="slidenum">
              <a:rPr lang="en-US" smtClean="0"/>
              <a:t>69</a:t>
            </a:fld>
            <a:endParaRPr lang="en-US"/>
          </a:p>
        </p:txBody>
      </p:sp>
    </p:spTree>
    <p:extLst>
      <p:ext uri="{BB962C8B-B14F-4D97-AF65-F5344CB8AC3E}">
        <p14:creationId xmlns:p14="http://schemas.microsoft.com/office/powerpoint/2010/main" val="13153754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use a 1 layer fully-connected layer to address the image classification task. </a:t>
            </a:r>
          </a:p>
        </p:txBody>
      </p:sp>
      <p:sp>
        <p:nvSpPr>
          <p:cNvPr id="4" name="Slide Number Placeholder 3"/>
          <p:cNvSpPr>
            <a:spLocks noGrp="1"/>
          </p:cNvSpPr>
          <p:nvPr>
            <p:ph type="sldNum" sz="quarter" idx="5"/>
          </p:nvPr>
        </p:nvSpPr>
        <p:spPr/>
        <p:txBody>
          <a:bodyPr/>
          <a:lstStyle/>
          <a:p>
            <a:fld id="{C149EEB9-1E5D-4336-B1B3-152F63E4D131}" type="slidenum">
              <a:rPr lang="en-US" smtClean="0"/>
              <a:t>70</a:t>
            </a:fld>
            <a:endParaRPr lang="en-US"/>
          </a:p>
        </p:txBody>
      </p:sp>
    </p:spTree>
    <p:extLst>
      <p:ext uri="{BB962C8B-B14F-4D97-AF65-F5344CB8AC3E}">
        <p14:creationId xmlns:p14="http://schemas.microsoft.com/office/powerpoint/2010/main" val="42760939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Sigma(y) the predicted class distribution, which has m values and sum of the m values is 1. We hope the predicted sigma(y) is close to the ground truth.</a:t>
            </a:r>
          </a:p>
        </p:txBody>
      </p:sp>
      <p:sp>
        <p:nvSpPr>
          <p:cNvPr id="4" name="Slide Number Placeholder 3"/>
          <p:cNvSpPr>
            <a:spLocks noGrp="1"/>
          </p:cNvSpPr>
          <p:nvPr>
            <p:ph type="sldNum" sz="quarter" idx="5"/>
          </p:nvPr>
        </p:nvSpPr>
        <p:spPr/>
        <p:txBody>
          <a:bodyPr/>
          <a:lstStyle/>
          <a:p>
            <a:fld id="{C149EEB9-1E5D-4336-B1B3-152F63E4D131}" type="slidenum">
              <a:rPr lang="en-US" smtClean="0"/>
              <a:t>72</a:t>
            </a:fld>
            <a:endParaRPr lang="en-US"/>
          </a:p>
        </p:txBody>
      </p:sp>
    </p:spTree>
    <p:extLst>
      <p:ext uri="{BB962C8B-B14F-4D97-AF65-F5344CB8AC3E}">
        <p14:creationId xmlns:p14="http://schemas.microsoft.com/office/powerpoint/2010/main" val="14286451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73</a:t>
            </a:fld>
            <a:endParaRPr lang="en-US"/>
          </a:p>
        </p:txBody>
      </p:sp>
    </p:spTree>
    <p:extLst>
      <p:ext uri="{BB962C8B-B14F-4D97-AF65-F5344CB8AC3E}">
        <p14:creationId xmlns:p14="http://schemas.microsoft.com/office/powerpoint/2010/main" val="30007359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74</a:t>
            </a:fld>
            <a:endParaRPr lang="en-US"/>
          </a:p>
        </p:txBody>
      </p:sp>
    </p:spTree>
    <p:extLst>
      <p:ext uri="{BB962C8B-B14F-4D97-AF65-F5344CB8AC3E}">
        <p14:creationId xmlns:p14="http://schemas.microsoft.com/office/powerpoint/2010/main" val="33007096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When </a:t>
            </a:r>
            <a:r>
              <a:rPr lang="en-US" b="0" i="1" dirty="0">
                <a:solidFill>
                  <a:srgbClr val="202122"/>
                </a:solidFill>
                <a:effectLst/>
                <a:latin typeface="Nimbus Roman No9 L"/>
              </a:rPr>
              <a:t>t</a:t>
            </a:r>
            <a:r>
              <a:rPr lang="en-US" b="0" i="0" dirty="0">
                <a:solidFill>
                  <a:srgbClr val="202122"/>
                </a:solidFill>
                <a:effectLst/>
                <a:latin typeface="Arial" panose="020B0604020202020204" pitchFamily="34" charset="0"/>
              </a:rPr>
              <a:t> and </a:t>
            </a:r>
            <a:r>
              <a:rPr lang="en-US" b="0" i="1" dirty="0">
                <a:solidFill>
                  <a:srgbClr val="202122"/>
                </a:solidFill>
                <a:effectLst/>
                <a:latin typeface="Nimbus Roman No9 L"/>
              </a:rPr>
              <a:t>y</a:t>
            </a:r>
            <a:r>
              <a:rPr lang="en-US" b="0" i="0" dirty="0">
                <a:solidFill>
                  <a:srgbClr val="202122"/>
                </a:solidFill>
                <a:effectLst/>
                <a:latin typeface="Arial" panose="020B0604020202020204" pitchFamily="34" charset="0"/>
              </a:rPr>
              <a:t> have the same sign (meaning </a:t>
            </a:r>
            <a:r>
              <a:rPr lang="en-US" b="0" i="1" dirty="0">
                <a:solidFill>
                  <a:srgbClr val="202122"/>
                </a:solidFill>
                <a:effectLst/>
                <a:latin typeface="Nimbus Roman No9 L"/>
              </a:rPr>
              <a:t>y</a:t>
            </a:r>
            <a:r>
              <a:rPr lang="en-US" b="0" i="0" dirty="0">
                <a:solidFill>
                  <a:srgbClr val="202122"/>
                </a:solidFill>
                <a:effectLst/>
                <a:latin typeface="Arial" panose="020B0604020202020204" pitchFamily="34" charset="0"/>
              </a:rPr>
              <a:t> predicts the right class) and |�|≥1, the hinge loss ℓ(�)=0. When they have opposite signs, ℓ(�) increases linearly with </a:t>
            </a:r>
            <a:r>
              <a:rPr lang="en-US" b="0" i="1" dirty="0">
                <a:solidFill>
                  <a:srgbClr val="202122"/>
                </a:solidFill>
                <a:effectLst/>
                <a:latin typeface="Nimbus Roman No9 L"/>
              </a:rPr>
              <a:t>y</a:t>
            </a:r>
            <a:r>
              <a:rPr lang="en-US" b="0" i="0" dirty="0">
                <a:solidFill>
                  <a:srgbClr val="202122"/>
                </a:solidFill>
                <a:effectLst/>
                <a:latin typeface="Arial" panose="020B0604020202020204" pitchFamily="34" charset="0"/>
              </a:rPr>
              <a:t>, and similarly if |�|&lt;1, even if it has the same sign (correct prediction, but not by enough margin).</a:t>
            </a:r>
          </a:p>
          <a:p>
            <a:endParaRPr lang="en-US" b="0" i="0" dirty="0">
              <a:solidFill>
                <a:srgbClr val="202122"/>
              </a:solidFill>
              <a:effectLst/>
              <a:latin typeface="Arial" panose="020B0604020202020204" pitchFamily="34" charset="0"/>
            </a:endParaRPr>
          </a:p>
          <a:p>
            <a:r>
              <a:rPr lang="en-US" b="0" i="0" dirty="0">
                <a:solidFill>
                  <a:srgbClr val="000000"/>
                </a:solidFill>
                <a:effectLst/>
                <a:latin typeface="Raleway" pitchFamily="2" charset="77"/>
              </a:rPr>
              <a:t>In terms of accuracy, the “</a:t>
            </a:r>
            <a:r>
              <a:rPr lang="en-US" b="0" i="0" u="none" strike="noStrike" dirty="0">
                <a:solidFill>
                  <a:srgbClr val="2456B4"/>
                </a:solidFill>
                <a:effectLst/>
                <a:latin typeface="Raleway" pitchFamily="2" charset="77"/>
                <a:hlinkClick r:id="rId3"/>
              </a:rPr>
              <a:t>No Free Lunch Theorem</a:t>
            </a:r>
            <a:r>
              <a:rPr lang="en-US" b="0" i="0" dirty="0">
                <a:solidFill>
                  <a:srgbClr val="000000"/>
                </a:solidFill>
                <a:effectLst/>
                <a:latin typeface="Raleway" pitchFamily="2" charset="77"/>
              </a:rPr>
              <a:t>” asserts that we can’t say that one is better than the other in all possible settings. Generally speaking, however, since the logistic loss function considers all the data points, it could be more prone to outliers leading to lower accuracy than the hinge loss. This doesn’t happen to hinge loss because, as mentioned above, it ignores most samples and considers only the points nearest to the separating hyperplane.</a:t>
            </a:r>
            <a:endParaRPr lang="en-US" b="0" i="0" dirty="0">
              <a:solidFill>
                <a:srgbClr val="202122"/>
              </a:solidFill>
              <a:effectLst/>
              <a:latin typeface="Arial" panose="020B0604020202020204" pitchFamily="34" charset="0"/>
            </a:endParaRPr>
          </a:p>
          <a:p>
            <a:endParaRPr lang="en-US" b="0" i="0" dirty="0">
              <a:solidFill>
                <a:srgbClr val="202122"/>
              </a:solidFill>
              <a:effectLst/>
              <a:latin typeface="Arial" panose="020B0604020202020204" pitchFamily="34" charset="0"/>
            </a:endParaRPr>
          </a:p>
          <a:p>
            <a:r>
              <a:rPr lang="en-US" b="0" i="0" dirty="0">
                <a:solidFill>
                  <a:srgbClr val="000000"/>
                </a:solidFill>
                <a:effectLst/>
                <a:latin typeface="Raleway" pitchFamily="2" charset="77"/>
              </a:rPr>
              <a:t>The hinge loss isn’t differentiable everywhere but is convex and simple to compute and optimize. The logistic loss is differentiable everywhere but doesn’t necessarily produce the widest margin between the opposing classes in binary classification.</a:t>
            </a:r>
            <a:endParaRPr lang="en-US" b="0" i="0" dirty="0">
              <a:solidFill>
                <a:srgbClr val="202122"/>
              </a:solidFill>
              <a:effectLst/>
              <a:latin typeface="Arial" panose="020B0604020202020204" pitchFamily="34" charset="0"/>
            </a:endParaRPr>
          </a:p>
          <a:p>
            <a:r>
              <a:rPr lang="en-US" b="0" i="0" dirty="0">
                <a:solidFill>
                  <a:srgbClr val="000000"/>
                </a:solidFill>
                <a:effectLst/>
                <a:latin typeface="Raleway" panose="020F0502020204030204" pitchFamily="34" charset="0"/>
              </a:rPr>
              <a:t>the hinge loss takes into account only the training samples around the boundary and maximizes the boundary’s distance from them. In contrast, </a:t>
            </a:r>
            <a:r>
              <a:rPr lang="en-US" b="1" i="0" dirty="0">
                <a:solidFill>
                  <a:srgbClr val="000000"/>
                </a:solidFill>
                <a:effectLst/>
                <a:latin typeface="Raleway" pitchFamily="2" charset="77"/>
              </a:rPr>
              <a:t>the logistic loss might not produce maximum margins</a:t>
            </a:r>
            <a:r>
              <a:rPr lang="en-US" b="0" i="0" dirty="0">
                <a:solidFill>
                  <a:srgbClr val="000000"/>
                </a:solidFill>
                <a:effectLst/>
                <a:latin typeface="Raleway" pitchFamily="2" charset="77"/>
              </a:rPr>
              <a:t>. The reason is that all the samples affect it.</a:t>
            </a:r>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84</a:t>
            </a:fld>
            <a:endParaRPr lang="en-US"/>
          </a:p>
        </p:txBody>
      </p:sp>
    </p:spTree>
    <p:extLst>
      <p:ext uri="{BB962C8B-B14F-4D97-AF65-F5344CB8AC3E}">
        <p14:creationId xmlns:p14="http://schemas.microsoft.com/office/powerpoint/2010/main" val="7808566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F67B5-1257-780B-142F-D9471B61D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0C99E-4693-4EEF-8713-A2C69DB9FE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66DF47-3366-83B4-0863-018B39C27A53}"/>
              </a:ext>
            </a:extLst>
          </p:cNvPr>
          <p:cNvSpPr>
            <a:spLocks noGrp="1"/>
          </p:cNvSpPr>
          <p:nvPr>
            <p:ph type="body" idx="1"/>
          </p:nvPr>
        </p:nvSpPr>
        <p:spPr/>
        <p:txBody>
          <a:bodyPr/>
          <a:lstStyle/>
          <a:p>
            <a:r>
              <a:rPr lang="en-US" b="0" i="0" dirty="0">
                <a:solidFill>
                  <a:srgbClr val="202122"/>
                </a:solidFill>
                <a:effectLst/>
                <a:latin typeface="Arial" panose="020B0604020202020204" pitchFamily="34" charset="0"/>
              </a:rPr>
              <a:t>When </a:t>
            </a:r>
            <a:r>
              <a:rPr lang="en-US" b="0" i="1" dirty="0">
                <a:solidFill>
                  <a:srgbClr val="202122"/>
                </a:solidFill>
                <a:effectLst/>
                <a:latin typeface="Nimbus Roman No9 L"/>
              </a:rPr>
              <a:t>t</a:t>
            </a:r>
            <a:r>
              <a:rPr lang="en-US" b="0" i="0" dirty="0">
                <a:solidFill>
                  <a:srgbClr val="202122"/>
                </a:solidFill>
                <a:effectLst/>
                <a:latin typeface="Arial" panose="020B0604020202020204" pitchFamily="34" charset="0"/>
              </a:rPr>
              <a:t> and </a:t>
            </a:r>
            <a:r>
              <a:rPr lang="en-US" b="0" i="1" dirty="0">
                <a:solidFill>
                  <a:srgbClr val="202122"/>
                </a:solidFill>
                <a:effectLst/>
                <a:latin typeface="Nimbus Roman No9 L"/>
              </a:rPr>
              <a:t>y</a:t>
            </a:r>
            <a:r>
              <a:rPr lang="en-US" b="0" i="0" dirty="0">
                <a:solidFill>
                  <a:srgbClr val="202122"/>
                </a:solidFill>
                <a:effectLst/>
                <a:latin typeface="Arial" panose="020B0604020202020204" pitchFamily="34" charset="0"/>
              </a:rPr>
              <a:t> have the same sign (meaning </a:t>
            </a:r>
            <a:r>
              <a:rPr lang="en-US" b="0" i="1" dirty="0">
                <a:solidFill>
                  <a:srgbClr val="202122"/>
                </a:solidFill>
                <a:effectLst/>
                <a:latin typeface="Nimbus Roman No9 L"/>
              </a:rPr>
              <a:t>y</a:t>
            </a:r>
            <a:r>
              <a:rPr lang="en-US" b="0" i="0" dirty="0">
                <a:solidFill>
                  <a:srgbClr val="202122"/>
                </a:solidFill>
                <a:effectLst/>
                <a:latin typeface="Arial" panose="020B0604020202020204" pitchFamily="34" charset="0"/>
              </a:rPr>
              <a:t> predicts the right class) and |�|≥1, the hinge loss ℓ(�)=0. When they have opposite signs, ℓ(�) increases linearly with </a:t>
            </a:r>
            <a:r>
              <a:rPr lang="en-US" b="0" i="1" dirty="0">
                <a:solidFill>
                  <a:srgbClr val="202122"/>
                </a:solidFill>
                <a:effectLst/>
                <a:latin typeface="Nimbus Roman No9 L"/>
              </a:rPr>
              <a:t>y</a:t>
            </a:r>
            <a:r>
              <a:rPr lang="en-US" b="0" i="0" dirty="0">
                <a:solidFill>
                  <a:srgbClr val="202122"/>
                </a:solidFill>
                <a:effectLst/>
                <a:latin typeface="Arial" panose="020B0604020202020204" pitchFamily="34" charset="0"/>
              </a:rPr>
              <a:t>, and similarly if |�|&lt;1, even if it has the same sign (correct prediction, but not by enough margin).</a:t>
            </a:r>
          </a:p>
          <a:p>
            <a:endParaRPr lang="en-US" b="0" i="0" dirty="0">
              <a:solidFill>
                <a:srgbClr val="202122"/>
              </a:solidFill>
              <a:effectLst/>
              <a:latin typeface="Arial" panose="020B0604020202020204" pitchFamily="34" charset="0"/>
            </a:endParaRPr>
          </a:p>
          <a:p>
            <a:r>
              <a:rPr lang="en-US" b="0" i="0" dirty="0">
                <a:solidFill>
                  <a:srgbClr val="000000"/>
                </a:solidFill>
                <a:effectLst/>
                <a:latin typeface="Raleway" pitchFamily="2" charset="77"/>
              </a:rPr>
              <a:t>In terms of accuracy, the “</a:t>
            </a:r>
            <a:r>
              <a:rPr lang="en-US" b="0" i="0" u="none" strike="noStrike" dirty="0">
                <a:solidFill>
                  <a:srgbClr val="2456B4"/>
                </a:solidFill>
                <a:effectLst/>
                <a:latin typeface="Raleway" pitchFamily="2" charset="77"/>
                <a:hlinkClick r:id="rId3"/>
              </a:rPr>
              <a:t>No Free Lunch Theorem</a:t>
            </a:r>
            <a:r>
              <a:rPr lang="en-US" b="0" i="0" dirty="0">
                <a:solidFill>
                  <a:srgbClr val="000000"/>
                </a:solidFill>
                <a:effectLst/>
                <a:latin typeface="Raleway" pitchFamily="2" charset="77"/>
              </a:rPr>
              <a:t>” asserts that we can’t say that one is better than the other in all possible settings. Generally speaking, however, since the logistic loss function considers all the data points, it could be more prone to outliers leading to lower accuracy than the hinge loss. This doesn’t happen to hinge loss because, as mentioned above, it ignores most samples and considers only the points nearest to the separating hyperplane.</a:t>
            </a:r>
            <a:endParaRPr lang="en-US" b="0" i="0" dirty="0">
              <a:solidFill>
                <a:srgbClr val="202122"/>
              </a:solidFill>
              <a:effectLst/>
              <a:latin typeface="Arial" panose="020B0604020202020204" pitchFamily="34" charset="0"/>
            </a:endParaRPr>
          </a:p>
          <a:p>
            <a:endParaRPr lang="en-US" b="0" i="0" dirty="0">
              <a:solidFill>
                <a:srgbClr val="202122"/>
              </a:solidFill>
              <a:effectLst/>
              <a:latin typeface="Arial" panose="020B0604020202020204" pitchFamily="34" charset="0"/>
            </a:endParaRPr>
          </a:p>
          <a:p>
            <a:r>
              <a:rPr lang="en-US" b="0" i="0" dirty="0">
                <a:solidFill>
                  <a:srgbClr val="000000"/>
                </a:solidFill>
                <a:effectLst/>
                <a:latin typeface="Raleway" pitchFamily="2" charset="77"/>
              </a:rPr>
              <a:t>The hinge loss isn’t differentiable everywhere but is convex and simple to compute and optimize. The logistic loss is differentiable everywhere but doesn’t necessarily produce the widest margin between the opposing classes in binary classification.</a:t>
            </a:r>
            <a:endParaRPr lang="en-US" b="0" i="0" dirty="0">
              <a:solidFill>
                <a:srgbClr val="202122"/>
              </a:solidFill>
              <a:effectLst/>
              <a:latin typeface="Arial" panose="020B0604020202020204" pitchFamily="34" charset="0"/>
            </a:endParaRPr>
          </a:p>
          <a:p>
            <a:r>
              <a:rPr lang="en-US" b="0" i="0" dirty="0">
                <a:solidFill>
                  <a:srgbClr val="000000"/>
                </a:solidFill>
                <a:effectLst/>
                <a:latin typeface="Raleway" panose="020F0502020204030204" pitchFamily="34" charset="0"/>
              </a:rPr>
              <a:t>the hinge loss takes into account only the training samples around the boundary and maximizes the boundary’s distance from them. In contrast, </a:t>
            </a:r>
            <a:r>
              <a:rPr lang="en-US" b="1" i="0" dirty="0">
                <a:solidFill>
                  <a:srgbClr val="000000"/>
                </a:solidFill>
                <a:effectLst/>
                <a:latin typeface="Raleway" pitchFamily="2" charset="77"/>
              </a:rPr>
              <a:t>the logistic loss might not produce maximum margins</a:t>
            </a:r>
            <a:r>
              <a:rPr lang="en-US" b="0" i="0" dirty="0">
                <a:solidFill>
                  <a:srgbClr val="000000"/>
                </a:solidFill>
                <a:effectLst/>
                <a:latin typeface="Raleway" pitchFamily="2" charset="77"/>
              </a:rPr>
              <a:t>. The reason is that all the samples affect it.</a:t>
            </a:r>
            <a:endParaRPr lang="en-US" dirty="0"/>
          </a:p>
        </p:txBody>
      </p:sp>
      <p:sp>
        <p:nvSpPr>
          <p:cNvPr id="4" name="Slide Number Placeholder 3">
            <a:extLst>
              <a:ext uri="{FF2B5EF4-FFF2-40B4-BE49-F238E27FC236}">
                <a16:creationId xmlns:a16="http://schemas.microsoft.com/office/drawing/2014/main" id="{3DAE874F-ADF7-AF4F-DDA0-F23A209D24B4}"/>
              </a:ext>
            </a:extLst>
          </p:cNvPr>
          <p:cNvSpPr>
            <a:spLocks noGrp="1"/>
          </p:cNvSpPr>
          <p:nvPr>
            <p:ph type="sldNum" sz="quarter" idx="5"/>
          </p:nvPr>
        </p:nvSpPr>
        <p:spPr/>
        <p:txBody>
          <a:bodyPr/>
          <a:lstStyle/>
          <a:p>
            <a:fld id="{5DF372EF-1A1D-4B41-835F-A99BA260EBCC}" type="slidenum">
              <a:rPr lang="en-US" smtClean="0"/>
              <a:t>85</a:t>
            </a:fld>
            <a:endParaRPr lang="en-US"/>
          </a:p>
        </p:txBody>
      </p:sp>
    </p:spTree>
    <p:extLst>
      <p:ext uri="{BB962C8B-B14F-4D97-AF65-F5344CB8AC3E}">
        <p14:creationId xmlns:p14="http://schemas.microsoft.com/office/powerpoint/2010/main" val="6766639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F372EF-1A1D-4B41-835F-A99BA260EBCC}" type="slidenum">
              <a:rPr lang="en-US" smtClean="0"/>
              <a:t>86</a:t>
            </a:fld>
            <a:endParaRPr lang="en-US"/>
          </a:p>
        </p:txBody>
      </p:sp>
    </p:spTree>
    <p:extLst>
      <p:ext uri="{BB962C8B-B14F-4D97-AF65-F5344CB8AC3E}">
        <p14:creationId xmlns:p14="http://schemas.microsoft.com/office/powerpoint/2010/main" val="10300100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32629"/>
                </a:solidFill>
                <a:effectLst/>
                <a:latin typeface="-apple-system"/>
              </a:rPr>
              <a:t>Smooth L1-loss combines the advantages of L1-loss (steady gradients for large values of </a:t>
            </a:r>
            <a:r>
              <a:rPr lang="en-US" b="0" i="0" u="none" strike="noStrike" dirty="0">
                <a:solidFill>
                  <a:srgbClr val="232629"/>
                </a:solidFill>
                <a:effectLst/>
                <a:latin typeface="STIXGeneral-Italic"/>
              </a:rPr>
              <a:t>𝑥</a:t>
            </a:r>
            <a:r>
              <a:rPr lang="en-US" b="0" i="0" u="none" strike="noStrike" dirty="0">
                <a:solidFill>
                  <a:srgbClr val="232629"/>
                </a:solidFill>
                <a:effectLst/>
                <a:latin typeface="inherit"/>
              </a:rPr>
              <a:t>�</a:t>
            </a:r>
            <a:r>
              <a:rPr lang="en-US" b="0" i="0" dirty="0">
                <a:solidFill>
                  <a:srgbClr val="232629"/>
                </a:solidFill>
                <a:effectLst/>
                <a:latin typeface="-apple-system"/>
              </a:rPr>
              <a:t>) and L2-loss (less oscillations during updates when </a:t>
            </a:r>
            <a:r>
              <a:rPr lang="en-US" b="0" i="0" u="none" strike="noStrike" dirty="0">
                <a:solidFill>
                  <a:srgbClr val="232629"/>
                </a:solidFill>
                <a:effectLst/>
                <a:latin typeface="STIXGeneral-Italic"/>
              </a:rPr>
              <a:t>𝑥</a:t>
            </a:r>
            <a:r>
              <a:rPr lang="en-US" b="0" i="0" u="none" strike="noStrike" dirty="0">
                <a:solidFill>
                  <a:srgbClr val="232629"/>
                </a:solidFill>
                <a:effectLst/>
                <a:latin typeface="inherit"/>
              </a:rPr>
              <a:t>�</a:t>
            </a:r>
            <a:r>
              <a:rPr lang="en-US" b="0" i="0" dirty="0">
                <a:solidFill>
                  <a:srgbClr val="232629"/>
                </a:solidFill>
                <a:effectLst/>
                <a:latin typeface="-apple-system"/>
              </a:rPr>
              <a:t> is small).</a:t>
            </a:r>
          </a:p>
          <a:p>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88</a:t>
            </a:fld>
            <a:endParaRPr lang="en-US"/>
          </a:p>
        </p:txBody>
      </p:sp>
    </p:spTree>
    <p:extLst>
      <p:ext uri="{BB962C8B-B14F-4D97-AF65-F5344CB8AC3E}">
        <p14:creationId xmlns:p14="http://schemas.microsoft.com/office/powerpoint/2010/main" val="8408148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32629"/>
                </a:solidFill>
                <a:effectLst/>
                <a:latin typeface="-apple-system"/>
              </a:rPr>
              <a:t>Another form of smooth L1-loss is Huber loss. They achieve the same thing.</a:t>
            </a:r>
          </a:p>
          <a:p>
            <a:endParaRPr lang="en-US" b="0" i="0" dirty="0">
              <a:solidFill>
                <a:srgbClr val="232629"/>
              </a:solidFill>
              <a:effectLst/>
              <a:latin typeface="-apple-system"/>
            </a:endParaRPr>
          </a:p>
          <a:p>
            <a:r>
              <a:rPr lang="en-US" b="0" i="0" dirty="0">
                <a:solidFill>
                  <a:srgbClr val="202122"/>
                </a:solidFill>
                <a:effectLst/>
                <a:latin typeface="Arial" panose="020B0604020202020204" pitchFamily="34" charset="0"/>
              </a:rPr>
              <a:t>In </a:t>
            </a:r>
            <a:r>
              <a:rPr lang="en-US" b="0" i="0" u="none" strike="noStrike" dirty="0">
                <a:solidFill>
                  <a:srgbClr val="3366CC"/>
                </a:solidFill>
                <a:effectLst/>
                <a:latin typeface="Arial" panose="020B0604020202020204" pitchFamily="34" charset="0"/>
                <a:hlinkClick r:id="rId3" tooltip="Statistics"/>
              </a:rPr>
              <a:t>statistics</a:t>
            </a:r>
            <a:r>
              <a:rPr lang="en-US" b="0" i="0" dirty="0">
                <a:solidFill>
                  <a:srgbClr val="202122"/>
                </a:solidFill>
                <a:effectLst/>
                <a:latin typeface="Arial" panose="020B0604020202020204" pitchFamily="34" charset="0"/>
              </a:rPr>
              <a:t>, the </a:t>
            </a:r>
            <a:r>
              <a:rPr lang="en-US" b="1" i="0" dirty="0">
                <a:solidFill>
                  <a:srgbClr val="202122"/>
                </a:solidFill>
                <a:effectLst/>
                <a:latin typeface="Arial" panose="020B0604020202020204" pitchFamily="34" charset="0"/>
              </a:rPr>
              <a:t>Huber loss</a:t>
            </a:r>
            <a:r>
              <a:rPr lang="en-US" b="0" i="0" dirty="0">
                <a:solidFill>
                  <a:srgbClr val="202122"/>
                </a:solidFill>
                <a:effectLst/>
                <a:latin typeface="Arial" panose="020B0604020202020204" pitchFamily="34" charset="0"/>
              </a:rPr>
              <a:t> is a </a:t>
            </a:r>
            <a:r>
              <a:rPr lang="en-US" b="0" i="0" u="none" strike="noStrike" dirty="0">
                <a:solidFill>
                  <a:srgbClr val="3366CC"/>
                </a:solidFill>
                <a:effectLst/>
                <a:latin typeface="Arial" panose="020B0604020202020204" pitchFamily="34" charset="0"/>
                <a:hlinkClick r:id="rId4" tooltip="Loss function"/>
              </a:rPr>
              <a:t>loss function</a:t>
            </a:r>
            <a:r>
              <a:rPr lang="en-US" b="0" i="0" dirty="0">
                <a:solidFill>
                  <a:srgbClr val="202122"/>
                </a:solidFill>
                <a:effectLst/>
                <a:latin typeface="Arial" panose="020B0604020202020204" pitchFamily="34" charset="0"/>
              </a:rPr>
              <a:t> used in </a:t>
            </a:r>
            <a:r>
              <a:rPr lang="en-US" b="0" i="0" u="none" strike="noStrike" dirty="0">
                <a:solidFill>
                  <a:srgbClr val="3366CC"/>
                </a:solidFill>
                <a:effectLst/>
                <a:latin typeface="Arial" panose="020B0604020202020204" pitchFamily="34" charset="0"/>
                <a:hlinkClick r:id="rId5" tooltip="Robust regression"/>
              </a:rPr>
              <a:t>robust regression</a:t>
            </a:r>
            <a:r>
              <a:rPr lang="en-US" b="0" i="0" dirty="0">
                <a:solidFill>
                  <a:srgbClr val="202122"/>
                </a:solidFill>
                <a:effectLst/>
                <a:latin typeface="Arial" panose="020B0604020202020204" pitchFamily="34" charset="0"/>
              </a:rPr>
              <a:t>, that is less sensitive to </a:t>
            </a:r>
            <a:r>
              <a:rPr lang="en-US" b="0" i="0" u="none" strike="noStrike" dirty="0">
                <a:solidFill>
                  <a:srgbClr val="3366CC"/>
                </a:solidFill>
                <a:effectLst/>
                <a:latin typeface="Arial" panose="020B0604020202020204" pitchFamily="34" charset="0"/>
                <a:hlinkClick r:id="rId6" tooltip="Outlier"/>
              </a:rPr>
              <a:t>outliers</a:t>
            </a:r>
            <a:r>
              <a:rPr lang="en-US" b="0" i="0" dirty="0">
                <a:solidFill>
                  <a:srgbClr val="202122"/>
                </a:solidFill>
                <a:effectLst/>
                <a:latin typeface="Arial" panose="020B0604020202020204" pitchFamily="34" charset="0"/>
              </a:rPr>
              <a:t> in data than the </a:t>
            </a:r>
            <a:r>
              <a:rPr lang="en-US" b="0" i="0" u="none" strike="noStrike" dirty="0">
                <a:solidFill>
                  <a:srgbClr val="3366CC"/>
                </a:solidFill>
                <a:effectLst/>
                <a:latin typeface="Arial" panose="020B0604020202020204" pitchFamily="34" charset="0"/>
                <a:hlinkClick r:id="rId7" tooltip="Squared error loss"/>
              </a:rPr>
              <a:t>squared error loss</a:t>
            </a:r>
            <a:r>
              <a:rPr lang="en-US" b="0" i="0" dirty="0">
                <a:solidFill>
                  <a:srgbClr val="202122"/>
                </a:solidFill>
                <a:effectLst/>
                <a:latin typeface="Arial" panose="020B0604020202020204" pitchFamily="34" charset="0"/>
              </a:rPr>
              <a:t>. </a:t>
            </a:r>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89</a:t>
            </a:fld>
            <a:endParaRPr lang="en-US"/>
          </a:p>
        </p:txBody>
      </p:sp>
    </p:spTree>
    <p:extLst>
      <p:ext uri="{BB962C8B-B14F-4D97-AF65-F5344CB8AC3E}">
        <p14:creationId xmlns:p14="http://schemas.microsoft.com/office/powerpoint/2010/main" val="20742793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90</a:t>
            </a:fld>
            <a:endParaRPr lang="en-US"/>
          </a:p>
        </p:txBody>
      </p:sp>
    </p:spTree>
    <p:extLst>
      <p:ext uri="{BB962C8B-B14F-4D97-AF65-F5344CB8AC3E}">
        <p14:creationId xmlns:p14="http://schemas.microsoft.com/office/powerpoint/2010/main" val="25359539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91</a:t>
            </a:fld>
            <a:endParaRPr lang="en-US"/>
          </a:p>
        </p:txBody>
      </p:sp>
    </p:spTree>
    <p:extLst>
      <p:ext uri="{BB962C8B-B14F-4D97-AF65-F5344CB8AC3E}">
        <p14:creationId xmlns:p14="http://schemas.microsoft.com/office/powerpoint/2010/main" val="5252779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929"/>
                </a:solidFill>
                <a:effectLst/>
                <a:latin typeface="source-serif-pro"/>
              </a:rPr>
              <a:t>If the gradients are consistently large, the values of </a:t>
            </a:r>
            <a:r>
              <a:rPr lang="en-US" b="0" i="0" dirty="0" err="1">
                <a:solidFill>
                  <a:srgbClr val="292929"/>
                </a:solidFill>
                <a:effectLst/>
                <a:latin typeface="source-serif-pro"/>
              </a:rPr>
              <a:t>v_i</a:t>
            </a:r>
            <a:r>
              <a:rPr lang="en-US" b="0" i="0" dirty="0">
                <a:solidFill>
                  <a:srgbClr val="292929"/>
                </a:solidFill>
                <a:effectLst/>
                <a:latin typeface="source-serif-pro"/>
              </a:rPr>
              <a:t> will increase, and the learning rate will decrease. This adaptively adjusts the learning rate for each parameter and enables the usage of larger learning rates.</a:t>
            </a:r>
          </a:p>
          <a:p>
            <a:endParaRPr lang="en-US" b="0" i="0" dirty="0">
              <a:solidFill>
                <a:srgbClr val="292929"/>
              </a:solidFill>
              <a:effectLst/>
              <a:latin typeface="source-serif-pro"/>
            </a:endParaRPr>
          </a:p>
          <a:p>
            <a:r>
              <a:rPr lang="en-US" b="0" i="0" dirty="0">
                <a:solidFill>
                  <a:srgbClr val="525960"/>
                </a:solidFill>
                <a:effectLst/>
                <a:latin typeface="Georgia" panose="02040502050405020303" pitchFamily="18" charset="0"/>
              </a:rPr>
              <a:t>x to the y</a:t>
            </a:r>
            <a:endParaRPr lang="en-US" b="0" i="0" dirty="0">
              <a:solidFill>
                <a:srgbClr val="292929"/>
              </a:solidFill>
              <a:effectLst/>
              <a:latin typeface="source-serif-pro"/>
            </a:endParaRPr>
          </a:p>
          <a:p>
            <a:r>
              <a:rPr lang="en-US" b="0" i="0" dirty="0">
                <a:solidFill>
                  <a:srgbClr val="525960"/>
                </a:solidFill>
                <a:effectLst/>
                <a:latin typeface="-apple-system"/>
              </a:rPr>
              <a:t>beta </a:t>
            </a:r>
            <a:r>
              <a:rPr lang="en-US" b="1" i="0" dirty="0">
                <a:solidFill>
                  <a:srgbClr val="525960"/>
                </a:solidFill>
                <a:effectLst/>
                <a:latin typeface="-apple-system"/>
              </a:rPr>
              <a:t>to the power</a:t>
            </a:r>
            <a:r>
              <a:rPr lang="en-US" b="0" i="0" dirty="0">
                <a:solidFill>
                  <a:srgbClr val="525960"/>
                </a:solidFill>
                <a:effectLst/>
                <a:latin typeface="-apple-system"/>
              </a:rPr>
              <a:t> t</a:t>
            </a:r>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92</a:t>
            </a:fld>
            <a:endParaRPr lang="en-US"/>
          </a:p>
        </p:txBody>
      </p:sp>
    </p:spTree>
    <p:extLst>
      <p:ext uri="{BB962C8B-B14F-4D97-AF65-F5344CB8AC3E}">
        <p14:creationId xmlns:p14="http://schemas.microsoft.com/office/powerpoint/2010/main" val="8501037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altLang="zh-CN" dirty="0"/>
              <a:t>Computational</a:t>
            </a:r>
            <a:r>
              <a:rPr lang="zh-CN" altLang="en-US" dirty="0"/>
              <a:t> </a:t>
            </a:r>
            <a:r>
              <a:rPr lang="en-US" altLang="zh-CN" dirty="0"/>
              <a:t>Multisensory</a:t>
            </a:r>
            <a:r>
              <a:rPr lang="zh-CN" altLang="en-US" dirty="0"/>
              <a:t> </a:t>
            </a:r>
            <a:r>
              <a:rPr lang="en-US" altLang="zh-CN" dirty="0"/>
              <a:t>Perception systems, we will learn functions to model and understand auditory and visual inputs. For example, we can use neural networks to learn nonlinear functions f to predict event label or sounding object location from visual and audio inputs using large-scale data. </a:t>
            </a:r>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93</a:t>
            </a:fld>
            <a:endParaRPr lang="en-US"/>
          </a:p>
        </p:txBody>
      </p:sp>
    </p:spTree>
    <p:extLst>
      <p:ext uri="{BB962C8B-B14F-4D97-AF65-F5344CB8AC3E}">
        <p14:creationId xmlns:p14="http://schemas.microsoft.com/office/powerpoint/2010/main" val="199508417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RNNs have an “internal state” that is updated as a sequence is processed</a:t>
            </a:r>
          </a:p>
        </p:txBody>
      </p:sp>
      <p:sp>
        <p:nvSpPr>
          <p:cNvPr id="4" name="Slide Number Placeholder 3"/>
          <p:cNvSpPr>
            <a:spLocks noGrp="1"/>
          </p:cNvSpPr>
          <p:nvPr>
            <p:ph type="sldNum" sz="quarter" idx="5"/>
          </p:nvPr>
        </p:nvSpPr>
        <p:spPr/>
        <p:txBody>
          <a:bodyPr/>
          <a:lstStyle/>
          <a:p>
            <a:fld id="{C149EEB9-1E5D-4336-B1B3-152F63E4D131}" type="slidenum">
              <a:rPr lang="en-US" smtClean="0"/>
              <a:t>101</a:t>
            </a:fld>
            <a:endParaRPr lang="en-US"/>
          </a:p>
        </p:txBody>
      </p:sp>
    </p:spTree>
    <p:extLst>
      <p:ext uri="{BB962C8B-B14F-4D97-AF65-F5344CB8AC3E}">
        <p14:creationId xmlns:p14="http://schemas.microsoft.com/office/powerpoint/2010/main" val="34919604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mj-lt"/>
              <a:buAutoNum type="arabicPeriod"/>
            </a:pPr>
            <a:r>
              <a:rPr lang="en-US" dirty="0"/>
              <a:t>Forward through entire sequence to compute loss, then backward through entire sequence to compute gradient</a:t>
            </a:r>
            <a:endParaRPr lang="en-US" b="0" i="0" dirty="0">
              <a:solidFill>
                <a:srgbClr val="555555"/>
              </a:solidFill>
              <a:effectLst/>
              <a:latin typeface="Helvetica Neue" panose="02000503000000020004" pitchFamily="2" charset="0"/>
            </a:endParaRPr>
          </a:p>
          <a:p>
            <a:pPr algn="l" fontAlgn="base">
              <a:buFont typeface="+mj-lt"/>
              <a:buAutoNum type="arabicPeriod"/>
            </a:pPr>
            <a:r>
              <a:rPr lang="en-US" b="0" i="0" dirty="0">
                <a:solidFill>
                  <a:srgbClr val="555555"/>
                </a:solidFill>
                <a:effectLst/>
                <a:latin typeface="Helvetica Neue" panose="02000503000000020004" pitchFamily="2" charset="0"/>
              </a:rPr>
              <a:t>Present a sequence of timesteps of input and output pairs to the network.</a:t>
            </a:r>
          </a:p>
          <a:p>
            <a:pPr algn="l" fontAlgn="base">
              <a:buFont typeface="+mj-lt"/>
              <a:buAutoNum type="arabicPeriod"/>
            </a:pPr>
            <a:r>
              <a:rPr lang="en-US" b="0" i="0" dirty="0">
                <a:solidFill>
                  <a:srgbClr val="555555"/>
                </a:solidFill>
                <a:effectLst/>
                <a:latin typeface="Helvetica Neue" panose="02000503000000020004" pitchFamily="2" charset="0"/>
              </a:rPr>
              <a:t>Unroll the network then calculate and accumulate errors across each timestep.</a:t>
            </a:r>
          </a:p>
          <a:p>
            <a:pPr algn="l" fontAlgn="base">
              <a:buFont typeface="+mj-lt"/>
              <a:buAutoNum type="arabicPeriod"/>
            </a:pPr>
            <a:r>
              <a:rPr lang="en-US" b="0" i="0" dirty="0">
                <a:solidFill>
                  <a:srgbClr val="555555"/>
                </a:solidFill>
                <a:effectLst/>
                <a:latin typeface="Helvetica Neue" panose="02000503000000020004" pitchFamily="2" charset="0"/>
              </a:rPr>
              <a:t>Roll-up the network and update weights.</a:t>
            </a:r>
          </a:p>
          <a:p>
            <a:pPr algn="l" fontAlgn="base"/>
            <a:r>
              <a:rPr lang="en-US" b="0" i="0" dirty="0">
                <a:solidFill>
                  <a:srgbClr val="555555"/>
                </a:solidFill>
                <a:effectLst/>
                <a:latin typeface="Helvetica Neue" panose="02000503000000020004" pitchFamily="2" charset="0"/>
              </a:rPr>
              <a:t>Repeat.</a:t>
            </a:r>
            <a:r>
              <a:rPr lang="zh-CN" altLang="en-US" b="0" i="0" dirty="0">
                <a:solidFill>
                  <a:srgbClr val="555555"/>
                </a:solidFill>
                <a:effectLst/>
                <a:latin typeface="Helvetica Neue" panose="02000503000000020004" pitchFamily="2" charset="0"/>
              </a:rPr>
              <a:t> </a:t>
            </a:r>
            <a:r>
              <a:rPr lang="en-US" b="0" dirty="0">
                <a:solidFill>
                  <a:srgbClr val="555555"/>
                </a:solidFill>
                <a:effectLst/>
                <a:latin typeface="Helvetica Neue" panose="02000503000000020004" pitchFamily="2" charset="0"/>
              </a:rPr>
              <a:t>BPTT can be computationally expensive as the number of timesteps increases.</a:t>
            </a:r>
            <a:r>
              <a:rPr lang="zh-CN" altLang="en-US" b="0" dirty="0">
                <a:solidFill>
                  <a:srgbClr val="555555"/>
                </a:solidFill>
                <a:effectLst/>
                <a:latin typeface="Helvetica Neue" panose="02000503000000020004" pitchFamily="2" charset="0"/>
              </a:rPr>
              <a:t> </a:t>
            </a:r>
            <a:r>
              <a:rPr lang="en-US" b="0" i="0" dirty="0">
                <a:solidFill>
                  <a:srgbClr val="555555"/>
                </a:solidFill>
                <a:effectLst/>
                <a:latin typeface="Helvetica Neue" panose="02000503000000020004" pitchFamily="2" charset="0"/>
              </a:rPr>
              <a:t>If input sequences are comprised of thousands of timesteps, then this will be the number of derivatives required for a single update weight update.</a:t>
            </a:r>
            <a:endParaRPr lang="en-US" b="0" dirty="0">
              <a:solidFill>
                <a:srgbClr val="555555"/>
              </a:solidFill>
              <a:effectLst/>
              <a:latin typeface="Helvetica Neue" panose="02000503000000020004" pitchFamily="2" charset="0"/>
            </a:endParaRPr>
          </a:p>
          <a:p>
            <a:br>
              <a:rPr lang="en-US" dirty="0"/>
            </a:br>
            <a:endParaRPr lang="en-US" b="0" i="0" dirty="0">
              <a:solidFill>
                <a:srgbClr val="555555"/>
              </a:solidFill>
              <a:effectLst/>
              <a:latin typeface="Helvetica Neue" panose="02000503000000020004" pitchFamily="2"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108</a:t>
            </a:fld>
            <a:endParaRPr lang="en-US"/>
          </a:p>
        </p:txBody>
      </p:sp>
    </p:spTree>
    <p:extLst>
      <p:ext uri="{BB962C8B-B14F-4D97-AF65-F5344CB8AC3E}">
        <p14:creationId xmlns:p14="http://schemas.microsoft.com/office/powerpoint/2010/main" val="14196380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particular attention "Scaled Dot-Product Attention”.</a:t>
            </a:r>
          </a:p>
          <a:p>
            <a:endParaRPr lang="en-US" dirty="0"/>
          </a:p>
          <a:p>
            <a:r>
              <a:rPr lang="en-US" dirty="0"/>
              <a:t>The input consists of queries and keys of dimension dk, and values of dimension dv. We compute the dot products of the query with all keys, divide each by √ dk, and apply a </a:t>
            </a:r>
            <a:r>
              <a:rPr lang="en-US" dirty="0" err="1"/>
              <a:t>softmax</a:t>
            </a:r>
            <a:r>
              <a:rPr lang="en-US" dirty="0"/>
              <a:t> function to obtain the weights on the values.</a:t>
            </a:r>
          </a:p>
          <a:p>
            <a:endParaRPr lang="en-US" dirty="0"/>
          </a:p>
          <a:p>
            <a:r>
              <a:rPr lang="en-US" dirty="0"/>
              <a:t>In practice, we compute the attention function on a set of queries simultaneously, packed together into a matrix Q. The keys and values are also packed together into matrices K and V .</a:t>
            </a:r>
          </a:p>
          <a:p>
            <a:endParaRPr lang="en-US" dirty="0"/>
          </a:p>
          <a:p>
            <a:r>
              <a:rPr lang="en-US" dirty="0"/>
              <a:t>for large values of dk, the dot products grow large in magnitude, pushing the </a:t>
            </a:r>
            <a:r>
              <a:rPr lang="en-US" dirty="0" err="1"/>
              <a:t>softmax</a:t>
            </a:r>
            <a:r>
              <a:rPr lang="en-US" dirty="0"/>
              <a:t> function into regions where it has extremely small gradients. To counteract this effect, we scale the dot products by √ 1 dk .</a:t>
            </a:r>
          </a:p>
        </p:txBody>
      </p:sp>
      <p:sp>
        <p:nvSpPr>
          <p:cNvPr id="4" name="Slide Number Placeholder 3"/>
          <p:cNvSpPr>
            <a:spLocks noGrp="1"/>
          </p:cNvSpPr>
          <p:nvPr>
            <p:ph type="sldNum" sz="quarter" idx="5"/>
          </p:nvPr>
        </p:nvSpPr>
        <p:spPr/>
        <p:txBody>
          <a:bodyPr/>
          <a:lstStyle/>
          <a:p>
            <a:fld id="{C149EEB9-1E5D-4336-B1B3-152F63E4D131}" type="slidenum">
              <a:rPr lang="en-US" smtClean="0"/>
              <a:t>112</a:t>
            </a:fld>
            <a:endParaRPr lang="en-US"/>
          </a:p>
        </p:txBody>
      </p:sp>
    </p:spTree>
    <p:extLst>
      <p:ext uri="{BB962C8B-B14F-4D97-AF65-F5344CB8AC3E}">
        <p14:creationId xmlns:p14="http://schemas.microsoft.com/office/powerpoint/2010/main" val="37279010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performing a single attention function with </a:t>
            </a:r>
            <a:r>
              <a:rPr lang="en-US" dirty="0" err="1"/>
              <a:t>dmodel</a:t>
            </a:r>
            <a:r>
              <a:rPr lang="en-US" dirty="0"/>
              <a:t>-dimensional keys, values and queries, we found it beneficial to linearly project the queries, keys and values h times with different, learned linear projections to dk, dk and dv dimensions, respectively. On each of these projected versions of queries, keys and values we then perform the attention function in parallel, yielding dv-dimensional output values. These are concatenated and once again projected, resulting in the final values,</a:t>
            </a:r>
          </a:p>
          <a:p>
            <a:endParaRPr lang="en-US" dirty="0"/>
          </a:p>
          <a:p>
            <a:r>
              <a:rPr lang="en-US" dirty="0"/>
              <a:t>Multi-head attention allows the model to jointly attend to information from different representation subspaces at different positions. With a single attention head, averaging inhibits this.</a:t>
            </a:r>
          </a:p>
        </p:txBody>
      </p:sp>
      <p:sp>
        <p:nvSpPr>
          <p:cNvPr id="4" name="Slide Number Placeholder 3"/>
          <p:cNvSpPr>
            <a:spLocks noGrp="1"/>
          </p:cNvSpPr>
          <p:nvPr>
            <p:ph type="sldNum" sz="quarter" idx="5"/>
          </p:nvPr>
        </p:nvSpPr>
        <p:spPr/>
        <p:txBody>
          <a:bodyPr/>
          <a:lstStyle/>
          <a:p>
            <a:fld id="{C149EEB9-1E5D-4336-B1B3-152F63E4D131}" type="slidenum">
              <a:rPr lang="en-US" smtClean="0"/>
              <a:t>113</a:t>
            </a:fld>
            <a:endParaRPr lang="en-US"/>
          </a:p>
        </p:txBody>
      </p:sp>
    </p:spTree>
    <p:extLst>
      <p:ext uri="{BB962C8B-B14F-4D97-AF65-F5344CB8AC3E}">
        <p14:creationId xmlns:p14="http://schemas.microsoft.com/office/powerpoint/2010/main" val="29087122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encoder of transformer, we use an attention mechanism what we called self-attention. In a self-attention layer all of the keys, values and queries come from the same place, in this case, the output of the previous layer in the encoder. Each position in the encoder can attend to all positions in the previous layer of the encoder.</a:t>
            </a:r>
          </a:p>
          <a:p>
            <a:endParaRPr lang="en-US" dirty="0"/>
          </a:p>
          <a:p>
            <a:pPr algn="l"/>
            <a:r>
              <a:rPr lang="en-US" b="0" i="0" dirty="0">
                <a:solidFill>
                  <a:srgbClr val="353740"/>
                </a:solidFill>
                <a:effectLst/>
                <a:latin typeface="ColfaxAI"/>
              </a:rPr>
              <a:t>Layer normalization is used in transformer models to ensure that the input and output of each layer have the same mean and variance, which helps to speed up training and improve model performance. Layer normalization also helps to reduce the risk of overfitting by reducing the dependence of the model on any single data point.</a:t>
            </a:r>
            <a:r>
              <a:rPr lang="zh-CN" altLang="en-US" b="0" i="0" dirty="0">
                <a:solidFill>
                  <a:srgbClr val="353740"/>
                </a:solidFill>
                <a:effectLst/>
                <a:latin typeface="ColfaxAI"/>
              </a:rPr>
              <a:t> </a:t>
            </a:r>
            <a:r>
              <a:rPr lang="en-US" b="0" i="0" dirty="0">
                <a:solidFill>
                  <a:srgbClr val="212529"/>
                </a:solidFill>
                <a:effectLst/>
                <a:latin typeface="Lato" panose="020F0502020204030204" pitchFamily="34" charset="0"/>
              </a:rPr>
              <a:t>We compute the layer normalization statistics over all the hidden units in the same layer</a:t>
            </a:r>
            <a:r>
              <a:rPr lang="en-US" altLang="zh-CN" b="0" i="0" dirty="0">
                <a:solidFill>
                  <a:srgbClr val="212529"/>
                </a:solidFill>
                <a:effectLst/>
                <a:latin typeface="Lato" panose="020F0502020204030204" pitchFamily="34" charset="0"/>
              </a:rPr>
              <a:t>,</a:t>
            </a:r>
            <a:r>
              <a:rPr lang="zh-CN" altLang="en-US" b="0" i="0" dirty="0">
                <a:solidFill>
                  <a:srgbClr val="212529"/>
                </a:solidFill>
                <a:effectLst/>
                <a:latin typeface="Lato" panose="020F0502020204030204" pitchFamily="34" charset="0"/>
              </a:rPr>
              <a:t> </a:t>
            </a:r>
            <a:r>
              <a:rPr lang="en-US" b="0" i="0" dirty="0">
                <a:solidFill>
                  <a:srgbClr val="212529"/>
                </a:solidFill>
                <a:effectLst/>
                <a:latin typeface="Lato" panose="020F0502020204030203" pitchFamily="34" charset="0"/>
              </a:rPr>
              <a:t>where </a:t>
            </a:r>
            <a:r>
              <a:rPr lang="en-US" altLang="zh-CN" b="0" i="0" dirty="0">
                <a:solidFill>
                  <a:srgbClr val="212529"/>
                </a:solidFill>
                <a:effectLst/>
                <a:latin typeface="Lato" panose="020F0502020204030203" pitchFamily="34" charset="0"/>
              </a:rPr>
              <a:t>H</a:t>
            </a:r>
            <a:r>
              <a:rPr lang="en-US" b="0" i="0" dirty="0">
                <a:solidFill>
                  <a:srgbClr val="212529"/>
                </a:solidFill>
                <a:effectLst/>
                <a:latin typeface="Lato" panose="020F0502020204030203" pitchFamily="34" charset="0"/>
              </a:rPr>
              <a:t> denotes the number of hidden units in a layer.</a:t>
            </a:r>
            <a:r>
              <a:rPr lang="zh-CN" altLang="en-US" b="0" i="0" dirty="0">
                <a:solidFill>
                  <a:srgbClr val="212529"/>
                </a:solidFill>
                <a:effectLst/>
                <a:latin typeface="Lato" panose="020F0502020204030203" pitchFamily="34" charset="0"/>
              </a:rPr>
              <a:t> </a:t>
            </a:r>
            <a:r>
              <a:rPr lang="en-US" b="0" i="0" dirty="0">
                <a:solidFill>
                  <a:srgbClr val="212529"/>
                </a:solidFill>
                <a:effectLst/>
                <a:latin typeface="Lato" panose="020F0502020204030203" pitchFamily="34" charset="0"/>
              </a:rPr>
              <a:t>Under layer normalization, all the hidden units in a layer share the same normalization terms </a:t>
            </a:r>
            <a:r>
              <a:rPr lang="en-US" dirty="0"/>
              <a:t>�</a:t>
            </a:r>
            <a:r>
              <a:rPr lang="en-US" b="0" i="0" dirty="0">
                <a:solidFill>
                  <a:srgbClr val="212529"/>
                </a:solidFill>
                <a:effectLst/>
                <a:latin typeface="Lato" panose="020F0502020204030203" pitchFamily="34" charset="0"/>
              </a:rPr>
              <a:t> and </a:t>
            </a:r>
            <a:r>
              <a:rPr lang="en-US" dirty="0"/>
              <a:t>�</a:t>
            </a:r>
            <a:r>
              <a:rPr lang="en-US" b="0" i="0" dirty="0">
                <a:solidFill>
                  <a:srgbClr val="212529"/>
                </a:solidFill>
                <a:effectLst/>
                <a:latin typeface="Lato" panose="020F0502020204030203" pitchFamily="34" charset="0"/>
              </a:rPr>
              <a:t>, but different training cases have different normalization terms.</a:t>
            </a:r>
            <a:endParaRPr lang="en-US" b="0" i="0" dirty="0">
              <a:solidFill>
                <a:srgbClr val="212529"/>
              </a:solidFill>
              <a:effectLst/>
              <a:latin typeface="Lato" panose="020F0502020204030204" pitchFamily="34" charset="0"/>
            </a:endParaRPr>
          </a:p>
          <a:p>
            <a:endParaRPr lang="en-US" dirty="0"/>
          </a:p>
          <a:p>
            <a:endParaRPr lang="en-US" dirty="0"/>
          </a:p>
          <a:p>
            <a:r>
              <a:rPr lang="el-GR" b="0" i="0" dirty="0">
                <a:solidFill>
                  <a:srgbClr val="4A4A4A"/>
                </a:solidFill>
                <a:effectLst/>
                <a:latin typeface="MJXc-TeX-math-I"/>
              </a:rPr>
              <a:t>γ</a:t>
            </a:r>
            <a:r>
              <a:rPr lang="el-GR" b="0" i="0" dirty="0">
                <a:solidFill>
                  <a:srgbClr val="4A4A4A"/>
                </a:solidFill>
                <a:effectLst/>
                <a:latin typeface="PT Serif" panose="020A0603040505020204" pitchFamily="18" charset="77"/>
              </a:rPr>
              <a:t>� </a:t>
            </a:r>
            <a:r>
              <a:rPr lang="en-US" b="0" i="0" dirty="0">
                <a:solidFill>
                  <a:srgbClr val="4A4A4A"/>
                </a:solidFill>
                <a:effectLst/>
                <a:latin typeface="PT Serif" panose="020A0603040505020204" pitchFamily="18" charset="77"/>
              </a:rPr>
              <a:t>and </a:t>
            </a:r>
            <a:r>
              <a:rPr lang="el-GR" b="0" i="0" dirty="0">
                <a:solidFill>
                  <a:srgbClr val="4A4A4A"/>
                </a:solidFill>
                <a:effectLst/>
                <a:latin typeface="MJXc-TeX-math-I"/>
              </a:rPr>
              <a:t>β</a:t>
            </a:r>
            <a:r>
              <a:rPr lang="el-GR" b="0" i="0" dirty="0">
                <a:solidFill>
                  <a:srgbClr val="4A4A4A"/>
                </a:solidFill>
                <a:effectLst/>
                <a:latin typeface="PT Serif" panose="020A0603040505020204" pitchFamily="18" charset="77"/>
              </a:rPr>
              <a:t>� </a:t>
            </a:r>
            <a:r>
              <a:rPr lang="en-US" b="0" i="0" dirty="0">
                <a:solidFill>
                  <a:srgbClr val="4A4A4A"/>
                </a:solidFill>
                <a:effectLst/>
                <a:latin typeface="PT Serif" panose="020A0603040505020204" pitchFamily="18" charset="77"/>
              </a:rPr>
              <a:t>are learnable parameters</a:t>
            </a:r>
            <a:endParaRPr lang="en-US" dirty="0"/>
          </a:p>
        </p:txBody>
      </p:sp>
      <p:sp>
        <p:nvSpPr>
          <p:cNvPr id="4" name="Slide Number Placeholder 3"/>
          <p:cNvSpPr>
            <a:spLocks noGrp="1"/>
          </p:cNvSpPr>
          <p:nvPr>
            <p:ph type="sldNum" sz="quarter" idx="5"/>
          </p:nvPr>
        </p:nvSpPr>
        <p:spPr/>
        <p:txBody>
          <a:bodyPr/>
          <a:lstStyle/>
          <a:p>
            <a:fld id="{C149EEB9-1E5D-4336-B1B3-152F63E4D131}" type="slidenum">
              <a:rPr lang="en-US" smtClean="0"/>
              <a:t>114</a:t>
            </a:fld>
            <a:endParaRPr lang="en-US"/>
          </a:p>
        </p:txBody>
      </p:sp>
    </p:spTree>
    <p:extLst>
      <p:ext uri="{BB962C8B-B14F-4D97-AF65-F5344CB8AC3E}">
        <p14:creationId xmlns:p14="http://schemas.microsoft.com/office/powerpoint/2010/main" val="27381426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attention sub-layers, each of the layers in our encoder and decoder contains a fully connected feed-forward network, which is applied to each position separately and identically. This consists of two linear transformations with a </a:t>
            </a:r>
            <a:r>
              <a:rPr lang="en-US" dirty="0" err="1"/>
              <a:t>ReLU</a:t>
            </a:r>
            <a:r>
              <a:rPr lang="en-US" dirty="0"/>
              <a:t> activation in between.</a:t>
            </a:r>
          </a:p>
          <a:p>
            <a:endParaRPr lang="en-US" dirty="0"/>
          </a:p>
          <a:p>
            <a:r>
              <a:rPr lang="en-US" dirty="0"/>
              <a:t>Since our model contains no recurrence and no convolution, in order for the model to make use of the order of the sequence, we must inject some information about the relative or absolute position of the tokens in the sequence. To this end, we add "positional encodings" to the input embeddings at the bottoms of the encoder and decoder stacks. The positional encodings have the same dimension </a:t>
            </a:r>
            <a:r>
              <a:rPr lang="en-US" dirty="0" err="1"/>
              <a:t>dmodel</a:t>
            </a:r>
            <a:r>
              <a:rPr lang="en-US" dirty="0"/>
              <a:t> as the embeddings, so that the two can be summed. There are many choices of positional encodings, learned and fixed. </a:t>
            </a:r>
          </a:p>
          <a:p>
            <a:endParaRPr lang="en-US" dirty="0"/>
          </a:p>
          <a:p>
            <a:r>
              <a:rPr lang="en-US" dirty="0"/>
              <a:t>In this work, we use sine and cosine functions of different frequencies. pos is the position and </a:t>
            </a:r>
            <a:r>
              <a:rPr lang="en-US" dirty="0" err="1"/>
              <a:t>i</a:t>
            </a:r>
            <a:r>
              <a:rPr lang="en-US" dirty="0"/>
              <a:t> is the dimension. That is, each dimension of the positional encoding corresponds to a sinusoid. The wavelengths form a geometric progression from 2</a:t>
            </a:r>
            <a:r>
              <a:rPr lang="el-GR" dirty="0"/>
              <a:t>π </a:t>
            </a:r>
            <a:r>
              <a:rPr lang="en-US" dirty="0"/>
              <a:t>to 10000 · 2</a:t>
            </a:r>
            <a:r>
              <a:rPr lang="el-GR" dirty="0"/>
              <a:t>π. </a:t>
            </a:r>
            <a:r>
              <a:rPr lang="en-US" dirty="0"/>
              <a:t>We chose this function because we hypothesized it would allow the model to easily learn to attend by relative positions, since for any fixed offset k, P </a:t>
            </a:r>
            <a:r>
              <a:rPr lang="en-US" dirty="0" err="1"/>
              <a:t>Epos+k</a:t>
            </a:r>
            <a:r>
              <a:rPr lang="en-US" dirty="0"/>
              <a:t> can be represented as a linear function of P Epos. We chose the sinusoidal version because it may allow the model to extrapolate to sequence lengths longer than the ones encountered during training.</a:t>
            </a:r>
          </a:p>
        </p:txBody>
      </p:sp>
      <p:sp>
        <p:nvSpPr>
          <p:cNvPr id="4" name="Slide Number Placeholder 3"/>
          <p:cNvSpPr>
            <a:spLocks noGrp="1"/>
          </p:cNvSpPr>
          <p:nvPr>
            <p:ph type="sldNum" sz="quarter" idx="5"/>
          </p:nvPr>
        </p:nvSpPr>
        <p:spPr/>
        <p:txBody>
          <a:bodyPr/>
          <a:lstStyle/>
          <a:p>
            <a:fld id="{C149EEB9-1E5D-4336-B1B3-152F63E4D131}" type="slidenum">
              <a:rPr lang="en-US" smtClean="0"/>
              <a:t>115</a:t>
            </a:fld>
            <a:endParaRPr lang="en-US"/>
          </a:p>
        </p:txBody>
      </p:sp>
    </p:spTree>
    <p:extLst>
      <p:ext uri="{BB962C8B-B14F-4D97-AF65-F5344CB8AC3E}">
        <p14:creationId xmlns:p14="http://schemas.microsoft.com/office/powerpoint/2010/main" val="1242489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6/30/25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6/30/25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Emblem">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109224" y="585894"/>
            <a:ext cx="1973552" cy="1973552"/>
          </a:xfrm>
          <a:prstGeom prst="rect">
            <a:avLst/>
          </a:prstGeom>
        </p:spPr>
      </p:pic>
    </p:spTree>
    <p:extLst>
      <p:ext uri="{BB962C8B-B14F-4D97-AF65-F5344CB8AC3E}">
        <p14:creationId xmlns:p14="http://schemas.microsoft.com/office/powerpoint/2010/main" val="2664792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Monogram 2 Colo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110934" y="585894"/>
            <a:ext cx="1970131" cy="1973552"/>
          </a:xfrm>
          <a:prstGeom prst="rect">
            <a:avLst/>
          </a:prstGeom>
        </p:spPr>
      </p:pic>
    </p:spTree>
    <p:extLst>
      <p:ext uri="{BB962C8B-B14F-4D97-AF65-F5344CB8AC3E}">
        <p14:creationId xmlns:p14="http://schemas.microsoft.com/office/powerpoint/2010/main" val="2011464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Monogram Orang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110934" y="585894"/>
            <a:ext cx="1970131" cy="1973551"/>
          </a:xfrm>
          <a:prstGeom prst="rect">
            <a:avLst/>
          </a:prstGeom>
        </p:spPr>
      </p:pic>
    </p:spTree>
    <p:extLst>
      <p:ext uri="{BB962C8B-B14F-4D97-AF65-F5344CB8AC3E}">
        <p14:creationId xmlns:p14="http://schemas.microsoft.com/office/powerpoint/2010/main" val="2013388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Monogram Wordmark">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75897" y="205964"/>
            <a:ext cx="5240206" cy="2096081"/>
          </a:xfrm>
          <a:prstGeom prst="rect">
            <a:avLst/>
          </a:prstGeom>
        </p:spPr>
      </p:pic>
    </p:spTree>
    <p:extLst>
      <p:ext uri="{BB962C8B-B14F-4D97-AF65-F5344CB8AC3E}">
        <p14:creationId xmlns:p14="http://schemas.microsoft.com/office/powerpoint/2010/main" val="1871384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Wordmark Footer">
    <p:spTree>
      <p:nvGrpSpPr>
        <p:cNvPr id="1" name=""/>
        <p:cNvGrpSpPr/>
        <p:nvPr/>
      </p:nvGrpSpPr>
      <p:grpSpPr>
        <a:xfrm>
          <a:off x="0" y="0"/>
          <a:ext cx="0" cy="0"/>
          <a:chOff x="0" y="0"/>
          <a:chExt cx="0" cy="0"/>
        </a:xfrm>
      </p:grpSpPr>
      <p:sp>
        <p:nvSpPr>
          <p:cNvPr id="7" name="Rectangle 6"/>
          <p:cNvSpPr/>
          <p:nvPr userDrawn="1"/>
        </p:nvSpPr>
        <p:spPr>
          <a:xfrm>
            <a:off x="0" y="6228863"/>
            <a:ext cx="12192000" cy="6201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2" name="Title 1"/>
          <p:cNvSpPr>
            <a:spLocks noGrp="1"/>
          </p:cNvSpPr>
          <p:nvPr>
            <p:ph type="title"/>
          </p:nvPr>
        </p:nvSpPr>
        <p:spPr/>
        <p:txBody>
          <a:bodyPr>
            <a:normAutofit/>
          </a:bodyPr>
          <a:lstStyle>
            <a:lvl1pPr>
              <a:defRPr sz="4400" b="0" i="0">
                <a:latin typeface="Calibri" panose="020F0502020204030204" pitchFamily="34" charset="0"/>
                <a:cs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a:xfrm>
            <a:off x="838200" y="1579419"/>
            <a:ext cx="10515600" cy="4362092"/>
          </a:xfrm>
        </p:spPr>
        <p:txBody>
          <a:bodyPr/>
          <a:lstStyle>
            <a:lvl1pPr>
              <a:defRPr sz="2800">
                <a:latin typeface="Calibri" panose="020F0502020204030204" pitchFamily="34" charset="0"/>
                <a:cs typeface="Calibri" panose="020F0502020204030204" pitchFamily="34" charset="0"/>
              </a:defRPr>
            </a:lvl1pPr>
            <a:lvl2pPr>
              <a:defRPr sz="2400">
                <a:latin typeface="Calibri" panose="020F0502020204030204" pitchFamily="34" charset="0"/>
                <a:cs typeface="Calibri" panose="020F0502020204030204" pitchFamily="34" charset="0"/>
              </a:defRPr>
            </a:lvl2pPr>
            <a:lvl3pPr>
              <a:defRPr sz="2000">
                <a:latin typeface="Calibri" panose="020F0502020204030204" pitchFamily="34" charset="0"/>
                <a:cs typeface="Calibri" panose="020F0502020204030204" pitchFamily="34" charset="0"/>
              </a:defRPr>
            </a:lvl3pPr>
            <a:lvl4pPr>
              <a:defRPr sz="1600">
                <a:latin typeface="Calibri" panose="020F0502020204030204" pitchFamily="34" charset="0"/>
                <a:cs typeface="Calibri" panose="020F0502020204030204" pitchFamily="34" charset="0"/>
              </a:defRPr>
            </a:lvl4pPr>
            <a:lvl5pPr>
              <a:defRPr sz="1200">
                <a:latin typeface="Calibri" panose="020F0502020204030204" pitchFamily="34" charset="0"/>
                <a:cs typeface="Calibri" panose="020F05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0770704" y="6416478"/>
            <a:ext cx="583096" cy="244870"/>
          </a:xfrm>
        </p:spPr>
        <p:txBody>
          <a:bodyPr/>
          <a:lstStyle>
            <a:lvl1pPr>
              <a:defRPr sz="1600">
                <a:solidFill>
                  <a:schemeClr val="bg1"/>
                </a:solidFill>
                <a:latin typeface="Calibri" panose="020F0502020204030204" pitchFamily="34" charset="0"/>
                <a:cs typeface="Calibri" panose="020F0502020204030204" pitchFamily="34" charset="0"/>
              </a:defRPr>
            </a:lvl1pPr>
          </a:lstStyle>
          <a:p>
            <a:fld id="{C68DACDF-E1A9-A04C-A5FF-FC2443684BF5}" type="slidenum">
              <a:rPr lang="en-US" smtClean="0"/>
              <a:pPr/>
              <a:t>‹#›</a:t>
            </a:fld>
            <a:endParaRPr lang="en-US" dirty="0"/>
          </a:p>
        </p:txBody>
      </p:sp>
      <p:cxnSp>
        <p:nvCxnSpPr>
          <p:cNvPr id="8" name="Straight Connector 7"/>
          <p:cNvCxnSpPr/>
          <p:nvPr userDrawn="1"/>
        </p:nvCxnSpPr>
        <p:spPr>
          <a:xfrm>
            <a:off x="0" y="6138438"/>
            <a:ext cx="12192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225" y="6228863"/>
            <a:ext cx="3432175" cy="600320"/>
          </a:xfrm>
          <a:prstGeom prst="rect">
            <a:avLst/>
          </a:prstGeom>
        </p:spPr>
      </p:pic>
    </p:spTree>
    <p:extLst>
      <p:ext uri="{BB962C8B-B14F-4D97-AF65-F5344CB8AC3E}">
        <p14:creationId xmlns:p14="http://schemas.microsoft.com/office/powerpoint/2010/main" val="10658627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ircle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774E77A-F3AF-2642-9310-AD4C753862B7}"/>
              </a:ext>
            </a:extLst>
          </p:cNvPr>
          <p:cNvSpPr/>
          <p:nvPr userDrawn="1"/>
        </p:nvSpPr>
        <p:spPr>
          <a:xfrm>
            <a:off x="0" y="6228863"/>
            <a:ext cx="12192000" cy="6201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cxnSp>
        <p:nvCxnSpPr>
          <p:cNvPr id="10" name="Straight Connector 9">
            <a:extLst>
              <a:ext uri="{FF2B5EF4-FFF2-40B4-BE49-F238E27FC236}">
                <a16:creationId xmlns:a16="http://schemas.microsoft.com/office/drawing/2014/main" id="{11B1F3F2-2AC7-B443-8B2E-4E2C0AEEA1A6}"/>
              </a:ext>
            </a:extLst>
          </p:cNvPr>
          <p:cNvCxnSpPr/>
          <p:nvPr userDrawn="1"/>
        </p:nvCxnSpPr>
        <p:spPr>
          <a:xfrm>
            <a:off x="0" y="6138438"/>
            <a:ext cx="12192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en-US" dirty="0"/>
              <a:t>Click to edit Master title style</a:t>
            </a:r>
          </a:p>
        </p:txBody>
      </p:sp>
      <p:sp>
        <p:nvSpPr>
          <p:cNvPr id="4" name="Footer Placeholder 3"/>
          <p:cNvSpPr>
            <a:spLocks noGrp="1"/>
          </p:cNvSpPr>
          <p:nvPr>
            <p:ph type="ftr" sz="quarter" idx="11"/>
          </p:nvPr>
        </p:nvSpPr>
        <p:spPr>
          <a:xfrm>
            <a:off x="4038600" y="6461729"/>
            <a:ext cx="7315200" cy="190307"/>
          </a:xfrm>
        </p:spPr>
        <p:txBody>
          <a:bodyPr rIns="0"/>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a:xfrm>
            <a:off x="11353800" y="6461729"/>
            <a:ext cx="356616" cy="190307"/>
          </a:xfrm>
        </p:spPr>
        <p:txBody>
          <a:bodyPr/>
          <a:lstStyle>
            <a:lvl1pPr>
              <a:defRPr>
                <a:solidFill>
                  <a:schemeClr val="bg1"/>
                </a:solidFill>
              </a:defRPr>
            </a:lvl1pPr>
          </a:lstStyle>
          <a:p>
            <a:fld id="{C68DACDF-E1A9-A04C-A5FF-FC2443684BF5}" type="slidenum">
              <a:rPr lang="en-US" smtClean="0"/>
              <a:pPr/>
              <a:t>‹#›</a:t>
            </a:fld>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93552" y="6303180"/>
            <a:ext cx="471466" cy="471466"/>
          </a:xfrm>
          <a:prstGeom prst="rect">
            <a:avLst/>
          </a:prstGeom>
        </p:spPr>
      </p:pic>
      <p:sp>
        <p:nvSpPr>
          <p:cNvPr id="12" name="Content Placeholder 11">
            <a:extLst>
              <a:ext uri="{FF2B5EF4-FFF2-40B4-BE49-F238E27FC236}">
                <a16:creationId xmlns:a16="http://schemas.microsoft.com/office/drawing/2014/main" id="{2864F1B8-AFCD-9B4D-A310-FC0F8BAA1D91}"/>
              </a:ext>
            </a:extLst>
          </p:cNvPr>
          <p:cNvSpPr>
            <a:spLocks noGrp="1"/>
          </p:cNvSpPr>
          <p:nvPr>
            <p:ph sz="quarter" idx="13"/>
          </p:nvPr>
        </p:nvSpPr>
        <p:spPr>
          <a:xfrm>
            <a:off x="838200" y="1565566"/>
            <a:ext cx="10515600" cy="4211348"/>
          </a:xfrm>
        </p:spPr>
        <p:txBody>
          <a:bodyPr/>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134563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bg2">
                    <a:lumMod val="75000"/>
                  </a:schemeClr>
                </a:solidFill>
              </a:defRPr>
            </a:lvl1pPr>
          </a:lstStyle>
          <a:p>
            <a:endParaRPr lang="en-US"/>
          </a:p>
        </p:txBody>
      </p:sp>
      <p:sp>
        <p:nvSpPr>
          <p:cNvPr id="4" name="Slide Number Placeholder 3"/>
          <p:cNvSpPr>
            <a:spLocks noGrp="1"/>
          </p:cNvSpPr>
          <p:nvPr>
            <p:ph type="sldNum" sz="quarter" idx="12"/>
          </p:nvPr>
        </p:nvSpPr>
        <p:spPr/>
        <p:txBody>
          <a:bodyPr/>
          <a:lstStyle>
            <a:lvl1pPr>
              <a:defRPr>
                <a:solidFill>
                  <a:schemeClr val="bg2">
                    <a:lumMod val="75000"/>
                  </a:schemeClr>
                </a:solidFill>
              </a:defRPr>
            </a:lvl1pPr>
          </a:lstStyle>
          <a:p>
            <a:fld id="{C68DACDF-E1A9-A04C-A5FF-FC2443684BF5}"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Emblem">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109224" y="585894"/>
            <a:ext cx="1973552" cy="1973552"/>
          </a:xfrm>
          <a:prstGeom prst="rect">
            <a:avLst/>
          </a:prstGeom>
        </p:spPr>
      </p:pic>
    </p:spTree>
    <p:extLst>
      <p:ext uri="{BB962C8B-B14F-4D97-AF65-F5344CB8AC3E}">
        <p14:creationId xmlns:p14="http://schemas.microsoft.com/office/powerpoint/2010/main" val="26647922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Monogram 2 Colo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110934" y="585894"/>
            <a:ext cx="1970131" cy="1973552"/>
          </a:xfrm>
          <a:prstGeom prst="rect">
            <a:avLst/>
          </a:prstGeom>
        </p:spPr>
      </p:pic>
    </p:spTree>
    <p:extLst>
      <p:ext uri="{BB962C8B-B14F-4D97-AF65-F5344CB8AC3E}">
        <p14:creationId xmlns:p14="http://schemas.microsoft.com/office/powerpoint/2010/main" val="20114640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Monogram Orang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110934" y="585894"/>
            <a:ext cx="1970131" cy="1973551"/>
          </a:xfrm>
          <a:prstGeom prst="rect">
            <a:avLst/>
          </a:prstGeom>
        </p:spPr>
      </p:pic>
    </p:spTree>
    <p:extLst>
      <p:ext uri="{BB962C8B-B14F-4D97-AF65-F5344CB8AC3E}">
        <p14:creationId xmlns:p14="http://schemas.microsoft.com/office/powerpoint/2010/main" val="20133881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Monogram Wordmark">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75897" y="205964"/>
            <a:ext cx="5240206" cy="2096081"/>
          </a:xfrm>
          <a:prstGeom prst="rect">
            <a:avLst/>
          </a:prstGeom>
        </p:spPr>
      </p:pic>
    </p:spTree>
    <p:extLst>
      <p:ext uri="{BB962C8B-B14F-4D97-AF65-F5344CB8AC3E}">
        <p14:creationId xmlns:p14="http://schemas.microsoft.com/office/powerpoint/2010/main" val="18713847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Wordmark Footer">
    <p:spTree>
      <p:nvGrpSpPr>
        <p:cNvPr id="1" name=""/>
        <p:cNvGrpSpPr/>
        <p:nvPr/>
      </p:nvGrpSpPr>
      <p:grpSpPr>
        <a:xfrm>
          <a:off x="0" y="0"/>
          <a:ext cx="0" cy="0"/>
          <a:chOff x="0" y="0"/>
          <a:chExt cx="0" cy="0"/>
        </a:xfrm>
      </p:grpSpPr>
      <p:sp>
        <p:nvSpPr>
          <p:cNvPr id="7" name="Rectangle 6"/>
          <p:cNvSpPr/>
          <p:nvPr userDrawn="1"/>
        </p:nvSpPr>
        <p:spPr>
          <a:xfrm>
            <a:off x="0" y="6228863"/>
            <a:ext cx="12192000" cy="6201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2" name="Title 1"/>
          <p:cNvSpPr>
            <a:spLocks noGrp="1"/>
          </p:cNvSpPr>
          <p:nvPr>
            <p:ph type="title"/>
          </p:nvPr>
        </p:nvSpPr>
        <p:spPr/>
        <p:txBody>
          <a:bodyPr>
            <a:normAutofit/>
          </a:bodyPr>
          <a:lstStyle>
            <a:lvl1pPr>
              <a:defRPr sz="4400" b="0" i="0">
                <a:latin typeface="Calibri" panose="020F0502020204030204" pitchFamily="34" charset="0"/>
                <a:cs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a:xfrm>
            <a:off x="838200" y="1579419"/>
            <a:ext cx="10515600" cy="4362092"/>
          </a:xfrm>
        </p:spPr>
        <p:txBody>
          <a:bodyPr/>
          <a:lstStyle>
            <a:lvl1pPr>
              <a:defRPr sz="2800">
                <a:latin typeface="Calibri" panose="020F0502020204030204" pitchFamily="34" charset="0"/>
                <a:cs typeface="Calibri" panose="020F0502020204030204" pitchFamily="34" charset="0"/>
              </a:defRPr>
            </a:lvl1pPr>
            <a:lvl2pPr>
              <a:defRPr sz="2400">
                <a:latin typeface="Calibri" panose="020F0502020204030204" pitchFamily="34" charset="0"/>
                <a:cs typeface="Calibri" panose="020F0502020204030204" pitchFamily="34" charset="0"/>
              </a:defRPr>
            </a:lvl2pPr>
            <a:lvl3pPr>
              <a:defRPr sz="2000">
                <a:latin typeface="Calibri" panose="020F0502020204030204" pitchFamily="34" charset="0"/>
                <a:cs typeface="Calibri" panose="020F0502020204030204" pitchFamily="34" charset="0"/>
              </a:defRPr>
            </a:lvl3pPr>
            <a:lvl4pPr>
              <a:defRPr sz="1600">
                <a:latin typeface="Calibri" panose="020F0502020204030204" pitchFamily="34" charset="0"/>
                <a:cs typeface="Calibri" panose="020F0502020204030204" pitchFamily="34" charset="0"/>
              </a:defRPr>
            </a:lvl4pPr>
            <a:lvl5pPr>
              <a:defRPr sz="1200">
                <a:latin typeface="Calibri" panose="020F0502020204030204" pitchFamily="34" charset="0"/>
                <a:cs typeface="Calibri" panose="020F05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0770704" y="6416478"/>
            <a:ext cx="583096" cy="244870"/>
          </a:xfrm>
        </p:spPr>
        <p:txBody>
          <a:bodyPr/>
          <a:lstStyle>
            <a:lvl1pPr>
              <a:defRPr sz="1600">
                <a:solidFill>
                  <a:schemeClr val="bg1"/>
                </a:solidFill>
                <a:latin typeface="Calibri" panose="020F0502020204030204" pitchFamily="34" charset="0"/>
                <a:cs typeface="Calibri" panose="020F0502020204030204" pitchFamily="34" charset="0"/>
              </a:defRPr>
            </a:lvl1pPr>
          </a:lstStyle>
          <a:p>
            <a:fld id="{C68DACDF-E1A9-A04C-A5FF-FC2443684BF5}" type="slidenum">
              <a:rPr lang="en-US" smtClean="0"/>
              <a:pPr/>
              <a:t>‹#›</a:t>
            </a:fld>
            <a:endParaRPr lang="en-US" dirty="0"/>
          </a:p>
        </p:txBody>
      </p:sp>
      <p:cxnSp>
        <p:nvCxnSpPr>
          <p:cNvPr id="8" name="Straight Connector 7"/>
          <p:cNvCxnSpPr/>
          <p:nvPr userDrawn="1"/>
        </p:nvCxnSpPr>
        <p:spPr>
          <a:xfrm>
            <a:off x="0" y="6138438"/>
            <a:ext cx="12192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225" y="6228863"/>
            <a:ext cx="3432175" cy="600320"/>
          </a:xfrm>
          <a:prstGeom prst="rect">
            <a:avLst/>
          </a:prstGeom>
        </p:spPr>
      </p:pic>
    </p:spTree>
    <p:extLst>
      <p:ext uri="{BB962C8B-B14F-4D97-AF65-F5344CB8AC3E}">
        <p14:creationId xmlns:p14="http://schemas.microsoft.com/office/powerpoint/2010/main" val="10658627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ircle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774E77A-F3AF-2642-9310-AD4C753862B7}"/>
              </a:ext>
            </a:extLst>
          </p:cNvPr>
          <p:cNvSpPr/>
          <p:nvPr userDrawn="1"/>
        </p:nvSpPr>
        <p:spPr>
          <a:xfrm>
            <a:off x="0" y="6228863"/>
            <a:ext cx="12192000" cy="6201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cxnSp>
        <p:nvCxnSpPr>
          <p:cNvPr id="10" name="Straight Connector 9">
            <a:extLst>
              <a:ext uri="{FF2B5EF4-FFF2-40B4-BE49-F238E27FC236}">
                <a16:creationId xmlns:a16="http://schemas.microsoft.com/office/drawing/2014/main" id="{11B1F3F2-2AC7-B443-8B2E-4E2C0AEEA1A6}"/>
              </a:ext>
            </a:extLst>
          </p:cNvPr>
          <p:cNvCxnSpPr/>
          <p:nvPr userDrawn="1"/>
        </p:nvCxnSpPr>
        <p:spPr>
          <a:xfrm>
            <a:off x="0" y="6138438"/>
            <a:ext cx="12192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en-US" dirty="0"/>
              <a:t>Click to edit Master title style</a:t>
            </a:r>
          </a:p>
        </p:txBody>
      </p:sp>
      <p:sp>
        <p:nvSpPr>
          <p:cNvPr id="4" name="Footer Placeholder 3"/>
          <p:cNvSpPr>
            <a:spLocks noGrp="1"/>
          </p:cNvSpPr>
          <p:nvPr>
            <p:ph type="ftr" sz="quarter" idx="11"/>
          </p:nvPr>
        </p:nvSpPr>
        <p:spPr>
          <a:xfrm>
            <a:off x="4038600" y="6461729"/>
            <a:ext cx="7315200" cy="190307"/>
          </a:xfrm>
        </p:spPr>
        <p:txBody>
          <a:bodyPr rIns="0"/>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a:xfrm>
            <a:off x="11353800" y="6461729"/>
            <a:ext cx="356616" cy="190307"/>
          </a:xfrm>
        </p:spPr>
        <p:txBody>
          <a:bodyPr/>
          <a:lstStyle>
            <a:lvl1pPr>
              <a:defRPr>
                <a:solidFill>
                  <a:schemeClr val="bg1"/>
                </a:solidFill>
              </a:defRPr>
            </a:lvl1pPr>
          </a:lstStyle>
          <a:p>
            <a:fld id="{C68DACDF-E1A9-A04C-A5FF-FC2443684BF5}" type="slidenum">
              <a:rPr lang="en-US" smtClean="0"/>
              <a:pPr/>
              <a:t>‹#›</a:t>
            </a:fld>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93552" y="6303180"/>
            <a:ext cx="471466" cy="471466"/>
          </a:xfrm>
          <a:prstGeom prst="rect">
            <a:avLst/>
          </a:prstGeom>
        </p:spPr>
      </p:pic>
      <p:sp>
        <p:nvSpPr>
          <p:cNvPr id="12" name="Content Placeholder 11">
            <a:extLst>
              <a:ext uri="{FF2B5EF4-FFF2-40B4-BE49-F238E27FC236}">
                <a16:creationId xmlns:a16="http://schemas.microsoft.com/office/drawing/2014/main" id="{2864F1B8-AFCD-9B4D-A310-FC0F8BAA1D91}"/>
              </a:ext>
            </a:extLst>
          </p:cNvPr>
          <p:cNvSpPr>
            <a:spLocks noGrp="1"/>
          </p:cNvSpPr>
          <p:nvPr>
            <p:ph sz="quarter" idx="13"/>
          </p:nvPr>
        </p:nvSpPr>
        <p:spPr>
          <a:xfrm>
            <a:off x="838200" y="1565566"/>
            <a:ext cx="10515600" cy="4211348"/>
          </a:xfrm>
        </p:spPr>
        <p:txBody>
          <a:bodyPr/>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134563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bg2">
                    <a:lumMod val="75000"/>
                  </a:schemeClr>
                </a:solidFill>
              </a:defRPr>
            </a:lvl1pPr>
          </a:lstStyle>
          <a:p>
            <a:r>
              <a:rPr lang="en-US"/>
              <a:t>Unit Name Here [Go to Insert/Header and Footer in the top toolbar to change the footer text; also to add or remove Slide Number]</a:t>
            </a:r>
          </a:p>
        </p:txBody>
      </p:sp>
      <p:sp>
        <p:nvSpPr>
          <p:cNvPr id="4" name="Slide Number Placeholder 3"/>
          <p:cNvSpPr>
            <a:spLocks noGrp="1"/>
          </p:cNvSpPr>
          <p:nvPr>
            <p:ph type="sldNum" sz="quarter" idx="12"/>
          </p:nvPr>
        </p:nvSpPr>
        <p:spPr/>
        <p:txBody>
          <a:bodyPr/>
          <a:lstStyle>
            <a:lvl1pPr>
              <a:defRPr>
                <a:solidFill>
                  <a:schemeClr val="bg2">
                    <a:lumMod val="75000"/>
                  </a:schemeClr>
                </a:solidFill>
              </a:defRPr>
            </a:lvl1pPr>
          </a:lstStyle>
          <a:p>
            <a:fld id="{C68DACDF-E1A9-A04C-A5FF-FC2443684BF5}"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Shape 12"/>
        <p:cNvGrpSpPr/>
        <p:nvPr/>
      </p:nvGrpSpPr>
      <p:grpSpPr>
        <a:xfrm>
          <a:off x="0" y="0"/>
          <a:ext cx="0" cy="0"/>
          <a:chOff x="0" y="0"/>
          <a:chExt cx="0" cy="0"/>
        </a:xfrm>
      </p:grpSpPr>
      <p:sp>
        <p:nvSpPr>
          <p:cNvPr id="3" name="Slide Number Placeholder 5"/>
          <p:cNvSpPr>
            <a:spLocks noGrp="1"/>
          </p:cNvSpPr>
          <p:nvPr>
            <p:ph type="sldNum" sz="quarter" idx="12"/>
          </p:nvPr>
        </p:nvSpPr>
        <p:spPr>
          <a:xfrm>
            <a:off x="10769600" y="6400801"/>
            <a:ext cx="1219200" cy="365125"/>
          </a:xfrm>
          <a:prstGeom prst="rect">
            <a:avLst/>
          </a:prstGeom>
        </p:spPr>
        <p:txBody>
          <a:bodyPr/>
          <a:lstStyle>
            <a:lvl1pPr>
              <a:defRPr>
                <a:solidFill>
                  <a:schemeClr val="bg1"/>
                </a:solidFill>
              </a:defRPr>
            </a:lvl1pPr>
          </a:lstStyle>
          <a:p>
            <a:pPr defTabSz="457200"/>
            <a:fld id="{CF7DC490-98B8-074B-BB30-37775A2447EF}" type="slidenum">
              <a:rPr lang="en-US" smtClean="0">
                <a:solidFill>
                  <a:prstClr val="white"/>
                </a:solidFill>
              </a:rPr>
              <a:pPr defTabSz="457200"/>
              <a:t>‹#›</a:t>
            </a:fld>
            <a:endParaRPr lang="en-US" dirty="0">
              <a:solidFill>
                <a:prstClr val="white"/>
              </a:solidFill>
            </a:endParaRPr>
          </a:p>
        </p:txBody>
      </p:sp>
    </p:spTree>
    <p:extLst>
      <p:ext uri="{BB962C8B-B14F-4D97-AF65-F5344CB8AC3E}">
        <p14:creationId xmlns:p14="http://schemas.microsoft.com/office/powerpoint/2010/main" val="2097277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6/30/25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5" r:id="rId1"/>
    <p:sldLayoutId id="2147483677" r:id="rId2"/>
    <p:sldLayoutId id="2147483663" r:id="rId3"/>
    <p:sldLayoutId id="2147483664" r:id="rId4"/>
    <p:sldLayoutId id="2147483665" r:id="rId5"/>
    <p:sldLayoutId id="2147483678" r:id="rId6"/>
    <p:sldLayoutId id="2147483667" r:id="rId7"/>
    <p:sldLayoutId id="2147483668" r:id="rId8"/>
    <p:sldLayoutId id="2147483669" r:id="rId9"/>
    <p:sldLayoutId id="2147483679"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47914"/>
            <a:ext cx="10515600" cy="11575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579418"/>
            <a:ext cx="10515600" cy="459754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038600" y="6461729"/>
            <a:ext cx="7315200" cy="190307"/>
          </a:xfrm>
          <a:prstGeom prst="rect">
            <a:avLst/>
          </a:prstGeom>
        </p:spPr>
        <p:txBody>
          <a:bodyPr vert="horz" lIns="91440" tIns="45720" rIns="0" bIns="45720" rtlCol="0" anchor="ctr"/>
          <a:lstStyle>
            <a:lvl1pPr algn="r">
              <a:defRPr sz="900">
                <a:solidFill>
                  <a:schemeClr val="bg2">
                    <a:lumMod val="90000"/>
                  </a:schemeClr>
                </a:solidFill>
              </a:defRPr>
            </a:lvl1pPr>
          </a:lstStyle>
          <a:p>
            <a:endParaRPr lang="en-US" dirty="0"/>
          </a:p>
        </p:txBody>
      </p:sp>
      <p:sp>
        <p:nvSpPr>
          <p:cNvPr id="6" name="Slide Number Placeholder 5"/>
          <p:cNvSpPr>
            <a:spLocks noGrp="1"/>
          </p:cNvSpPr>
          <p:nvPr>
            <p:ph type="sldNum" sz="quarter" idx="4"/>
          </p:nvPr>
        </p:nvSpPr>
        <p:spPr>
          <a:xfrm>
            <a:off x="11353800" y="6461729"/>
            <a:ext cx="356616" cy="190307"/>
          </a:xfrm>
          <a:prstGeom prst="rect">
            <a:avLst/>
          </a:prstGeom>
        </p:spPr>
        <p:txBody>
          <a:bodyPr vert="horz" lIns="91440" tIns="45720" rIns="91440" bIns="45720" rtlCol="0" anchor="ctr"/>
          <a:lstStyle>
            <a:lvl1pPr algn="r">
              <a:defRPr sz="900">
                <a:solidFill>
                  <a:schemeClr val="bg2">
                    <a:lumMod val="90000"/>
                  </a:schemeClr>
                </a:solidFill>
              </a:defRPr>
            </a:lvl1pPr>
          </a:lstStyle>
          <a:p>
            <a:fld id="{C68DACDF-E1A9-A04C-A5FF-FC2443684BF5}" type="slidenum">
              <a:rPr lang="en-US" smtClean="0"/>
              <a:pPr/>
              <a:t>‹#›</a:t>
            </a:fld>
            <a:endParaRPr lang="en-US"/>
          </a:p>
        </p:txBody>
      </p:sp>
    </p:spTree>
    <p:extLst>
      <p:ext uri="{BB962C8B-B14F-4D97-AF65-F5344CB8AC3E}">
        <p14:creationId xmlns:p14="http://schemas.microsoft.com/office/powerpoint/2010/main" val="2624593944"/>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72" r:id="rId3"/>
    <p:sldLayoutId id="2147483673" r:id="rId4"/>
    <p:sldLayoutId id="2147483662" r:id="rId5"/>
    <p:sldLayoutId id="2147483666" r:id="rId6"/>
    <p:sldLayoutId id="2147483670" r:id="rId7"/>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47914"/>
            <a:ext cx="10515600" cy="11575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579418"/>
            <a:ext cx="10515600" cy="459754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038600" y="6461729"/>
            <a:ext cx="7315200" cy="190307"/>
          </a:xfrm>
          <a:prstGeom prst="rect">
            <a:avLst/>
          </a:prstGeom>
        </p:spPr>
        <p:txBody>
          <a:bodyPr vert="horz" lIns="91440" tIns="45720" rIns="0" bIns="45720" rtlCol="0" anchor="ctr"/>
          <a:lstStyle>
            <a:lvl1pPr algn="r">
              <a:defRPr sz="900">
                <a:solidFill>
                  <a:schemeClr val="bg2">
                    <a:lumMod val="90000"/>
                  </a:schemeClr>
                </a:solidFill>
              </a:defRPr>
            </a:lvl1pPr>
          </a:lstStyle>
          <a:p>
            <a:r>
              <a:rPr lang="en-US"/>
              <a:t>Unit Name Here [Go to Insert/Header and Footer in the top toolbar to change the footer text; also to add or remove Slide Number]</a:t>
            </a:r>
            <a:endParaRPr lang="en-US" dirty="0"/>
          </a:p>
        </p:txBody>
      </p:sp>
      <p:sp>
        <p:nvSpPr>
          <p:cNvPr id="6" name="Slide Number Placeholder 5"/>
          <p:cNvSpPr>
            <a:spLocks noGrp="1"/>
          </p:cNvSpPr>
          <p:nvPr>
            <p:ph type="sldNum" sz="quarter" idx="4"/>
          </p:nvPr>
        </p:nvSpPr>
        <p:spPr>
          <a:xfrm>
            <a:off x="11353800" y="6461729"/>
            <a:ext cx="356616" cy="190307"/>
          </a:xfrm>
          <a:prstGeom prst="rect">
            <a:avLst/>
          </a:prstGeom>
        </p:spPr>
        <p:txBody>
          <a:bodyPr vert="horz" lIns="91440" tIns="45720" rIns="91440" bIns="45720" rtlCol="0" anchor="ctr"/>
          <a:lstStyle>
            <a:lvl1pPr algn="r">
              <a:defRPr sz="900">
                <a:solidFill>
                  <a:schemeClr val="bg2">
                    <a:lumMod val="90000"/>
                  </a:schemeClr>
                </a:solidFill>
              </a:defRPr>
            </a:lvl1pPr>
          </a:lstStyle>
          <a:p>
            <a:fld id="{C68DACDF-E1A9-A04C-A5FF-FC2443684BF5}" type="slidenum">
              <a:rPr lang="en-US" smtClean="0"/>
              <a:pPr/>
              <a:t>‹#›</a:t>
            </a:fld>
            <a:endParaRPr lang="en-US"/>
          </a:p>
        </p:txBody>
      </p:sp>
    </p:spTree>
    <p:extLst>
      <p:ext uri="{BB962C8B-B14F-4D97-AF65-F5344CB8AC3E}">
        <p14:creationId xmlns:p14="http://schemas.microsoft.com/office/powerpoint/2010/main" val="2624593944"/>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0" r:id="rId8"/>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3.xml"/><Relationship Id="rId7" Type="http://schemas.openxmlformats.org/officeDocument/2006/relationships/image" Target="../media/image8.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slideLayout" Target="../slideLayouts/slideLayout16.xml"/><Relationship Id="rId10" Type="http://schemas.openxmlformats.org/officeDocument/2006/relationships/image" Target="../media/image11.png"/><Relationship Id="rId4" Type="http://schemas.openxmlformats.org/officeDocument/2006/relationships/tags" Target="../tags/tag4.xml"/><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6.xml"/><Relationship Id="rId1" Type="http://schemas.openxmlformats.org/officeDocument/2006/relationships/tags" Target="../tags/tag5.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6.xml"/><Relationship Id="rId5" Type="http://schemas.openxmlformats.org/officeDocument/2006/relationships/image" Target="../media/image10.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8.xml"/><Relationship Id="rId7" Type="http://schemas.openxmlformats.org/officeDocument/2006/relationships/image" Target="../media/image8.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7.png"/><Relationship Id="rId5" Type="http://schemas.openxmlformats.org/officeDocument/2006/relationships/slideLayout" Target="../slideLayouts/slideLayout16.xml"/><Relationship Id="rId4" Type="http://schemas.openxmlformats.org/officeDocument/2006/relationships/tags" Target="../tags/tag9.xm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6.xml"/><Relationship Id="rId1" Type="http://schemas.openxmlformats.org/officeDocument/2006/relationships/tags" Target="../tags/tag1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6.xml"/><Relationship Id="rId7" Type="http://schemas.openxmlformats.org/officeDocument/2006/relationships/image" Target="../media/image29.png"/><Relationship Id="rId2" Type="http://schemas.openxmlformats.org/officeDocument/2006/relationships/slideLayout" Target="../slideLayouts/slideLayout16.xml"/><Relationship Id="rId1" Type="http://schemas.openxmlformats.org/officeDocument/2006/relationships/tags" Target="../tags/tag1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3.xml"/><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38.png"/><Relationship Id="rId5" Type="http://schemas.openxmlformats.org/officeDocument/2006/relationships/image" Target="../media/image35.png"/><Relationship Id="rId4" Type="http://schemas.openxmlformats.org/officeDocument/2006/relationships/image" Target="../media/image33.jpe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jpg"/><Relationship Id="rId7"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jpg"/><Relationship Id="rId4" Type="http://schemas.openxmlformats.org/officeDocument/2006/relationships/image" Target="../media/image45.png"/><Relationship Id="rId9"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2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23.xml"/><Relationship Id="rId4" Type="http://schemas.openxmlformats.org/officeDocument/2006/relationships/image" Target="../media/image59.emf"/></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2.xml"/><Relationship Id="rId1" Type="http://schemas.openxmlformats.org/officeDocument/2006/relationships/slideLayout" Target="../slideLayouts/slideLayout26.xml"/><Relationship Id="rId4" Type="http://schemas.openxmlformats.org/officeDocument/2006/relationships/image" Target="../media/image6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34.png"/><Relationship Id="rId1" Type="http://schemas.openxmlformats.org/officeDocument/2006/relationships/slideLayout" Target="../slideLayouts/slideLayout2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3" Type="http://schemas.openxmlformats.org/officeDocument/2006/relationships/hyperlink" Target="https://image-net.org/challenges/LSVRC/2012/index.php" TargetMode="External"/><Relationship Id="rId2" Type="http://schemas.openxmlformats.org/officeDocument/2006/relationships/notesSlide" Target="../notesSlides/notesSlide54.xml"/><Relationship Id="rId1" Type="http://schemas.openxmlformats.org/officeDocument/2006/relationships/slideLayout" Target="../slideLayouts/slideLayout23.xml"/><Relationship Id="rId5" Type="http://schemas.openxmlformats.org/officeDocument/2006/relationships/image" Target="../media/image70.jpg"/><Relationship Id="rId4" Type="http://schemas.openxmlformats.org/officeDocument/2006/relationships/image" Target="../media/image69.png"/></Relationships>
</file>

<file path=ppt/slides/_rels/slide7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56.png"/><Relationship Id="rId7" Type="http://schemas.openxmlformats.org/officeDocument/2006/relationships/image" Target="../media/image33.jpeg"/><Relationship Id="rId2" Type="http://schemas.openxmlformats.org/officeDocument/2006/relationships/notesSlide" Target="../notesSlides/notesSlide55.xml"/><Relationship Id="rId1" Type="http://schemas.openxmlformats.org/officeDocument/2006/relationships/slideLayout" Target="../slideLayouts/slideLayout23.xml"/><Relationship Id="rId6" Type="http://schemas.openxmlformats.org/officeDocument/2006/relationships/image" Target="../media/image54.png"/><Relationship Id="rId11" Type="http://schemas.openxmlformats.org/officeDocument/2006/relationships/image" Target="../media/image74.png"/><Relationship Id="rId5" Type="http://schemas.openxmlformats.org/officeDocument/2006/relationships/image" Target="../media/image55.png"/><Relationship Id="rId10" Type="http://schemas.openxmlformats.org/officeDocument/2006/relationships/image" Target="../media/image73.png"/><Relationship Id="rId4" Type="http://schemas.openxmlformats.org/officeDocument/2006/relationships/image" Target="../media/image53.png"/><Relationship Id="rId9" Type="http://schemas.openxmlformats.org/officeDocument/2006/relationships/image" Target="../media/image72.png"/></Relationships>
</file>

<file path=ppt/slides/_rels/slide7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68.png"/><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56.png"/><Relationship Id="rId7" Type="http://schemas.openxmlformats.org/officeDocument/2006/relationships/image" Target="../media/image33.jpeg"/><Relationship Id="rId2" Type="http://schemas.openxmlformats.org/officeDocument/2006/relationships/notesSlide" Target="../notesSlides/notesSlide56.xml"/><Relationship Id="rId1" Type="http://schemas.openxmlformats.org/officeDocument/2006/relationships/slideLayout" Target="../slideLayouts/slideLayout23.xml"/><Relationship Id="rId6" Type="http://schemas.openxmlformats.org/officeDocument/2006/relationships/image" Target="../media/image54.png"/><Relationship Id="rId5" Type="http://schemas.openxmlformats.org/officeDocument/2006/relationships/image" Target="../media/image55.png"/><Relationship Id="rId10" Type="http://schemas.openxmlformats.org/officeDocument/2006/relationships/image" Target="../media/image72.png"/><Relationship Id="rId4" Type="http://schemas.openxmlformats.org/officeDocument/2006/relationships/image" Target="../media/image53.png"/><Relationship Id="rId9" Type="http://schemas.openxmlformats.org/officeDocument/2006/relationships/image" Target="../media/image74.png"/></Relationships>
</file>

<file path=ppt/slides/_rels/slide73.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79.png"/><Relationship Id="rId2" Type="http://schemas.openxmlformats.org/officeDocument/2006/relationships/notesSlide" Target="../notesSlides/notesSlide57.xml"/><Relationship Id="rId1" Type="http://schemas.openxmlformats.org/officeDocument/2006/relationships/slideLayout" Target="../slideLayouts/slideLayout2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8.xml"/><Relationship Id="rId1" Type="http://schemas.openxmlformats.org/officeDocument/2006/relationships/slideLayout" Target="../slideLayouts/slideLayout23.xml"/><Relationship Id="rId4" Type="http://schemas.openxmlformats.org/officeDocument/2006/relationships/image" Target="../media/image81.png"/></Relationships>
</file>

<file path=ppt/slides/_rels/slide7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2.png"/><Relationship Id="rId7" Type="http://schemas.openxmlformats.org/officeDocument/2006/relationships/image" Target="../media/image66.png"/><Relationship Id="rId2" Type="http://schemas.openxmlformats.org/officeDocument/2006/relationships/image" Target="../media/image78.png"/><Relationship Id="rId1" Type="http://schemas.openxmlformats.org/officeDocument/2006/relationships/slideLayout" Target="../slideLayouts/slideLayout23.xml"/><Relationship Id="rId6" Type="http://schemas.openxmlformats.org/officeDocument/2006/relationships/image" Target="../media/image65.png"/><Relationship Id="rId5" Type="http://schemas.openxmlformats.org/officeDocument/2006/relationships/image" Target="../media/image56.png"/><Relationship Id="rId10" Type="http://schemas.openxmlformats.org/officeDocument/2006/relationships/image" Target="../media/image83.png"/><Relationship Id="rId4" Type="http://schemas.openxmlformats.org/officeDocument/2006/relationships/image" Target="../media/image73.png"/><Relationship Id="rId9" Type="http://schemas.openxmlformats.org/officeDocument/2006/relationships/image" Target="../media/image74.png"/></Relationships>
</file>

<file path=ppt/slides/_rels/slide76.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56.png"/><Relationship Id="rId7" Type="http://schemas.openxmlformats.org/officeDocument/2006/relationships/image" Target="../media/image74.png"/><Relationship Id="rId2" Type="http://schemas.openxmlformats.org/officeDocument/2006/relationships/image" Target="../media/image84.png"/><Relationship Id="rId1" Type="http://schemas.openxmlformats.org/officeDocument/2006/relationships/slideLayout" Target="../slideLayouts/slideLayout23.xml"/><Relationship Id="rId6" Type="http://schemas.openxmlformats.org/officeDocument/2006/relationships/image" Target="../media/image82.png"/><Relationship Id="rId5"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85.png"/></Relationships>
</file>

<file path=ppt/slides/_rels/slide77.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56.png"/><Relationship Id="rId7" Type="http://schemas.openxmlformats.org/officeDocument/2006/relationships/image" Target="../media/image74.png"/><Relationship Id="rId2" Type="http://schemas.openxmlformats.org/officeDocument/2006/relationships/image" Target="../media/image86.png"/><Relationship Id="rId1" Type="http://schemas.openxmlformats.org/officeDocument/2006/relationships/slideLayout" Target="../slideLayouts/slideLayout23.xml"/><Relationship Id="rId6" Type="http://schemas.openxmlformats.org/officeDocument/2006/relationships/image" Target="../media/image82.png"/><Relationship Id="rId11" Type="http://schemas.openxmlformats.org/officeDocument/2006/relationships/image" Target="../media/image89.png"/><Relationship Id="rId5" Type="http://schemas.openxmlformats.org/officeDocument/2006/relationships/image" Target="../media/image66.png"/><Relationship Id="rId10" Type="http://schemas.openxmlformats.org/officeDocument/2006/relationships/image" Target="../media/image88.png"/><Relationship Id="rId4" Type="http://schemas.openxmlformats.org/officeDocument/2006/relationships/image" Target="../media/image65.png"/><Relationship Id="rId9" Type="http://schemas.openxmlformats.org/officeDocument/2006/relationships/image" Target="../media/image87.png"/></Relationships>
</file>

<file path=ppt/slides/_rels/slide78.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90.png"/><Relationship Id="rId7" Type="http://schemas.openxmlformats.org/officeDocument/2006/relationships/image" Target="../media/image93.png"/><Relationship Id="rId2" Type="http://schemas.openxmlformats.org/officeDocument/2006/relationships/image" Target="../media/image86.png"/><Relationship Id="rId1" Type="http://schemas.openxmlformats.org/officeDocument/2006/relationships/slideLayout" Target="../slideLayouts/slideLayout23.xml"/><Relationship Id="rId6" Type="http://schemas.openxmlformats.org/officeDocument/2006/relationships/image" Target="../media/image92.png"/><Relationship Id="rId11" Type="http://schemas.openxmlformats.org/officeDocument/2006/relationships/hyperlink" Target="https://eli.thegreenplace.net/2016/the-softmax-function-and-its-derivative/" TargetMode="External"/><Relationship Id="rId5" Type="http://schemas.openxmlformats.org/officeDocument/2006/relationships/image" Target="../media/image89.png"/><Relationship Id="rId10" Type="http://schemas.openxmlformats.org/officeDocument/2006/relationships/image" Target="../media/image95.png"/><Relationship Id="rId4" Type="http://schemas.openxmlformats.org/officeDocument/2006/relationships/image" Target="../media/image91.png"/><Relationship Id="rId9" Type="http://schemas.openxmlformats.org/officeDocument/2006/relationships/image" Target="../media/image94.png"/></Relationships>
</file>

<file path=ppt/slides/_rels/slide79.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84.png"/><Relationship Id="rId7" Type="http://schemas.openxmlformats.org/officeDocument/2006/relationships/image" Target="../media/image95.png"/><Relationship Id="rId2" Type="http://schemas.openxmlformats.org/officeDocument/2006/relationships/image" Target="../media/image86.png"/><Relationship Id="rId1" Type="http://schemas.openxmlformats.org/officeDocument/2006/relationships/slideLayout" Target="../slideLayouts/slideLayout23.xml"/><Relationship Id="rId6" Type="http://schemas.openxmlformats.org/officeDocument/2006/relationships/image" Target="../media/image94.png"/><Relationship Id="rId5"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6.png"/></Relationships>
</file>

<file path=ppt/slides/_rels/slide80.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65.png"/><Relationship Id="rId7" Type="http://schemas.openxmlformats.org/officeDocument/2006/relationships/image" Target="../media/image97.png"/><Relationship Id="rId2" Type="http://schemas.openxmlformats.org/officeDocument/2006/relationships/image" Target="../media/image56.png"/><Relationship Id="rId1" Type="http://schemas.openxmlformats.org/officeDocument/2006/relationships/slideLayout" Target="../slideLayouts/slideLayout23.xml"/><Relationship Id="rId6" Type="http://schemas.openxmlformats.org/officeDocument/2006/relationships/image" Target="../media/image74.png"/><Relationship Id="rId11" Type="http://schemas.openxmlformats.org/officeDocument/2006/relationships/image" Target="../media/image85.png"/><Relationship Id="rId5" Type="http://schemas.openxmlformats.org/officeDocument/2006/relationships/image" Target="../media/image82.png"/><Relationship Id="rId10" Type="http://schemas.openxmlformats.org/officeDocument/2006/relationships/image" Target="../media/image100.png"/><Relationship Id="rId4" Type="http://schemas.openxmlformats.org/officeDocument/2006/relationships/image" Target="../media/image66.png"/><Relationship Id="rId9" Type="http://schemas.openxmlformats.org/officeDocument/2006/relationships/image" Target="../media/image99.png"/></Relationships>
</file>

<file path=ppt/slides/_rels/slide81.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65.png"/><Relationship Id="rId7" Type="http://schemas.openxmlformats.org/officeDocument/2006/relationships/image" Target="../media/image97.png"/><Relationship Id="rId2" Type="http://schemas.openxmlformats.org/officeDocument/2006/relationships/image" Target="../media/image56.png"/><Relationship Id="rId1" Type="http://schemas.openxmlformats.org/officeDocument/2006/relationships/slideLayout" Target="../slideLayouts/slideLayout23.xml"/><Relationship Id="rId6" Type="http://schemas.openxmlformats.org/officeDocument/2006/relationships/image" Target="../media/image74.png"/><Relationship Id="rId11" Type="http://schemas.openxmlformats.org/officeDocument/2006/relationships/image" Target="../media/image104.png"/><Relationship Id="rId5" Type="http://schemas.openxmlformats.org/officeDocument/2006/relationships/image" Target="../media/image82.png"/><Relationship Id="rId10" Type="http://schemas.openxmlformats.org/officeDocument/2006/relationships/image" Target="../media/image103.png"/><Relationship Id="rId4" Type="http://schemas.openxmlformats.org/officeDocument/2006/relationships/image" Target="../media/image66.png"/><Relationship Id="rId9" Type="http://schemas.openxmlformats.org/officeDocument/2006/relationships/image" Target="../media/image10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3.xml"/></Relationships>
</file>

<file path=ppt/slides/_rels/slide8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9.xml"/><Relationship Id="rId1" Type="http://schemas.openxmlformats.org/officeDocument/2006/relationships/slideLayout" Target="../slideLayouts/slideLayout23.xml"/></Relationships>
</file>

<file path=ppt/slides/_rels/slide85.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5.png"/><Relationship Id="rId7" Type="http://schemas.openxmlformats.org/officeDocument/2006/relationships/image" Target="../media/image108.png"/><Relationship Id="rId2" Type="http://schemas.openxmlformats.org/officeDocument/2006/relationships/notesSlide" Target="../notesSlides/notesSlide60.xml"/><Relationship Id="rId1" Type="http://schemas.openxmlformats.org/officeDocument/2006/relationships/slideLayout" Target="../slideLayouts/slideLayout23.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78.png"/></Relationships>
</file>

<file path=ppt/slides/_rels/slide8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1.xml"/><Relationship Id="rId1" Type="http://schemas.openxmlformats.org/officeDocument/2006/relationships/slideLayout" Target="../slideLayouts/slideLayout23.xml"/></Relationships>
</file>

<file path=ppt/slides/_rels/slide8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3.xml"/><Relationship Id="rId5" Type="http://schemas.openxmlformats.org/officeDocument/2006/relationships/image" Target="../media/image114.png"/><Relationship Id="rId4" Type="http://schemas.openxmlformats.org/officeDocument/2006/relationships/image" Target="../media/image113.png"/></Relationships>
</file>

<file path=ppt/slides/_rels/slide8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62.xml"/><Relationship Id="rId1" Type="http://schemas.openxmlformats.org/officeDocument/2006/relationships/slideLayout" Target="../slideLayouts/slideLayout23.xml"/><Relationship Id="rId5" Type="http://schemas.openxmlformats.org/officeDocument/2006/relationships/image" Target="../media/image117.png"/><Relationship Id="rId4" Type="http://schemas.openxmlformats.org/officeDocument/2006/relationships/image" Target="../media/image116.png"/></Relationships>
</file>

<file path=ppt/slides/_rels/slide8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63.xml"/><Relationship Id="rId1" Type="http://schemas.openxmlformats.org/officeDocument/2006/relationships/slideLayout" Target="../slideLayouts/slideLayout23.xml"/><Relationship Id="rId6" Type="http://schemas.openxmlformats.org/officeDocument/2006/relationships/image" Target="../media/image117.png"/><Relationship Id="rId5" Type="http://schemas.openxmlformats.org/officeDocument/2006/relationships/image" Target="../media/image120.png"/><Relationship Id="rId4" Type="http://schemas.openxmlformats.org/officeDocument/2006/relationships/image" Target="../media/image119.png"/></Relationships>
</file>

<file path=ppt/slides/_rels/slide9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4.xml"/><Relationship Id="rId1" Type="http://schemas.openxmlformats.org/officeDocument/2006/relationships/slideLayout" Target="../slideLayouts/slideLayout23.xml"/></Relationships>
</file>

<file path=ppt/slides/_rels/slide9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5.xml"/><Relationship Id="rId1" Type="http://schemas.openxmlformats.org/officeDocument/2006/relationships/slideLayout" Target="../slideLayouts/slideLayout23.xml"/><Relationship Id="rId5" Type="http://schemas.openxmlformats.org/officeDocument/2006/relationships/image" Target="../media/image122.png"/><Relationship Id="rId4" Type="http://schemas.openxmlformats.org/officeDocument/2006/relationships/hyperlink" Target="https://ruder.io/optimizing-gradient-descent/" TargetMode="External"/></Relationships>
</file>

<file path=ppt/slides/_rels/slide92.xml.rels><?xml version="1.0" encoding="UTF-8" standalone="yes"?>
<Relationships xmlns="http://schemas.openxmlformats.org/package/2006/relationships"><Relationship Id="rId8" Type="http://schemas.openxmlformats.org/officeDocument/2006/relationships/image" Target="../media/image128.emf"/><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notesSlide" Target="../notesSlides/notesSlide66.xml"/><Relationship Id="rId1" Type="http://schemas.openxmlformats.org/officeDocument/2006/relationships/slideLayout" Target="../slideLayouts/slideLayout23.xml"/><Relationship Id="rId6" Type="http://schemas.openxmlformats.org/officeDocument/2006/relationships/image" Target="../media/image126.png"/><Relationship Id="rId5" Type="http://schemas.openxmlformats.org/officeDocument/2006/relationships/image" Target="../media/image125.emf"/><Relationship Id="rId4" Type="http://schemas.openxmlformats.org/officeDocument/2006/relationships/image" Target="../media/image124.png"/></Relationships>
</file>

<file path=ppt/slides/_rels/slide93.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notesSlide" Target="../notesSlides/notesSlide67.xml"/><Relationship Id="rId1" Type="http://schemas.openxmlformats.org/officeDocument/2006/relationships/slideLayout" Target="../slideLayouts/slideLayout23.xml"/><Relationship Id="rId6" Type="http://schemas.openxmlformats.org/officeDocument/2006/relationships/image" Target="../media/image132.png"/><Relationship Id="rId5" Type="http://schemas.openxmlformats.org/officeDocument/2006/relationships/image" Target="../media/image131.tiff"/><Relationship Id="rId4" Type="http://schemas.openxmlformats.org/officeDocument/2006/relationships/image" Target="../media/image130.jpeg"/></Relationships>
</file>

<file path=ppt/slides/_rels/slide9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3.xml"/><Relationship Id="rId4" Type="http://schemas.openxmlformats.org/officeDocument/2006/relationships/image" Target="../media/image137.png"/></Relationships>
</file>

<file path=ppt/slides/_rels/slide9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3.xml"/></Relationships>
</file>

<file path=ppt/slides/_rels/slide9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3.xml"/></Relationships>
</file>

<file path=ppt/slides/_rels/slide97.xml.rels><?xml version="1.0" encoding="UTF-8" standalone="yes"?>
<Relationships xmlns="http://schemas.openxmlformats.org/package/2006/relationships"><Relationship Id="rId3" Type="http://schemas.openxmlformats.org/officeDocument/2006/relationships/image" Target="../media/image140.jpg"/><Relationship Id="rId2" Type="http://schemas.openxmlformats.org/officeDocument/2006/relationships/image" Target="../media/image139.jpg"/><Relationship Id="rId1" Type="http://schemas.openxmlformats.org/officeDocument/2006/relationships/slideLayout" Target="../slideLayouts/slideLayout23.xml"/><Relationship Id="rId4" Type="http://schemas.openxmlformats.org/officeDocument/2006/relationships/image" Target="../media/image141.jpg"/></Relationships>
</file>

<file path=ppt/slides/_rels/slide98.xml.rels><?xml version="1.0" encoding="UTF-8" standalone="yes"?>
<Relationships xmlns="http://schemas.openxmlformats.org/package/2006/relationships"><Relationship Id="rId3" Type="http://schemas.openxmlformats.org/officeDocument/2006/relationships/hyperlink" Target="https://bleedai.com/human-activity-recognition-using-tensorflow-cnn-lstm/" TargetMode="External"/><Relationship Id="rId2" Type="http://schemas.openxmlformats.org/officeDocument/2006/relationships/image" Target="../media/image142.png"/><Relationship Id="rId1" Type="http://schemas.openxmlformats.org/officeDocument/2006/relationships/slideLayout" Target="../slideLayouts/slideLayout23.xml"/></Relationships>
</file>

<file path=ppt/slides/_rels/slide9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3.xml"/></Relationships>
</file>

<file path=ppt/slides/_rels/slide100.xml.rels><?xml version="1.0" encoding="UTF-8" standalone="yes"?>
<Relationships xmlns="http://schemas.openxmlformats.org/package/2006/relationships"><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png"/><Relationship Id="rId1" Type="http://schemas.openxmlformats.org/officeDocument/2006/relationships/slideLayout" Target="../slideLayouts/slideLayout23.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101.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notesSlide" Target="../notesSlides/notesSlide68.xml"/><Relationship Id="rId1" Type="http://schemas.openxmlformats.org/officeDocument/2006/relationships/slideLayout" Target="../slideLayouts/slideLayout23.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 Id="rId9" Type="http://schemas.openxmlformats.org/officeDocument/2006/relationships/image" Target="../media/image151.png"/></Relationships>
</file>

<file path=ppt/slides/_rels/slide102.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3.xml"/><Relationship Id="rId4" Type="http://schemas.openxmlformats.org/officeDocument/2006/relationships/image" Target="../media/image154.png"/></Relationships>
</file>

<file path=ppt/slides/_rels/slide103.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3.xml"/><Relationship Id="rId6" Type="http://schemas.openxmlformats.org/officeDocument/2006/relationships/image" Target="../media/image155.png"/><Relationship Id="rId5" Type="http://schemas.openxmlformats.org/officeDocument/2006/relationships/image" Target="../media/image152.png"/><Relationship Id="rId4" Type="http://schemas.openxmlformats.org/officeDocument/2006/relationships/image" Target="../media/image151.png"/></Relationships>
</file>

<file path=ppt/slides/_rels/slide104.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png"/><Relationship Id="rId1" Type="http://schemas.openxmlformats.org/officeDocument/2006/relationships/slideLayout" Target="../slideLayouts/slideLayout23.xml"/><Relationship Id="rId6" Type="http://schemas.openxmlformats.org/officeDocument/2006/relationships/image" Target="../media/image149.png"/><Relationship Id="rId5" Type="http://schemas.openxmlformats.org/officeDocument/2006/relationships/image" Target="../media/image148.png"/><Relationship Id="rId10" Type="http://schemas.openxmlformats.org/officeDocument/2006/relationships/image" Target="../media/image158.png"/><Relationship Id="rId4" Type="http://schemas.openxmlformats.org/officeDocument/2006/relationships/image" Target="../media/image147.png"/><Relationship Id="rId9" Type="http://schemas.openxmlformats.org/officeDocument/2006/relationships/image" Target="../media/image157.png"/></Relationships>
</file>

<file path=ppt/slides/_rels/slide105.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4.png"/><Relationship Id="rId3" Type="http://schemas.openxmlformats.org/officeDocument/2006/relationships/image" Target="../media/image154.png"/><Relationship Id="rId7" Type="http://schemas.openxmlformats.org/officeDocument/2006/relationships/image" Target="../media/image161.png"/><Relationship Id="rId12" Type="http://schemas.openxmlformats.org/officeDocument/2006/relationships/image" Target="../media/image163.png"/><Relationship Id="rId2" Type="http://schemas.openxmlformats.org/officeDocument/2006/relationships/image" Target="../media/image153.png"/><Relationship Id="rId1" Type="http://schemas.openxmlformats.org/officeDocument/2006/relationships/slideLayout" Target="../slideLayouts/slideLayout23.xml"/><Relationship Id="rId6" Type="http://schemas.openxmlformats.org/officeDocument/2006/relationships/image" Target="../media/image160.png"/><Relationship Id="rId11" Type="http://schemas.openxmlformats.org/officeDocument/2006/relationships/image" Target="../media/image52.png"/><Relationship Id="rId5" Type="http://schemas.openxmlformats.org/officeDocument/2006/relationships/image" Target="../media/image159.png"/><Relationship Id="rId10" Type="http://schemas.openxmlformats.org/officeDocument/2006/relationships/image" Target="../media/image51.jpg"/><Relationship Id="rId4" Type="http://schemas.openxmlformats.org/officeDocument/2006/relationships/image" Target="../media/image151.png"/><Relationship Id="rId9" Type="http://schemas.openxmlformats.org/officeDocument/2006/relationships/image" Target="../media/image92.png"/></Relationships>
</file>

<file path=ppt/slides/_rels/slide106.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image" Target="../media/image165.png"/><Relationship Id="rId1" Type="http://schemas.openxmlformats.org/officeDocument/2006/relationships/slideLayout" Target="../slideLayouts/slideLayout23.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s>
</file>

<file path=ppt/slides/_rels/slide107.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image" Target="../media/image165.png"/><Relationship Id="rId1" Type="http://schemas.openxmlformats.org/officeDocument/2006/relationships/slideLayout" Target="../slideLayouts/slideLayout23.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s>
</file>

<file path=ppt/slides/_rels/slide10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69.xml"/><Relationship Id="rId1" Type="http://schemas.openxmlformats.org/officeDocument/2006/relationships/slideLayout" Target="../slideLayouts/slideLayout2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0.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5.png"/><Relationship Id="rId3" Type="http://schemas.openxmlformats.org/officeDocument/2006/relationships/image" Target="../media/image168.png"/><Relationship Id="rId7" Type="http://schemas.openxmlformats.org/officeDocument/2006/relationships/image" Target="../media/image179.png"/><Relationship Id="rId12" Type="http://schemas.openxmlformats.org/officeDocument/2006/relationships/image" Target="../media/image184.png"/><Relationship Id="rId17" Type="http://schemas.openxmlformats.org/officeDocument/2006/relationships/image" Target="../media/image189.png"/><Relationship Id="rId2" Type="http://schemas.openxmlformats.org/officeDocument/2006/relationships/image" Target="../media/image166.png"/><Relationship Id="rId16" Type="http://schemas.openxmlformats.org/officeDocument/2006/relationships/image" Target="../media/image188.png"/><Relationship Id="rId1" Type="http://schemas.openxmlformats.org/officeDocument/2006/relationships/slideLayout" Target="../slideLayouts/slideLayout23.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73.png"/><Relationship Id="rId15" Type="http://schemas.openxmlformats.org/officeDocument/2006/relationships/image" Target="../media/image187.png"/><Relationship Id="rId10" Type="http://schemas.openxmlformats.org/officeDocument/2006/relationships/image" Target="../media/image182.png"/><Relationship Id="rId4" Type="http://schemas.openxmlformats.org/officeDocument/2006/relationships/image" Target="../media/image171.png"/><Relationship Id="rId9" Type="http://schemas.openxmlformats.org/officeDocument/2006/relationships/image" Target="../media/image181.png"/><Relationship Id="rId14" Type="http://schemas.openxmlformats.org/officeDocument/2006/relationships/image" Target="../media/image18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2.xml.rels><?xml version="1.0" encoding="UTF-8" standalone="yes"?>
<Relationships xmlns="http://schemas.openxmlformats.org/package/2006/relationships"><Relationship Id="rId8" Type="http://schemas.openxmlformats.org/officeDocument/2006/relationships/image" Target="../media/image195.emf"/><Relationship Id="rId3" Type="http://schemas.openxmlformats.org/officeDocument/2006/relationships/image" Target="../media/image190.png"/><Relationship Id="rId7" Type="http://schemas.openxmlformats.org/officeDocument/2006/relationships/image" Target="../media/image194.png"/><Relationship Id="rId2" Type="http://schemas.openxmlformats.org/officeDocument/2006/relationships/notesSlide" Target="../notesSlides/notesSlide70.xml"/><Relationship Id="rId1" Type="http://schemas.openxmlformats.org/officeDocument/2006/relationships/slideLayout" Target="../slideLayouts/slideLayout23.xml"/><Relationship Id="rId6" Type="http://schemas.openxmlformats.org/officeDocument/2006/relationships/image" Target="../media/image193.emf"/><Relationship Id="rId5" Type="http://schemas.openxmlformats.org/officeDocument/2006/relationships/image" Target="../media/image192.png"/><Relationship Id="rId4" Type="http://schemas.openxmlformats.org/officeDocument/2006/relationships/image" Target="../media/image191.png"/></Relationships>
</file>

<file path=ppt/slides/_rels/slide113.xml.rels><?xml version="1.0" encoding="UTF-8" standalone="yes"?>
<Relationships xmlns="http://schemas.openxmlformats.org/package/2006/relationships"><Relationship Id="rId8" Type="http://schemas.openxmlformats.org/officeDocument/2006/relationships/image" Target="../media/image201.png"/><Relationship Id="rId13" Type="http://schemas.openxmlformats.org/officeDocument/2006/relationships/image" Target="../media/image194.png"/><Relationship Id="rId3" Type="http://schemas.openxmlformats.org/officeDocument/2006/relationships/image" Target="../media/image196.png"/><Relationship Id="rId7" Type="http://schemas.openxmlformats.org/officeDocument/2006/relationships/image" Target="../media/image200.png"/><Relationship Id="rId12" Type="http://schemas.openxmlformats.org/officeDocument/2006/relationships/image" Target="../media/image205.emf"/><Relationship Id="rId2" Type="http://schemas.openxmlformats.org/officeDocument/2006/relationships/notesSlide" Target="../notesSlides/notesSlide71.xml"/><Relationship Id="rId1" Type="http://schemas.openxmlformats.org/officeDocument/2006/relationships/slideLayout" Target="../slideLayouts/slideLayout23.xml"/><Relationship Id="rId6" Type="http://schemas.openxmlformats.org/officeDocument/2006/relationships/image" Target="../media/image199.png"/><Relationship Id="rId11" Type="http://schemas.openxmlformats.org/officeDocument/2006/relationships/image" Target="../media/image204.png"/><Relationship Id="rId5" Type="http://schemas.openxmlformats.org/officeDocument/2006/relationships/image" Target="../media/image198.png"/><Relationship Id="rId10" Type="http://schemas.openxmlformats.org/officeDocument/2006/relationships/image" Target="../media/image203.png"/><Relationship Id="rId4" Type="http://schemas.openxmlformats.org/officeDocument/2006/relationships/image" Target="../media/image197.emf"/><Relationship Id="rId9" Type="http://schemas.openxmlformats.org/officeDocument/2006/relationships/image" Target="../media/image202.emf"/></Relationships>
</file>

<file path=ppt/slides/_rels/slide114.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image" Target="../media/image206.emf"/><Relationship Id="rId7" Type="http://schemas.openxmlformats.org/officeDocument/2006/relationships/image" Target="../media/image208.emf"/><Relationship Id="rId2" Type="http://schemas.openxmlformats.org/officeDocument/2006/relationships/notesSlide" Target="../notesSlides/notesSlide72.xml"/><Relationship Id="rId1" Type="http://schemas.openxmlformats.org/officeDocument/2006/relationships/slideLayout" Target="../slideLayouts/slideLayout23.xml"/><Relationship Id="rId6" Type="http://schemas.openxmlformats.org/officeDocument/2006/relationships/image" Target="../media/image198.png"/><Relationship Id="rId5" Type="http://schemas.openxmlformats.org/officeDocument/2006/relationships/image" Target="../media/image202.emf"/><Relationship Id="rId4" Type="http://schemas.openxmlformats.org/officeDocument/2006/relationships/image" Target="../media/image207.emf"/><Relationship Id="rId9" Type="http://schemas.openxmlformats.org/officeDocument/2006/relationships/image" Target="../media/image210.png"/></Relationships>
</file>

<file path=ppt/slides/_rels/slide115.xml.rels><?xml version="1.0" encoding="UTF-8" standalone="yes"?>
<Relationships xmlns="http://schemas.openxmlformats.org/package/2006/relationships"><Relationship Id="rId3" Type="http://schemas.openxmlformats.org/officeDocument/2006/relationships/image" Target="../media/image207.emf"/><Relationship Id="rId2" Type="http://schemas.openxmlformats.org/officeDocument/2006/relationships/notesSlide" Target="../notesSlides/notesSlide73.xml"/><Relationship Id="rId1" Type="http://schemas.openxmlformats.org/officeDocument/2006/relationships/slideLayout" Target="../slideLayouts/slideLayout23.xml"/><Relationship Id="rId6" Type="http://schemas.openxmlformats.org/officeDocument/2006/relationships/image" Target="../media/image210.emf"/><Relationship Id="rId5" Type="http://schemas.openxmlformats.org/officeDocument/2006/relationships/image" Target="../media/image196.png"/><Relationship Id="rId4" Type="http://schemas.openxmlformats.org/officeDocument/2006/relationships/image" Target="../media/image209.emf"/></Relationships>
</file>

<file path=ppt/slides/_rels/slide116.xml.rels><?xml version="1.0" encoding="UTF-8" standalone="yes"?>
<Relationships xmlns="http://schemas.openxmlformats.org/package/2006/relationships"><Relationship Id="rId8" Type="http://schemas.openxmlformats.org/officeDocument/2006/relationships/image" Target="../media/image195.emf"/><Relationship Id="rId3" Type="http://schemas.openxmlformats.org/officeDocument/2006/relationships/image" Target="../media/image198.png"/><Relationship Id="rId7" Type="http://schemas.openxmlformats.org/officeDocument/2006/relationships/image" Target="../media/image186.png"/><Relationship Id="rId2" Type="http://schemas.openxmlformats.org/officeDocument/2006/relationships/image" Target="../media/image211.emf"/><Relationship Id="rId1" Type="http://schemas.openxmlformats.org/officeDocument/2006/relationships/slideLayout" Target="../slideLayouts/slideLayout23.xml"/><Relationship Id="rId6" Type="http://schemas.openxmlformats.org/officeDocument/2006/relationships/image" Target="../media/image184.png"/><Relationship Id="rId11" Type="http://schemas.openxmlformats.org/officeDocument/2006/relationships/image" Target="../media/image214.png"/><Relationship Id="rId5" Type="http://schemas.openxmlformats.org/officeDocument/2006/relationships/image" Target="../media/image182.png"/><Relationship Id="rId10" Type="http://schemas.openxmlformats.org/officeDocument/2006/relationships/image" Target="../media/image213.png"/><Relationship Id="rId4" Type="http://schemas.openxmlformats.org/officeDocument/2006/relationships/image" Target="../media/image180.png"/><Relationship Id="rId9" Type="http://schemas.openxmlformats.org/officeDocument/2006/relationships/image" Target="../media/image212.png"/></Relationships>
</file>

<file path=ppt/slides/_rels/slide117.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211.emf"/><Relationship Id="rId1" Type="http://schemas.openxmlformats.org/officeDocument/2006/relationships/slideLayout" Target="../slideLayouts/slideLayout23.xml"/></Relationships>
</file>

<file path=ppt/slides/_rels/slide118.xml.rels><?xml version="1.0" encoding="UTF-8" standalone="yes"?>
<Relationships xmlns="http://schemas.openxmlformats.org/package/2006/relationships"><Relationship Id="rId3" Type="http://schemas.openxmlformats.org/officeDocument/2006/relationships/image" Target="../media/image195.emf"/><Relationship Id="rId2" Type="http://schemas.openxmlformats.org/officeDocument/2006/relationships/image" Target="../media/image215.emf"/><Relationship Id="rId1" Type="http://schemas.openxmlformats.org/officeDocument/2006/relationships/slideLayout" Target="../slideLayouts/slideLayout23.xml"/><Relationship Id="rId4" Type="http://schemas.openxmlformats.org/officeDocument/2006/relationships/image" Target="../media/image205.emf"/></Relationships>
</file>

<file path=ppt/slides/_rels/slide119.xml.rels><?xml version="1.0" encoding="UTF-8" standalone="yes"?>
<Relationships xmlns="http://schemas.openxmlformats.org/package/2006/relationships"><Relationship Id="rId3" Type="http://schemas.openxmlformats.org/officeDocument/2006/relationships/hyperlink" Target="https://pytorch.org/tutorials/beginner/deep_learning_60min_blitz.html" TargetMode="External"/><Relationship Id="rId7" Type="http://schemas.openxmlformats.org/officeDocument/2006/relationships/hyperlink" Target="https://arxiv.org/abs/1512.03385" TargetMode="External"/><Relationship Id="rId2" Type="http://schemas.openxmlformats.org/officeDocument/2006/relationships/hyperlink" Target="http://cs231n.stanford.edu/schedule.html" TargetMode="External"/><Relationship Id="rId1" Type="http://schemas.openxmlformats.org/officeDocument/2006/relationships/slideLayout" Target="../slideLayouts/slideLayout23.xml"/><Relationship Id="rId6" Type="http://schemas.openxmlformats.org/officeDocument/2006/relationships/hyperlink" Target="https://arxiv.org/abs/1409.4842" TargetMode="External"/><Relationship Id="rId5" Type="http://schemas.openxmlformats.org/officeDocument/2006/relationships/hyperlink" Target="https://arxiv.org/abs/1409.1556" TargetMode="External"/><Relationship Id="rId4" Type="http://schemas.openxmlformats.org/officeDocument/2006/relationships/hyperlink" Target="https://papers.nips.cc/paper/2012/hash/c399862d3b9d6b76c8436e924a68c45b-Abstract.html" TargetMode="External"/></Relationships>
</file>

<file path=ppt/slides/_rels/slide120.xml.rels><?xml version="1.0" encoding="UTF-8" standalone="yes"?>
<Relationships xmlns="http://schemas.openxmlformats.org/package/2006/relationships"><Relationship Id="rId3" Type="http://schemas.openxmlformats.org/officeDocument/2006/relationships/hyperlink" Target="https://pytorch.org/tutorials/beginner/deep_learning_60min_blitz.html" TargetMode="External"/><Relationship Id="rId2" Type="http://schemas.openxmlformats.org/officeDocument/2006/relationships/hyperlink" Target="http://cs231n.stanford.edu/schedule.html" TargetMode="External"/><Relationship Id="rId1" Type="http://schemas.openxmlformats.org/officeDocument/2006/relationships/slideLayout" Target="../slideLayouts/slideLayout23.xml"/><Relationship Id="rId5" Type="http://schemas.openxmlformats.org/officeDocument/2006/relationships/hyperlink" Target="https://explained.ai/matrix-calculus/" TargetMode="External"/><Relationship Id="rId4" Type="http://schemas.openxmlformats.org/officeDocument/2006/relationships/hyperlink" Target="https://jmlr.org/papers/v15/srivastava14a.html" TargetMode="External"/></Relationships>
</file>

<file path=ppt/slides/_rels/slide121.xml.rels><?xml version="1.0" encoding="UTF-8" standalone="yes"?>
<Relationships xmlns="http://schemas.openxmlformats.org/package/2006/relationships"><Relationship Id="rId3" Type="http://schemas.openxmlformats.org/officeDocument/2006/relationships/hyperlink" Target="https://openaccess.thecvf.com/content_ECCV_2018/papers/Yapeng_Tian_Audio-Visual_Event_Localization_ECCV_2018_paper.pdf" TargetMode="External"/><Relationship Id="rId7" Type="http://schemas.openxmlformats.org/officeDocument/2006/relationships/hyperlink" Target="https://arxiv.org/abs/2208.09579" TargetMode="External"/><Relationship Id="rId2" Type="http://schemas.openxmlformats.org/officeDocument/2006/relationships/hyperlink" Target="http://sound-of-pixels.csail.mit.edu/" TargetMode="External"/><Relationship Id="rId1" Type="http://schemas.openxmlformats.org/officeDocument/2006/relationships/slideLayout" Target="../slideLayouts/slideLayout23.xml"/><Relationship Id="rId6" Type="http://schemas.openxmlformats.org/officeDocument/2006/relationships/hyperlink" Target="https://arxiv.org/abs/2004.12992" TargetMode="External"/><Relationship Id="rId5" Type="http://schemas.openxmlformats.org/officeDocument/2006/relationships/hyperlink" Target="https://arxiv.org/abs/1712.01393" TargetMode="External"/><Relationship Id="rId4" Type="http://schemas.openxmlformats.org/officeDocument/2006/relationships/hyperlink" Target="https://arxiv.org/pdf/2007.10558.pdf" TargetMode="External"/></Relationships>
</file>

<file path=ppt/slides/_rels/slide122.xml.rels><?xml version="1.0" encoding="UTF-8" standalone="yes"?>
<Relationships xmlns="http://schemas.openxmlformats.org/package/2006/relationships"><Relationship Id="rId3" Type="http://schemas.openxmlformats.org/officeDocument/2006/relationships/hyperlink" Target="http://cs231n.stanford.edu/" TargetMode="External"/><Relationship Id="rId2" Type="http://schemas.openxmlformats.org/officeDocument/2006/relationships/hyperlink" Target="https://www.deeplearningbook.org/contents/rnn.html" TargetMode="External"/><Relationship Id="rId1" Type="http://schemas.openxmlformats.org/officeDocument/2006/relationships/slideLayout" Target="../slideLayouts/slideLayout23.xml"/><Relationship Id="rId6" Type="http://schemas.openxmlformats.org/officeDocument/2006/relationships/hyperlink" Target="https://arxiv.org/pdf/1412.3555.pdf" TargetMode="External"/><Relationship Id="rId5" Type="http://schemas.openxmlformats.org/officeDocument/2006/relationships/hyperlink" Target="https://colah.github.io/posts/2015-08-Understanding-LSTMs/" TargetMode="External"/><Relationship Id="rId4" Type="http://schemas.openxmlformats.org/officeDocument/2006/relationships/hyperlink" Target="https://www.researchgate.net/publication/13853244_Long_Short-term_Memory" TargetMode="External"/></Relationships>
</file>

<file path=ppt/slides/_rels/slide123.xml.rels><?xml version="1.0" encoding="UTF-8" standalone="yes"?>
<Relationships xmlns="http://schemas.openxmlformats.org/package/2006/relationships"><Relationship Id="rId3" Type="http://schemas.openxmlformats.org/officeDocument/2006/relationships/hyperlink" Target="https://arxiv.org/abs/1409.0473" TargetMode="External"/><Relationship Id="rId2" Type="http://schemas.openxmlformats.org/officeDocument/2006/relationships/hyperlink" Target="https://arxiv.org/abs/1406.1078" TargetMode="External"/><Relationship Id="rId1" Type="http://schemas.openxmlformats.org/officeDocument/2006/relationships/slideLayout" Target="../slideLayouts/slideLayout23.xml"/><Relationship Id="rId5" Type="http://schemas.openxmlformats.org/officeDocument/2006/relationships/hyperlink" Target="https://arxiv.org/abs/2010.11929" TargetMode="External"/><Relationship Id="rId4" Type="http://schemas.openxmlformats.org/officeDocument/2006/relationships/hyperlink" Target="https://arxiv.org/abs/1706.037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Introduction to Deep Learning for Computer Vision</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Siva</a:t>
            </a:r>
          </a:p>
          <a:p>
            <a:endParaRPr lang="en-US" dirty="0">
              <a:cs typeface="Calibri"/>
            </a:endParaRPr>
          </a:p>
          <a:p>
            <a:r>
              <a:rPr lang="en-US" dirty="0">
                <a:cs typeface="Calibri"/>
              </a:rPr>
              <a:t>Slides borrowed from Prof. </a:t>
            </a:r>
            <a:r>
              <a:rPr lang="en-US" dirty="0" err="1">
                <a:cs typeface="Calibri"/>
              </a:rPr>
              <a:t>Yapeng</a:t>
            </a:r>
            <a:r>
              <a:rPr lang="en-US" dirty="0">
                <a:cs typeface="Calibri"/>
              </a:rPr>
              <a:t> Tian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dirty="0"/>
              <a:t>Image Filtering</a:t>
            </a:r>
          </a:p>
        </p:txBody>
      </p:sp>
      <p:sp>
        <p:nvSpPr>
          <p:cNvPr id="33795" name="Rectangle 3"/>
          <p:cNvSpPr>
            <a:spLocks noGrp="1" noChangeArrowheads="1"/>
          </p:cNvSpPr>
          <p:nvPr>
            <p:ph idx="1"/>
          </p:nvPr>
        </p:nvSpPr>
        <p:spPr/>
        <p:txBody>
          <a:bodyPr>
            <a:normAutofit/>
          </a:bodyPr>
          <a:lstStyle/>
          <a:p>
            <a:pPr eaLnBrk="1" hangingPunct="1"/>
            <a:r>
              <a:rPr lang="en-US" dirty="0"/>
              <a:t>Modify the pixels in an image based on some function of a local neighborhood of each pixel</a:t>
            </a:r>
          </a:p>
          <a:p>
            <a:pPr eaLnBrk="1" hangingPunct="1">
              <a:buFontTx/>
              <a:buNone/>
            </a:pPr>
            <a:endParaRPr lang="en-US" dirty="0"/>
          </a:p>
        </p:txBody>
      </p:sp>
      <p:grpSp>
        <p:nvGrpSpPr>
          <p:cNvPr id="3" name="Group 5"/>
          <p:cNvGrpSpPr>
            <a:grpSpLocks/>
          </p:cNvGrpSpPr>
          <p:nvPr/>
        </p:nvGrpSpPr>
        <p:grpSpPr bwMode="auto">
          <a:xfrm>
            <a:off x="2813053" y="3340188"/>
            <a:ext cx="1241425" cy="1143000"/>
            <a:chOff x="2290" y="1920"/>
            <a:chExt cx="782" cy="720"/>
          </a:xfrm>
        </p:grpSpPr>
        <p:sp>
          <p:nvSpPr>
            <p:cNvPr id="33819" name="Rectangle 6"/>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3820" name="Line 7"/>
            <p:cNvSpPr>
              <a:spLocks noChangeShapeType="1"/>
            </p:cNvSpPr>
            <p:nvPr/>
          </p:nvSpPr>
          <p:spPr bwMode="auto">
            <a:xfrm>
              <a:off x="2565" y="1920"/>
              <a:ext cx="0" cy="720"/>
            </a:xfrm>
            <a:prstGeom prst="line">
              <a:avLst/>
            </a:prstGeom>
            <a:noFill/>
            <a:ln w="9525">
              <a:solidFill>
                <a:schemeClr val="tx1"/>
              </a:solidFill>
              <a:round/>
              <a:headEnd/>
              <a:tailEnd/>
            </a:ln>
          </p:spPr>
          <p:txBody>
            <a:bodyPr wrap="none" anchor="ctr"/>
            <a:lstStyle/>
            <a:p>
              <a:endParaRPr lang="en-US"/>
            </a:p>
          </p:txBody>
        </p:sp>
        <p:sp>
          <p:nvSpPr>
            <p:cNvPr id="33821" name="Line 8"/>
            <p:cNvSpPr>
              <a:spLocks noChangeShapeType="1"/>
            </p:cNvSpPr>
            <p:nvPr/>
          </p:nvSpPr>
          <p:spPr bwMode="auto">
            <a:xfrm>
              <a:off x="2825" y="1920"/>
              <a:ext cx="0" cy="720"/>
            </a:xfrm>
            <a:prstGeom prst="line">
              <a:avLst/>
            </a:prstGeom>
            <a:noFill/>
            <a:ln w="9525">
              <a:solidFill>
                <a:schemeClr val="tx1"/>
              </a:solidFill>
              <a:round/>
              <a:headEnd/>
              <a:tailEnd/>
            </a:ln>
          </p:spPr>
          <p:txBody>
            <a:bodyPr wrap="none" anchor="ctr"/>
            <a:lstStyle/>
            <a:p>
              <a:endParaRPr lang="en-US"/>
            </a:p>
          </p:txBody>
        </p:sp>
        <p:sp>
          <p:nvSpPr>
            <p:cNvPr id="33822" name="Line 9"/>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23" name="Line 10"/>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3824" name="Text Box 11"/>
            <p:cNvSpPr txBox="1">
              <a:spLocks noChangeArrowheads="1"/>
            </p:cNvSpPr>
            <p:nvPr/>
          </p:nvSpPr>
          <p:spPr bwMode="auto">
            <a:xfrm>
              <a:off x="2591"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33825" name="Text Box 12"/>
            <p:cNvSpPr txBox="1">
              <a:spLocks noChangeArrowheads="1"/>
            </p:cNvSpPr>
            <p:nvPr/>
          </p:nvSpPr>
          <p:spPr bwMode="auto">
            <a:xfrm>
              <a:off x="2856" y="216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33826" name="Text Box 13"/>
            <p:cNvSpPr txBox="1">
              <a:spLocks noChangeArrowheads="1"/>
            </p:cNvSpPr>
            <p:nvPr/>
          </p:nvSpPr>
          <p:spPr bwMode="auto">
            <a:xfrm>
              <a:off x="2327"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4</a:t>
              </a:r>
            </a:p>
          </p:txBody>
        </p:sp>
        <p:sp>
          <p:nvSpPr>
            <p:cNvPr id="33827" name="Text Box 14"/>
            <p:cNvSpPr txBox="1">
              <a:spLocks noChangeArrowheads="1"/>
            </p:cNvSpPr>
            <p:nvPr/>
          </p:nvSpPr>
          <p:spPr bwMode="auto">
            <a:xfrm>
              <a:off x="2591"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33828" name="Text Box 15"/>
            <p:cNvSpPr txBox="1">
              <a:spLocks noChangeArrowheads="1"/>
            </p:cNvSpPr>
            <p:nvPr/>
          </p:nvSpPr>
          <p:spPr bwMode="auto">
            <a:xfrm>
              <a:off x="2856"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7</a:t>
              </a:r>
            </a:p>
          </p:txBody>
        </p:sp>
        <p:sp>
          <p:nvSpPr>
            <p:cNvPr id="33829" name="Text Box 16"/>
            <p:cNvSpPr txBox="1">
              <a:spLocks noChangeArrowheads="1"/>
            </p:cNvSpPr>
            <p:nvPr/>
          </p:nvSpPr>
          <p:spPr bwMode="auto">
            <a:xfrm>
              <a:off x="2327" y="240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33830" name="Line 17"/>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3831" name="Line 18"/>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32" name="Text Box 19"/>
            <p:cNvSpPr txBox="1">
              <a:spLocks noChangeArrowheads="1"/>
            </p:cNvSpPr>
            <p:nvPr/>
          </p:nvSpPr>
          <p:spPr bwMode="auto">
            <a:xfrm>
              <a:off x="2591" y="192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33833" name="Text Box 20"/>
            <p:cNvSpPr txBox="1">
              <a:spLocks noChangeArrowheads="1"/>
            </p:cNvSpPr>
            <p:nvPr/>
          </p:nvSpPr>
          <p:spPr bwMode="auto">
            <a:xfrm>
              <a:off x="2856" y="1920"/>
              <a:ext cx="190" cy="233"/>
            </a:xfrm>
            <a:prstGeom prst="rect">
              <a:avLst/>
            </a:prstGeom>
            <a:noFill/>
            <a:ln w="9525">
              <a:noFill/>
              <a:miter lim="800000"/>
              <a:headEnd/>
              <a:tailEnd/>
            </a:ln>
          </p:spPr>
          <p:txBody>
            <a:bodyPr wrap="none">
              <a:spAutoFit/>
            </a:bodyPr>
            <a:lstStyle/>
            <a:p>
              <a:pPr algn="ctr" eaLnBrk="0" hangingPunct="0"/>
              <a:r>
                <a:rPr lang="en-US">
                  <a:cs typeface="Arial" charset="0"/>
                </a:rPr>
                <a:t>3</a:t>
              </a:r>
            </a:p>
          </p:txBody>
        </p:sp>
        <p:sp>
          <p:nvSpPr>
            <p:cNvPr id="33834" name="Text Box 21"/>
            <p:cNvSpPr txBox="1">
              <a:spLocks noChangeArrowheads="1"/>
            </p:cNvSpPr>
            <p:nvPr/>
          </p:nvSpPr>
          <p:spPr bwMode="auto">
            <a:xfrm>
              <a:off x="2290" y="1920"/>
              <a:ext cx="264" cy="233"/>
            </a:xfrm>
            <a:prstGeom prst="rect">
              <a:avLst/>
            </a:prstGeom>
            <a:noFill/>
            <a:ln w="9525">
              <a:noFill/>
              <a:miter lim="800000"/>
              <a:headEnd/>
              <a:tailEnd/>
            </a:ln>
          </p:spPr>
          <p:txBody>
            <a:bodyPr wrap="none">
              <a:spAutoFit/>
            </a:bodyPr>
            <a:lstStyle/>
            <a:p>
              <a:pPr algn="ctr" eaLnBrk="0" hangingPunct="0"/>
              <a:r>
                <a:rPr lang="en-US" dirty="0">
                  <a:cs typeface="Arial" charset="0"/>
                </a:rPr>
                <a:t>10</a:t>
              </a:r>
            </a:p>
          </p:txBody>
        </p:sp>
      </p:grpSp>
      <p:sp>
        <p:nvSpPr>
          <p:cNvPr id="33798" name="Text Box 22"/>
          <p:cNvSpPr txBox="1">
            <a:spLocks noChangeArrowheads="1"/>
          </p:cNvSpPr>
          <p:nvPr/>
        </p:nvSpPr>
        <p:spPr bwMode="auto">
          <a:xfrm>
            <a:off x="2590803" y="4572000"/>
            <a:ext cx="1754839" cy="369332"/>
          </a:xfrm>
          <a:prstGeom prst="rect">
            <a:avLst/>
          </a:prstGeom>
          <a:noFill/>
          <a:ln w="9525">
            <a:noFill/>
            <a:miter lim="800000"/>
            <a:headEnd/>
            <a:tailEnd/>
          </a:ln>
        </p:spPr>
        <p:txBody>
          <a:bodyPr wrap="none">
            <a:spAutoFit/>
          </a:bodyPr>
          <a:lstStyle/>
          <a:p>
            <a:pPr eaLnBrk="0" hangingPunct="0"/>
            <a:r>
              <a:rPr lang="en-US" dirty="0">
                <a:cs typeface="Arial" charset="0"/>
              </a:rPr>
              <a:t>Local image data</a:t>
            </a:r>
          </a:p>
        </p:txBody>
      </p:sp>
      <p:grpSp>
        <p:nvGrpSpPr>
          <p:cNvPr id="4" name="Group 23"/>
          <p:cNvGrpSpPr>
            <a:grpSpLocks/>
          </p:cNvGrpSpPr>
          <p:nvPr/>
        </p:nvGrpSpPr>
        <p:grpSpPr bwMode="auto">
          <a:xfrm>
            <a:off x="7331075" y="3352800"/>
            <a:ext cx="1295400" cy="1143000"/>
            <a:chOff x="2256" y="1920"/>
            <a:chExt cx="816" cy="720"/>
          </a:xfrm>
        </p:grpSpPr>
        <p:sp>
          <p:nvSpPr>
            <p:cNvPr id="33803" name="Rectangle 24"/>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3804" name="Line 25"/>
            <p:cNvSpPr>
              <a:spLocks noChangeShapeType="1"/>
            </p:cNvSpPr>
            <p:nvPr/>
          </p:nvSpPr>
          <p:spPr bwMode="auto">
            <a:xfrm>
              <a:off x="2544" y="1920"/>
              <a:ext cx="0" cy="720"/>
            </a:xfrm>
            <a:prstGeom prst="line">
              <a:avLst/>
            </a:prstGeom>
            <a:noFill/>
            <a:ln w="9525">
              <a:solidFill>
                <a:schemeClr val="tx1"/>
              </a:solidFill>
              <a:round/>
              <a:headEnd/>
              <a:tailEnd/>
            </a:ln>
          </p:spPr>
          <p:txBody>
            <a:bodyPr wrap="none" anchor="ctr"/>
            <a:lstStyle/>
            <a:p>
              <a:endParaRPr lang="en-US"/>
            </a:p>
          </p:txBody>
        </p:sp>
        <p:sp>
          <p:nvSpPr>
            <p:cNvPr id="33805" name="Line 26"/>
            <p:cNvSpPr>
              <a:spLocks noChangeShapeType="1"/>
            </p:cNvSpPr>
            <p:nvPr/>
          </p:nvSpPr>
          <p:spPr bwMode="auto">
            <a:xfrm>
              <a:off x="2832" y="1920"/>
              <a:ext cx="0" cy="720"/>
            </a:xfrm>
            <a:prstGeom prst="line">
              <a:avLst/>
            </a:prstGeom>
            <a:noFill/>
            <a:ln w="9525">
              <a:solidFill>
                <a:schemeClr val="tx1"/>
              </a:solidFill>
              <a:round/>
              <a:headEnd/>
              <a:tailEnd/>
            </a:ln>
          </p:spPr>
          <p:txBody>
            <a:bodyPr wrap="none" anchor="ctr"/>
            <a:lstStyle/>
            <a:p>
              <a:endParaRPr lang="en-US"/>
            </a:p>
          </p:txBody>
        </p:sp>
        <p:sp>
          <p:nvSpPr>
            <p:cNvPr id="33806" name="Line 27"/>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07" name="Line 28"/>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3808" name="Text Box 29"/>
            <p:cNvSpPr txBox="1">
              <a:spLocks noChangeArrowheads="1"/>
            </p:cNvSpPr>
            <p:nvPr/>
          </p:nvSpPr>
          <p:spPr bwMode="auto">
            <a:xfrm>
              <a:off x="2582" y="2160"/>
              <a:ext cx="190" cy="233"/>
            </a:xfrm>
            <a:prstGeom prst="rect">
              <a:avLst/>
            </a:prstGeom>
            <a:noFill/>
            <a:ln w="9525">
              <a:noFill/>
              <a:miter lim="800000"/>
              <a:headEnd/>
              <a:tailEnd/>
            </a:ln>
          </p:spPr>
          <p:txBody>
            <a:bodyPr wrap="none">
              <a:spAutoFit/>
            </a:bodyPr>
            <a:lstStyle/>
            <a:p>
              <a:pPr eaLnBrk="0" hangingPunct="0"/>
              <a:r>
                <a:rPr lang="en-US">
                  <a:cs typeface="Arial" charset="0"/>
                </a:rPr>
                <a:t>7</a:t>
              </a:r>
            </a:p>
          </p:txBody>
        </p:sp>
        <p:sp>
          <p:nvSpPr>
            <p:cNvPr id="33809" name="Text Box 30"/>
            <p:cNvSpPr txBox="1">
              <a:spLocks noChangeArrowheads="1"/>
            </p:cNvSpPr>
            <p:nvPr/>
          </p:nvSpPr>
          <p:spPr bwMode="auto">
            <a:xfrm>
              <a:off x="2832" y="216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0" name="Text Box 31"/>
            <p:cNvSpPr txBox="1">
              <a:spLocks noChangeArrowheads="1"/>
            </p:cNvSpPr>
            <p:nvPr/>
          </p:nvSpPr>
          <p:spPr bwMode="auto">
            <a:xfrm>
              <a:off x="2352" y="216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1" name="Text Box 32"/>
            <p:cNvSpPr txBox="1">
              <a:spLocks noChangeArrowheads="1"/>
            </p:cNvSpPr>
            <p:nvPr/>
          </p:nvSpPr>
          <p:spPr bwMode="auto">
            <a:xfrm>
              <a:off x="256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2" name="Text Box 33"/>
            <p:cNvSpPr txBox="1">
              <a:spLocks noChangeArrowheads="1"/>
            </p:cNvSpPr>
            <p:nvPr/>
          </p:nvSpPr>
          <p:spPr bwMode="auto">
            <a:xfrm>
              <a:off x="281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3" name="Text Box 34"/>
            <p:cNvSpPr txBox="1">
              <a:spLocks noChangeArrowheads="1"/>
            </p:cNvSpPr>
            <p:nvPr/>
          </p:nvSpPr>
          <p:spPr bwMode="auto">
            <a:xfrm>
              <a:off x="233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4" name="Line 35"/>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3815" name="Line 36"/>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16" name="Text Box 37"/>
            <p:cNvSpPr txBox="1">
              <a:spLocks noChangeArrowheads="1"/>
            </p:cNvSpPr>
            <p:nvPr/>
          </p:nvSpPr>
          <p:spPr bwMode="auto">
            <a:xfrm>
              <a:off x="2582"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7" name="Text Box 38"/>
            <p:cNvSpPr txBox="1">
              <a:spLocks noChangeArrowheads="1"/>
            </p:cNvSpPr>
            <p:nvPr/>
          </p:nvSpPr>
          <p:spPr bwMode="auto">
            <a:xfrm>
              <a:off x="2832"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8" name="Text Box 39"/>
            <p:cNvSpPr txBox="1">
              <a:spLocks noChangeArrowheads="1"/>
            </p:cNvSpPr>
            <p:nvPr/>
          </p:nvSpPr>
          <p:spPr bwMode="auto">
            <a:xfrm>
              <a:off x="2256"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grpSp>
      <p:sp>
        <p:nvSpPr>
          <p:cNvPr id="33800" name="Text Box 40"/>
          <p:cNvSpPr txBox="1">
            <a:spLocks noChangeArrowheads="1"/>
          </p:cNvSpPr>
          <p:nvPr/>
        </p:nvSpPr>
        <p:spPr bwMode="auto">
          <a:xfrm>
            <a:off x="7026278" y="4572000"/>
            <a:ext cx="2130263" cy="369332"/>
          </a:xfrm>
          <a:prstGeom prst="rect">
            <a:avLst/>
          </a:prstGeom>
          <a:noFill/>
          <a:ln w="9525">
            <a:noFill/>
            <a:miter lim="800000"/>
            <a:headEnd/>
            <a:tailEnd/>
          </a:ln>
        </p:spPr>
        <p:txBody>
          <a:bodyPr wrap="none">
            <a:spAutoFit/>
          </a:bodyPr>
          <a:lstStyle/>
          <a:p>
            <a:pPr eaLnBrk="0" hangingPunct="0"/>
            <a:r>
              <a:rPr lang="en-US">
                <a:cs typeface="Arial" charset="0"/>
              </a:rPr>
              <a:t>Modified image data</a:t>
            </a:r>
          </a:p>
        </p:txBody>
      </p:sp>
      <p:sp>
        <p:nvSpPr>
          <p:cNvPr id="33801" name="Line 41"/>
          <p:cNvSpPr>
            <a:spLocks noChangeShapeType="1"/>
          </p:cNvSpPr>
          <p:nvPr/>
        </p:nvSpPr>
        <p:spPr bwMode="auto">
          <a:xfrm>
            <a:off x="4968875" y="3962400"/>
            <a:ext cx="1295400" cy="0"/>
          </a:xfrm>
          <a:prstGeom prst="line">
            <a:avLst/>
          </a:prstGeom>
          <a:noFill/>
          <a:ln w="152400">
            <a:solidFill>
              <a:schemeClr val="accent2"/>
            </a:solidFill>
            <a:round/>
            <a:headEnd/>
            <a:tailEnd type="triangle" w="med" len="med"/>
          </a:ln>
          <a:effectLst>
            <a:outerShdw blurRad="50800" dist="38100" dir="2700000" algn="tl" rotWithShape="0">
              <a:prstClr val="black">
                <a:alpha val="40000"/>
              </a:prstClr>
            </a:outerShdw>
          </a:effectLst>
        </p:spPr>
        <p:txBody>
          <a:bodyPr/>
          <a:lstStyle/>
          <a:p>
            <a:endParaRPr lang="en-US"/>
          </a:p>
        </p:txBody>
      </p:sp>
      <p:sp>
        <p:nvSpPr>
          <p:cNvPr id="33802" name="Text Box 42"/>
          <p:cNvSpPr txBox="1">
            <a:spLocks noChangeArrowheads="1"/>
          </p:cNvSpPr>
          <p:nvPr/>
        </p:nvSpPr>
        <p:spPr bwMode="auto">
          <a:xfrm>
            <a:off x="4813300" y="3352800"/>
            <a:ext cx="1550424" cy="369332"/>
          </a:xfrm>
          <a:prstGeom prst="rect">
            <a:avLst/>
          </a:prstGeom>
          <a:noFill/>
          <a:ln w="9525">
            <a:noFill/>
            <a:miter lim="800000"/>
            <a:headEnd/>
            <a:tailEnd/>
          </a:ln>
        </p:spPr>
        <p:txBody>
          <a:bodyPr wrap="none">
            <a:spAutoFit/>
          </a:bodyPr>
          <a:lstStyle/>
          <a:p>
            <a:r>
              <a:rPr lang="en-US" dirty="0">
                <a:solidFill>
                  <a:schemeClr val="accent2"/>
                </a:solidFill>
                <a:cs typeface="Arial" charset="0"/>
              </a:rPr>
              <a:t>Some function</a:t>
            </a:r>
          </a:p>
        </p:txBody>
      </p:sp>
      <p:sp>
        <p:nvSpPr>
          <p:cNvPr id="43" name="Text Box 10"/>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2" name="Slide Number Placeholder 1">
            <a:extLst>
              <a:ext uri="{FF2B5EF4-FFF2-40B4-BE49-F238E27FC236}">
                <a16:creationId xmlns:a16="http://schemas.microsoft.com/office/drawing/2014/main" id="{C65D3390-A5C4-E0CB-877E-E6929FDAD84E}"/>
              </a:ext>
            </a:extLst>
          </p:cNvPr>
          <p:cNvSpPr>
            <a:spLocks noGrp="1"/>
          </p:cNvSpPr>
          <p:nvPr>
            <p:ph type="sldNum" sz="quarter" idx="12"/>
          </p:nvPr>
        </p:nvSpPr>
        <p:spPr/>
        <p:txBody>
          <a:bodyPr/>
          <a:lstStyle/>
          <a:p>
            <a:fld id="{C68DACDF-E1A9-A04C-A5FF-FC2443684BF5}" type="slidenum">
              <a:rPr lang="en-US" smtClean="0"/>
              <a:pPr/>
              <a:t>2</a:t>
            </a:fld>
            <a:endParaRPr lang="en-US" dirty="0"/>
          </a:p>
        </p:txBody>
      </p:sp>
    </p:spTree>
    <p:extLst>
      <p:ext uri="{BB962C8B-B14F-4D97-AF65-F5344CB8AC3E}">
        <p14:creationId xmlns:p14="http://schemas.microsoft.com/office/powerpoint/2010/main" val="410606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7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80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8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8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P spid="33800" grpId="0"/>
      <p:bldP spid="33801" grpId="0" animBg="1"/>
      <p:bldP spid="33802"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cxnSp>
        <p:nvCxnSpPr>
          <p:cNvPr id="80" name="Straight Arrow Connector 79"/>
          <p:cNvCxnSpPr>
            <a:stCxn id="61" idx="3"/>
            <a:endCxn id="34845" idx="1"/>
          </p:cNvCxnSpPr>
          <p:nvPr/>
        </p:nvCxnSpPr>
        <p:spPr>
          <a:xfrm>
            <a:off x="3709025" y="4379398"/>
            <a:ext cx="1175658" cy="1588"/>
          </a:xfrm>
          <a:prstGeom prst="straightConnector1">
            <a:avLst/>
          </a:prstGeom>
          <a:ln w="28575">
            <a:solidFill>
              <a:schemeClr val="tx1"/>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818" name="Rectangle 2"/>
          <p:cNvSpPr>
            <a:spLocks noGrp="1" noChangeArrowheads="1"/>
          </p:cNvSpPr>
          <p:nvPr>
            <p:ph type="title"/>
          </p:nvPr>
        </p:nvSpPr>
        <p:spPr/>
        <p:txBody>
          <a:bodyPr/>
          <a:lstStyle/>
          <a:p>
            <a:pPr eaLnBrk="1" hangingPunct="1"/>
            <a:r>
              <a:rPr lang="en-US" dirty="0"/>
              <a:t>Linear filtering</a:t>
            </a:r>
          </a:p>
        </p:txBody>
      </p:sp>
      <p:sp>
        <p:nvSpPr>
          <p:cNvPr id="814083" name="Rectangle 3"/>
          <p:cNvSpPr>
            <a:spLocks noGrp="1" noChangeArrowheads="1"/>
          </p:cNvSpPr>
          <p:nvPr>
            <p:ph idx="1"/>
          </p:nvPr>
        </p:nvSpPr>
        <p:spPr/>
        <p:txBody>
          <a:bodyPr>
            <a:normAutofit/>
          </a:bodyPr>
          <a:lstStyle/>
          <a:p>
            <a:pPr eaLnBrk="1" hangingPunct="1"/>
            <a:r>
              <a:rPr lang="en-US" sz="2800" dirty="0"/>
              <a:t>A simple filtering:  linear filtering (cross-correlation/convolution) </a:t>
            </a:r>
          </a:p>
          <a:p>
            <a:pPr lvl="1" eaLnBrk="1" hangingPunct="1"/>
            <a:r>
              <a:rPr lang="en-US" sz="2400" dirty="0"/>
              <a:t>Replace each pixel by a linear combination (a weighted sum) of its neighbors</a:t>
            </a:r>
          </a:p>
          <a:p>
            <a:pPr eaLnBrk="1" hangingPunct="1"/>
            <a:r>
              <a:rPr lang="en-US" sz="2800" dirty="0"/>
              <a:t>The prescription for the linear combination is called the “kernel” (or “mask”, “filter”)</a:t>
            </a:r>
          </a:p>
          <a:p>
            <a:pPr eaLnBrk="1" hangingPunct="1"/>
            <a:endParaRPr lang="en-US" sz="2800" dirty="0"/>
          </a:p>
          <a:p>
            <a:pPr eaLnBrk="1" hangingPunct="1"/>
            <a:endParaRPr lang="en-US" sz="2800" dirty="0"/>
          </a:p>
          <a:p>
            <a:pPr eaLnBrk="1" hangingPunct="1"/>
            <a:endParaRPr lang="en-US" sz="2800" dirty="0"/>
          </a:p>
          <a:p>
            <a:pPr eaLnBrk="1" hangingPunct="1"/>
            <a:endParaRPr lang="en-US" sz="2800" dirty="0"/>
          </a:p>
        </p:txBody>
      </p:sp>
      <p:grpSp>
        <p:nvGrpSpPr>
          <p:cNvPr id="4" name="Group 22"/>
          <p:cNvGrpSpPr>
            <a:grpSpLocks/>
          </p:cNvGrpSpPr>
          <p:nvPr/>
        </p:nvGrpSpPr>
        <p:grpSpPr bwMode="auto">
          <a:xfrm>
            <a:off x="4884686" y="3807898"/>
            <a:ext cx="1271588" cy="1143000"/>
            <a:chOff x="4896" y="1392"/>
            <a:chExt cx="801" cy="720"/>
          </a:xfrm>
        </p:grpSpPr>
        <p:sp>
          <p:nvSpPr>
            <p:cNvPr id="34843" name="Text Box 23"/>
            <p:cNvSpPr txBox="1">
              <a:spLocks noChangeArrowheads="1"/>
            </p:cNvSpPr>
            <p:nvPr/>
          </p:nvSpPr>
          <p:spPr bwMode="auto">
            <a:xfrm>
              <a:off x="5397" y="1872"/>
              <a:ext cx="300" cy="233"/>
            </a:xfrm>
            <a:prstGeom prst="rect">
              <a:avLst/>
            </a:prstGeom>
            <a:noFill/>
            <a:ln w="9525">
              <a:noFill/>
              <a:miter lim="800000"/>
              <a:headEnd/>
              <a:tailEnd/>
            </a:ln>
          </p:spPr>
          <p:txBody>
            <a:bodyPr wrap="none">
              <a:spAutoFit/>
            </a:bodyPr>
            <a:lstStyle/>
            <a:p>
              <a:pPr algn="ctr" eaLnBrk="0" hangingPunct="0"/>
              <a:r>
                <a:rPr lang="en-US" dirty="0">
                  <a:cs typeface="Arial" charset="0"/>
                </a:rPr>
                <a:t>0.5</a:t>
              </a:r>
            </a:p>
          </p:txBody>
        </p:sp>
        <p:grpSp>
          <p:nvGrpSpPr>
            <p:cNvPr id="5" name="Group 24"/>
            <p:cNvGrpSpPr>
              <a:grpSpLocks/>
            </p:cNvGrpSpPr>
            <p:nvPr/>
          </p:nvGrpSpPr>
          <p:grpSpPr bwMode="auto">
            <a:xfrm>
              <a:off x="4896" y="1392"/>
              <a:ext cx="768" cy="720"/>
              <a:chOff x="4896" y="1392"/>
              <a:chExt cx="768" cy="720"/>
            </a:xfrm>
          </p:grpSpPr>
          <p:sp>
            <p:nvSpPr>
              <p:cNvPr id="34845" name="Rectangle 25"/>
              <p:cNvSpPr>
                <a:spLocks noChangeArrowheads="1"/>
              </p:cNvSpPr>
              <p:nvPr/>
            </p:nvSpPr>
            <p:spPr bwMode="auto">
              <a:xfrm>
                <a:off x="4896" y="1392"/>
                <a:ext cx="768" cy="720"/>
              </a:xfrm>
              <a:prstGeom prst="rect">
                <a:avLst/>
              </a:prstGeom>
              <a:noFill/>
              <a:ln w="9525">
                <a:solidFill>
                  <a:schemeClr val="tx1"/>
                </a:solidFill>
                <a:miter lim="800000"/>
                <a:headEnd/>
                <a:tailEnd/>
              </a:ln>
            </p:spPr>
            <p:txBody>
              <a:bodyPr wrap="none" anchor="ctr"/>
              <a:lstStyle/>
              <a:p>
                <a:endParaRPr lang="en-US"/>
              </a:p>
            </p:txBody>
          </p:sp>
          <p:sp>
            <p:nvSpPr>
              <p:cNvPr id="34846" name="Line 26"/>
              <p:cNvSpPr>
                <a:spLocks noChangeShapeType="1"/>
              </p:cNvSpPr>
              <p:nvPr/>
            </p:nvSpPr>
            <p:spPr bwMode="auto">
              <a:xfrm>
                <a:off x="5136" y="1392"/>
                <a:ext cx="0" cy="720"/>
              </a:xfrm>
              <a:prstGeom prst="line">
                <a:avLst/>
              </a:prstGeom>
              <a:noFill/>
              <a:ln w="9525">
                <a:solidFill>
                  <a:schemeClr val="tx1"/>
                </a:solidFill>
                <a:round/>
                <a:headEnd/>
                <a:tailEnd/>
              </a:ln>
            </p:spPr>
            <p:txBody>
              <a:bodyPr wrap="none" anchor="ctr"/>
              <a:lstStyle/>
              <a:p>
                <a:endParaRPr lang="en-US"/>
              </a:p>
            </p:txBody>
          </p:sp>
          <p:sp>
            <p:nvSpPr>
              <p:cNvPr id="34847" name="Line 27"/>
              <p:cNvSpPr>
                <a:spLocks noChangeShapeType="1"/>
              </p:cNvSpPr>
              <p:nvPr/>
            </p:nvSpPr>
            <p:spPr bwMode="auto">
              <a:xfrm>
                <a:off x="5424" y="1392"/>
                <a:ext cx="0" cy="720"/>
              </a:xfrm>
              <a:prstGeom prst="line">
                <a:avLst/>
              </a:prstGeom>
              <a:noFill/>
              <a:ln w="9525">
                <a:solidFill>
                  <a:schemeClr val="tx1"/>
                </a:solidFill>
                <a:round/>
                <a:headEnd/>
                <a:tailEnd/>
              </a:ln>
            </p:spPr>
            <p:txBody>
              <a:bodyPr wrap="none" anchor="ctr"/>
              <a:lstStyle/>
              <a:p>
                <a:endParaRPr lang="en-US"/>
              </a:p>
            </p:txBody>
          </p:sp>
          <p:sp>
            <p:nvSpPr>
              <p:cNvPr id="34848" name="Line 28"/>
              <p:cNvSpPr>
                <a:spLocks noChangeShapeType="1"/>
              </p:cNvSpPr>
              <p:nvPr/>
            </p:nvSpPr>
            <p:spPr bwMode="auto">
              <a:xfrm>
                <a:off x="4896" y="1632"/>
                <a:ext cx="768" cy="0"/>
              </a:xfrm>
              <a:prstGeom prst="line">
                <a:avLst/>
              </a:prstGeom>
              <a:noFill/>
              <a:ln w="9525">
                <a:solidFill>
                  <a:schemeClr val="tx1"/>
                </a:solidFill>
                <a:round/>
                <a:headEnd/>
                <a:tailEnd/>
              </a:ln>
            </p:spPr>
            <p:txBody>
              <a:bodyPr wrap="none" anchor="ctr"/>
              <a:lstStyle/>
              <a:p>
                <a:endParaRPr lang="en-US"/>
              </a:p>
            </p:txBody>
          </p:sp>
          <p:sp>
            <p:nvSpPr>
              <p:cNvPr id="34849" name="Line 29"/>
              <p:cNvSpPr>
                <a:spLocks noChangeShapeType="1"/>
              </p:cNvSpPr>
              <p:nvPr/>
            </p:nvSpPr>
            <p:spPr bwMode="auto">
              <a:xfrm>
                <a:off x="4896" y="1872"/>
                <a:ext cx="768" cy="0"/>
              </a:xfrm>
              <a:prstGeom prst="line">
                <a:avLst/>
              </a:prstGeom>
              <a:noFill/>
              <a:ln w="9525">
                <a:solidFill>
                  <a:schemeClr val="tx1"/>
                </a:solidFill>
                <a:round/>
                <a:headEnd/>
                <a:tailEnd/>
              </a:ln>
            </p:spPr>
            <p:txBody>
              <a:bodyPr wrap="none" anchor="ctr"/>
              <a:lstStyle/>
              <a:p>
                <a:endParaRPr lang="en-US"/>
              </a:p>
            </p:txBody>
          </p:sp>
          <p:sp>
            <p:nvSpPr>
              <p:cNvPr id="34850" name="Text Box 30"/>
              <p:cNvSpPr txBox="1">
                <a:spLocks noChangeArrowheads="1"/>
              </p:cNvSpPr>
              <p:nvPr/>
            </p:nvSpPr>
            <p:spPr bwMode="auto">
              <a:xfrm>
                <a:off x="5115" y="1632"/>
                <a:ext cx="329" cy="233"/>
              </a:xfrm>
              <a:prstGeom prst="rect">
                <a:avLst/>
              </a:prstGeom>
              <a:noFill/>
              <a:ln w="9525">
                <a:noFill/>
                <a:miter lim="800000"/>
                <a:headEnd/>
                <a:tailEnd/>
              </a:ln>
            </p:spPr>
            <p:txBody>
              <a:bodyPr wrap="square">
                <a:spAutoFit/>
              </a:bodyPr>
              <a:lstStyle/>
              <a:p>
                <a:pPr algn="ctr" eaLnBrk="0" hangingPunct="0"/>
                <a:r>
                  <a:rPr lang="en-US" dirty="0">
                    <a:cs typeface="Arial" charset="0"/>
                  </a:rPr>
                  <a:t>0.5</a:t>
                </a:r>
              </a:p>
            </p:txBody>
          </p:sp>
          <p:sp>
            <p:nvSpPr>
              <p:cNvPr id="34851" name="Text Box 31"/>
              <p:cNvSpPr txBox="1">
                <a:spLocks noChangeArrowheads="1"/>
              </p:cNvSpPr>
              <p:nvPr/>
            </p:nvSpPr>
            <p:spPr bwMode="auto">
              <a:xfrm>
                <a:off x="5452" y="1632"/>
                <a:ext cx="190" cy="233"/>
              </a:xfrm>
              <a:prstGeom prst="rect">
                <a:avLst/>
              </a:prstGeom>
              <a:noFill/>
              <a:ln w="9525">
                <a:noFill/>
                <a:miter lim="800000"/>
                <a:headEnd/>
                <a:tailEnd/>
              </a:ln>
            </p:spPr>
            <p:txBody>
              <a:bodyPr wrap="none">
                <a:spAutoFit/>
              </a:bodyPr>
              <a:lstStyle/>
              <a:p>
                <a:pPr algn="ctr" eaLnBrk="0" hangingPunct="0"/>
                <a:r>
                  <a:rPr lang="en-US">
                    <a:cs typeface="Arial" charset="0"/>
                  </a:rPr>
                  <a:t>0</a:t>
                </a:r>
              </a:p>
            </p:txBody>
          </p:sp>
          <p:sp>
            <p:nvSpPr>
              <p:cNvPr id="34852" name="Text Box 32"/>
              <p:cNvSpPr txBox="1">
                <a:spLocks noChangeArrowheads="1"/>
              </p:cNvSpPr>
              <p:nvPr/>
            </p:nvSpPr>
            <p:spPr bwMode="auto">
              <a:xfrm>
                <a:off x="4913" y="1632"/>
                <a:ext cx="190" cy="233"/>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sp>
            <p:nvSpPr>
              <p:cNvPr id="34853" name="Text Box 33"/>
              <p:cNvSpPr txBox="1">
                <a:spLocks noChangeArrowheads="1"/>
              </p:cNvSpPr>
              <p:nvPr/>
            </p:nvSpPr>
            <p:spPr bwMode="auto">
              <a:xfrm>
                <a:off x="5185" y="1872"/>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34854" name="Text Box 34"/>
              <p:cNvSpPr txBox="1">
                <a:spLocks noChangeArrowheads="1"/>
              </p:cNvSpPr>
              <p:nvPr/>
            </p:nvSpPr>
            <p:spPr bwMode="auto">
              <a:xfrm>
                <a:off x="4913" y="1872"/>
                <a:ext cx="190" cy="233"/>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sp>
            <p:nvSpPr>
              <p:cNvPr id="34855" name="Line 35"/>
              <p:cNvSpPr>
                <a:spLocks noChangeShapeType="1"/>
              </p:cNvSpPr>
              <p:nvPr/>
            </p:nvSpPr>
            <p:spPr bwMode="auto">
              <a:xfrm>
                <a:off x="4896" y="1632"/>
                <a:ext cx="768" cy="0"/>
              </a:xfrm>
              <a:prstGeom prst="line">
                <a:avLst/>
              </a:prstGeom>
              <a:noFill/>
              <a:ln w="9525">
                <a:solidFill>
                  <a:schemeClr val="tx1"/>
                </a:solidFill>
                <a:round/>
                <a:headEnd/>
                <a:tailEnd/>
              </a:ln>
            </p:spPr>
            <p:txBody>
              <a:bodyPr wrap="none" anchor="ctr"/>
              <a:lstStyle/>
              <a:p>
                <a:endParaRPr lang="en-US"/>
              </a:p>
            </p:txBody>
          </p:sp>
          <p:sp>
            <p:nvSpPr>
              <p:cNvPr id="34856" name="Text Box 36"/>
              <p:cNvSpPr txBox="1">
                <a:spLocks noChangeArrowheads="1"/>
              </p:cNvSpPr>
              <p:nvPr/>
            </p:nvSpPr>
            <p:spPr bwMode="auto">
              <a:xfrm>
                <a:off x="5185" y="1392"/>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0</a:t>
                </a:r>
              </a:p>
            </p:txBody>
          </p:sp>
          <p:sp>
            <p:nvSpPr>
              <p:cNvPr id="34857" name="Text Box 37"/>
              <p:cNvSpPr txBox="1">
                <a:spLocks noChangeArrowheads="1"/>
              </p:cNvSpPr>
              <p:nvPr/>
            </p:nvSpPr>
            <p:spPr bwMode="auto">
              <a:xfrm>
                <a:off x="5452" y="1392"/>
                <a:ext cx="190" cy="233"/>
              </a:xfrm>
              <a:prstGeom prst="rect">
                <a:avLst/>
              </a:prstGeom>
              <a:noFill/>
              <a:ln w="9525">
                <a:noFill/>
                <a:miter lim="800000"/>
                <a:headEnd/>
                <a:tailEnd/>
              </a:ln>
            </p:spPr>
            <p:txBody>
              <a:bodyPr wrap="none">
                <a:spAutoFit/>
              </a:bodyPr>
              <a:lstStyle/>
              <a:p>
                <a:pPr algn="ctr" eaLnBrk="0" hangingPunct="0"/>
                <a:r>
                  <a:rPr lang="en-US">
                    <a:cs typeface="Arial" charset="0"/>
                  </a:rPr>
                  <a:t>0</a:t>
                </a:r>
              </a:p>
            </p:txBody>
          </p:sp>
          <p:sp>
            <p:nvSpPr>
              <p:cNvPr id="34858" name="Text Box 38"/>
              <p:cNvSpPr txBox="1">
                <a:spLocks noChangeArrowheads="1"/>
              </p:cNvSpPr>
              <p:nvPr/>
            </p:nvSpPr>
            <p:spPr bwMode="auto">
              <a:xfrm>
                <a:off x="4913" y="1392"/>
                <a:ext cx="190" cy="233"/>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grpSp>
      </p:grpSp>
      <p:sp>
        <p:nvSpPr>
          <p:cNvPr id="34824" name="Text Box 40"/>
          <p:cNvSpPr txBox="1">
            <a:spLocks noChangeArrowheads="1"/>
          </p:cNvSpPr>
          <p:nvPr/>
        </p:nvSpPr>
        <p:spPr bwMode="auto">
          <a:xfrm>
            <a:off x="5113286" y="5027098"/>
            <a:ext cx="767133" cy="369332"/>
          </a:xfrm>
          <a:prstGeom prst="rect">
            <a:avLst/>
          </a:prstGeom>
          <a:noFill/>
          <a:ln w="9525">
            <a:noFill/>
            <a:miter lim="800000"/>
            <a:headEnd/>
            <a:tailEnd/>
          </a:ln>
        </p:spPr>
        <p:txBody>
          <a:bodyPr wrap="none">
            <a:spAutoFit/>
          </a:bodyPr>
          <a:lstStyle/>
          <a:p>
            <a:pPr eaLnBrk="0" hangingPunct="0"/>
            <a:r>
              <a:rPr lang="en-US" dirty="0">
                <a:cs typeface="Arial" charset="0"/>
              </a:rPr>
              <a:t>kernel</a:t>
            </a:r>
          </a:p>
        </p:txBody>
      </p:sp>
      <p:grpSp>
        <p:nvGrpSpPr>
          <p:cNvPr id="6" name="Group 41"/>
          <p:cNvGrpSpPr>
            <a:grpSpLocks/>
          </p:cNvGrpSpPr>
          <p:nvPr/>
        </p:nvGrpSpPr>
        <p:grpSpPr bwMode="auto">
          <a:xfrm>
            <a:off x="7323083" y="3807898"/>
            <a:ext cx="1295400" cy="1143000"/>
            <a:chOff x="2256" y="1920"/>
            <a:chExt cx="816" cy="720"/>
          </a:xfrm>
        </p:grpSpPr>
        <p:sp>
          <p:nvSpPr>
            <p:cNvPr id="34827" name="Rectangle 42"/>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4828" name="Line 43"/>
            <p:cNvSpPr>
              <a:spLocks noChangeShapeType="1"/>
            </p:cNvSpPr>
            <p:nvPr/>
          </p:nvSpPr>
          <p:spPr bwMode="auto">
            <a:xfrm>
              <a:off x="2544" y="1920"/>
              <a:ext cx="0" cy="720"/>
            </a:xfrm>
            <a:prstGeom prst="line">
              <a:avLst/>
            </a:prstGeom>
            <a:noFill/>
            <a:ln w="9525">
              <a:solidFill>
                <a:schemeClr val="tx1"/>
              </a:solidFill>
              <a:round/>
              <a:headEnd/>
              <a:tailEnd/>
            </a:ln>
          </p:spPr>
          <p:txBody>
            <a:bodyPr wrap="none" anchor="ctr"/>
            <a:lstStyle/>
            <a:p>
              <a:endParaRPr lang="en-US"/>
            </a:p>
          </p:txBody>
        </p:sp>
        <p:sp>
          <p:nvSpPr>
            <p:cNvPr id="34829" name="Line 44"/>
            <p:cNvSpPr>
              <a:spLocks noChangeShapeType="1"/>
            </p:cNvSpPr>
            <p:nvPr/>
          </p:nvSpPr>
          <p:spPr bwMode="auto">
            <a:xfrm>
              <a:off x="2832" y="1920"/>
              <a:ext cx="0" cy="720"/>
            </a:xfrm>
            <a:prstGeom prst="line">
              <a:avLst/>
            </a:prstGeom>
            <a:noFill/>
            <a:ln w="9525">
              <a:solidFill>
                <a:schemeClr val="tx1"/>
              </a:solidFill>
              <a:round/>
              <a:headEnd/>
              <a:tailEnd/>
            </a:ln>
          </p:spPr>
          <p:txBody>
            <a:bodyPr wrap="none" anchor="ctr"/>
            <a:lstStyle/>
            <a:p>
              <a:endParaRPr lang="en-US"/>
            </a:p>
          </p:txBody>
        </p:sp>
        <p:sp>
          <p:nvSpPr>
            <p:cNvPr id="34830" name="Line 45"/>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4831" name="Line 46"/>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4832" name="Text Box 47"/>
            <p:cNvSpPr txBox="1">
              <a:spLocks noChangeArrowheads="1"/>
            </p:cNvSpPr>
            <p:nvPr/>
          </p:nvSpPr>
          <p:spPr bwMode="auto">
            <a:xfrm>
              <a:off x="2582" y="2160"/>
              <a:ext cx="190" cy="233"/>
            </a:xfrm>
            <a:prstGeom prst="rect">
              <a:avLst/>
            </a:prstGeom>
            <a:noFill/>
            <a:ln w="9525">
              <a:noFill/>
              <a:miter lim="800000"/>
              <a:headEnd/>
              <a:tailEnd/>
            </a:ln>
          </p:spPr>
          <p:txBody>
            <a:bodyPr wrap="none">
              <a:spAutoFit/>
            </a:bodyPr>
            <a:lstStyle/>
            <a:p>
              <a:pPr eaLnBrk="0" hangingPunct="0"/>
              <a:r>
                <a:rPr lang="en-US" dirty="0">
                  <a:cs typeface="Arial" charset="0"/>
                </a:rPr>
                <a:t>8</a:t>
              </a:r>
            </a:p>
          </p:txBody>
        </p:sp>
        <p:sp>
          <p:nvSpPr>
            <p:cNvPr id="34833" name="Text Box 48"/>
            <p:cNvSpPr txBox="1">
              <a:spLocks noChangeArrowheads="1"/>
            </p:cNvSpPr>
            <p:nvPr/>
          </p:nvSpPr>
          <p:spPr bwMode="auto">
            <a:xfrm>
              <a:off x="2832" y="216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4" name="Text Box 49"/>
            <p:cNvSpPr txBox="1">
              <a:spLocks noChangeArrowheads="1"/>
            </p:cNvSpPr>
            <p:nvPr/>
          </p:nvSpPr>
          <p:spPr bwMode="auto">
            <a:xfrm>
              <a:off x="2352" y="216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5" name="Text Box 50"/>
            <p:cNvSpPr txBox="1">
              <a:spLocks noChangeArrowheads="1"/>
            </p:cNvSpPr>
            <p:nvPr/>
          </p:nvSpPr>
          <p:spPr bwMode="auto">
            <a:xfrm>
              <a:off x="256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6" name="Text Box 51"/>
            <p:cNvSpPr txBox="1">
              <a:spLocks noChangeArrowheads="1"/>
            </p:cNvSpPr>
            <p:nvPr/>
          </p:nvSpPr>
          <p:spPr bwMode="auto">
            <a:xfrm>
              <a:off x="281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7" name="Text Box 52"/>
            <p:cNvSpPr txBox="1">
              <a:spLocks noChangeArrowheads="1"/>
            </p:cNvSpPr>
            <p:nvPr/>
          </p:nvSpPr>
          <p:spPr bwMode="auto">
            <a:xfrm>
              <a:off x="233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8" name="Line 53"/>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4839" name="Line 54"/>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4840" name="Text Box 55"/>
            <p:cNvSpPr txBox="1">
              <a:spLocks noChangeArrowheads="1"/>
            </p:cNvSpPr>
            <p:nvPr/>
          </p:nvSpPr>
          <p:spPr bwMode="auto">
            <a:xfrm>
              <a:off x="2582"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41" name="Text Box 56"/>
            <p:cNvSpPr txBox="1">
              <a:spLocks noChangeArrowheads="1"/>
            </p:cNvSpPr>
            <p:nvPr/>
          </p:nvSpPr>
          <p:spPr bwMode="auto">
            <a:xfrm>
              <a:off x="2832"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42" name="Text Box 57"/>
            <p:cNvSpPr txBox="1">
              <a:spLocks noChangeArrowheads="1"/>
            </p:cNvSpPr>
            <p:nvPr/>
          </p:nvSpPr>
          <p:spPr bwMode="auto">
            <a:xfrm>
              <a:off x="2256"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grpSp>
      <p:sp>
        <p:nvSpPr>
          <p:cNvPr id="34826" name="Text Box 58"/>
          <p:cNvSpPr txBox="1">
            <a:spLocks noChangeArrowheads="1"/>
          </p:cNvSpPr>
          <p:nvPr/>
        </p:nvSpPr>
        <p:spPr bwMode="auto">
          <a:xfrm>
            <a:off x="6959626" y="5027098"/>
            <a:ext cx="2130263" cy="369332"/>
          </a:xfrm>
          <a:prstGeom prst="rect">
            <a:avLst/>
          </a:prstGeom>
          <a:noFill/>
          <a:ln w="9525">
            <a:noFill/>
            <a:miter lim="800000"/>
            <a:headEnd/>
            <a:tailEnd/>
          </a:ln>
        </p:spPr>
        <p:txBody>
          <a:bodyPr wrap="none">
            <a:spAutoFit/>
          </a:bodyPr>
          <a:lstStyle/>
          <a:p>
            <a:pPr eaLnBrk="0" hangingPunct="0"/>
            <a:r>
              <a:rPr lang="en-US" dirty="0">
                <a:cs typeface="Arial" charset="0"/>
              </a:rPr>
              <a:t>Modified image data</a:t>
            </a:r>
          </a:p>
        </p:txBody>
      </p:sp>
      <p:sp>
        <p:nvSpPr>
          <p:cNvPr id="34823" name="Text Box 39"/>
          <p:cNvSpPr txBox="1">
            <a:spLocks noChangeArrowheads="1"/>
          </p:cNvSpPr>
          <p:nvPr/>
        </p:nvSpPr>
        <p:spPr bwMode="auto">
          <a:xfrm>
            <a:off x="2069823" y="5027098"/>
            <a:ext cx="2052860" cy="369332"/>
          </a:xfrm>
          <a:prstGeom prst="rect">
            <a:avLst/>
          </a:prstGeom>
          <a:noFill/>
          <a:ln w="9525">
            <a:noFill/>
            <a:miter lim="800000"/>
            <a:headEnd/>
            <a:tailEnd/>
          </a:ln>
        </p:spPr>
        <p:txBody>
          <a:bodyPr wrap="square">
            <a:spAutoFit/>
          </a:bodyPr>
          <a:lstStyle/>
          <a:p>
            <a:pPr algn="ctr" eaLnBrk="0" hangingPunct="0"/>
            <a:r>
              <a:rPr lang="en-US" dirty="0">
                <a:cs typeface="Arial" charset="0"/>
              </a:rPr>
              <a:t>Local image data</a:t>
            </a:r>
          </a:p>
        </p:txBody>
      </p:sp>
      <p:grpSp>
        <p:nvGrpSpPr>
          <p:cNvPr id="60" name="Group 5"/>
          <p:cNvGrpSpPr>
            <a:grpSpLocks/>
          </p:cNvGrpSpPr>
          <p:nvPr/>
        </p:nvGrpSpPr>
        <p:grpSpPr bwMode="auto">
          <a:xfrm>
            <a:off x="2467603" y="3807898"/>
            <a:ext cx="1241425" cy="1143000"/>
            <a:chOff x="2290" y="1920"/>
            <a:chExt cx="782" cy="720"/>
          </a:xfrm>
        </p:grpSpPr>
        <p:sp>
          <p:nvSpPr>
            <p:cNvPr id="61" name="Rectangle 6"/>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62" name="Line 7"/>
            <p:cNvSpPr>
              <a:spLocks noChangeShapeType="1"/>
            </p:cNvSpPr>
            <p:nvPr/>
          </p:nvSpPr>
          <p:spPr bwMode="auto">
            <a:xfrm>
              <a:off x="2565" y="1920"/>
              <a:ext cx="0" cy="720"/>
            </a:xfrm>
            <a:prstGeom prst="line">
              <a:avLst/>
            </a:prstGeom>
            <a:noFill/>
            <a:ln w="9525">
              <a:solidFill>
                <a:schemeClr val="tx1"/>
              </a:solidFill>
              <a:round/>
              <a:headEnd/>
              <a:tailEnd/>
            </a:ln>
          </p:spPr>
          <p:txBody>
            <a:bodyPr wrap="none" anchor="ctr"/>
            <a:lstStyle/>
            <a:p>
              <a:endParaRPr lang="en-US"/>
            </a:p>
          </p:txBody>
        </p:sp>
        <p:sp>
          <p:nvSpPr>
            <p:cNvPr id="63" name="Line 8"/>
            <p:cNvSpPr>
              <a:spLocks noChangeShapeType="1"/>
            </p:cNvSpPr>
            <p:nvPr/>
          </p:nvSpPr>
          <p:spPr bwMode="auto">
            <a:xfrm>
              <a:off x="2825" y="1920"/>
              <a:ext cx="0" cy="720"/>
            </a:xfrm>
            <a:prstGeom prst="line">
              <a:avLst/>
            </a:prstGeom>
            <a:noFill/>
            <a:ln w="9525">
              <a:solidFill>
                <a:schemeClr val="tx1"/>
              </a:solidFill>
              <a:round/>
              <a:headEnd/>
              <a:tailEnd/>
            </a:ln>
          </p:spPr>
          <p:txBody>
            <a:bodyPr wrap="none" anchor="ctr"/>
            <a:lstStyle/>
            <a:p>
              <a:endParaRPr lang="en-US"/>
            </a:p>
          </p:txBody>
        </p:sp>
        <p:sp>
          <p:nvSpPr>
            <p:cNvPr id="64" name="Line 9"/>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65" name="Line 10"/>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66" name="Text Box 11"/>
            <p:cNvSpPr txBox="1">
              <a:spLocks noChangeArrowheads="1"/>
            </p:cNvSpPr>
            <p:nvPr/>
          </p:nvSpPr>
          <p:spPr bwMode="auto">
            <a:xfrm>
              <a:off x="2591"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6</a:t>
              </a:r>
            </a:p>
          </p:txBody>
        </p:sp>
        <p:sp>
          <p:nvSpPr>
            <p:cNvPr id="67" name="Text Box 12"/>
            <p:cNvSpPr txBox="1">
              <a:spLocks noChangeArrowheads="1"/>
            </p:cNvSpPr>
            <p:nvPr/>
          </p:nvSpPr>
          <p:spPr bwMode="auto">
            <a:xfrm>
              <a:off x="2856" y="216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68" name="Text Box 13"/>
            <p:cNvSpPr txBox="1">
              <a:spLocks noChangeArrowheads="1"/>
            </p:cNvSpPr>
            <p:nvPr/>
          </p:nvSpPr>
          <p:spPr bwMode="auto">
            <a:xfrm>
              <a:off x="2327"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4</a:t>
              </a:r>
            </a:p>
          </p:txBody>
        </p:sp>
        <p:sp>
          <p:nvSpPr>
            <p:cNvPr id="69" name="Text Box 14"/>
            <p:cNvSpPr txBox="1">
              <a:spLocks noChangeArrowheads="1"/>
            </p:cNvSpPr>
            <p:nvPr/>
          </p:nvSpPr>
          <p:spPr bwMode="auto">
            <a:xfrm>
              <a:off x="2591"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70" name="Text Box 15"/>
            <p:cNvSpPr txBox="1">
              <a:spLocks noChangeArrowheads="1"/>
            </p:cNvSpPr>
            <p:nvPr/>
          </p:nvSpPr>
          <p:spPr bwMode="auto">
            <a:xfrm>
              <a:off x="2856"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8</a:t>
              </a:r>
            </a:p>
          </p:txBody>
        </p:sp>
        <p:sp>
          <p:nvSpPr>
            <p:cNvPr id="71" name="Text Box 16"/>
            <p:cNvSpPr txBox="1">
              <a:spLocks noChangeArrowheads="1"/>
            </p:cNvSpPr>
            <p:nvPr/>
          </p:nvSpPr>
          <p:spPr bwMode="auto">
            <a:xfrm>
              <a:off x="2327" y="240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72" name="Line 17"/>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73" name="Line 18"/>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74" name="Text Box 19"/>
            <p:cNvSpPr txBox="1">
              <a:spLocks noChangeArrowheads="1"/>
            </p:cNvSpPr>
            <p:nvPr/>
          </p:nvSpPr>
          <p:spPr bwMode="auto">
            <a:xfrm>
              <a:off x="2591" y="192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75" name="Text Box 20"/>
            <p:cNvSpPr txBox="1">
              <a:spLocks noChangeArrowheads="1"/>
            </p:cNvSpPr>
            <p:nvPr/>
          </p:nvSpPr>
          <p:spPr bwMode="auto">
            <a:xfrm>
              <a:off x="2856" y="1920"/>
              <a:ext cx="190" cy="233"/>
            </a:xfrm>
            <a:prstGeom prst="rect">
              <a:avLst/>
            </a:prstGeom>
            <a:noFill/>
            <a:ln w="9525">
              <a:noFill/>
              <a:miter lim="800000"/>
              <a:headEnd/>
              <a:tailEnd/>
            </a:ln>
          </p:spPr>
          <p:txBody>
            <a:bodyPr wrap="none">
              <a:spAutoFit/>
            </a:bodyPr>
            <a:lstStyle/>
            <a:p>
              <a:pPr algn="ctr" eaLnBrk="0" hangingPunct="0"/>
              <a:r>
                <a:rPr lang="en-US">
                  <a:cs typeface="Arial" charset="0"/>
                </a:rPr>
                <a:t>3</a:t>
              </a:r>
            </a:p>
          </p:txBody>
        </p:sp>
        <p:sp>
          <p:nvSpPr>
            <p:cNvPr id="76" name="Text Box 21"/>
            <p:cNvSpPr txBox="1">
              <a:spLocks noChangeArrowheads="1"/>
            </p:cNvSpPr>
            <p:nvPr/>
          </p:nvSpPr>
          <p:spPr bwMode="auto">
            <a:xfrm>
              <a:off x="2290" y="1920"/>
              <a:ext cx="264" cy="233"/>
            </a:xfrm>
            <a:prstGeom prst="rect">
              <a:avLst/>
            </a:prstGeom>
            <a:noFill/>
            <a:ln w="9525">
              <a:noFill/>
              <a:miter lim="800000"/>
              <a:headEnd/>
              <a:tailEnd/>
            </a:ln>
          </p:spPr>
          <p:txBody>
            <a:bodyPr wrap="none">
              <a:spAutoFit/>
            </a:bodyPr>
            <a:lstStyle/>
            <a:p>
              <a:pPr algn="ctr" eaLnBrk="0" hangingPunct="0"/>
              <a:r>
                <a:rPr lang="en-US" dirty="0">
                  <a:cs typeface="Arial" charset="0"/>
                </a:rPr>
                <a:t>10</a:t>
              </a:r>
            </a:p>
          </p:txBody>
        </p:sp>
      </p:grpSp>
      <p:cxnSp>
        <p:nvCxnSpPr>
          <p:cNvPr id="83" name="Straight Arrow Connector 82"/>
          <p:cNvCxnSpPr>
            <a:stCxn id="34845" idx="3"/>
            <a:endCxn id="34827" idx="1"/>
          </p:cNvCxnSpPr>
          <p:nvPr/>
        </p:nvCxnSpPr>
        <p:spPr>
          <a:xfrm>
            <a:off x="6103883" y="4379398"/>
            <a:ext cx="1295400" cy="1588"/>
          </a:xfrm>
          <a:prstGeom prst="straightConnector1">
            <a:avLst/>
          </a:prstGeom>
          <a:ln w="28575">
            <a:solidFill>
              <a:schemeClr val="tx1"/>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 name="Text Box 10">
            <a:extLst>
              <a:ext uri="{FF2B5EF4-FFF2-40B4-BE49-F238E27FC236}">
                <a16:creationId xmlns:a16="http://schemas.microsoft.com/office/drawing/2014/main" id="{E85BBCF1-3395-8F9A-4047-434B507ECB4E}"/>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3" name="Slide Number Placeholder 2">
            <a:extLst>
              <a:ext uri="{FF2B5EF4-FFF2-40B4-BE49-F238E27FC236}">
                <a16:creationId xmlns:a16="http://schemas.microsoft.com/office/drawing/2014/main" id="{D7F52153-40AA-584D-8245-5EE7F063055F}"/>
              </a:ext>
            </a:extLst>
          </p:cNvPr>
          <p:cNvSpPr>
            <a:spLocks noGrp="1"/>
          </p:cNvSpPr>
          <p:nvPr>
            <p:ph type="sldNum" sz="quarter" idx="12"/>
          </p:nvPr>
        </p:nvSpPr>
        <p:spPr/>
        <p:txBody>
          <a:bodyPr/>
          <a:lstStyle/>
          <a:p>
            <a:fld id="{C68DACDF-E1A9-A04C-A5FF-FC2443684BF5}" type="slidenum">
              <a:rPr lang="en-US" smtClean="0"/>
              <a:pPr/>
              <a:t>3</a:t>
            </a:fld>
            <a:endParaRPr lang="en-US" dirty="0"/>
          </a:p>
        </p:txBody>
      </p:sp>
    </p:spTree>
    <p:extLst>
      <p:ext uri="{BB962C8B-B14F-4D97-AF65-F5344CB8AC3E}">
        <p14:creationId xmlns:p14="http://schemas.microsoft.com/office/powerpoint/2010/main" val="170248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408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8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083" grpId="0" build="p" autoUpdateAnimBg="0"/>
      <p:bldP spid="34824" grpId="0"/>
      <p:bldP spid="34826" grpId="0"/>
      <p:bldP spid="348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Cross-correlation</a:t>
            </a:r>
          </a:p>
        </p:txBody>
      </p:sp>
      <p:sp>
        <p:nvSpPr>
          <p:cNvPr id="8" name="Rectangle 10"/>
          <p:cNvSpPr>
            <a:spLocks noChangeArrowheads="1"/>
          </p:cNvSpPr>
          <p:nvPr>
            <p:custDataLst>
              <p:tags r:id="rId1"/>
            </p:custDataLst>
          </p:nvPr>
        </p:nvSpPr>
        <p:spPr bwMode="auto">
          <a:xfrm>
            <a:off x="2435220" y="4122858"/>
            <a:ext cx="7200900" cy="609600"/>
          </a:xfrm>
          <a:prstGeom prst="rect">
            <a:avLst/>
          </a:prstGeom>
          <a:noFill/>
          <a:ln w="9525">
            <a:noFill/>
            <a:miter lim="800000"/>
            <a:headEnd/>
            <a:tailEnd/>
          </a:ln>
          <a:effectLst/>
        </p:spPr>
        <p:txBody>
          <a:bodyPr/>
          <a:lstStyle/>
          <a:p>
            <a:pPr marL="342900" indent="-342900">
              <a:spcBef>
                <a:spcPct val="50000"/>
              </a:spcBef>
              <a:spcAft>
                <a:spcPct val="50000"/>
              </a:spcAft>
            </a:pPr>
            <a:r>
              <a:rPr lang="en-US" sz="2800" dirty="0"/>
              <a:t>This is called a </a:t>
            </a:r>
            <a:r>
              <a:rPr lang="en-US" sz="2800" b="1" dirty="0"/>
              <a:t>cross-correlation</a:t>
            </a:r>
            <a:r>
              <a:rPr lang="en-US" sz="2800" dirty="0"/>
              <a:t> operation:</a:t>
            </a:r>
          </a:p>
          <a:p>
            <a:pPr marL="342900" indent="-342900">
              <a:spcBef>
                <a:spcPct val="50000"/>
              </a:spcBef>
              <a:spcAft>
                <a:spcPct val="50000"/>
              </a:spcAft>
            </a:pPr>
            <a:endParaRPr lang="en-US" sz="2800" dirty="0"/>
          </a:p>
        </p:txBody>
      </p:sp>
      <p:pic>
        <p:nvPicPr>
          <p:cNvPr id="9" name="Picture 11" descr="Edittex"/>
          <p:cNvPicPr>
            <a:picLocks noChangeAspect="1" noChangeArrowheads="1"/>
          </p:cNvPicPr>
          <p:nvPr>
            <p:custDataLst>
              <p:tags r:id="rId2"/>
            </p:custDataLst>
          </p:nvPr>
        </p:nvPicPr>
        <p:blipFill>
          <a:blip r:embed="rId6" cstate="print"/>
          <a:srcRect/>
          <a:stretch>
            <a:fillRect/>
          </a:stretch>
        </p:blipFill>
        <p:spPr bwMode="auto">
          <a:xfrm>
            <a:off x="4644517" y="4775739"/>
            <a:ext cx="3535684" cy="549618"/>
          </a:xfrm>
          <a:prstGeom prst="rect">
            <a:avLst/>
          </a:prstGeom>
          <a:noFill/>
          <a:ln w="9525">
            <a:noFill/>
            <a:miter lim="800000"/>
            <a:headEnd/>
            <a:tailEnd/>
          </a:ln>
          <a:effectLst/>
        </p:spPr>
      </p:pic>
      <p:sp>
        <p:nvSpPr>
          <p:cNvPr id="7" name="Rectangle 10"/>
          <p:cNvSpPr>
            <a:spLocks noChangeArrowheads="1"/>
          </p:cNvSpPr>
          <p:nvPr>
            <p:custDataLst>
              <p:tags r:id="rId3"/>
            </p:custDataLst>
          </p:nvPr>
        </p:nvSpPr>
        <p:spPr bwMode="auto">
          <a:xfrm>
            <a:off x="865413" y="1447800"/>
            <a:ext cx="9956037" cy="5181600"/>
          </a:xfrm>
          <a:prstGeom prst="rect">
            <a:avLst/>
          </a:prstGeom>
          <a:noFill/>
          <a:ln w="9525">
            <a:noFill/>
            <a:miter lim="800000"/>
            <a:headEnd/>
            <a:tailEnd/>
          </a:ln>
          <a:effectLst/>
        </p:spPr>
        <p:txBody>
          <a:bodyPr/>
          <a:lstStyle/>
          <a:p>
            <a:pPr marL="342900" indent="-342900">
              <a:spcBef>
                <a:spcPct val="50000"/>
              </a:spcBef>
              <a:spcAft>
                <a:spcPct val="50000"/>
              </a:spcAft>
            </a:pPr>
            <a:r>
              <a:rPr lang="en-US" sz="3200" dirty="0"/>
              <a:t>Let      be the image,      be the kernel (of size 	2</a:t>
            </a:r>
            <a:r>
              <a:rPr lang="en-US" sz="3200" i="1" dirty="0"/>
              <a:t>k</a:t>
            </a:r>
            <a:r>
              <a:rPr lang="en-US" sz="3200" dirty="0"/>
              <a:t>+1 x 2</a:t>
            </a:r>
            <a:r>
              <a:rPr lang="en-US" sz="3200" i="1" dirty="0"/>
              <a:t>k</a:t>
            </a:r>
            <a:r>
              <a:rPr lang="en-US" sz="3200" dirty="0"/>
              <a:t>+1), and      be the output image</a:t>
            </a:r>
          </a:p>
          <a:p>
            <a:pPr marL="342900" indent="-342900">
              <a:spcBef>
                <a:spcPct val="50000"/>
              </a:spcBef>
              <a:spcAft>
                <a:spcPct val="50000"/>
              </a:spcAft>
            </a:pPr>
            <a:endParaRPr lang="en-US" sz="3200" dirty="0"/>
          </a:p>
          <a:p>
            <a:pPr marL="342900" indent="-342900">
              <a:spcBef>
                <a:spcPct val="50000"/>
              </a:spcBef>
              <a:spcAft>
                <a:spcPct val="50000"/>
              </a:spcAft>
            </a:pPr>
            <a:endParaRPr lang="en-US" sz="4000" dirty="0"/>
          </a:p>
          <a:p>
            <a:pPr marL="457200" indent="-457200">
              <a:spcBef>
                <a:spcPct val="50000"/>
              </a:spcBef>
              <a:spcAft>
                <a:spcPct val="50000"/>
              </a:spcAft>
              <a:buFont typeface="Arial" pitchFamily="34" charset="0"/>
              <a:buChar char="•"/>
            </a:pPr>
            <a:endParaRPr lang="en-US" sz="1400" dirty="0"/>
          </a:p>
        </p:txBody>
      </p:sp>
      <p:pic>
        <p:nvPicPr>
          <p:cNvPr id="40961" name="Picture 1"/>
          <p:cNvPicPr>
            <a:picLocks noChangeAspect="1" noChangeArrowheads="1"/>
          </p:cNvPicPr>
          <p:nvPr/>
        </p:nvPicPr>
        <p:blipFill>
          <a:blip r:embed="rId7" cstate="print"/>
          <a:srcRect/>
          <a:stretch>
            <a:fillRect/>
          </a:stretch>
        </p:blipFill>
        <p:spPr bwMode="auto">
          <a:xfrm>
            <a:off x="5230585" y="2035416"/>
            <a:ext cx="386443" cy="381000"/>
          </a:xfrm>
          <a:prstGeom prst="rect">
            <a:avLst/>
          </a:prstGeom>
          <a:noFill/>
          <a:ln w="9525">
            <a:noFill/>
            <a:miter lim="800000"/>
            <a:headEnd/>
            <a:tailEnd/>
          </a:ln>
        </p:spPr>
      </p:pic>
      <p:pic>
        <p:nvPicPr>
          <p:cNvPr id="40962" name="Picture 2"/>
          <p:cNvPicPr>
            <a:picLocks noChangeAspect="1" noChangeArrowheads="1"/>
          </p:cNvPicPr>
          <p:nvPr/>
        </p:nvPicPr>
        <p:blipFill>
          <a:blip r:embed="rId8" cstate="print"/>
          <a:srcRect/>
          <a:stretch>
            <a:fillRect/>
          </a:stretch>
        </p:blipFill>
        <p:spPr bwMode="auto">
          <a:xfrm>
            <a:off x="4724400" y="1570328"/>
            <a:ext cx="439208" cy="381000"/>
          </a:xfrm>
          <a:prstGeom prst="rect">
            <a:avLst/>
          </a:prstGeom>
          <a:noFill/>
          <a:ln w="9525">
            <a:noFill/>
            <a:miter lim="800000"/>
            <a:headEnd/>
            <a:tailEnd/>
          </a:ln>
        </p:spPr>
      </p:pic>
      <p:pic>
        <p:nvPicPr>
          <p:cNvPr id="40963" name="Picture 3"/>
          <p:cNvPicPr>
            <a:picLocks noChangeAspect="1" noChangeArrowheads="1"/>
          </p:cNvPicPr>
          <p:nvPr/>
        </p:nvPicPr>
        <p:blipFill>
          <a:blip r:embed="rId9" cstate="print"/>
          <a:srcRect/>
          <a:stretch>
            <a:fillRect/>
          </a:stretch>
        </p:blipFill>
        <p:spPr bwMode="auto">
          <a:xfrm>
            <a:off x="1676400" y="1570328"/>
            <a:ext cx="381000" cy="321972"/>
          </a:xfrm>
          <a:prstGeom prst="rect">
            <a:avLst/>
          </a:prstGeom>
          <a:noFill/>
          <a:ln w="9525">
            <a:noFill/>
            <a:miter lim="800000"/>
            <a:headEnd/>
            <a:tailEnd/>
          </a:ln>
        </p:spPr>
      </p:pic>
      <p:pic>
        <p:nvPicPr>
          <p:cNvPr id="6" name="Picture 8" descr="Edittex"/>
          <p:cNvPicPr>
            <a:picLocks noChangeAspect="1" noChangeArrowheads="1"/>
          </p:cNvPicPr>
          <p:nvPr>
            <p:custDataLst>
              <p:tags r:id="rId4"/>
            </p:custDataLst>
          </p:nvPr>
        </p:nvPicPr>
        <p:blipFill>
          <a:blip r:embed="rId10" cstate="print"/>
          <a:srcRect/>
          <a:stretch>
            <a:fillRect/>
          </a:stretch>
        </p:blipFill>
        <p:spPr bwMode="auto">
          <a:xfrm>
            <a:off x="1828800" y="2660649"/>
            <a:ext cx="7848600" cy="1154439"/>
          </a:xfrm>
          <a:prstGeom prst="rect">
            <a:avLst/>
          </a:prstGeom>
          <a:noFill/>
          <a:ln w="9525">
            <a:noFill/>
            <a:miter lim="800000"/>
            <a:headEnd/>
            <a:tailEnd/>
          </a:ln>
          <a:effectLst/>
        </p:spPr>
      </p:pic>
      <p:sp>
        <p:nvSpPr>
          <p:cNvPr id="4" name="TextBox 3">
            <a:extLst>
              <a:ext uri="{FF2B5EF4-FFF2-40B4-BE49-F238E27FC236}">
                <a16:creationId xmlns:a16="http://schemas.microsoft.com/office/drawing/2014/main" id="{AF6329ED-9954-6F94-3642-79C28E6285D3}"/>
              </a:ext>
            </a:extLst>
          </p:cNvPr>
          <p:cNvSpPr txBox="1"/>
          <p:nvPr/>
        </p:nvSpPr>
        <p:spPr>
          <a:xfrm>
            <a:off x="1248364" y="5496263"/>
            <a:ext cx="10327990" cy="369332"/>
          </a:xfrm>
          <a:prstGeom prst="rect">
            <a:avLst/>
          </a:prstGeom>
          <a:noFill/>
        </p:spPr>
        <p:txBody>
          <a:bodyPr wrap="square">
            <a:spAutoFit/>
          </a:bodyPr>
          <a:lstStyle/>
          <a:p>
            <a:pPr>
              <a:spcBef>
                <a:spcPct val="50000"/>
              </a:spcBef>
              <a:spcAft>
                <a:spcPct val="50000"/>
              </a:spcAft>
            </a:pPr>
            <a:r>
              <a:rPr lang="en-US" sz="1800" dirty="0"/>
              <a:t>Can think of as a “dot product” between local neighborhood and kernel for each pixel</a:t>
            </a:r>
          </a:p>
        </p:txBody>
      </p:sp>
      <p:sp>
        <p:nvSpPr>
          <p:cNvPr id="5" name="Text Box 10">
            <a:extLst>
              <a:ext uri="{FF2B5EF4-FFF2-40B4-BE49-F238E27FC236}">
                <a16:creationId xmlns:a16="http://schemas.microsoft.com/office/drawing/2014/main" id="{968D7C0B-5024-6202-C15C-9FAB840024A4}"/>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10" name="Slide Number Placeholder 9">
            <a:extLst>
              <a:ext uri="{FF2B5EF4-FFF2-40B4-BE49-F238E27FC236}">
                <a16:creationId xmlns:a16="http://schemas.microsoft.com/office/drawing/2014/main" id="{49497AF7-9D5E-BFC6-E0E9-0443C72D7B0E}"/>
              </a:ext>
            </a:extLst>
          </p:cNvPr>
          <p:cNvSpPr>
            <a:spLocks noGrp="1"/>
          </p:cNvSpPr>
          <p:nvPr>
            <p:ph type="sldNum" sz="quarter" idx="12"/>
          </p:nvPr>
        </p:nvSpPr>
        <p:spPr/>
        <p:txBody>
          <a:bodyPr/>
          <a:lstStyle/>
          <a:p>
            <a:fld id="{C68DACDF-E1A9-A04C-A5FF-FC2443684BF5}" type="slidenum">
              <a:rPr lang="en-US" smtClean="0"/>
              <a:pPr/>
              <a:t>4</a:t>
            </a:fld>
            <a:endParaRPr lang="en-US" dirty="0"/>
          </a:p>
        </p:txBody>
      </p:sp>
    </p:spTree>
    <p:extLst>
      <p:ext uri="{BB962C8B-B14F-4D97-AF65-F5344CB8AC3E}">
        <p14:creationId xmlns:p14="http://schemas.microsoft.com/office/powerpoint/2010/main" val="97623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Convolution</a:t>
            </a:r>
          </a:p>
        </p:txBody>
      </p:sp>
      <p:sp>
        <p:nvSpPr>
          <p:cNvPr id="3" name="Content Placeholder 2"/>
          <p:cNvSpPr>
            <a:spLocks noGrp="1"/>
          </p:cNvSpPr>
          <p:nvPr>
            <p:ph idx="1"/>
          </p:nvPr>
        </p:nvSpPr>
        <p:spPr>
          <a:xfrm>
            <a:off x="838200" y="1447800"/>
            <a:ext cx="10515600" cy="5181600"/>
          </a:xfrm>
        </p:spPr>
        <p:txBody>
          <a:bodyPr>
            <a:normAutofit/>
          </a:bodyPr>
          <a:lstStyle/>
          <a:p>
            <a:r>
              <a:rPr lang="en-US" dirty="0"/>
              <a:t>Same as cross-correlation, except that the kernel is “flipped” (horizontally and vertically)</a:t>
            </a:r>
          </a:p>
          <a:p>
            <a:endParaRPr lang="en-US" dirty="0"/>
          </a:p>
          <a:p>
            <a:endParaRPr lang="en-US" dirty="0"/>
          </a:p>
          <a:p>
            <a:endParaRPr lang="en-US" dirty="0"/>
          </a:p>
          <a:p>
            <a:endParaRPr lang="en-US" dirty="0"/>
          </a:p>
          <a:p>
            <a:endParaRPr lang="en-US" dirty="0"/>
          </a:p>
          <a:p>
            <a:r>
              <a:rPr lang="en-US" dirty="0"/>
              <a:t>Convolution is </a:t>
            </a:r>
            <a:r>
              <a:rPr lang="en-US" b="1" dirty="0"/>
              <a:t>commutative</a:t>
            </a:r>
            <a:r>
              <a:rPr lang="en-US" dirty="0"/>
              <a:t> and </a:t>
            </a:r>
            <a:r>
              <a:rPr lang="en-US" b="1" dirty="0"/>
              <a:t>associative</a:t>
            </a:r>
          </a:p>
        </p:txBody>
      </p:sp>
      <p:sp>
        <p:nvSpPr>
          <p:cNvPr id="5" name="Rectangle 10"/>
          <p:cNvSpPr>
            <a:spLocks noChangeArrowheads="1"/>
          </p:cNvSpPr>
          <p:nvPr>
            <p:custDataLst>
              <p:tags r:id="rId1"/>
            </p:custDataLst>
          </p:nvPr>
        </p:nvSpPr>
        <p:spPr bwMode="auto">
          <a:xfrm>
            <a:off x="3086100" y="4092575"/>
            <a:ext cx="7200900" cy="609600"/>
          </a:xfrm>
          <a:prstGeom prst="rect">
            <a:avLst/>
          </a:prstGeom>
          <a:noFill/>
          <a:ln w="9525">
            <a:noFill/>
            <a:miter lim="800000"/>
            <a:headEnd/>
            <a:tailEnd/>
          </a:ln>
          <a:effectLst/>
        </p:spPr>
        <p:txBody>
          <a:bodyPr/>
          <a:lstStyle/>
          <a:p>
            <a:pPr marL="342900" indent="-342900">
              <a:spcBef>
                <a:spcPct val="50000"/>
              </a:spcBef>
              <a:spcAft>
                <a:spcPct val="50000"/>
              </a:spcAft>
            </a:pPr>
            <a:r>
              <a:rPr lang="en-US" sz="2800" dirty="0"/>
              <a:t>This is called a </a:t>
            </a:r>
            <a:r>
              <a:rPr lang="en-US" sz="2800" b="1" dirty="0"/>
              <a:t>convolution</a:t>
            </a:r>
            <a:r>
              <a:rPr lang="en-US" sz="2800" dirty="0"/>
              <a:t> operation:</a:t>
            </a:r>
          </a:p>
        </p:txBody>
      </p:sp>
      <p:pic>
        <p:nvPicPr>
          <p:cNvPr id="46084" name="Picture 4"/>
          <p:cNvPicPr>
            <a:picLocks noChangeAspect="1" noChangeArrowheads="1"/>
          </p:cNvPicPr>
          <p:nvPr/>
        </p:nvPicPr>
        <p:blipFill>
          <a:blip r:embed="rId3" cstate="print"/>
          <a:srcRect/>
          <a:stretch>
            <a:fillRect/>
          </a:stretch>
        </p:blipFill>
        <p:spPr bwMode="auto">
          <a:xfrm>
            <a:off x="2286000" y="2581214"/>
            <a:ext cx="7291836" cy="1304985"/>
          </a:xfrm>
          <a:prstGeom prst="rect">
            <a:avLst/>
          </a:prstGeom>
          <a:noFill/>
          <a:ln w="9525">
            <a:noFill/>
            <a:miter lim="800000"/>
            <a:headEnd/>
            <a:tailEnd/>
          </a:ln>
        </p:spPr>
      </p:pic>
      <p:pic>
        <p:nvPicPr>
          <p:cNvPr id="46085" name="Picture 5"/>
          <p:cNvPicPr>
            <a:picLocks noChangeAspect="1" noChangeArrowheads="1"/>
          </p:cNvPicPr>
          <p:nvPr/>
        </p:nvPicPr>
        <p:blipFill>
          <a:blip r:embed="rId4" cstate="print"/>
          <a:srcRect/>
          <a:stretch>
            <a:fillRect/>
          </a:stretch>
        </p:blipFill>
        <p:spPr bwMode="auto">
          <a:xfrm>
            <a:off x="4254587" y="5160460"/>
            <a:ext cx="3219450" cy="781050"/>
          </a:xfrm>
          <a:prstGeom prst="rect">
            <a:avLst/>
          </a:prstGeom>
          <a:noFill/>
          <a:ln w="9525">
            <a:noFill/>
            <a:miter lim="800000"/>
            <a:headEnd/>
            <a:tailEnd/>
          </a:ln>
        </p:spPr>
      </p:pic>
      <p:sp>
        <p:nvSpPr>
          <p:cNvPr id="4" name="Text Box 10">
            <a:extLst>
              <a:ext uri="{FF2B5EF4-FFF2-40B4-BE49-F238E27FC236}">
                <a16:creationId xmlns:a16="http://schemas.microsoft.com/office/drawing/2014/main" id="{A6737031-C21A-5094-D45E-E2AD62DDE2B1}"/>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6" name="Slide Number Placeholder 5">
            <a:extLst>
              <a:ext uri="{FF2B5EF4-FFF2-40B4-BE49-F238E27FC236}">
                <a16:creationId xmlns:a16="http://schemas.microsoft.com/office/drawing/2014/main" id="{E99C3809-94EC-DF22-DCC1-EBCDC034D2F3}"/>
              </a:ext>
            </a:extLst>
          </p:cNvPr>
          <p:cNvSpPr>
            <a:spLocks noGrp="1"/>
          </p:cNvSpPr>
          <p:nvPr>
            <p:ph type="sldNum" sz="quarter" idx="12"/>
          </p:nvPr>
        </p:nvSpPr>
        <p:spPr/>
        <p:txBody>
          <a:bodyPr/>
          <a:lstStyle/>
          <a:p>
            <a:fld id="{C68DACDF-E1A9-A04C-A5FF-FC2443684BF5}" type="slidenum">
              <a:rPr lang="en-US" smtClean="0"/>
              <a:pPr/>
              <a:t>5</a:t>
            </a:fld>
            <a:endParaRPr lang="en-US" dirty="0"/>
          </a:p>
        </p:txBody>
      </p:sp>
    </p:spTree>
    <p:extLst>
      <p:ext uri="{BB962C8B-B14F-4D97-AF65-F5344CB8AC3E}">
        <p14:creationId xmlns:p14="http://schemas.microsoft.com/office/powerpoint/2010/main" val="31645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08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Convolution</a:t>
            </a:r>
          </a:p>
        </p:txBody>
      </p:sp>
      <p:sp>
        <p:nvSpPr>
          <p:cNvPr id="1035" name="Rectangle 5"/>
          <p:cNvSpPr>
            <a:spLocks noChangeArrowheads="1"/>
          </p:cNvSpPr>
          <p:nvPr/>
        </p:nvSpPr>
        <p:spPr bwMode="auto">
          <a:xfrm>
            <a:off x="4876800" y="2590800"/>
            <a:ext cx="2362200" cy="2362200"/>
          </a:xfrm>
          <a:prstGeom prst="rect">
            <a:avLst/>
          </a:prstGeom>
          <a:noFill/>
          <a:ln w="9525">
            <a:solidFill>
              <a:schemeClr val="tx1"/>
            </a:solidFill>
            <a:miter lim="800000"/>
            <a:headEnd/>
            <a:tailEnd/>
          </a:ln>
        </p:spPr>
        <p:txBody>
          <a:bodyPr wrap="none" anchor="ctr"/>
          <a:lstStyle/>
          <a:p>
            <a:pPr algn="ctr"/>
            <a:endParaRPr lang="en-US">
              <a:latin typeface="Arial" charset="0"/>
              <a:cs typeface="Arial" charset="0"/>
            </a:endParaRPr>
          </a:p>
        </p:txBody>
      </p:sp>
      <p:pic>
        <p:nvPicPr>
          <p:cNvPr id="815111" name="Picture 7" descr="tmp"/>
          <p:cNvPicPr>
            <a:picLocks noChangeAspect="1" noChangeArrowheads="1"/>
          </p:cNvPicPr>
          <p:nvPr/>
        </p:nvPicPr>
        <p:blipFill>
          <a:blip r:embed="rId2" cstate="print"/>
          <a:stretch>
            <a:fillRect/>
          </a:stretch>
        </p:blipFill>
        <p:spPr bwMode="auto">
          <a:xfrm>
            <a:off x="2035274" y="2674980"/>
            <a:ext cx="747712" cy="747712"/>
          </a:xfrm>
          <a:prstGeom prst="rect">
            <a:avLst/>
          </a:prstGeom>
          <a:noFill/>
          <a:ln w="9525">
            <a:noFill/>
            <a:miter lim="800000"/>
            <a:headEnd/>
            <a:tailEnd/>
          </a:ln>
        </p:spPr>
      </p:pic>
      <p:pic>
        <p:nvPicPr>
          <p:cNvPr id="815112" name="Picture 8" descr="tmp"/>
          <p:cNvPicPr>
            <a:picLocks noChangeAspect="1" noChangeArrowheads="1"/>
          </p:cNvPicPr>
          <p:nvPr/>
        </p:nvPicPr>
        <p:blipFill>
          <a:blip r:embed="rId3" cstate="print"/>
          <a:stretch>
            <a:fillRect/>
          </a:stretch>
        </p:blipFill>
        <p:spPr bwMode="auto">
          <a:xfrm>
            <a:off x="3642616" y="2681286"/>
            <a:ext cx="747713" cy="747713"/>
          </a:xfrm>
          <a:prstGeom prst="rect">
            <a:avLst/>
          </a:prstGeom>
          <a:noFill/>
          <a:ln w="9525">
            <a:noFill/>
            <a:miter lim="800000"/>
            <a:headEnd/>
            <a:tailEnd/>
          </a:ln>
        </p:spPr>
      </p:pic>
      <p:pic>
        <p:nvPicPr>
          <p:cNvPr id="1033" name="Picture 10" descr="tmp"/>
          <p:cNvPicPr>
            <a:picLocks noChangeAspect="1" noChangeArrowheads="1"/>
          </p:cNvPicPr>
          <p:nvPr/>
        </p:nvPicPr>
        <p:blipFill>
          <a:blip r:embed="rId4" cstate="print"/>
          <a:stretch>
            <a:fillRect/>
          </a:stretch>
        </p:blipFill>
        <p:spPr bwMode="auto">
          <a:xfrm>
            <a:off x="3642615" y="2681285"/>
            <a:ext cx="747713" cy="747713"/>
          </a:xfrm>
          <a:prstGeom prst="rect">
            <a:avLst/>
          </a:prstGeom>
          <a:noFill/>
          <a:ln w="9525">
            <a:noFill/>
            <a:miter lim="800000"/>
            <a:headEnd/>
            <a:tailEnd/>
          </a:ln>
        </p:spPr>
      </p:pic>
      <p:sp>
        <p:nvSpPr>
          <p:cNvPr id="1034" name="Rectangle 11"/>
          <p:cNvSpPr>
            <a:spLocks noChangeArrowheads="1"/>
          </p:cNvSpPr>
          <p:nvPr/>
        </p:nvSpPr>
        <p:spPr bwMode="auto">
          <a:xfrm>
            <a:off x="1143000" y="4343400"/>
            <a:ext cx="1143000" cy="1219200"/>
          </a:xfrm>
          <a:prstGeom prst="rect">
            <a:avLst/>
          </a:prstGeom>
          <a:solidFill>
            <a:schemeClr val="bg1"/>
          </a:solidFill>
          <a:ln w="9525">
            <a:noFill/>
            <a:miter lim="800000"/>
            <a:headEnd/>
            <a:tailEnd/>
          </a:ln>
        </p:spPr>
        <p:txBody>
          <a:bodyPr wrap="none" anchor="ctr"/>
          <a:lstStyle/>
          <a:p>
            <a:endParaRPr lang="en-US"/>
          </a:p>
        </p:txBody>
      </p:sp>
      <p:pic>
        <p:nvPicPr>
          <p:cNvPr id="815116" name="Picture 12" descr="tmp"/>
          <p:cNvPicPr>
            <a:picLocks noChangeAspect="1" noChangeArrowheads="1"/>
          </p:cNvPicPr>
          <p:nvPr/>
        </p:nvPicPr>
        <p:blipFill>
          <a:blip r:embed="rId4" cstate="print"/>
          <a:stretch>
            <a:fillRect/>
          </a:stretch>
        </p:blipFill>
        <p:spPr bwMode="auto">
          <a:xfrm>
            <a:off x="4883946" y="2590803"/>
            <a:ext cx="747713" cy="747713"/>
          </a:xfrm>
          <a:prstGeom prst="rect">
            <a:avLst/>
          </a:prstGeom>
          <a:noFill/>
          <a:ln w="9525">
            <a:noFill/>
            <a:miter lim="800000"/>
            <a:headEnd/>
            <a:tailEnd/>
          </a:ln>
        </p:spPr>
      </p:pic>
      <p:pic>
        <p:nvPicPr>
          <p:cNvPr id="14" name="Picture 3"/>
          <p:cNvPicPr>
            <a:picLocks noChangeAspect="1" noChangeArrowheads="1"/>
          </p:cNvPicPr>
          <p:nvPr/>
        </p:nvPicPr>
        <p:blipFill>
          <a:blip r:embed="rId5" cstate="print"/>
          <a:srcRect/>
          <a:stretch>
            <a:fillRect/>
          </a:stretch>
        </p:blipFill>
        <p:spPr bwMode="auto">
          <a:xfrm>
            <a:off x="5867400" y="3581400"/>
            <a:ext cx="381000" cy="321972"/>
          </a:xfrm>
          <a:prstGeom prst="rect">
            <a:avLst/>
          </a:prstGeom>
          <a:noFill/>
          <a:ln w="9525">
            <a:noFill/>
            <a:miter lim="800000"/>
            <a:headEnd/>
            <a:tailEnd/>
          </a:ln>
        </p:spPr>
      </p:pic>
      <p:sp>
        <p:nvSpPr>
          <p:cNvPr id="10" name="Text Box 10"/>
          <p:cNvSpPr txBox="1">
            <a:spLocks noChangeArrowheads="1"/>
          </p:cNvSpPr>
          <p:nvPr/>
        </p:nvSpPr>
        <p:spPr bwMode="auto">
          <a:xfrm>
            <a:off x="10005323" y="5796458"/>
            <a:ext cx="1928220" cy="307777"/>
          </a:xfrm>
          <a:prstGeom prst="rect">
            <a:avLst/>
          </a:prstGeom>
          <a:noFill/>
          <a:ln w="9525">
            <a:noFill/>
            <a:miter lim="800000"/>
            <a:headEnd/>
            <a:tailEnd/>
          </a:ln>
        </p:spPr>
        <p:txBody>
          <a:bodyPr wrap="none">
            <a:spAutoFit/>
          </a:bodyPr>
          <a:lstStyle/>
          <a:p>
            <a:r>
              <a:rPr lang="en-US" sz="1400" dirty="0"/>
              <a:t>Adapted from F. Durand</a:t>
            </a:r>
          </a:p>
        </p:txBody>
      </p:sp>
      <p:sp>
        <p:nvSpPr>
          <p:cNvPr id="2" name="TextBox 1">
            <a:extLst>
              <a:ext uri="{FF2B5EF4-FFF2-40B4-BE49-F238E27FC236}">
                <a16:creationId xmlns:a16="http://schemas.microsoft.com/office/drawing/2014/main" id="{40558662-088E-1665-F678-198D692408C7}"/>
              </a:ext>
            </a:extLst>
          </p:cNvPr>
          <p:cNvSpPr txBox="1"/>
          <p:nvPr/>
        </p:nvSpPr>
        <p:spPr>
          <a:xfrm>
            <a:off x="1921458" y="3427267"/>
            <a:ext cx="851515" cy="369332"/>
          </a:xfrm>
          <a:prstGeom prst="rect">
            <a:avLst/>
          </a:prstGeom>
          <a:noFill/>
        </p:spPr>
        <p:txBody>
          <a:bodyPr wrap="none" rtlCol="0">
            <a:spAutoFit/>
          </a:bodyPr>
          <a:lstStyle/>
          <a:p>
            <a:r>
              <a:rPr lang="en-US" dirty="0"/>
              <a:t>Kernel</a:t>
            </a:r>
          </a:p>
        </p:txBody>
      </p:sp>
      <p:sp>
        <p:nvSpPr>
          <p:cNvPr id="3" name="TextBox 2">
            <a:extLst>
              <a:ext uri="{FF2B5EF4-FFF2-40B4-BE49-F238E27FC236}">
                <a16:creationId xmlns:a16="http://schemas.microsoft.com/office/drawing/2014/main" id="{AC4395CD-C5A0-B6D5-9A80-252AEFEB2BF6}"/>
              </a:ext>
            </a:extLst>
          </p:cNvPr>
          <p:cNvSpPr txBox="1"/>
          <p:nvPr/>
        </p:nvSpPr>
        <p:spPr>
          <a:xfrm>
            <a:off x="3590713" y="3427267"/>
            <a:ext cx="941283" cy="646331"/>
          </a:xfrm>
          <a:prstGeom prst="rect">
            <a:avLst/>
          </a:prstGeom>
          <a:noFill/>
        </p:spPr>
        <p:txBody>
          <a:bodyPr wrap="none" rtlCol="0">
            <a:spAutoFit/>
          </a:bodyPr>
          <a:lstStyle/>
          <a:p>
            <a:pPr algn="ctr"/>
            <a:r>
              <a:rPr lang="en-US" dirty="0"/>
              <a:t>Flipped</a:t>
            </a:r>
          </a:p>
          <a:p>
            <a:pPr algn="ctr"/>
            <a:r>
              <a:rPr lang="en-US" dirty="0"/>
              <a:t>Kernel</a:t>
            </a:r>
          </a:p>
        </p:txBody>
      </p:sp>
      <p:sp>
        <p:nvSpPr>
          <p:cNvPr id="23" name="Slide Number Placeholder 22">
            <a:extLst>
              <a:ext uri="{FF2B5EF4-FFF2-40B4-BE49-F238E27FC236}">
                <a16:creationId xmlns:a16="http://schemas.microsoft.com/office/drawing/2014/main" id="{F0EA19D6-74A6-8086-A5B5-9CBFE5C59BF4}"/>
              </a:ext>
            </a:extLst>
          </p:cNvPr>
          <p:cNvSpPr>
            <a:spLocks noGrp="1"/>
          </p:cNvSpPr>
          <p:nvPr>
            <p:ph type="sldNum" sz="quarter" idx="12"/>
          </p:nvPr>
        </p:nvSpPr>
        <p:spPr/>
        <p:txBody>
          <a:bodyPr/>
          <a:lstStyle/>
          <a:p>
            <a:fld id="{C68DACDF-E1A9-A04C-A5FF-FC2443684BF5}" type="slidenum">
              <a:rPr lang="en-US" smtClean="0"/>
              <a:pPr/>
              <a:t>6</a:t>
            </a:fld>
            <a:endParaRPr lang="en-US" dirty="0"/>
          </a:p>
        </p:txBody>
      </p:sp>
    </p:spTree>
    <p:extLst>
      <p:ext uri="{BB962C8B-B14F-4D97-AF65-F5344CB8AC3E}">
        <p14:creationId xmlns:p14="http://schemas.microsoft.com/office/powerpoint/2010/main" val="224783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5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51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51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3.61111E-6 5.78035E-8 C 0.06945 -0.00579 0.10608 -0.0037 0.19306 -0.00232 C 0.20105 0.01387 0.19861 0.00647 0.20174 0.01872 C 0.20052 0.03583 0.2007 0.05317 0.19827 0.07005 C 0.19584 0.08739 0.17796 0.08924 0.16841 0.09341 C 0.13785 0.09179 0.11563 0.08855 0.08594 0.08647 C 0.06146 0.08716 0.0099 0.06982 -0.01927 0.09572 C -0.02239 0.10843 -0.02517 0.11676 -0.01927 0.13317 C -0.01927 0.13317 -0.00607 0.13895 -0.00347 0.14011 C -0.00173 0.14104 0.00174 0.14265 0.00174 0.14265 C 0.04983 0.20369 0.16754 0.15005 0.19827 0.14959 C 0.20348 0.15028 0.21025 0.14682 0.21407 0.1519 C 0.2191 0.15861 0.21528 0.17086 0.21754 0.17988 C 0.21598 0.18843 0.2165 0.19861 0.21233 0.20554 C 0.20452 0.21895 0.18525 0.23352 0.17205 0.23375 C 0.11129 0.23514 0.05035 0.23537 -0.01041 0.23606 C -0.01371 0.24023 -0.02274 0.2608 -0.01215 0.26173 C 0.01875 0.26473 0.04983 0.26335 0.08073 0.26404 C 0.13855 0.27028 0.0948 0.26635 0.21233 0.26635 " pathEditMode="relative" ptsTypes="ffffffffffffffffffA">
                                      <p:cBhvr>
                                        <p:cTn id="26" dur="2000" fill="hold"/>
                                        <p:tgtEl>
                                          <p:spTgt spid="8151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 filtering</a:t>
            </a:r>
          </a:p>
        </p:txBody>
      </p:sp>
      <p:graphicFrame>
        <p:nvGraphicFramePr>
          <p:cNvPr id="12" name="Group 381"/>
          <p:cNvGraphicFramePr>
            <a:graphicFrameLocks noGrp="1"/>
          </p:cNvGraphicFramePr>
          <p:nvPr>
            <p:custDataLst>
              <p:tags r:id="rId1"/>
            </p:custDataLst>
          </p:nvPr>
        </p:nvGraphicFramePr>
        <p:xfrm>
          <a:off x="3657598" y="2125657"/>
          <a:ext cx="3124202" cy="2692840"/>
        </p:xfrm>
        <a:graphic>
          <a:graphicData uri="http://schemas.openxmlformats.org/drawingml/2006/table">
            <a:tbl>
              <a:tblPr/>
              <a:tblGrid>
                <a:gridCol w="312676">
                  <a:extLst>
                    <a:ext uri="{9D8B030D-6E8A-4147-A177-3AD203B41FA5}">
                      <a16:colId xmlns:a16="http://schemas.microsoft.com/office/drawing/2014/main" val="20000"/>
                    </a:ext>
                  </a:extLst>
                </a:gridCol>
                <a:gridCol w="312675">
                  <a:extLst>
                    <a:ext uri="{9D8B030D-6E8A-4147-A177-3AD203B41FA5}">
                      <a16:colId xmlns:a16="http://schemas.microsoft.com/office/drawing/2014/main" val="20001"/>
                    </a:ext>
                  </a:extLst>
                </a:gridCol>
                <a:gridCol w="311399">
                  <a:extLst>
                    <a:ext uri="{9D8B030D-6E8A-4147-A177-3AD203B41FA5}">
                      <a16:colId xmlns:a16="http://schemas.microsoft.com/office/drawing/2014/main" val="20002"/>
                    </a:ext>
                  </a:extLst>
                </a:gridCol>
                <a:gridCol w="312676">
                  <a:extLst>
                    <a:ext uri="{9D8B030D-6E8A-4147-A177-3AD203B41FA5}">
                      <a16:colId xmlns:a16="http://schemas.microsoft.com/office/drawing/2014/main" val="20003"/>
                    </a:ext>
                  </a:extLst>
                </a:gridCol>
                <a:gridCol w="312675">
                  <a:extLst>
                    <a:ext uri="{9D8B030D-6E8A-4147-A177-3AD203B41FA5}">
                      <a16:colId xmlns:a16="http://schemas.microsoft.com/office/drawing/2014/main" val="20004"/>
                    </a:ext>
                  </a:extLst>
                </a:gridCol>
                <a:gridCol w="312676">
                  <a:extLst>
                    <a:ext uri="{9D8B030D-6E8A-4147-A177-3AD203B41FA5}">
                      <a16:colId xmlns:a16="http://schemas.microsoft.com/office/drawing/2014/main" val="20005"/>
                    </a:ext>
                  </a:extLst>
                </a:gridCol>
                <a:gridCol w="312675">
                  <a:extLst>
                    <a:ext uri="{9D8B030D-6E8A-4147-A177-3AD203B41FA5}">
                      <a16:colId xmlns:a16="http://schemas.microsoft.com/office/drawing/2014/main" val="20006"/>
                    </a:ext>
                  </a:extLst>
                </a:gridCol>
                <a:gridCol w="311399">
                  <a:extLst>
                    <a:ext uri="{9D8B030D-6E8A-4147-A177-3AD203B41FA5}">
                      <a16:colId xmlns:a16="http://schemas.microsoft.com/office/drawing/2014/main" val="20007"/>
                    </a:ext>
                  </a:extLst>
                </a:gridCol>
                <a:gridCol w="312676">
                  <a:extLst>
                    <a:ext uri="{9D8B030D-6E8A-4147-A177-3AD203B41FA5}">
                      <a16:colId xmlns:a16="http://schemas.microsoft.com/office/drawing/2014/main" val="20008"/>
                    </a:ext>
                  </a:extLst>
                </a:gridCol>
                <a:gridCol w="312675">
                  <a:extLst>
                    <a:ext uri="{9D8B030D-6E8A-4147-A177-3AD203B41FA5}">
                      <a16:colId xmlns:a16="http://schemas.microsoft.com/office/drawing/2014/main" val="20009"/>
                    </a:ext>
                  </a:extLst>
                </a:gridCol>
              </a:tblGrid>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0"/>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1"/>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2"/>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3"/>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4"/>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5"/>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6"/>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7"/>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8"/>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9"/>
                  </a:ext>
                </a:extLst>
              </a:tr>
            </a:tbl>
          </a:graphicData>
        </a:graphic>
      </p:graphicFrame>
      <p:graphicFrame>
        <p:nvGraphicFramePr>
          <p:cNvPr id="16" name="Table 15"/>
          <p:cNvGraphicFramePr>
            <a:graphicFrameLocks noGrp="1"/>
          </p:cNvGraphicFramePr>
          <p:nvPr/>
        </p:nvGraphicFramePr>
        <p:xfrm>
          <a:off x="1992130" y="2971803"/>
          <a:ext cx="979673" cy="844869"/>
        </p:xfrm>
        <a:graphic>
          <a:graphicData uri="http://schemas.openxmlformats.org/drawingml/2006/table">
            <a:tbl>
              <a:tblPr/>
              <a:tblGrid>
                <a:gridCol w="327003">
                  <a:extLst>
                    <a:ext uri="{9D8B030D-6E8A-4147-A177-3AD203B41FA5}">
                      <a16:colId xmlns:a16="http://schemas.microsoft.com/office/drawing/2014/main" val="20000"/>
                    </a:ext>
                  </a:extLst>
                </a:gridCol>
                <a:gridCol w="327002">
                  <a:extLst>
                    <a:ext uri="{9D8B030D-6E8A-4147-A177-3AD203B41FA5}">
                      <a16:colId xmlns:a16="http://schemas.microsoft.com/office/drawing/2014/main" val="20001"/>
                    </a:ext>
                  </a:extLst>
                </a:gridCol>
                <a:gridCol w="325668">
                  <a:extLst>
                    <a:ext uri="{9D8B030D-6E8A-4147-A177-3AD203B41FA5}">
                      <a16:colId xmlns:a16="http://schemas.microsoft.com/office/drawing/2014/main" val="20002"/>
                    </a:ext>
                  </a:extLst>
                </a:gridCol>
              </a:tblGrid>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2941336" y="2819399"/>
            <a:ext cx="1064607"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pic>
        <p:nvPicPr>
          <p:cNvPr id="21506" name="Picture 2"/>
          <p:cNvPicPr>
            <a:picLocks noChangeAspect="1" noChangeArrowheads="1"/>
          </p:cNvPicPr>
          <p:nvPr/>
        </p:nvPicPr>
        <p:blipFill>
          <a:blip r:embed="rId6" cstate="print"/>
          <a:srcRect/>
          <a:stretch>
            <a:fillRect/>
          </a:stretch>
        </p:blipFill>
        <p:spPr bwMode="auto">
          <a:xfrm>
            <a:off x="1665558" y="3015345"/>
            <a:ext cx="202047" cy="757237"/>
          </a:xfrm>
          <a:prstGeom prst="rect">
            <a:avLst/>
          </a:prstGeom>
          <a:noFill/>
          <a:ln w="9525">
            <a:noFill/>
            <a:miter lim="800000"/>
            <a:headEnd/>
            <a:tailEnd/>
          </a:ln>
        </p:spPr>
      </p:pic>
      <p:sp>
        <p:nvSpPr>
          <p:cNvPr id="20" name="TextBox 19"/>
          <p:cNvSpPr txBox="1"/>
          <p:nvPr/>
        </p:nvSpPr>
        <p:spPr>
          <a:xfrm>
            <a:off x="6705600" y="2743203"/>
            <a:ext cx="644728" cy="1200329"/>
          </a:xfrm>
          <a:prstGeom prst="rect">
            <a:avLst/>
          </a:prstGeom>
          <a:noFill/>
        </p:spPr>
        <p:txBody>
          <a:bodyPr wrap="none" rtlCol="0">
            <a:spAutoFit/>
          </a:bodyPr>
          <a:lstStyle/>
          <a:p>
            <a:r>
              <a:rPr lang="en-US" sz="7200" dirty="0"/>
              <a:t>=</a:t>
            </a:r>
          </a:p>
        </p:txBody>
      </p:sp>
      <p:graphicFrame>
        <p:nvGraphicFramePr>
          <p:cNvPr id="21" name="Group 128"/>
          <p:cNvGraphicFramePr>
            <a:graphicFrameLocks noGrp="1"/>
          </p:cNvGraphicFramePr>
          <p:nvPr>
            <p:custDataLst>
              <p:tags r:id="rId2"/>
            </p:custDataLst>
          </p:nvPr>
        </p:nvGraphicFramePr>
        <p:xfrm>
          <a:off x="7467600" y="2133600"/>
          <a:ext cx="3094218" cy="2667000"/>
        </p:xfrm>
        <a:graphic>
          <a:graphicData uri="http://schemas.openxmlformats.org/drawingml/2006/table">
            <a:tbl>
              <a:tblPr/>
              <a:tblGrid>
                <a:gridCol w="309675">
                  <a:extLst>
                    <a:ext uri="{9D8B030D-6E8A-4147-A177-3AD203B41FA5}">
                      <a16:colId xmlns:a16="http://schemas.microsoft.com/office/drawing/2014/main" val="20000"/>
                    </a:ext>
                  </a:extLst>
                </a:gridCol>
                <a:gridCol w="309674">
                  <a:extLst>
                    <a:ext uri="{9D8B030D-6E8A-4147-A177-3AD203B41FA5}">
                      <a16:colId xmlns:a16="http://schemas.microsoft.com/office/drawing/2014/main" val="20001"/>
                    </a:ext>
                  </a:extLst>
                </a:gridCol>
                <a:gridCol w="308411">
                  <a:extLst>
                    <a:ext uri="{9D8B030D-6E8A-4147-A177-3AD203B41FA5}">
                      <a16:colId xmlns:a16="http://schemas.microsoft.com/office/drawing/2014/main" val="20002"/>
                    </a:ext>
                  </a:extLst>
                </a:gridCol>
                <a:gridCol w="309675">
                  <a:extLst>
                    <a:ext uri="{9D8B030D-6E8A-4147-A177-3AD203B41FA5}">
                      <a16:colId xmlns:a16="http://schemas.microsoft.com/office/drawing/2014/main" val="20003"/>
                    </a:ext>
                  </a:extLst>
                </a:gridCol>
                <a:gridCol w="309674">
                  <a:extLst>
                    <a:ext uri="{9D8B030D-6E8A-4147-A177-3AD203B41FA5}">
                      <a16:colId xmlns:a16="http://schemas.microsoft.com/office/drawing/2014/main" val="20004"/>
                    </a:ext>
                  </a:extLst>
                </a:gridCol>
                <a:gridCol w="309675">
                  <a:extLst>
                    <a:ext uri="{9D8B030D-6E8A-4147-A177-3AD203B41FA5}">
                      <a16:colId xmlns:a16="http://schemas.microsoft.com/office/drawing/2014/main" val="20005"/>
                    </a:ext>
                  </a:extLst>
                </a:gridCol>
                <a:gridCol w="309674">
                  <a:extLst>
                    <a:ext uri="{9D8B030D-6E8A-4147-A177-3AD203B41FA5}">
                      <a16:colId xmlns:a16="http://schemas.microsoft.com/office/drawing/2014/main" val="20006"/>
                    </a:ext>
                  </a:extLst>
                </a:gridCol>
                <a:gridCol w="308411">
                  <a:extLst>
                    <a:ext uri="{9D8B030D-6E8A-4147-A177-3AD203B41FA5}">
                      <a16:colId xmlns:a16="http://schemas.microsoft.com/office/drawing/2014/main" val="20007"/>
                    </a:ext>
                  </a:extLst>
                </a:gridCol>
                <a:gridCol w="309675">
                  <a:extLst>
                    <a:ext uri="{9D8B030D-6E8A-4147-A177-3AD203B41FA5}">
                      <a16:colId xmlns:a16="http://schemas.microsoft.com/office/drawing/2014/main" val="20008"/>
                    </a:ext>
                  </a:extLst>
                </a:gridCol>
                <a:gridCol w="309674">
                  <a:extLst>
                    <a:ext uri="{9D8B030D-6E8A-4147-A177-3AD203B41FA5}">
                      <a16:colId xmlns:a16="http://schemas.microsoft.com/office/drawing/2014/main" val="20009"/>
                    </a:ext>
                  </a:extLst>
                </a:gridCol>
              </a:tblGrid>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2" name="Rectangle 252"/>
          <p:cNvSpPr>
            <a:spLocks noChangeArrowheads="1"/>
          </p:cNvSpPr>
          <p:nvPr>
            <p:custDataLst>
              <p:tags r:id="rId3"/>
            </p:custDataLst>
          </p:nvPr>
        </p:nvSpPr>
        <p:spPr bwMode="auto">
          <a:xfrm>
            <a:off x="8077203" y="3990878"/>
            <a:ext cx="303355" cy="265436"/>
          </a:xfrm>
          <a:prstGeom prst="rect">
            <a:avLst/>
          </a:prstGeom>
          <a:noFill/>
          <a:ln w="38100">
            <a:solidFill>
              <a:srgbClr val="FF0000"/>
            </a:solidFill>
            <a:miter lim="800000"/>
            <a:headEnd/>
            <a:tailEnd/>
          </a:ln>
          <a:effectLst/>
        </p:spPr>
        <p:txBody>
          <a:bodyPr wrap="none" anchor="ctr"/>
          <a:lstStyle/>
          <a:p>
            <a:endParaRPr lang="en-US"/>
          </a:p>
        </p:txBody>
      </p:sp>
      <p:sp>
        <p:nvSpPr>
          <p:cNvPr id="23" name="Rectangle 251"/>
          <p:cNvSpPr>
            <a:spLocks noChangeArrowheads="1"/>
          </p:cNvSpPr>
          <p:nvPr>
            <p:custDataLst>
              <p:tags r:id="rId4"/>
            </p:custDataLst>
          </p:nvPr>
        </p:nvSpPr>
        <p:spPr bwMode="auto">
          <a:xfrm>
            <a:off x="3962398" y="3748118"/>
            <a:ext cx="957942" cy="823882"/>
          </a:xfrm>
          <a:prstGeom prst="rect">
            <a:avLst/>
          </a:prstGeom>
          <a:noFill/>
          <a:ln w="38100">
            <a:solidFill>
              <a:srgbClr val="FF0000"/>
            </a:solidFill>
            <a:miter lim="800000"/>
            <a:headEnd/>
            <a:tailEnd/>
          </a:ln>
          <a:effectLst/>
        </p:spPr>
        <p:txBody>
          <a:bodyPr wrap="none" anchor="ctr"/>
          <a:lstStyle/>
          <a:p>
            <a:endParaRPr lang="en-US"/>
          </a:p>
        </p:txBody>
      </p:sp>
      <p:pic>
        <p:nvPicPr>
          <p:cNvPr id="14" name="Picture 1"/>
          <p:cNvPicPr>
            <a:picLocks noChangeAspect="1" noChangeArrowheads="1"/>
          </p:cNvPicPr>
          <p:nvPr/>
        </p:nvPicPr>
        <p:blipFill>
          <a:blip r:embed="rId7" cstate="print"/>
          <a:srcRect/>
          <a:stretch>
            <a:fillRect/>
          </a:stretch>
        </p:blipFill>
        <p:spPr bwMode="auto">
          <a:xfrm>
            <a:off x="8763003" y="4887687"/>
            <a:ext cx="462643" cy="456127"/>
          </a:xfrm>
          <a:prstGeom prst="rect">
            <a:avLst/>
          </a:prstGeom>
          <a:noFill/>
          <a:ln w="9525">
            <a:noFill/>
            <a:miter lim="800000"/>
            <a:headEnd/>
            <a:tailEnd/>
          </a:ln>
        </p:spPr>
      </p:pic>
      <p:pic>
        <p:nvPicPr>
          <p:cNvPr id="15" name="Picture 2"/>
          <p:cNvPicPr>
            <a:picLocks noChangeAspect="1" noChangeArrowheads="1"/>
          </p:cNvPicPr>
          <p:nvPr/>
        </p:nvPicPr>
        <p:blipFill>
          <a:blip r:embed="rId8" cstate="print"/>
          <a:srcRect/>
          <a:stretch>
            <a:fillRect/>
          </a:stretch>
        </p:blipFill>
        <p:spPr bwMode="auto">
          <a:xfrm>
            <a:off x="2155411" y="3925527"/>
            <a:ext cx="525812" cy="456126"/>
          </a:xfrm>
          <a:prstGeom prst="rect">
            <a:avLst/>
          </a:prstGeom>
          <a:noFill/>
          <a:ln w="9525">
            <a:noFill/>
            <a:miter lim="800000"/>
            <a:headEnd/>
            <a:tailEnd/>
          </a:ln>
        </p:spPr>
      </p:pic>
      <p:pic>
        <p:nvPicPr>
          <p:cNvPr id="18" name="Picture 3"/>
          <p:cNvPicPr>
            <a:picLocks noChangeAspect="1" noChangeArrowheads="1"/>
          </p:cNvPicPr>
          <p:nvPr/>
        </p:nvPicPr>
        <p:blipFill>
          <a:blip r:embed="rId9" cstate="print"/>
          <a:srcRect/>
          <a:stretch>
            <a:fillRect/>
          </a:stretch>
        </p:blipFill>
        <p:spPr bwMode="auto">
          <a:xfrm>
            <a:off x="4953001" y="4953000"/>
            <a:ext cx="456127" cy="385460"/>
          </a:xfrm>
          <a:prstGeom prst="rect">
            <a:avLst/>
          </a:prstGeom>
          <a:noFill/>
          <a:ln w="9525">
            <a:noFill/>
            <a:miter lim="800000"/>
            <a:headEnd/>
            <a:tailEnd/>
          </a:ln>
        </p:spPr>
      </p:pic>
      <p:grpSp>
        <p:nvGrpSpPr>
          <p:cNvPr id="34" name="Group 33"/>
          <p:cNvGrpSpPr/>
          <p:nvPr/>
        </p:nvGrpSpPr>
        <p:grpSpPr>
          <a:xfrm>
            <a:off x="1556658" y="2971800"/>
            <a:ext cx="1382482" cy="838200"/>
            <a:chOff x="32658" y="2971800"/>
            <a:chExt cx="1382482" cy="838200"/>
          </a:xfrm>
        </p:grpSpPr>
        <p:sp>
          <p:nvSpPr>
            <p:cNvPr id="19" name="Rectangle 18"/>
            <p:cNvSpPr/>
            <p:nvPr/>
          </p:nvSpPr>
          <p:spPr>
            <a:xfrm>
              <a:off x="522514"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522514" y="332014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33400" y="3592288"/>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838200" y="3603170"/>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838200" y="3309258"/>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849086"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1175658"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1186540" y="3320142"/>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1175656" y="3603170"/>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2658" y="2971800"/>
              <a:ext cx="381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Box 10">
            <a:extLst>
              <a:ext uri="{FF2B5EF4-FFF2-40B4-BE49-F238E27FC236}">
                <a16:creationId xmlns:a16="http://schemas.microsoft.com/office/drawing/2014/main" id="{DD2AA80D-AED6-4891-1FD2-B7A2E5856B3C}"/>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4" name="Slide Number Placeholder 3">
            <a:extLst>
              <a:ext uri="{FF2B5EF4-FFF2-40B4-BE49-F238E27FC236}">
                <a16:creationId xmlns:a16="http://schemas.microsoft.com/office/drawing/2014/main" id="{B800DCC6-5743-B56A-6A1D-B2D0BBE6560F}"/>
              </a:ext>
            </a:extLst>
          </p:cNvPr>
          <p:cNvSpPr>
            <a:spLocks noGrp="1"/>
          </p:cNvSpPr>
          <p:nvPr>
            <p:ph type="sldNum" sz="quarter" idx="12"/>
          </p:nvPr>
        </p:nvSpPr>
        <p:spPr/>
        <p:txBody>
          <a:bodyPr/>
          <a:lstStyle/>
          <a:p>
            <a:fld id="{C68DACDF-E1A9-A04C-A5FF-FC2443684BF5}" type="slidenum">
              <a:rPr lang="en-US" smtClean="0"/>
              <a:pPr/>
              <a:t>7</a:t>
            </a:fld>
            <a:endParaRPr lang="en-US" dirty="0"/>
          </a:p>
        </p:txBody>
      </p:sp>
    </p:spTree>
    <p:extLst>
      <p:ext uri="{BB962C8B-B14F-4D97-AF65-F5344CB8AC3E}">
        <p14:creationId xmlns:p14="http://schemas.microsoft.com/office/powerpoint/2010/main" val="3641558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2"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30 PM.png"/>
          <p:cNvPicPr>
            <a:picLocks noChangeAspect="1"/>
          </p:cNvPicPr>
          <p:nvPr/>
        </p:nvPicPr>
        <p:blipFill rotWithShape="1">
          <a:blip r:embed="rId2" cstate="print">
            <a:extLst>
              <a:ext uri="{28A0092B-C50C-407E-A947-70E740481C1C}">
                <a14:useLocalDpi xmlns:a14="http://schemas.microsoft.com/office/drawing/2010/main" val="0"/>
              </a:ext>
            </a:extLst>
          </a:blip>
          <a:srcRect l="13565" t="26016" r="13767" b="21695"/>
          <a:stretch/>
        </p:blipFill>
        <p:spPr>
          <a:xfrm>
            <a:off x="2764367" y="1772188"/>
            <a:ext cx="6644813" cy="3561812"/>
          </a:xfrm>
          <a:prstGeom prst="rect">
            <a:avLst/>
          </a:prstGeom>
        </p:spPr>
      </p:pic>
      <p:sp>
        <p:nvSpPr>
          <p:cNvPr id="3" name="Title 1"/>
          <p:cNvSpPr>
            <a:spLocks noGrp="1"/>
          </p:cNvSpPr>
          <p:nvPr>
            <p:ph type="title"/>
          </p:nvPr>
        </p:nvSpPr>
        <p:spPr>
          <a:xfrm>
            <a:off x="1981200" y="274638"/>
            <a:ext cx="8229600" cy="1143000"/>
          </a:xfrm>
        </p:spPr>
        <p:txBody>
          <a:bodyPr>
            <a:normAutofit/>
          </a:bodyPr>
          <a:lstStyle/>
          <a:p>
            <a:r>
              <a:rPr lang="en-US" dirty="0"/>
              <a:t>Mean filtering/Moving average</a:t>
            </a:r>
          </a:p>
        </p:txBody>
      </p:sp>
      <p:sp>
        <p:nvSpPr>
          <p:cNvPr id="4" name="Text Box 10">
            <a:extLst>
              <a:ext uri="{FF2B5EF4-FFF2-40B4-BE49-F238E27FC236}">
                <a16:creationId xmlns:a16="http://schemas.microsoft.com/office/drawing/2014/main" id="{9F039240-D00E-4470-D148-8621CF5F3A46}"/>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5" name="Slide Number Placeholder 4">
            <a:extLst>
              <a:ext uri="{FF2B5EF4-FFF2-40B4-BE49-F238E27FC236}">
                <a16:creationId xmlns:a16="http://schemas.microsoft.com/office/drawing/2014/main" id="{CBE8680B-EB9C-86E7-426C-53BE1A1F933B}"/>
              </a:ext>
            </a:extLst>
          </p:cNvPr>
          <p:cNvSpPr>
            <a:spLocks noGrp="1"/>
          </p:cNvSpPr>
          <p:nvPr>
            <p:ph type="sldNum" sz="quarter" idx="12"/>
          </p:nvPr>
        </p:nvSpPr>
        <p:spPr/>
        <p:txBody>
          <a:bodyPr/>
          <a:lstStyle/>
          <a:p>
            <a:fld id="{C68DACDF-E1A9-A04C-A5FF-FC2443684BF5}" type="slidenum">
              <a:rPr lang="en-US" smtClean="0"/>
              <a:pPr/>
              <a:t>8</a:t>
            </a:fld>
            <a:endParaRPr lang="en-US" dirty="0"/>
          </a:p>
        </p:txBody>
      </p:sp>
    </p:spTree>
    <p:extLst>
      <p:ext uri="{BB962C8B-B14F-4D97-AF65-F5344CB8AC3E}">
        <p14:creationId xmlns:p14="http://schemas.microsoft.com/office/powerpoint/2010/main" val="582126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37 PM.png"/>
          <p:cNvPicPr>
            <a:picLocks noChangeAspect="1"/>
          </p:cNvPicPr>
          <p:nvPr/>
        </p:nvPicPr>
        <p:blipFill rotWithShape="1">
          <a:blip r:embed="rId2" cstate="print">
            <a:extLst>
              <a:ext uri="{28A0092B-C50C-407E-A947-70E740481C1C}">
                <a14:useLocalDpi xmlns:a14="http://schemas.microsoft.com/office/drawing/2010/main" val="0"/>
              </a:ext>
            </a:extLst>
          </a:blip>
          <a:srcRect l="16567" t="23904" r="13132" b="24414"/>
          <a:stretch/>
        </p:blipFill>
        <p:spPr>
          <a:xfrm>
            <a:off x="3044924" y="1639277"/>
            <a:ext cx="6423318" cy="3544377"/>
          </a:xfrm>
          <a:prstGeom prst="rect">
            <a:avLst/>
          </a:prstGeom>
        </p:spPr>
      </p:pic>
      <p:sp>
        <p:nvSpPr>
          <p:cNvPr id="3" name="Title 1"/>
          <p:cNvSpPr>
            <a:spLocks noGrp="1"/>
          </p:cNvSpPr>
          <p:nvPr>
            <p:ph type="title"/>
          </p:nvPr>
        </p:nvSpPr>
        <p:spPr>
          <a:xfrm>
            <a:off x="1981200" y="274638"/>
            <a:ext cx="8229600" cy="1143000"/>
          </a:xfrm>
        </p:spPr>
        <p:txBody>
          <a:bodyPr>
            <a:normAutofit/>
          </a:bodyPr>
          <a:lstStyle/>
          <a:p>
            <a:r>
              <a:rPr lang="en-US" dirty="0"/>
              <a:t>Mean filtering/Moving average</a:t>
            </a:r>
          </a:p>
        </p:txBody>
      </p:sp>
      <p:sp>
        <p:nvSpPr>
          <p:cNvPr id="4" name="Text Box 10">
            <a:extLst>
              <a:ext uri="{FF2B5EF4-FFF2-40B4-BE49-F238E27FC236}">
                <a16:creationId xmlns:a16="http://schemas.microsoft.com/office/drawing/2014/main" id="{BD8D733B-E6EE-9518-89B5-3FD5FF0ABB16}"/>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5" name="Slide Number Placeholder 4">
            <a:extLst>
              <a:ext uri="{FF2B5EF4-FFF2-40B4-BE49-F238E27FC236}">
                <a16:creationId xmlns:a16="http://schemas.microsoft.com/office/drawing/2014/main" id="{2F03D6C0-BDC0-B6E7-6607-61A3B5E37C47}"/>
              </a:ext>
            </a:extLst>
          </p:cNvPr>
          <p:cNvSpPr>
            <a:spLocks noGrp="1"/>
          </p:cNvSpPr>
          <p:nvPr>
            <p:ph type="sldNum" sz="quarter" idx="12"/>
          </p:nvPr>
        </p:nvSpPr>
        <p:spPr/>
        <p:txBody>
          <a:bodyPr/>
          <a:lstStyle/>
          <a:p>
            <a:fld id="{C68DACDF-E1A9-A04C-A5FF-FC2443684BF5}" type="slidenum">
              <a:rPr lang="en-US" smtClean="0"/>
              <a:pPr/>
              <a:t>9</a:t>
            </a:fld>
            <a:endParaRPr lang="en-US" dirty="0"/>
          </a:p>
        </p:txBody>
      </p:sp>
    </p:spTree>
    <p:extLst>
      <p:ext uri="{BB962C8B-B14F-4D97-AF65-F5344CB8AC3E}">
        <p14:creationId xmlns:p14="http://schemas.microsoft.com/office/powerpoint/2010/main" val="1175385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42 PM.png"/>
          <p:cNvPicPr>
            <a:picLocks noChangeAspect="1"/>
          </p:cNvPicPr>
          <p:nvPr/>
        </p:nvPicPr>
        <p:blipFill rotWithShape="1">
          <a:blip r:embed="rId2" cstate="print">
            <a:extLst>
              <a:ext uri="{28A0092B-C50C-407E-A947-70E740481C1C}">
                <a14:useLocalDpi xmlns:a14="http://schemas.microsoft.com/office/drawing/2010/main" val="0"/>
              </a:ext>
            </a:extLst>
          </a:blip>
          <a:srcRect l="16485" t="24549" r="13860" b="24199"/>
          <a:stretch/>
        </p:blipFill>
        <p:spPr>
          <a:xfrm>
            <a:off x="3030157" y="1683581"/>
            <a:ext cx="6364254" cy="3514841"/>
          </a:xfrm>
          <a:prstGeom prst="rect">
            <a:avLst/>
          </a:prstGeom>
        </p:spPr>
      </p:pic>
      <p:sp>
        <p:nvSpPr>
          <p:cNvPr id="3" name="Title 1"/>
          <p:cNvSpPr>
            <a:spLocks noGrp="1"/>
          </p:cNvSpPr>
          <p:nvPr>
            <p:ph type="title"/>
          </p:nvPr>
        </p:nvSpPr>
        <p:spPr>
          <a:xfrm>
            <a:off x="1981200" y="274638"/>
            <a:ext cx="8229600" cy="1143000"/>
          </a:xfrm>
        </p:spPr>
        <p:txBody>
          <a:bodyPr>
            <a:normAutofit/>
          </a:bodyPr>
          <a:lstStyle/>
          <a:p>
            <a:r>
              <a:rPr lang="en-US" dirty="0"/>
              <a:t>Mean filtering/Moving average</a:t>
            </a:r>
          </a:p>
        </p:txBody>
      </p:sp>
      <p:sp>
        <p:nvSpPr>
          <p:cNvPr id="4" name="Text Box 10">
            <a:extLst>
              <a:ext uri="{FF2B5EF4-FFF2-40B4-BE49-F238E27FC236}">
                <a16:creationId xmlns:a16="http://schemas.microsoft.com/office/drawing/2014/main" id="{9E3A74BB-483A-A303-1EC3-514B32DA5C17}"/>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5" name="Slide Number Placeholder 4">
            <a:extLst>
              <a:ext uri="{FF2B5EF4-FFF2-40B4-BE49-F238E27FC236}">
                <a16:creationId xmlns:a16="http://schemas.microsoft.com/office/drawing/2014/main" id="{34D92C40-488E-C8BA-BD76-96F2B1D7CF52}"/>
              </a:ext>
            </a:extLst>
          </p:cNvPr>
          <p:cNvSpPr>
            <a:spLocks noGrp="1"/>
          </p:cNvSpPr>
          <p:nvPr>
            <p:ph type="sldNum" sz="quarter" idx="12"/>
          </p:nvPr>
        </p:nvSpPr>
        <p:spPr/>
        <p:txBody>
          <a:bodyPr/>
          <a:lstStyle/>
          <a:p>
            <a:fld id="{C68DACDF-E1A9-A04C-A5FF-FC2443684BF5}" type="slidenum">
              <a:rPr lang="en-US" smtClean="0"/>
              <a:pPr/>
              <a:t>10</a:t>
            </a:fld>
            <a:endParaRPr lang="en-US" dirty="0"/>
          </a:p>
        </p:txBody>
      </p:sp>
    </p:spTree>
    <p:extLst>
      <p:ext uri="{BB962C8B-B14F-4D97-AF65-F5344CB8AC3E}">
        <p14:creationId xmlns:p14="http://schemas.microsoft.com/office/powerpoint/2010/main" val="292005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48 PM.png"/>
          <p:cNvPicPr>
            <a:picLocks noChangeAspect="1"/>
          </p:cNvPicPr>
          <p:nvPr/>
        </p:nvPicPr>
        <p:blipFill rotWithShape="1">
          <a:blip r:embed="rId2" cstate="print">
            <a:extLst>
              <a:ext uri="{28A0092B-C50C-407E-A947-70E740481C1C}">
                <a14:useLocalDpi xmlns:a14="http://schemas.microsoft.com/office/drawing/2010/main" val="0"/>
              </a:ext>
            </a:extLst>
          </a:blip>
          <a:srcRect l="16406" t="23257" r="13616" b="24199"/>
          <a:stretch/>
        </p:blipFill>
        <p:spPr>
          <a:xfrm>
            <a:off x="3030158" y="1594973"/>
            <a:ext cx="6393786" cy="3603449"/>
          </a:xfrm>
          <a:prstGeom prst="rect">
            <a:avLst/>
          </a:prstGeom>
        </p:spPr>
      </p:pic>
      <p:sp>
        <p:nvSpPr>
          <p:cNvPr id="3" name="Title 1"/>
          <p:cNvSpPr>
            <a:spLocks noGrp="1"/>
          </p:cNvSpPr>
          <p:nvPr>
            <p:ph type="title"/>
          </p:nvPr>
        </p:nvSpPr>
        <p:spPr>
          <a:xfrm>
            <a:off x="1981200" y="274638"/>
            <a:ext cx="8229600" cy="1143000"/>
          </a:xfrm>
        </p:spPr>
        <p:txBody>
          <a:bodyPr>
            <a:normAutofit/>
          </a:bodyPr>
          <a:lstStyle/>
          <a:p>
            <a:r>
              <a:rPr lang="en-US" dirty="0"/>
              <a:t>Mean filtering/Moving average</a:t>
            </a:r>
          </a:p>
        </p:txBody>
      </p:sp>
      <p:sp>
        <p:nvSpPr>
          <p:cNvPr id="4" name="Text Box 10">
            <a:extLst>
              <a:ext uri="{FF2B5EF4-FFF2-40B4-BE49-F238E27FC236}">
                <a16:creationId xmlns:a16="http://schemas.microsoft.com/office/drawing/2014/main" id="{E55D151C-9D7A-19C0-5659-E9BA9F6B0014}"/>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5" name="Slide Number Placeholder 4">
            <a:extLst>
              <a:ext uri="{FF2B5EF4-FFF2-40B4-BE49-F238E27FC236}">
                <a16:creationId xmlns:a16="http://schemas.microsoft.com/office/drawing/2014/main" id="{5B05861B-D823-E060-8324-0EA6EB8BE200}"/>
              </a:ext>
            </a:extLst>
          </p:cNvPr>
          <p:cNvSpPr>
            <a:spLocks noGrp="1"/>
          </p:cNvSpPr>
          <p:nvPr>
            <p:ph type="sldNum" sz="quarter" idx="12"/>
          </p:nvPr>
        </p:nvSpPr>
        <p:spPr/>
        <p:txBody>
          <a:bodyPr/>
          <a:lstStyle/>
          <a:p>
            <a:fld id="{C68DACDF-E1A9-A04C-A5FF-FC2443684BF5}" type="slidenum">
              <a:rPr lang="en-US" smtClean="0"/>
              <a:pPr/>
              <a:t>11</a:t>
            </a:fld>
            <a:endParaRPr lang="en-US" dirty="0"/>
          </a:p>
        </p:txBody>
      </p:sp>
    </p:spTree>
    <p:extLst>
      <p:ext uri="{BB962C8B-B14F-4D97-AF65-F5344CB8AC3E}">
        <p14:creationId xmlns:p14="http://schemas.microsoft.com/office/powerpoint/2010/main" val="958515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53 PM.png"/>
          <p:cNvPicPr>
            <a:picLocks noChangeAspect="1"/>
          </p:cNvPicPr>
          <p:nvPr/>
        </p:nvPicPr>
        <p:blipFill rotWithShape="1">
          <a:blip r:embed="rId2" cstate="print">
            <a:extLst>
              <a:ext uri="{28A0092B-C50C-407E-A947-70E740481C1C}">
                <a14:useLocalDpi xmlns:a14="http://schemas.microsoft.com/office/drawing/2010/main" val="0"/>
              </a:ext>
            </a:extLst>
          </a:blip>
          <a:srcRect l="14951" t="24765" r="11676" b="24415"/>
          <a:stretch/>
        </p:blipFill>
        <p:spPr>
          <a:xfrm>
            <a:off x="2897264" y="1698349"/>
            <a:ext cx="6703877" cy="3485305"/>
          </a:xfrm>
          <a:prstGeom prst="rect">
            <a:avLst/>
          </a:prstGeom>
        </p:spPr>
      </p:pic>
      <p:sp>
        <p:nvSpPr>
          <p:cNvPr id="3" name="Title 1"/>
          <p:cNvSpPr>
            <a:spLocks noGrp="1"/>
          </p:cNvSpPr>
          <p:nvPr>
            <p:ph type="title"/>
          </p:nvPr>
        </p:nvSpPr>
        <p:spPr>
          <a:xfrm>
            <a:off x="1981200" y="274638"/>
            <a:ext cx="8229600" cy="1143000"/>
          </a:xfrm>
        </p:spPr>
        <p:txBody>
          <a:bodyPr>
            <a:normAutofit/>
          </a:bodyPr>
          <a:lstStyle/>
          <a:p>
            <a:r>
              <a:rPr lang="en-US" dirty="0"/>
              <a:t>Mean filtering/Moving average</a:t>
            </a:r>
          </a:p>
        </p:txBody>
      </p:sp>
      <p:sp>
        <p:nvSpPr>
          <p:cNvPr id="4" name="Text Box 10">
            <a:extLst>
              <a:ext uri="{FF2B5EF4-FFF2-40B4-BE49-F238E27FC236}">
                <a16:creationId xmlns:a16="http://schemas.microsoft.com/office/drawing/2014/main" id="{DEB385C7-1CCC-599B-262D-517D15B6E647}"/>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5" name="Slide Number Placeholder 4">
            <a:extLst>
              <a:ext uri="{FF2B5EF4-FFF2-40B4-BE49-F238E27FC236}">
                <a16:creationId xmlns:a16="http://schemas.microsoft.com/office/drawing/2014/main" id="{121A2FD9-A854-7660-AF14-23D3BAB588A6}"/>
              </a:ext>
            </a:extLst>
          </p:cNvPr>
          <p:cNvSpPr>
            <a:spLocks noGrp="1"/>
          </p:cNvSpPr>
          <p:nvPr>
            <p:ph type="sldNum" sz="quarter" idx="12"/>
          </p:nvPr>
        </p:nvSpPr>
        <p:spPr/>
        <p:txBody>
          <a:bodyPr/>
          <a:lstStyle/>
          <a:p>
            <a:fld id="{C68DACDF-E1A9-A04C-A5FF-FC2443684BF5}" type="slidenum">
              <a:rPr lang="en-US" smtClean="0"/>
              <a:pPr/>
              <a:t>12</a:t>
            </a:fld>
            <a:endParaRPr lang="en-US" dirty="0"/>
          </a:p>
        </p:txBody>
      </p:sp>
    </p:spTree>
    <p:extLst>
      <p:ext uri="{BB962C8B-B14F-4D97-AF65-F5344CB8AC3E}">
        <p14:creationId xmlns:p14="http://schemas.microsoft.com/office/powerpoint/2010/main" val="2396464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58 PM.png"/>
          <p:cNvPicPr>
            <a:picLocks noChangeAspect="1"/>
          </p:cNvPicPr>
          <p:nvPr/>
        </p:nvPicPr>
        <p:blipFill rotWithShape="1">
          <a:blip r:embed="rId2" cstate="print">
            <a:extLst>
              <a:ext uri="{28A0092B-C50C-407E-A947-70E740481C1C}">
                <a14:useLocalDpi xmlns:a14="http://schemas.microsoft.com/office/drawing/2010/main" val="0"/>
              </a:ext>
            </a:extLst>
          </a:blip>
          <a:srcRect l="16891" t="24980" r="12000" b="23984"/>
          <a:stretch/>
        </p:blipFill>
        <p:spPr>
          <a:xfrm>
            <a:off x="3074456" y="1713115"/>
            <a:ext cx="6497150" cy="3500074"/>
          </a:xfrm>
          <a:prstGeom prst="rect">
            <a:avLst/>
          </a:prstGeom>
        </p:spPr>
      </p:pic>
      <p:sp>
        <p:nvSpPr>
          <p:cNvPr id="3" name="Title 1"/>
          <p:cNvSpPr>
            <a:spLocks noGrp="1"/>
          </p:cNvSpPr>
          <p:nvPr>
            <p:ph type="title"/>
          </p:nvPr>
        </p:nvSpPr>
        <p:spPr>
          <a:xfrm>
            <a:off x="1981200" y="274638"/>
            <a:ext cx="8229600" cy="1143000"/>
          </a:xfrm>
        </p:spPr>
        <p:txBody>
          <a:bodyPr>
            <a:normAutofit/>
          </a:bodyPr>
          <a:lstStyle/>
          <a:p>
            <a:r>
              <a:rPr lang="en-US" dirty="0"/>
              <a:t>Mean filtering/Moving average</a:t>
            </a:r>
          </a:p>
        </p:txBody>
      </p:sp>
      <p:sp>
        <p:nvSpPr>
          <p:cNvPr id="4" name="Text Box 10">
            <a:extLst>
              <a:ext uri="{FF2B5EF4-FFF2-40B4-BE49-F238E27FC236}">
                <a16:creationId xmlns:a16="http://schemas.microsoft.com/office/drawing/2014/main" id="{836CB602-BF6A-2E6B-896E-2F5DD5305F8A}"/>
              </a:ext>
            </a:extLst>
          </p:cNvPr>
          <p:cNvSpPr txBox="1">
            <a:spLocks noChangeArrowheads="1"/>
          </p:cNvSpPr>
          <p:nvPr/>
        </p:nvSpPr>
        <p:spPr bwMode="auto">
          <a:xfrm>
            <a:off x="10055564" y="5787622"/>
            <a:ext cx="2037737" cy="307777"/>
          </a:xfrm>
          <a:prstGeom prst="rect">
            <a:avLst/>
          </a:prstGeom>
          <a:noFill/>
          <a:ln w="9525">
            <a:noFill/>
            <a:miter lim="800000"/>
            <a:headEnd/>
            <a:tailEnd/>
          </a:ln>
        </p:spPr>
        <p:txBody>
          <a:bodyPr wrap="none">
            <a:spAutoFit/>
          </a:bodyPr>
          <a:lstStyle/>
          <a:p>
            <a:r>
              <a:rPr lang="en-US" sz="1400" dirty="0"/>
              <a:t>Slide credit: N. Snavely</a:t>
            </a:r>
          </a:p>
        </p:txBody>
      </p:sp>
      <p:sp>
        <p:nvSpPr>
          <p:cNvPr id="5" name="Slide Number Placeholder 4">
            <a:extLst>
              <a:ext uri="{FF2B5EF4-FFF2-40B4-BE49-F238E27FC236}">
                <a16:creationId xmlns:a16="http://schemas.microsoft.com/office/drawing/2014/main" id="{589EAA56-5AC6-6DCD-28F6-72251F6FD590}"/>
              </a:ext>
            </a:extLst>
          </p:cNvPr>
          <p:cNvSpPr>
            <a:spLocks noGrp="1"/>
          </p:cNvSpPr>
          <p:nvPr>
            <p:ph type="sldNum" sz="quarter" idx="12"/>
          </p:nvPr>
        </p:nvSpPr>
        <p:spPr/>
        <p:txBody>
          <a:bodyPr/>
          <a:lstStyle/>
          <a:p>
            <a:fld id="{C68DACDF-E1A9-A04C-A5FF-FC2443684BF5}" type="slidenum">
              <a:rPr lang="en-US" smtClean="0"/>
              <a:pPr/>
              <a:t>13</a:t>
            </a:fld>
            <a:endParaRPr lang="en-US" dirty="0"/>
          </a:p>
        </p:txBody>
      </p:sp>
    </p:spTree>
    <p:extLst>
      <p:ext uri="{BB962C8B-B14F-4D97-AF65-F5344CB8AC3E}">
        <p14:creationId xmlns:p14="http://schemas.microsoft.com/office/powerpoint/2010/main" val="1466462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Linear filters: examples</a:t>
            </a:r>
          </a:p>
        </p:txBody>
      </p:sp>
      <p:grpSp>
        <p:nvGrpSpPr>
          <p:cNvPr id="2" name="Group 3"/>
          <p:cNvGrpSpPr>
            <a:grpSpLocks/>
          </p:cNvGrpSpPr>
          <p:nvPr/>
        </p:nvGrpSpPr>
        <p:grpSpPr bwMode="auto">
          <a:xfrm>
            <a:off x="5410200" y="2971800"/>
            <a:ext cx="1225550" cy="1295400"/>
            <a:chOff x="144" y="144"/>
            <a:chExt cx="1152" cy="1136"/>
          </a:xfrm>
        </p:grpSpPr>
        <p:sp>
          <p:nvSpPr>
            <p:cNvPr id="18441"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2"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3"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4"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5"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18446"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7"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8"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9"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50"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1"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2"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3"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4"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18455"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6"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7"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sp>
        <p:nvSpPr>
          <p:cNvPr id="18437" name="Text Box 23"/>
          <p:cNvSpPr txBox="1">
            <a:spLocks noChangeArrowheads="1"/>
          </p:cNvSpPr>
          <p:nvPr/>
        </p:nvSpPr>
        <p:spPr bwMode="auto">
          <a:xfrm>
            <a:off x="2881126" y="4611022"/>
            <a:ext cx="990977" cy="369332"/>
          </a:xfrm>
          <a:prstGeom prst="rect">
            <a:avLst/>
          </a:prstGeom>
          <a:noFill/>
          <a:ln w="9525">
            <a:noFill/>
            <a:miter lim="800000"/>
            <a:headEnd/>
            <a:tailEnd/>
          </a:ln>
        </p:spPr>
        <p:txBody>
          <a:bodyPr wrap="none">
            <a:spAutoFit/>
          </a:bodyPr>
          <a:lstStyle/>
          <a:p>
            <a:pPr algn="ctr"/>
            <a:r>
              <a:rPr lang="en-US">
                <a:latin typeface="+mj-lt"/>
              </a:rPr>
              <a:t>Original</a:t>
            </a:r>
          </a:p>
        </p:txBody>
      </p:sp>
      <p:pic>
        <p:nvPicPr>
          <p:cNvPr id="18439" name="Picture 25"/>
          <p:cNvPicPr>
            <a:picLocks noChangeAspect="1" noChangeArrowheads="1"/>
          </p:cNvPicPr>
          <p:nvPr/>
        </p:nvPicPr>
        <p:blipFill>
          <a:blip r:embed="rId3"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18440" name="Text Box 26"/>
          <p:cNvSpPr txBox="1">
            <a:spLocks noChangeArrowheads="1"/>
          </p:cNvSpPr>
          <p:nvPr/>
        </p:nvSpPr>
        <p:spPr bwMode="auto">
          <a:xfrm>
            <a:off x="10680955" y="5802765"/>
            <a:ext cx="1345689" cy="307777"/>
          </a:xfrm>
          <a:prstGeom prst="rect">
            <a:avLst/>
          </a:prstGeom>
          <a:noFill/>
          <a:ln w="9525">
            <a:noFill/>
            <a:miter lim="800000"/>
            <a:headEnd/>
            <a:tailEnd/>
          </a:ln>
        </p:spPr>
        <p:txBody>
          <a:bodyPr wrap="none">
            <a:spAutoFit/>
          </a:bodyPr>
          <a:lstStyle/>
          <a:p>
            <a:r>
              <a:rPr lang="en-US" sz="1400" dirty="0"/>
              <a:t>Source: D. Lowe</a:t>
            </a:r>
          </a:p>
        </p:txBody>
      </p:sp>
      <p:sp>
        <p:nvSpPr>
          <p:cNvPr id="26" name="TextBox 25"/>
          <p:cNvSpPr txBox="1"/>
          <p:nvPr/>
        </p:nvSpPr>
        <p:spPr>
          <a:xfrm>
            <a:off x="4539345"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3" name="Slide Number Placeholder 2">
            <a:extLst>
              <a:ext uri="{FF2B5EF4-FFF2-40B4-BE49-F238E27FC236}">
                <a16:creationId xmlns:a16="http://schemas.microsoft.com/office/drawing/2014/main" id="{0E6338D7-DF88-2DAC-8EDB-A9EE9A9B5A80}"/>
              </a:ext>
            </a:extLst>
          </p:cNvPr>
          <p:cNvSpPr>
            <a:spLocks noGrp="1"/>
          </p:cNvSpPr>
          <p:nvPr>
            <p:ph type="sldNum" sz="quarter" idx="12"/>
          </p:nvPr>
        </p:nvSpPr>
        <p:spPr/>
        <p:txBody>
          <a:bodyPr/>
          <a:lstStyle/>
          <a:p>
            <a:fld id="{C68DACDF-E1A9-A04C-A5FF-FC2443684BF5}" type="slidenum">
              <a:rPr lang="en-US" smtClean="0"/>
              <a:pPr/>
              <a:t>14</a:t>
            </a:fld>
            <a:endParaRPr lang="en-US" dirty="0"/>
          </a:p>
        </p:txBody>
      </p:sp>
    </p:spTree>
    <p:extLst>
      <p:ext uri="{BB962C8B-B14F-4D97-AF65-F5344CB8AC3E}">
        <p14:creationId xmlns:p14="http://schemas.microsoft.com/office/powerpoint/2010/main" val="1364414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Linear filters: examples</a:t>
            </a:r>
          </a:p>
        </p:txBody>
      </p:sp>
      <p:grpSp>
        <p:nvGrpSpPr>
          <p:cNvPr id="2" name="Group 3"/>
          <p:cNvGrpSpPr>
            <a:grpSpLocks/>
          </p:cNvGrpSpPr>
          <p:nvPr/>
        </p:nvGrpSpPr>
        <p:grpSpPr bwMode="auto">
          <a:xfrm>
            <a:off x="5410200" y="2971800"/>
            <a:ext cx="1225550" cy="1295400"/>
            <a:chOff x="144" y="144"/>
            <a:chExt cx="1152" cy="1136"/>
          </a:xfrm>
        </p:grpSpPr>
        <p:sp>
          <p:nvSpPr>
            <p:cNvPr id="18441"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2"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3"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4"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5"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18446"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7"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8"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9"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50"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1"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2"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3"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4"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18455"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6"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7"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18436" name="Picture 22"/>
          <p:cNvPicPr>
            <a:picLocks noChangeAspect="1" noChangeArrowheads="1"/>
          </p:cNvPicPr>
          <p:nvPr/>
        </p:nvPicPr>
        <p:blipFill>
          <a:blip r:embed="rId3" cstate="print"/>
          <a:srcRect/>
          <a:stretch>
            <a:fillRect/>
          </a:stretch>
        </p:blipFill>
        <p:spPr bwMode="auto">
          <a:xfrm>
            <a:off x="7772403" y="2667003"/>
            <a:ext cx="1876425" cy="1857375"/>
          </a:xfrm>
          <a:prstGeom prst="rect">
            <a:avLst/>
          </a:prstGeom>
          <a:noFill/>
          <a:ln w="38100">
            <a:solidFill>
              <a:schemeClr val="tx1"/>
            </a:solidFill>
            <a:miter lim="800000"/>
            <a:headEnd/>
            <a:tailEnd/>
          </a:ln>
        </p:spPr>
      </p:pic>
      <p:sp>
        <p:nvSpPr>
          <p:cNvPr id="18437" name="Text Box 23"/>
          <p:cNvSpPr txBox="1">
            <a:spLocks noChangeArrowheads="1"/>
          </p:cNvSpPr>
          <p:nvPr/>
        </p:nvSpPr>
        <p:spPr bwMode="auto">
          <a:xfrm>
            <a:off x="2881126" y="4611022"/>
            <a:ext cx="990977" cy="369332"/>
          </a:xfrm>
          <a:prstGeom prst="rect">
            <a:avLst/>
          </a:prstGeom>
          <a:noFill/>
          <a:ln w="9525">
            <a:noFill/>
            <a:miter lim="800000"/>
            <a:headEnd/>
            <a:tailEnd/>
          </a:ln>
        </p:spPr>
        <p:txBody>
          <a:bodyPr wrap="none">
            <a:spAutoFit/>
          </a:bodyPr>
          <a:lstStyle/>
          <a:p>
            <a:pPr algn="ctr"/>
            <a:r>
              <a:rPr lang="en-US">
                <a:latin typeface="+mj-lt"/>
              </a:rPr>
              <a:t>Original</a:t>
            </a:r>
          </a:p>
        </p:txBody>
      </p:sp>
      <p:sp>
        <p:nvSpPr>
          <p:cNvPr id="18438" name="Text Box 24"/>
          <p:cNvSpPr txBox="1">
            <a:spLocks noChangeArrowheads="1"/>
          </p:cNvSpPr>
          <p:nvPr/>
        </p:nvSpPr>
        <p:spPr bwMode="auto">
          <a:xfrm>
            <a:off x="7643815" y="4648200"/>
            <a:ext cx="2133600" cy="369332"/>
          </a:xfrm>
          <a:prstGeom prst="rect">
            <a:avLst/>
          </a:prstGeom>
          <a:noFill/>
          <a:ln w="9525">
            <a:noFill/>
            <a:miter lim="800000"/>
            <a:headEnd/>
            <a:tailEnd/>
          </a:ln>
        </p:spPr>
        <p:txBody>
          <a:bodyPr>
            <a:spAutoFit/>
          </a:bodyPr>
          <a:lstStyle/>
          <a:p>
            <a:pPr algn="ctr"/>
            <a:r>
              <a:rPr lang="en-US" dirty="0">
                <a:latin typeface="+mj-lt"/>
              </a:rPr>
              <a:t>Identical image</a:t>
            </a:r>
          </a:p>
        </p:txBody>
      </p:sp>
      <p:pic>
        <p:nvPicPr>
          <p:cNvPr id="18439" name="Picture 25"/>
          <p:cNvPicPr>
            <a:picLocks noChangeAspect="1" noChangeArrowheads="1"/>
          </p:cNvPicPr>
          <p:nvPr/>
        </p:nvPicPr>
        <p:blipFill>
          <a:blip r:embed="rId3"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26" name="TextBox 25"/>
          <p:cNvSpPr txBox="1"/>
          <p:nvPr/>
        </p:nvSpPr>
        <p:spPr>
          <a:xfrm>
            <a:off x="4539345"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7" name="TextBox 26"/>
          <p:cNvSpPr txBox="1"/>
          <p:nvPr/>
        </p:nvSpPr>
        <p:spPr>
          <a:xfrm>
            <a:off x="6934200" y="2971803"/>
            <a:ext cx="567784" cy="1015663"/>
          </a:xfrm>
          <a:prstGeom prst="rect">
            <a:avLst/>
          </a:prstGeom>
          <a:noFill/>
        </p:spPr>
        <p:txBody>
          <a:bodyPr wrap="none" rtlCol="0">
            <a:spAutoFit/>
          </a:bodyPr>
          <a:lstStyle/>
          <a:p>
            <a:r>
              <a:rPr lang="en-US" sz="6000" dirty="0">
                <a:cs typeface="Times New Roman" pitchFamily="18" charset="0"/>
              </a:rPr>
              <a:t>=</a:t>
            </a:r>
          </a:p>
        </p:txBody>
      </p:sp>
      <p:sp>
        <p:nvSpPr>
          <p:cNvPr id="3" name="Slide Number Placeholder 2">
            <a:extLst>
              <a:ext uri="{FF2B5EF4-FFF2-40B4-BE49-F238E27FC236}">
                <a16:creationId xmlns:a16="http://schemas.microsoft.com/office/drawing/2014/main" id="{423541D7-74B4-24EA-3804-8DE7B80AFCDB}"/>
              </a:ext>
            </a:extLst>
          </p:cNvPr>
          <p:cNvSpPr>
            <a:spLocks noGrp="1"/>
          </p:cNvSpPr>
          <p:nvPr>
            <p:ph type="sldNum" sz="quarter" idx="12"/>
          </p:nvPr>
        </p:nvSpPr>
        <p:spPr/>
        <p:txBody>
          <a:bodyPr/>
          <a:lstStyle/>
          <a:p>
            <a:fld id="{C68DACDF-E1A9-A04C-A5FF-FC2443684BF5}" type="slidenum">
              <a:rPr lang="en-US" smtClean="0"/>
              <a:pPr/>
              <a:t>15</a:t>
            </a:fld>
            <a:endParaRPr lang="en-US" dirty="0"/>
          </a:p>
        </p:txBody>
      </p:sp>
      <p:sp>
        <p:nvSpPr>
          <p:cNvPr id="4" name="Text Box 26">
            <a:extLst>
              <a:ext uri="{FF2B5EF4-FFF2-40B4-BE49-F238E27FC236}">
                <a16:creationId xmlns:a16="http://schemas.microsoft.com/office/drawing/2014/main" id="{C0D3E4B4-5B54-A634-C53C-4248AE389AA1}"/>
              </a:ext>
            </a:extLst>
          </p:cNvPr>
          <p:cNvSpPr txBox="1">
            <a:spLocks noChangeArrowheads="1"/>
          </p:cNvSpPr>
          <p:nvPr/>
        </p:nvSpPr>
        <p:spPr bwMode="auto">
          <a:xfrm>
            <a:off x="10680955" y="5802765"/>
            <a:ext cx="1345689" cy="307777"/>
          </a:xfrm>
          <a:prstGeom prst="rect">
            <a:avLst/>
          </a:prstGeom>
          <a:noFill/>
          <a:ln w="9525">
            <a:noFill/>
            <a:miter lim="800000"/>
            <a:headEnd/>
            <a:tailEnd/>
          </a:ln>
        </p:spPr>
        <p:txBody>
          <a:bodyPr wrap="none">
            <a:spAutoFit/>
          </a:bodyPr>
          <a:lstStyle/>
          <a:p>
            <a:r>
              <a:rPr lang="en-US" sz="1400" dirty="0"/>
              <a:t>Source: D. Lowe</a:t>
            </a:r>
          </a:p>
        </p:txBody>
      </p:sp>
    </p:spTree>
    <p:extLst>
      <p:ext uri="{BB962C8B-B14F-4D97-AF65-F5344CB8AC3E}">
        <p14:creationId xmlns:p14="http://schemas.microsoft.com/office/powerpoint/2010/main" val="2132481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Linear filters: examples</a:t>
            </a:r>
          </a:p>
        </p:txBody>
      </p:sp>
      <p:grpSp>
        <p:nvGrpSpPr>
          <p:cNvPr id="2" name="Group 3"/>
          <p:cNvGrpSpPr>
            <a:grpSpLocks/>
          </p:cNvGrpSpPr>
          <p:nvPr/>
        </p:nvGrpSpPr>
        <p:grpSpPr bwMode="auto">
          <a:xfrm>
            <a:off x="5410200" y="2971800"/>
            <a:ext cx="1225550" cy="1295400"/>
            <a:chOff x="144" y="144"/>
            <a:chExt cx="1152" cy="1136"/>
          </a:xfrm>
        </p:grpSpPr>
        <p:sp>
          <p:nvSpPr>
            <p:cNvPr id="20490"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1"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2"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3"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0</a:t>
              </a:r>
            </a:p>
          </p:txBody>
        </p:sp>
        <p:sp>
          <p:nvSpPr>
            <p:cNvPr id="20494"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5"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1</a:t>
              </a:r>
            </a:p>
          </p:txBody>
        </p:sp>
        <p:sp>
          <p:nvSpPr>
            <p:cNvPr id="20496"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7"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8"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9"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0"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1"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2"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3"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0504"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5"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6"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0484" name="Picture 21"/>
          <p:cNvPicPr>
            <a:picLocks noChangeAspect="1" noChangeArrowheads="1"/>
          </p:cNvPicPr>
          <p:nvPr/>
        </p:nvPicPr>
        <p:blipFill>
          <a:blip r:embed="rId3"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20485" name="Text Box 22"/>
          <p:cNvSpPr txBox="1">
            <a:spLocks noChangeArrowheads="1"/>
          </p:cNvSpPr>
          <p:nvPr/>
        </p:nvSpPr>
        <p:spPr bwMode="auto">
          <a:xfrm>
            <a:off x="2881126" y="4572000"/>
            <a:ext cx="990977" cy="369332"/>
          </a:xfrm>
          <a:prstGeom prst="rect">
            <a:avLst/>
          </a:prstGeom>
          <a:noFill/>
          <a:ln w="9525">
            <a:noFill/>
            <a:miter lim="800000"/>
            <a:headEnd/>
            <a:tailEnd/>
          </a:ln>
        </p:spPr>
        <p:txBody>
          <a:bodyPr wrap="none">
            <a:spAutoFit/>
          </a:bodyPr>
          <a:lstStyle/>
          <a:p>
            <a:pPr algn="ctr"/>
            <a:r>
              <a:rPr lang="en-US" dirty="0">
                <a:latin typeface="+mj-lt"/>
              </a:rPr>
              <a:t>Original</a:t>
            </a:r>
          </a:p>
        </p:txBody>
      </p:sp>
      <p:sp>
        <p:nvSpPr>
          <p:cNvPr id="27" name="TextBox 26"/>
          <p:cNvSpPr txBox="1"/>
          <p:nvPr/>
        </p:nvSpPr>
        <p:spPr>
          <a:xfrm>
            <a:off x="4539345"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3" name="Slide Number Placeholder 2">
            <a:extLst>
              <a:ext uri="{FF2B5EF4-FFF2-40B4-BE49-F238E27FC236}">
                <a16:creationId xmlns:a16="http://schemas.microsoft.com/office/drawing/2014/main" id="{B5FC1BD0-6528-2196-ACD0-A8D632C12910}"/>
              </a:ext>
            </a:extLst>
          </p:cNvPr>
          <p:cNvSpPr>
            <a:spLocks noGrp="1"/>
          </p:cNvSpPr>
          <p:nvPr>
            <p:ph type="sldNum" sz="quarter" idx="12"/>
          </p:nvPr>
        </p:nvSpPr>
        <p:spPr/>
        <p:txBody>
          <a:bodyPr/>
          <a:lstStyle/>
          <a:p>
            <a:fld id="{C68DACDF-E1A9-A04C-A5FF-FC2443684BF5}" type="slidenum">
              <a:rPr lang="en-US" smtClean="0"/>
              <a:pPr/>
              <a:t>16</a:t>
            </a:fld>
            <a:endParaRPr lang="en-US" dirty="0"/>
          </a:p>
        </p:txBody>
      </p:sp>
      <p:sp>
        <p:nvSpPr>
          <p:cNvPr id="4" name="Text Box 26">
            <a:extLst>
              <a:ext uri="{FF2B5EF4-FFF2-40B4-BE49-F238E27FC236}">
                <a16:creationId xmlns:a16="http://schemas.microsoft.com/office/drawing/2014/main" id="{6DC9C0B8-E603-77B8-FF63-FBDFA66D2D11}"/>
              </a:ext>
            </a:extLst>
          </p:cNvPr>
          <p:cNvSpPr txBox="1">
            <a:spLocks noChangeArrowheads="1"/>
          </p:cNvSpPr>
          <p:nvPr/>
        </p:nvSpPr>
        <p:spPr bwMode="auto">
          <a:xfrm>
            <a:off x="10680955" y="5802765"/>
            <a:ext cx="1345689" cy="307777"/>
          </a:xfrm>
          <a:prstGeom prst="rect">
            <a:avLst/>
          </a:prstGeom>
          <a:noFill/>
          <a:ln w="9525">
            <a:noFill/>
            <a:miter lim="800000"/>
            <a:headEnd/>
            <a:tailEnd/>
          </a:ln>
        </p:spPr>
        <p:txBody>
          <a:bodyPr wrap="none">
            <a:spAutoFit/>
          </a:bodyPr>
          <a:lstStyle/>
          <a:p>
            <a:r>
              <a:rPr lang="en-US" sz="1400" dirty="0"/>
              <a:t>Source: D. Lowe</a:t>
            </a:r>
          </a:p>
        </p:txBody>
      </p:sp>
    </p:spTree>
    <p:extLst>
      <p:ext uri="{BB962C8B-B14F-4D97-AF65-F5344CB8AC3E}">
        <p14:creationId xmlns:p14="http://schemas.microsoft.com/office/powerpoint/2010/main" val="34770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Linear filters: examples</a:t>
            </a:r>
          </a:p>
        </p:txBody>
      </p:sp>
      <p:grpSp>
        <p:nvGrpSpPr>
          <p:cNvPr id="2" name="Group 3"/>
          <p:cNvGrpSpPr>
            <a:grpSpLocks/>
          </p:cNvGrpSpPr>
          <p:nvPr/>
        </p:nvGrpSpPr>
        <p:grpSpPr bwMode="auto">
          <a:xfrm>
            <a:off x="5410200" y="2971800"/>
            <a:ext cx="1225550" cy="1295400"/>
            <a:chOff x="144" y="144"/>
            <a:chExt cx="1152" cy="1136"/>
          </a:xfrm>
        </p:grpSpPr>
        <p:sp>
          <p:nvSpPr>
            <p:cNvPr id="20490"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1"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2"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3"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0</a:t>
              </a:r>
            </a:p>
          </p:txBody>
        </p:sp>
        <p:sp>
          <p:nvSpPr>
            <p:cNvPr id="20494"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5"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1</a:t>
              </a:r>
            </a:p>
          </p:txBody>
        </p:sp>
        <p:sp>
          <p:nvSpPr>
            <p:cNvPr id="20496"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7"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8"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9"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0"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1"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2"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3"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0504"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5"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6"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0484" name="Picture 21"/>
          <p:cNvPicPr>
            <a:picLocks noChangeAspect="1" noChangeArrowheads="1"/>
          </p:cNvPicPr>
          <p:nvPr/>
        </p:nvPicPr>
        <p:blipFill>
          <a:blip r:embed="rId3"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20485" name="Text Box 22"/>
          <p:cNvSpPr txBox="1">
            <a:spLocks noChangeArrowheads="1"/>
          </p:cNvSpPr>
          <p:nvPr/>
        </p:nvSpPr>
        <p:spPr bwMode="auto">
          <a:xfrm>
            <a:off x="2881126" y="4572000"/>
            <a:ext cx="990977" cy="369332"/>
          </a:xfrm>
          <a:prstGeom prst="rect">
            <a:avLst/>
          </a:prstGeom>
          <a:noFill/>
          <a:ln w="9525">
            <a:noFill/>
            <a:miter lim="800000"/>
            <a:headEnd/>
            <a:tailEnd/>
          </a:ln>
        </p:spPr>
        <p:txBody>
          <a:bodyPr wrap="none">
            <a:spAutoFit/>
          </a:bodyPr>
          <a:lstStyle/>
          <a:p>
            <a:pPr algn="ctr"/>
            <a:r>
              <a:rPr lang="en-US" dirty="0">
                <a:latin typeface="+mj-lt"/>
              </a:rPr>
              <a:t>Original</a:t>
            </a:r>
          </a:p>
        </p:txBody>
      </p:sp>
      <p:pic>
        <p:nvPicPr>
          <p:cNvPr id="20486" name="Picture 23"/>
          <p:cNvPicPr>
            <a:picLocks noChangeAspect="1" noChangeArrowheads="1"/>
          </p:cNvPicPr>
          <p:nvPr/>
        </p:nvPicPr>
        <p:blipFill>
          <a:blip r:embed="rId3" cstate="print"/>
          <a:srcRect l="8000"/>
          <a:stretch>
            <a:fillRect/>
          </a:stretch>
        </p:blipFill>
        <p:spPr bwMode="auto">
          <a:xfrm>
            <a:off x="8001000" y="2667003"/>
            <a:ext cx="1828800" cy="1857375"/>
          </a:xfrm>
          <a:prstGeom prst="rect">
            <a:avLst/>
          </a:prstGeom>
          <a:noFill/>
          <a:ln w="38100">
            <a:noFill/>
            <a:miter lim="800000"/>
            <a:headEnd/>
            <a:tailEnd/>
          </a:ln>
        </p:spPr>
      </p:pic>
      <p:sp>
        <p:nvSpPr>
          <p:cNvPr id="20487" name="Rectangle 24"/>
          <p:cNvSpPr>
            <a:spLocks noChangeArrowheads="1"/>
          </p:cNvSpPr>
          <p:nvPr/>
        </p:nvSpPr>
        <p:spPr bwMode="auto">
          <a:xfrm>
            <a:off x="8001000" y="2667000"/>
            <a:ext cx="1905000" cy="1828800"/>
          </a:xfrm>
          <a:prstGeom prst="rect">
            <a:avLst/>
          </a:prstGeom>
          <a:noFill/>
          <a:ln w="38100">
            <a:solidFill>
              <a:schemeClr val="tx1"/>
            </a:solidFill>
            <a:miter lim="800000"/>
            <a:headEnd/>
            <a:tailEnd/>
          </a:ln>
        </p:spPr>
        <p:txBody>
          <a:bodyPr wrap="none" anchor="ctr"/>
          <a:lstStyle/>
          <a:p>
            <a:endParaRPr lang="en-US"/>
          </a:p>
        </p:txBody>
      </p:sp>
      <p:sp>
        <p:nvSpPr>
          <p:cNvPr id="20488" name="Text Box 25"/>
          <p:cNvSpPr txBox="1">
            <a:spLocks noChangeArrowheads="1"/>
          </p:cNvSpPr>
          <p:nvPr/>
        </p:nvSpPr>
        <p:spPr bwMode="auto">
          <a:xfrm>
            <a:off x="7749888" y="4572000"/>
            <a:ext cx="2331024" cy="369332"/>
          </a:xfrm>
          <a:prstGeom prst="rect">
            <a:avLst/>
          </a:prstGeom>
          <a:noFill/>
          <a:ln w="9525">
            <a:noFill/>
            <a:miter lim="800000"/>
            <a:headEnd/>
            <a:tailEnd/>
          </a:ln>
        </p:spPr>
        <p:txBody>
          <a:bodyPr wrap="none">
            <a:spAutoFit/>
          </a:bodyPr>
          <a:lstStyle/>
          <a:p>
            <a:pPr algn="ctr"/>
            <a:r>
              <a:rPr lang="en-US" dirty="0">
                <a:latin typeface="+mj-lt"/>
              </a:rPr>
              <a:t>Shifted left by 1 pixel</a:t>
            </a:r>
          </a:p>
        </p:txBody>
      </p:sp>
      <p:sp>
        <p:nvSpPr>
          <p:cNvPr id="27" name="TextBox 26"/>
          <p:cNvSpPr txBox="1"/>
          <p:nvPr/>
        </p:nvSpPr>
        <p:spPr>
          <a:xfrm>
            <a:off x="4539345"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8" name="TextBox 27"/>
          <p:cNvSpPr txBox="1"/>
          <p:nvPr/>
        </p:nvSpPr>
        <p:spPr>
          <a:xfrm>
            <a:off x="6934200" y="2971803"/>
            <a:ext cx="567784" cy="1015663"/>
          </a:xfrm>
          <a:prstGeom prst="rect">
            <a:avLst/>
          </a:prstGeom>
          <a:noFill/>
        </p:spPr>
        <p:txBody>
          <a:bodyPr wrap="none" rtlCol="0">
            <a:spAutoFit/>
          </a:bodyPr>
          <a:lstStyle/>
          <a:p>
            <a:r>
              <a:rPr lang="en-US" sz="6000" dirty="0">
                <a:cs typeface="Times New Roman" pitchFamily="18" charset="0"/>
              </a:rPr>
              <a:t>=</a:t>
            </a:r>
          </a:p>
        </p:txBody>
      </p:sp>
      <p:sp>
        <p:nvSpPr>
          <p:cNvPr id="3" name="Slide Number Placeholder 2">
            <a:extLst>
              <a:ext uri="{FF2B5EF4-FFF2-40B4-BE49-F238E27FC236}">
                <a16:creationId xmlns:a16="http://schemas.microsoft.com/office/drawing/2014/main" id="{73F1A083-D8E5-68B9-AADA-4987863C645C}"/>
              </a:ext>
            </a:extLst>
          </p:cNvPr>
          <p:cNvSpPr>
            <a:spLocks noGrp="1"/>
          </p:cNvSpPr>
          <p:nvPr>
            <p:ph type="sldNum" sz="quarter" idx="12"/>
          </p:nvPr>
        </p:nvSpPr>
        <p:spPr/>
        <p:txBody>
          <a:bodyPr/>
          <a:lstStyle/>
          <a:p>
            <a:fld id="{C68DACDF-E1A9-A04C-A5FF-FC2443684BF5}" type="slidenum">
              <a:rPr lang="en-US" smtClean="0"/>
              <a:pPr/>
              <a:t>17</a:t>
            </a:fld>
            <a:endParaRPr lang="en-US" dirty="0"/>
          </a:p>
        </p:txBody>
      </p:sp>
      <p:sp>
        <p:nvSpPr>
          <p:cNvPr id="4" name="Text Box 26">
            <a:extLst>
              <a:ext uri="{FF2B5EF4-FFF2-40B4-BE49-F238E27FC236}">
                <a16:creationId xmlns:a16="http://schemas.microsoft.com/office/drawing/2014/main" id="{B35CAB54-7DF9-FC9F-D753-4403E3E52361}"/>
              </a:ext>
            </a:extLst>
          </p:cNvPr>
          <p:cNvSpPr txBox="1">
            <a:spLocks noChangeArrowheads="1"/>
          </p:cNvSpPr>
          <p:nvPr/>
        </p:nvSpPr>
        <p:spPr bwMode="auto">
          <a:xfrm>
            <a:off x="10680955" y="5802765"/>
            <a:ext cx="1345689" cy="307777"/>
          </a:xfrm>
          <a:prstGeom prst="rect">
            <a:avLst/>
          </a:prstGeom>
          <a:noFill/>
          <a:ln w="9525">
            <a:noFill/>
            <a:miter lim="800000"/>
            <a:headEnd/>
            <a:tailEnd/>
          </a:ln>
        </p:spPr>
        <p:txBody>
          <a:bodyPr wrap="none">
            <a:spAutoFit/>
          </a:bodyPr>
          <a:lstStyle/>
          <a:p>
            <a:r>
              <a:rPr lang="en-US" sz="1400" dirty="0"/>
              <a:t>Source: D. Lowe</a:t>
            </a:r>
          </a:p>
        </p:txBody>
      </p:sp>
    </p:spTree>
    <p:extLst>
      <p:ext uri="{BB962C8B-B14F-4D97-AF65-F5344CB8AC3E}">
        <p14:creationId xmlns:p14="http://schemas.microsoft.com/office/powerpoint/2010/main" val="469990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Linear filters: examples</a:t>
            </a:r>
          </a:p>
        </p:txBody>
      </p:sp>
      <p:pic>
        <p:nvPicPr>
          <p:cNvPr id="22531" name="Picture 3"/>
          <p:cNvPicPr>
            <a:picLocks noChangeAspect="1" noChangeArrowheads="1"/>
          </p:cNvPicPr>
          <p:nvPr/>
        </p:nvPicPr>
        <p:blipFill>
          <a:blip r:embed="rId4"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22532" name="Text Box 4"/>
          <p:cNvSpPr txBox="1">
            <a:spLocks noChangeArrowheads="1"/>
          </p:cNvSpPr>
          <p:nvPr/>
        </p:nvSpPr>
        <p:spPr bwMode="auto">
          <a:xfrm>
            <a:off x="2877168" y="4572000"/>
            <a:ext cx="990977" cy="369332"/>
          </a:xfrm>
          <a:prstGeom prst="rect">
            <a:avLst/>
          </a:prstGeom>
          <a:noFill/>
          <a:ln w="9525">
            <a:noFill/>
            <a:miter lim="800000"/>
            <a:headEnd/>
            <a:tailEnd/>
          </a:ln>
        </p:spPr>
        <p:txBody>
          <a:bodyPr wrap="none">
            <a:spAutoFit/>
          </a:bodyPr>
          <a:lstStyle/>
          <a:p>
            <a:pPr algn="ctr"/>
            <a:r>
              <a:rPr lang="en-US" dirty="0">
                <a:latin typeface="+mj-lt"/>
              </a:rPr>
              <a:t>Original</a:t>
            </a:r>
          </a:p>
        </p:txBody>
      </p:sp>
      <p:grpSp>
        <p:nvGrpSpPr>
          <p:cNvPr id="2" name="Group 5"/>
          <p:cNvGrpSpPr>
            <a:grpSpLocks/>
          </p:cNvGrpSpPr>
          <p:nvPr/>
        </p:nvGrpSpPr>
        <p:grpSpPr bwMode="auto">
          <a:xfrm>
            <a:off x="5334000" y="2917372"/>
            <a:ext cx="1676400" cy="1295400"/>
            <a:chOff x="3799" y="2064"/>
            <a:chExt cx="1433" cy="1136"/>
          </a:xfrm>
        </p:grpSpPr>
        <p:grpSp>
          <p:nvGrpSpPr>
            <p:cNvPr id="3" name="Group 6"/>
            <p:cNvGrpSpPr>
              <a:grpSpLocks/>
            </p:cNvGrpSpPr>
            <p:nvPr/>
          </p:nvGrpSpPr>
          <p:grpSpPr bwMode="auto">
            <a:xfrm>
              <a:off x="4080" y="2064"/>
              <a:ext cx="1152" cy="1136"/>
              <a:chOff x="144" y="144"/>
              <a:chExt cx="1152" cy="1136"/>
            </a:xfrm>
          </p:grpSpPr>
          <p:sp>
            <p:nvSpPr>
              <p:cNvPr id="22539" name="Rectangle 7"/>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0" name="Rectangle 8"/>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1</a:t>
                </a:r>
              </a:p>
            </p:txBody>
          </p:sp>
          <p:sp>
            <p:nvSpPr>
              <p:cNvPr id="22541" name="Rectangle 9"/>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2" name="Rectangle 10"/>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3" name="Rectangle 11"/>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4" name="Rectangle 12"/>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5" name="Rectangle 13"/>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6" name="Rectangle 14"/>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7" name="Rectangle 15"/>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8" name="Line 16"/>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2549" name="Line 17"/>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2550" name="Line 18"/>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2551" name="Line 19"/>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2552" name="Line 20"/>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2553" name="Line 21"/>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2554" name="Line 22"/>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2555" name="Line 23"/>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2538" name="Picture 24" descr="txp_fig"/>
            <p:cNvPicPr>
              <a:picLocks noChangeAspect="1" noChangeArrowheads="1"/>
            </p:cNvPicPr>
            <p:nvPr>
              <p:custDataLst>
                <p:tags r:id="rId1"/>
              </p:custDataLst>
            </p:nvPr>
          </p:nvPicPr>
          <p:blipFill>
            <a:blip r:embed="rId5" cstate="print">
              <a:clrChange>
                <a:clrFrom>
                  <a:srgbClr val="FFFFFF"/>
                </a:clrFrom>
                <a:clrTo>
                  <a:srgbClr val="FFFFFF">
                    <a:alpha val="0"/>
                  </a:srgbClr>
                </a:clrTo>
              </a:clrChange>
            </a:blip>
            <a:srcRect/>
            <a:stretch>
              <a:fillRect/>
            </a:stretch>
          </p:blipFill>
          <p:spPr bwMode="auto">
            <a:xfrm>
              <a:off x="3799" y="2352"/>
              <a:ext cx="192" cy="576"/>
            </a:xfrm>
            <a:prstGeom prst="rect">
              <a:avLst/>
            </a:prstGeom>
            <a:noFill/>
            <a:ln w="9525">
              <a:noFill/>
              <a:miter lim="800000"/>
              <a:headEnd/>
              <a:tailEnd/>
            </a:ln>
          </p:spPr>
        </p:pic>
      </p:grpSp>
      <p:pic>
        <p:nvPicPr>
          <p:cNvPr id="22534" name="Picture 25"/>
          <p:cNvPicPr>
            <a:picLocks noChangeAspect="1" noChangeArrowheads="1"/>
          </p:cNvPicPr>
          <p:nvPr/>
        </p:nvPicPr>
        <p:blipFill>
          <a:blip r:embed="rId6" cstate="print"/>
          <a:srcRect/>
          <a:stretch>
            <a:fillRect/>
          </a:stretch>
        </p:blipFill>
        <p:spPr bwMode="auto">
          <a:xfrm>
            <a:off x="8001003" y="2667000"/>
            <a:ext cx="1857375" cy="1866900"/>
          </a:xfrm>
          <a:prstGeom prst="rect">
            <a:avLst/>
          </a:prstGeom>
          <a:noFill/>
          <a:ln w="38100">
            <a:solidFill>
              <a:schemeClr val="tx1"/>
            </a:solidFill>
            <a:miter lim="800000"/>
            <a:headEnd/>
            <a:tailEnd/>
          </a:ln>
        </p:spPr>
      </p:pic>
      <p:sp>
        <p:nvSpPr>
          <p:cNvPr id="22535" name="Text Box 26"/>
          <p:cNvSpPr txBox="1">
            <a:spLocks noChangeArrowheads="1"/>
          </p:cNvSpPr>
          <p:nvPr/>
        </p:nvSpPr>
        <p:spPr bwMode="auto">
          <a:xfrm>
            <a:off x="7300068" y="4666175"/>
            <a:ext cx="3259243" cy="369332"/>
          </a:xfrm>
          <a:prstGeom prst="rect">
            <a:avLst/>
          </a:prstGeom>
          <a:noFill/>
          <a:ln w="9525">
            <a:noFill/>
            <a:miter lim="800000"/>
            <a:headEnd/>
            <a:tailEnd/>
          </a:ln>
        </p:spPr>
        <p:txBody>
          <a:bodyPr wrap="square">
            <a:spAutoFit/>
          </a:bodyPr>
          <a:lstStyle/>
          <a:p>
            <a:pPr algn="ctr"/>
            <a:r>
              <a:rPr lang="en-US" dirty="0">
                <a:latin typeface="+mj-lt"/>
              </a:rPr>
              <a:t>Blur (with a mean/box filter)</a:t>
            </a:r>
          </a:p>
        </p:txBody>
      </p:sp>
      <p:sp>
        <p:nvSpPr>
          <p:cNvPr id="28" name="TextBox 27"/>
          <p:cNvSpPr txBox="1"/>
          <p:nvPr/>
        </p:nvSpPr>
        <p:spPr>
          <a:xfrm>
            <a:off x="4495803"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9" name="TextBox 28"/>
          <p:cNvSpPr txBox="1"/>
          <p:nvPr/>
        </p:nvSpPr>
        <p:spPr>
          <a:xfrm>
            <a:off x="7204616" y="2971803"/>
            <a:ext cx="567784" cy="1015663"/>
          </a:xfrm>
          <a:prstGeom prst="rect">
            <a:avLst/>
          </a:prstGeom>
          <a:noFill/>
        </p:spPr>
        <p:txBody>
          <a:bodyPr wrap="none" rtlCol="0">
            <a:spAutoFit/>
          </a:bodyPr>
          <a:lstStyle/>
          <a:p>
            <a:r>
              <a:rPr lang="en-US" sz="6000" dirty="0">
                <a:cs typeface="Times New Roman" pitchFamily="18" charset="0"/>
              </a:rPr>
              <a:t>=</a:t>
            </a:r>
          </a:p>
        </p:txBody>
      </p:sp>
      <p:sp>
        <p:nvSpPr>
          <p:cNvPr id="4" name="Slide Number Placeholder 3">
            <a:extLst>
              <a:ext uri="{FF2B5EF4-FFF2-40B4-BE49-F238E27FC236}">
                <a16:creationId xmlns:a16="http://schemas.microsoft.com/office/drawing/2014/main" id="{EB95D034-518C-D005-AAC8-BC61BE2FA715}"/>
              </a:ext>
            </a:extLst>
          </p:cNvPr>
          <p:cNvSpPr>
            <a:spLocks noGrp="1"/>
          </p:cNvSpPr>
          <p:nvPr>
            <p:ph type="sldNum" sz="quarter" idx="12"/>
          </p:nvPr>
        </p:nvSpPr>
        <p:spPr/>
        <p:txBody>
          <a:bodyPr/>
          <a:lstStyle/>
          <a:p>
            <a:fld id="{C68DACDF-E1A9-A04C-A5FF-FC2443684BF5}" type="slidenum">
              <a:rPr lang="en-US" smtClean="0"/>
              <a:pPr/>
              <a:t>18</a:t>
            </a:fld>
            <a:endParaRPr lang="en-US" dirty="0"/>
          </a:p>
        </p:txBody>
      </p:sp>
      <p:sp>
        <p:nvSpPr>
          <p:cNvPr id="5" name="Text Box 26">
            <a:extLst>
              <a:ext uri="{FF2B5EF4-FFF2-40B4-BE49-F238E27FC236}">
                <a16:creationId xmlns:a16="http://schemas.microsoft.com/office/drawing/2014/main" id="{219D8F3D-EF31-6BA4-CC61-52A7C2E976B8}"/>
              </a:ext>
            </a:extLst>
          </p:cNvPr>
          <p:cNvSpPr txBox="1">
            <a:spLocks noChangeArrowheads="1"/>
          </p:cNvSpPr>
          <p:nvPr/>
        </p:nvSpPr>
        <p:spPr bwMode="auto">
          <a:xfrm>
            <a:off x="10680955" y="5802765"/>
            <a:ext cx="1345689" cy="307777"/>
          </a:xfrm>
          <a:prstGeom prst="rect">
            <a:avLst/>
          </a:prstGeom>
          <a:noFill/>
          <a:ln w="9525">
            <a:noFill/>
            <a:miter lim="800000"/>
            <a:headEnd/>
            <a:tailEnd/>
          </a:ln>
        </p:spPr>
        <p:txBody>
          <a:bodyPr wrap="none">
            <a:spAutoFit/>
          </a:bodyPr>
          <a:lstStyle/>
          <a:p>
            <a:r>
              <a:rPr lang="en-US" sz="1400" dirty="0"/>
              <a:t>Source: D. Lowe</a:t>
            </a:r>
          </a:p>
        </p:txBody>
      </p:sp>
    </p:spTree>
    <p:extLst>
      <p:ext uri="{BB962C8B-B14F-4D97-AF65-F5344CB8AC3E}">
        <p14:creationId xmlns:p14="http://schemas.microsoft.com/office/powerpoint/2010/main" val="12512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Linear filters: examples</a:t>
            </a:r>
          </a:p>
        </p:txBody>
      </p:sp>
      <p:pic>
        <p:nvPicPr>
          <p:cNvPr id="24579" name="Picture 3"/>
          <p:cNvPicPr>
            <a:picLocks noChangeAspect="1" noChangeArrowheads="1"/>
          </p:cNvPicPr>
          <p:nvPr/>
        </p:nvPicPr>
        <p:blipFill>
          <a:blip r:embed="rId4" cstate="print"/>
          <a:srcRect/>
          <a:stretch>
            <a:fillRect/>
          </a:stretch>
        </p:blipFill>
        <p:spPr bwMode="auto">
          <a:xfrm>
            <a:off x="1628778" y="2590803"/>
            <a:ext cx="1876425" cy="1857375"/>
          </a:xfrm>
          <a:prstGeom prst="rect">
            <a:avLst/>
          </a:prstGeom>
          <a:noFill/>
          <a:ln w="38100">
            <a:solidFill>
              <a:schemeClr val="tx1"/>
            </a:solidFill>
            <a:miter lim="800000"/>
            <a:headEnd/>
            <a:tailEnd/>
          </a:ln>
        </p:spPr>
      </p:pic>
      <p:sp>
        <p:nvSpPr>
          <p:cNvPr id="24580" name="Text Box 4"/>
          <p:cNvSpPr txBox="1">
            <a:spLocks noChangeArrowheads="1"/>
          </p:cNvSpPr>
          <p:nvPr/>
        </p:nvSpPr>
        <p:spPr bwMode="auto">
          <a:xfrm>
            <a:off x="2133600" y="4558102"/>
            <a:ext cx="990977" cy="369332"/>
          </a:xfrm>
          <a:prstGeom prst="rect">
            <a:avLst/>
          </a:prstGeom>
          <a:noFill/>
          <a:ln w="9525">
            <a:noFill/>
            <a:miter lim="800000"/>
            <a:headEnd/>
            <a:tailEnd/>
          </a:ln>
        </p:spPr>
        <p:txBody>
          <a:bodyPr wrap="none">
            <a:spAutoFit/>
          </a:bodyPr>
          <a:lstStyle/>
          <a:p>
            <a:pPr algn="ctr"/>
            <a:r>
              <a:rPr lang="en-US" dirty="0">
                <a:latin typeface="+mj-lt"/>
              </a:rPr>
              <a:t>Original</a:t>
            </a:r>
          </a:p>
        </p:txBody>
      </p:sp>
      <p:grpSp>
        <p:nvGrpSpPr>
          <p:cNvPr id="51" name="Group 50"/>
          <p:cNvGrpSpPr/>
          <p:nvPr/>
        </p:nvGrpSpPr>
        <p:grpSpPr>
          <a:xfrm>
            <a:off x="4191000" y="2667003"/>
            <a:ext cx="3795352" cy="1545773"/>
            <a:chOff x="2667000" y="2667000"/>
            <a:chExt cx="3795352" cy="1545773"/>
          </a:xfrm>
        </p:grpSpPr>
        <p:pic>
          <p:nvPicPr>
            <p:cNvPr id="44035" name="Picture 3"/>
            <p:cNvPicPr>
              <a:picLocks noChangeAspect="1" noChangeArrowheads="1"/>
            </p:cNvPicPr>
            <p:nvPr/>
          </p:nvPicPr>
          <p:blipFill>
            <a:blip r:embed="rId5" cstate="print"/>
            <a:srcRect/>
            <a:stretch>
              <a:fillRect/>
            </a:stretch>
          </p:blipFill>
          <p:spPr bwMode="auto">
            <a:xfrm>
              <a:off x="6019800" y="2721433"/>
              <a:ext cx="442552" cy="1491340"/>
            </a:xfrm>
            <a:prstGeom prst="rect">
              <a:avLst/>
            </a:prstGeom>
            <a:noFill/>
            <a:ln w="9525">
              <a:noFill/>
              <a:miter lim="800000"/>
              <a:headEnd/>
              <a:tailEnd/>
            </a:ln>
          </p:spPr>
        </p:pic>
        <p:pic>
          <p:nvPicPr>
            <p:cNvPr id="44034" name="Picture 2"/>
            <p:cNvPicPr>
              <a:picLocks noChangeAspect="1" noChangeArrowheads="1"/>
            </p:cNvPicPr>
            <p:nvPr/>
          </p:nvPicPr>
          <p:blipFill>
            <a:blip r:embed="rId6" cstate="print"/>
            <a:srcRect/>
            <a:stretch>
              <a:fillRect/>
            </a:stretch>
          </p:blipFill>
          <p:spPr bwMode="auto">
            <a:xfrm>
              <a:off x="2667000" y="2667000"/>
              <a:ext cx="410072" cy="1524000"/>
            </a:xfrm>
            <a:prstGeom prst="rect">
              <a:avLst/>
            </a:prstGeom>
            <a:noFill/>
            <a:ln w="9525">
              <a:noFill/>
              <a:miter lim="800000"/>
              <a:headEnd/>
              <a:tailEnd/>
            </a:ln>
          </p:spPr>
        </p:pic>
        <p:grpSp>
          <p:nvGrpSpPr>
            <p:cNvPr id="2" name="Group 5"/>
            <p:cNvGrpSpPr>
              <a:grpSpLocks/>
            </p:cNvGrpSpPr>
            <p:nvPr/>
          </p:nvGrpSpPr>
          <p:grpSpPr bwMode="auto">
            <a:xfrm>
              <a:off x="4724400" y="2895600"/>
              <a:ext cx="1371600" cy="1066800"/>
              <a:chOff x="3799" y="2064"/>
              <a:chExt cx="1433" cy="1136"/>
            </a:xfrm>
          </p:grpSpPr>
          <p:grpSp>
            <p:nvGrpSpPr>
              <p:cNvPr id="3" name="Group 6"/>
              <p:cNvGrpSpPr>
                <a:grpSpLocks/>
              </p:cNvGrpSpPr>
              <p:nvPr/>
            </p:nvGrpSpPr>
            <p:grpSpPr bwMode="auto">
              <a:xfrm>
                <a:off x="4080" y="2064"/>
                <a:ext cx="1152" cy="1136"/>
                <a:chOff x="144" y="144"/>
                <a:chExt cx="1152" cy="1136"/>
              </a:xfrm>
            </p:grpSpPr>
            <p:sp>
              <p:nvSpPr>
                <p:cNvPr id="24606" name="Rectangle 7"/>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7" name="Rectangle 8"/>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8" name="Rectangle 9"/>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9" name="Rectangle 10"/>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0" name="Rectangle 11"/>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1" name="Rectangle 12"/>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2" name="Rectangle 13"/>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3" name="Rectangle 14"/>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4" name="Rectangle 15"/>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5" name="Line 16"/>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16" name="Line 17"/>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617" name="Line 18"/>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618" name="Line 19"/>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19" name="Line 20"/>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4620" name="Line 21"/>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21" name="Line 22"/>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22" name="Line 23"/>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4605" name="Picture 24" descr="txp_fig"/>
              <p:cNvPicPr>
                <a:picLocks noChangeAspect="1" noChangeArrowheads="1"/>
              </p:cNvPicPr>
              <p:nvPr>
                <p:custDataLst>
                  <p:tags r:id="rId1"/>
                </p:custDataLst>
              </p:nvPr>
            </p:nvPicPr>
            <p:blipFill>
              <a:blip r:embed="rId7" cstate="print">
                <a:clrChange>
                  <a:clrFrom>
                    <a:srgbClr val="FFFFFF"/>
                  </a:clrFrom>
                  <a:clrTo>
                    <a:srgbClr val="FFFFFF">
                      <a:alpha val="0"/>
                    </a:srgbClr>
                  </a:clrTo>
                </a:clrChange>
              </a:blip>
              <a:srcRect/>
              <a:stretch>
                <a:fillRect/>
              </a:stretch>
            </p:blipFill>
            <p:spPr bwMode="auto">
              <a:xfrm>
                <a:off x="3799" y="2352"/>
                <a:ext cx="192" cy="576"/>
              </a:xfrm>
              <a:prstGeom prst="rect">
                <a:avLst/>
              </a:prstGeom>
              <a:noFill/>
              <a:ln w="9525">
                <a:noFill/>
                <a:miter lim="800000"/>
                <a:headEnd/>
                <a:tailEnd/>
              </a:ln>
            </p:spPr>
          </p:pic>
        </p:grpSp>
        <p:grpSp>
          <p:nvGrpSpPr>
            <p:cNvPr id="4" name="Group 25"/>
            <p:cNvGrpSpPr>
              <a:grpSpLocks/>
            </p:cNvGrpSpPr>
            <p:nvPr/>
          </p:nvGrpSpPr>
          <p:grpSpPr bwMode="auto">
            <a:xfrm>
              <a:off x="3048000" y="2895600"/>
              <a:ext cx="1149350" cy="1066800"/>
              <a:chOff x="144" y="144"/>
              <a:chExt cx="1152" cy="1136"/>
            </a:xfrm>
          </p:grpSpPr>
          <p:sp>
            <p:nvSpPr>
              <p:cNvPr id="24587" name="Rectangle 26"/>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88" name="Rectangle 27"/>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89" name="Rectangle 28"/>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0" name="Rectangle 29"/>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1" name="Rectangle 30"/>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2</a:t>
                </a:r>
              </a:p>
            </p:txBody>
          </p:sp>
          <p:sp>
            <p:nvSpPr>
              <p:cNvPr id="24592" name="Rectangle 31"/>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3" name="Rectangle 32"/>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4" name="Rectangle 33"/>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5" name="Rectangle 34"/>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6" name="Line 35"/>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597" name="Line 36"/>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598" name="Line 37"/>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599" name="Line 38"/>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00" name="Line 39"/>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4601" name="Line 40"/>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02" name="Line 41"/>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03" name="Line 42"/>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sp>
          <p:nvSpPr>
            <p:cNvPr id="24583" name="Text Box 43"/>
            <p:cNvSpPr txBox="1">
              <a:spLocks noChangeArrowheads="1"/>
            </p:cNvSpPr>
            <p:nvPr/>
          </p:nvSpPr>
          <p:spPr bwMode="auto">
            <a:xfrm>
              <a:off x="4267200" y="2819400"/>
              <a:ext cx="438150" cy="1006475"/>
            </a:xfrm>
            <a:prstGeom prst="rect">
              <a:avLst/>
            </a:prstGeom>
            <a:noFill/>
            <a:ln w="9525">
              <a:noFill/>
              <a:miter lim="800000"/>
              <a:headEnd/>
              <a:tailEnd/>
            </a:ln>
          </p:spPr>
          <p:txBody>
            <a:bodyPr wrap="none">
              <a:spAutoFit/>
            </a:bodyPr>
            <a:lstStyle/>
            <a:p>
              <a:r>
                <a:rPr lang="en-US" sz="6000" b="1">
                  <a:latin typeface="Times" pitchFamily="18" charset="0"/>
                </a:rPr>
                <a:t>-</a:t>
              </a:r>
            </a:p>
          </p:txBody>
        </p:sp>
      </p:grpSp>
      <p:grpSp>
        <p:nvGrpSpPr>
          <p:cNvPr id="52" name="Group 51"/>
          <p:cNvGrpSpPr/>
          <p:nvPr/>
        </p:nvGrpSpPr>
        <p:grpSpPr>
          <a:xfrm>
            <a:off x="8382000" y="2514603"/>
            <a:ext cx="2209800" cy="2274332"/>
            <a:chOff x="6858000" y="2514600"/>
            <a:chExt cx="2209800" cy="2274332"/>
          </a:xfrm>
        </p:grpSpPr>
        <p:sp>
          <p:nvSpPr>
            <p:cNvPr id="24584" name="Text Box 44"/>
            <p:cNvSpPr txBox="1">
              <a:spLocks noChangeArrowheads="1"/>
            </p:cNvSpPr>
            <p:nvPr/>
          </p:nvSpPr>
          <p:spPr bwMode="auto">
            <a:xfrm>
              <a:off x="6858000" y="4419600"/>
              <a:ext cx="2209800" cy="369332"/>
            </a:xfrm>
            <a:prstGeom prst="rect">
              <a:avLst/>
            </a:prstGeom>
            <a:noFill/>
            <a:ln w="9525">
              <a:noFill/>
              <a:miter lim="800000"/>
              <a:headEnd/>
              <a:tailEnd/>
            </a:ln>
          </p:spPr>
          <p:txBody>
            <a:bodyPr wrap="square">
              <a:spAutoFit/>
            </a:bodyPr>
            <a:lstStyle/>
            <a:p>
              <a:pPr algn="ctr"/>
              <a:r>
                <a:rPr lang="en-US" b="1" dirty="0"/>
                <a:t>Sharpening filter</a:t>
              </a:r>
            </a:p>
          </p:txBody>
        </p:sp>
        <p:pic>
          <p:nvPicPr>
            <p:cNvPr id="24585" name="Picture 45"/>
            <p:cNvPicPr>
              <a:picLocks noChangeAspect="1" noChangeArrowheads="1"/>
            </p:cNvPicPr>
            <p:nvPr/>
          </p:nvPicPr>
          <p:blipFill>
            <a:blip r:embed="rId8" cstate="print"/>
            <a:srcRect/>
            <a:stretch>
              <a:fillRect/>
            </a:stretch>
          </p:blipFill>
          <p:spPr bwMode="auto">
            <a:xfrm>
              <a:off x="7086600" y="2514600"/>
              <a:ext cx="1876425" cy="1876425"/>
            </a:xfrm>
            <a:prstGeom prst="rect">
              <a:avLst/>
            </a:prstGeom>
            <a:noFill/>
            <a:ln w="9525">
              <a:noFill/>
              <a:miter lim="800000"/>
              <a:headEnd/>
              <a:tailEnd/>
            </a:ln>
          </p:spPr>
        </p:pic>
      </p:grpSp>
      <p:sp>
        <p:nvSpPr>
          <p:cNvPr id="47" name="TextBox 46"/>
          <p:cNvSpPr txBox="1"/>
          <p:nvPr/>
        </p:nvSpPr>
        <p:spPr>
          <a:xfrm>
            <a:off x="8001000" y="2870540"/>
            <a:ext cx="567784" cy="1015663"/>
          </a:xfrm>
          <a:prstGeom prst="rect">
            <a:avLst/>
          </a:prstGeom>
          <a:noFill/>
        </p:spPr>
        <p:txBody>
          <a:bodyPr wrap="none" rtlCol="0">
            <a:spAutoFit/>
          </a:bodyPr>
          <a:lstStyle/>
          <a:p>
            <a:r>
              <a:rPr lang="en-US" sz="6000" dirty="0">
                <a:cs typeface="Times New Roman" pitchFamily="18" charset="0"/>
              </a:rPr>
              <a:t>=</a:t>
            </a:r>
          </a:p>
        </p:txBody>
      </p:sp>
      <p:sp>
        <p:nvSpPr>
          <p:cNvPr id="48" name="TextBox 47"/>
          <p:cNvSpPr txBox="1"/>
          <p:nvPr/>
        </p:nvSpPr>
        <p:spPr>
          <a:xfrm>
            <a:off x="3548745" y="2895600"/>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5" name="Slide Number Placeholder 4">
            <a:extLst>
              <a:ext uri="{FF2B5EF4-FFF2-40B4-BE49-F238E27FC236}">
                <a16:creationId xmlns:a16="http://schemas.microsoft.com/office/drawing/2014/main" id="{694C935F-B0CA-CC54-0624-5FF1E346043A}"/>
              </a:ext>
            </a:extLst>
          </p:cNvPr>
          <p:cNvSpPr>
            <a:spLocks noGrp="1"/>
          </p:cNvSpPr>
          <p:nvPr>
            <p:ph type="sldNum" sz="quarter" idx="12"/>
          </p:nvPr>
        </p:nvSpPr>
        <p:spPr/>
        <p:txBody>
          <a:bodyPr/>
          <a:lstStyle/>
          <a:p>
            <a:fld id="{C68DACDF-E1A9-A04C-A5FF-FC2443684BF5}" type="slidenum">
              <a:rPr lang="en-US" smtClean="0"/>
              <a:pPr/>
              <a:t>19</a:t>
            </a:fld>
            <a:endParaRPr lang="en-US" dirty="0"/>
          </a:p>
        </p:txBody>
      </p:sp>
      <p:sp>
        <p:nvSpPr>
          <p:cNvPr id="7" name="Text Box 26">
            <a:extLst>
              <a:ext uri="{FF2B5EF4-FFF2-40B4-BE49-F238E27FC236}">
                <a16:creationId xmlns:a16="http://schemas.microsoft.com/office/drawing/2014/main" id="{89A941EC-10A2-D72F-C7F3-6C2825221695}"/>
              </a:ext>
            </a:extLst>
          </p:cNvPr>
          <p:cNvSpPr txBox="1">
            <a:spLocks noChangeArrowheads="1"/>
          </p:cNvSpPr>
          <p:nvPr/>
        </p:nvSpPr>
        <p:spPr bwMode="auto">
          <a:xfrm>
            <a:off x="10680955" y="5802765"/>
            <a:ext cx="1345689" cy="307777"/>
          </a:xfrm>
          <a:prstGeom prst="rect">
            <a:avLst/>
          </a:prstGeom>
          <a:noFill/>
          <a:ln w="9525">
            <a:noFill/>
            <a:miter lim="800000"/>
            <a:headEnd/>
            <a:tailEnd/>
          </a:ln>
        </p:spPr>
        <p:txBody>
          <a:bodyPr wrap="none">
            <a:spAutoFit/>
          </a:bodyPr>
          <a:lstStyle/>
          <a:p>
            <a:r>
              <a:rPr lang="en-US" sz="1400" dirty="0"/>
              <a:t>Source: D. Lowe</a:t>
            </a:r>
          </a:p>
        </p:txBody>
      </p:sp>
    </p:spTree>
    <p:extLst>
      <p:ext uri="{BB962C8B-B14F-4D97-AF65-F5344CB8AC3E}">
        <p14:creationId xmlns:p14="http://schemas.microsoft.com/office/powerpoint/2010/main" val="381502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3" cstate="print"/>
          <a:srcRect t="18013"/>
          <a:stretch>
            <a:fillRect/>
          </a:stretch>
        </p:blipFill>
        <p:spPr bwMode="auto">
          <a:xfrm>
            <a:off x="2286003" y="1676400"/>
            <a:ext cx="7586663" cy="4356100"/>
          </a:xfrm>
          <a:prstGeom prst="rect">
            <a:avLst/>
          </a:prstGeom>
          <a:noFill/>
          <a:ln w="9525">
            <a:noFill/>
            <a:miter lim="800000"/>
            <a:headEnd/>
            <a:tailEnd/>
          </a:ln>
        </p:spPr>
      </p:pic>
      <p:sp>
        <p:nvSpPr>
          <p:cNvPr id="25603" name="Rectangle 3"/>
          <p:cNvSpPr>
            <a:spLocks noGrp="1" noChangeArrowheads="1"/>
          </p:cNvSpPr>
          <p:nvPr>
            <p:ph type="title"/>
          </p:nvPr>
        </p:nvSpPr>
        <p:spPr/>
        <p:txBody>
          <a:bodyPr/>
          <a:lstStyle/>
          <a:p>
            <a:r>
              <a:rPr lang="en-US"/>
              <a:t>Sharpening</a:t>
            </a:r>
          </a:p>
        </p:txBody>
      </p:sp>
      <p:sp>
        <p:nvSpPr>
          <p:cNvPr id="2" name="Slide Number Placeholder 1">
            <a:extLst>
              <a:ext uri="{FF2B5EF4-FFF2-40B4-BE49-F238E27FC236}">
                <a16:creationId xmlns:a16="http://schemas.microsoft.com/office/drawing/2014/main" id="{59E62281-AAC1-4A27-2C42-BEE9BDFA7BC4}"/>
              </a:ext>
            </a:extLst>
          </p:cNvPr>
          <p:cNvSpPr>
            <a:spLocks noGrp="1"/>
          </p:cNvSpPr>
          <p:nvPr>
            <p:ph type="sldNum" sz="quarter" idx="12"/>
          </p:nvPr>
        </p:nvSpPr>
        <p:spPr/>
        <p:txBody>
          <a:bodyPr/>
          <a:lstStyle/>
          <a:p>
            <a:fld id="{C68DACDF-E1A9-A04C-A5FF-FC2443684BF5}" type="slidenum">
              <a:rPr lang="en-US" smtClean="0"/>
              <a:pPr/>
              <a:t>20</a:t>
            </a:fld>
            <a:endParaRPr lang="en-US" dirty="0"/>
          </a:p>
        </p:txBody>
      </p:sp>
      <p:sp>
        <p:nvSpPr>
          <p:cNvPr id="3" name="Text Box 26">
            <a:extLst>
              <a:ext uri="{FF2B5EF4-FFF2-40B4-BE49-F238E27FC236}">
                <a16:creationId xmlns:a16="http://schemas.microsoft.com/office/drawing/2014/main" id="{95208245-7346-8816-A93D-7C9897882733}"/>
              </a:ext>
            </a:extLst>
          </p:cNvPr>
          <p:cNvSpPr txBox="1">
            <a:spLocks noChangeArrowheads="1"/>
          </p:cNvSpPr>
          <p:nvPr/>
        </p:nvSpPr>
        <p:spPr bwMode="auto">
          <a:xfrm>
            <a:off x="10680955" y="5802765"/>
            <a:ext cx="1345689" cy="307777"/>
          </a:xfrm>
          <a:prstGeom prst="rect">
            <a:avLst/>
          </a:prstGeom>
          <a:noFill/>
          <a:ln w="9525">
            <a:noFill/>
            <a:miter lim="800000"/>
            <a:headEnd/>
            <a:tailEnd/>
          </a:ln>
        </p:spPr>
        <p:txBody>
          <a:bodyPr wrap="none">
            <a:spAutoFit/>
          </a:bodyPr>
          <a:lstStyle/>
          <a:p>
            <a:r>
              <a:rPr lang="en-US" sz="1400" dirty="0"/>
              <a:t>Source: D. Lowe</a:t>
            </a:r>
          </a:p>
        </p:txBody>
      </p:sp>
    </p:spTree>
    <p:extLst>
      <p:ext uri="{BB962C8B-B14F-4D97-AF65-F5344CB8AC3E}">
        <p14:creationId xmlns:p14="http://schemas.microsoft.com/office/powerpoint/2010/main" val="982990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8C409-D6C6-48ED-BCDB-EBDD786ECB86}"/>
              </a:ext>
            </a:extLst>
          </p:cNvPr>
          <p:cNvSpPr>
            <a:spLocks noGrp="1"/>
          </p:cNvSpPr>
          <p:nvPr>
            <p:ph type="title"/>
          </p:nvPr>
        </p:nvSpPr>
        <p:spPr>
          <a:xfrm>
            <a:off x="838199" y="63280"/>
            <a:ext cx="10959059" cy="1325563"/>
          </a:xfrm>
        </p:spPr>
        <p:txBody>
          <a:bodyPr/>
          <a:lstStyle/>
          <a:p>
            <a:r>
              <a:rPr lang="en-US" dirty="0"/>
              <a:t>Visual Perception vs. Computational Perception</a:t>
            </a:r>
          </a:p>
        </p:txBody>
      </p:sp>
      <p:sp>
        <p:nvSpPr>
          <p:cNvPr id="6" name="Slide Number Placeholder 5">
            <a:extLst>
              <a:ext uri="{FF2B5EF4-FFF2-40B4-BE49-F238E27FC236}">
                <a16:creationId xmlns:a16="http://schemas.microsoft.com/office/drawing/2014/main" id="{E2B1CD76-49CA-460E-AD31-FAC2E926D006}"/>
              </a:ext>
            </a:extLst>
          </p:cNvPr>
          <p:cNvSpPr>
            <a:spLocks noGrp="1"/>
          </p:cNvSpPr>
          <p:nvPr>
            <p:ph type="sldNum" sz="quarter" idx="12"/>
          </p:nvPr>
        </p:nvSpPr>
        <p:spPr/>
        <p:txBody>
          <a:bodyPr/>
          <a:lstStyle/>
          <a:p>
            <a:fld id="{1B30F0CC-EBAF-4E3D-80D7-CFC82A3A738F}" type="slidenum">
              <a:rPr lang="en-US" smtClean="0"/>
              <a:pPr/>
              <a:t>21</a:t>
            </a:fld>
            <a:endParaRPr lang="en-US" dirty="0"/>
          </a:p>
        </p:txBody>
      </p:sp>
      <p:pic>
        <p:nvPicPr>
          <p:cNvPr id="7" name="Picture 6">
            <a:extLst>
              <a:ext uri="{FF2B5EF4-FFF2-40B4-BE49-F238E27FC236}">
                <a16:creationId xmlns:a16="http://schemas.microsoft.com/office/drawing/2014/main" id="{5468829E-C620-49DA-810C-226FB2FD0381}"/>
              </a:ext>
            </a:extLst>
          </p:cNvPr>
          <p:cNvPicPr>
            <a:picLocks noChangeAspect="1"/>
          </p:cNvPicPr>
          <p:nvPr/>
        </p:nvPicPr>
        <p:blipFill>
          <a:blip r:embed="rId3"/>
          <a:stretch>
            <a:fillRect/>
          </a:stretch>
        </p:blipFill>
        <p:spPr>
          <a:xfrm>
            <a:off x="3244651" y="1217098"/>
            <a:ext cx="5402175" cy="2507958"/>
          </a:xfrm>
          <a:prstGeom prst="rect">
            <a:avLst/>
          </a:prstGeom>
        </p:spPr>
      </p:pic>
      <p:pic>
        <p:nvPicPr>
          <p:cNvPr id="8" name="Picture 2" descr="http://r.ddmcdn.com/s_f/o_1/cx_633/cy_0/cw_1725/ch_1725/w_720/APL/uploads/2014/11/too-cute-doggone-it-video-playlist.jpg">
            <a:extLst>
              <a:ext uri="{FF2B5EF4-FFF2-40B4-BE49-F238E27FC236}">
                <a16:creationId xmlns:a16="http://schemas.microsoft.com/office/drawing/2014/main" id="{C80369CE-D0A8-4AEB-A4B6-95AAE2E779A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56151" y="4200217"/>
            <a:ext cx="1600200" cy="16002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9196CB5-CF16-4F94-AC39-E2E68C94E2C2}"/>
              </a:ext>
            </a:extLst>
          </p:cNvPr>
          <p:cNvSpPr txBox="1"/>
          <p:nvPr/>
        </p:nvSpPr>
        <p:spPr>
          <a:xfrm>
            <a:off x="2476339" y="5813983"/>
            <a:ext cx="759823" cy="369332"/>
          </a:xfrm>
          <a:prstGeom prst="rect">
            <a:avLst/>
          </a:prstGeom>
          <a:noFill/>
        </p:spPr>
        <p:txBody>
          <a:bodyPr wrap="none" rtlCol="0">
            <a:spAutoFit/>
          </a:bodyPr>
          <a:lstStyle/>
          <a:p>
            <a:r>
              <a:rPr lang="en-US" dirty="0"/>
              <a:t>Image</a:t>
            </a:r>
          </a:p>
        </p:txBody>
      </p:sp>
      <p:sp>
        <p:nvSpPr>
          <p:cNvPr id="10" name="Rectangle 9">
            <a:extLst>
              <a:ext uri="{FF2B5EF4-FFF2-40B4-BE49-F238E27FC236}">
                <a16:creationId xmlns:a16="http://schemas.microsoft.com/office/drawing/2014/main" id="{F89A7C5C-80FB-4A1A-A780-EA9ED5B57E2B}"/>
              </a:ext>
            </a:extLst>
          </p:cNvPr>
          <p:cNvSpPr/>
          <p:nvPr/>
        </p:nvSpPr>
        <p:spPr>
          <a:xfrm>
            <a:off x="4969704" y="4670534"/>
            <a:ext cx="1528997" cy="659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Neural Network</a:t>
            </a:r>
          </a:p>
        </p:txBody>
      </p:sp>
      <p:sp>
        <p:nvSpPr>
          <p:cNvPr id="11" name="Arrow: Right 10">
            <a:extLst>
              <a:ext uri="{FF2B5EF4-FFF2-40B4-BE49-F238E27FC236}">
                <a16:creationId xmlns:a16="http://schemas.microsoft.com/office/drawing/2014/main" id="{57FD4075-B158-4943-B1D1-762F142DB407}"/>
              </a:ext>
            </a:extLst>
          </p:cNvPr>
          <p:cNvSpPr/>
          <p:nvPr/>
        </p:nvSpPr>
        <p:spPr>
          <a:xfrm>
            <a:off x="3816327" y="4879159"/>
            <a:ext cx="978408"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92CFF5EA-340F-4B74-A5DA-4A355BC8BBB9}"/>
              </a:ext>
            </a:extLst>
          </p:cNvPr>
          <p:cNvSpPr/>
          <p:nvPr/>
        </p:nvSpPr>
        <p:spPr>
          <a:xfrm>
            <a:off x="6779383" y="4879159"/>
            <a:ext cx="978408"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6737E5A-BF02-4B34-AA42-86D4AC795E7C}"/>
              </a:ext>
            </a:extLst>
          </p:cNvPr>
          <p:cNvSpPr txBox="1"/>
          <p:nvPr/>
        </p:nvSpPr>
        <p:spPr>
          <a:xfrm>
            <a:off x="8038473" y="4123154"/>
            <a:ext cx="2280881" cy="1754326"/>
          </a:xfrm>
          <a:prstGeom prst="rect">
            <a:avLst/>
          </a:prstGeom>
          <a:noFill/>
        </p:spPr>
        <p:txBody>
          <a:bodyPr wrap="none" rtlCol="0">
            <a:spAutoFit/>
          </a:bodyPr>
          <a:lstStyle/>
          <a:p>
            <a:r>
              <a:rPr lang="en-US" dirty="0"/>
              <a:t>High-level information</a:t>
            </a:r>
          </a:p>
          <a:p>
            <a:pPr marL="285750" indent="-285750">
              <a:buFont typeface="Arial" panose="020B0604020202020204" pitchFamily="34" charset="0"/>
              <a:buChar char="•"/>
            </a:pPr>
            <a:r>
              <a:rPr lang="en-US" dirty="0"/>
              <a:t>Depth</a:t>
            </a:r>
          </a:p>
          <a:p>
            <a:pPr marL="285750" indent="-285750">
              <a:buFont typeface="Arial" panose="020B0604020202020204" pitchFamily="34" charset="0"/>
              <a:buChar char="•"/>
            </a:pPr>
            <a:r>
              <a:rPr lang="en-US" dirty="0"/>
              <a:t>Motion</a:t>
            </a:r>
          </a:p>
          <a:p>
            <a:pPr marL="285750" indent="-285750">
              <a:buFont typeface="Arial" panose="020B0604020202020204" pitchFamily="34" charset="0"/>
              <a:buChar char="•"/>
            </a:pPr>
            <a:r>
              <a:rPr lang="en-US" dirty="0"/>
              <a:t>Object classes</a:t>
            </a:r>
          </a:p>
          <a:p>
            <a:pPr marL="285750" indent="-285750">
              <a:buFont typeface="Arial" panose="020B0604020202020204" pitchFamily="34" charset="0"/>
              <a:buChar char="•"/>
            </a:pPr>
            <a:r>
              <a:rPr lang="en-US" dirty="0"/>
              <a:t>Object poses</a:t>
            </a:r>
          </a:p>
          <a:p>
            <a:pPr marL="285750" indent="-285750">
              <a:buFont typeface="Arial" panose="020B0604020202020204" pitchFamily="34" charset="0"/>
              <a:buChar char="•"/>
            </a:pPr>
            <a:r>
              <a:rPr lang="en-US" dirty="0"/>
              <a:t>Etc.</a:t>
            </a:r>
          </a:p>
        </p:txBody>
      </p:sp>
    </p:spTree>
    <p:extLst>
      <p:ext uri="{BB962C8B-B14F-4D97-AF65-F5344CB8AC3E}">
        <p14:creationId xmlns:p14="http://schemas.microsoft.com/office/powerpoint/2010/main" val="410020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3" grpId="0" animBg="1"/>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A81CF-9E21-4F5B-AD7E-D71771DA00B4}"/>
              </a:ext>
            </a:extLst>
          </p:cNvPr>
          <p:cNvSpPr>
            <a:spLocks noGrp="1"/>
          </p:cNvSpPr>
          <p:nvPr>
            <p:ph type="title"/>
          </p:nvPr>
        </p:nvSpPr>
        <p:spPr/>
        <p:txBody>
          <a:bodyPr/>
          <a:lstStyle/>
          <a:p>
            <a:r>
              <a:rPr lang="en-US" dirty="0"/>
              <a:t>Mathematic Models </a:t>
            </a:r>
          </a:p>
        </p:txBody>
      </p:sp>
      <p:sp>
        <p:nvSpPr>
          <p:cNvPr id="3" name="Content Placeholder 2">
            <a:extLst>
              <a:ext uri="{FF2B5EF4-FFF2-40B4-BE49-F238E27FC236}">
                <a16:creationId xmlns:a16="http://schemas.microsoft.com/office/drawing/2014/main" id="{20B1D920-A53E-49AD-839D-EF9C3B660826}"/>
              </a:ext>
            </a:extLst>
          </p:cNvPr>
          <p:cNvSpPr>
            <a:spLocks noGrp="1"/>
          </p:cNvSpPr>
          <p:nvPr>
            <p:ph idx="1"/>
          </p:nvPr>
        </p:nvSpPr>
        <p:spPr/>
        <p:txBody>
          <a:bodyPr/>
          <a:lstStyle/>
          <a:p>
            <a:r>
              <a:rPr lang="en-US" dirty="0"/>
              <a:t>Try to model the human brain with computational models, e.g., neural networks</a:t>
            </a:r>
          </a:p>
          <a:p>
            <a:endParaRPr lang="en-US" dirty="0"/>
          </a:p>
        </p:txBody>
      </p:sp>
      <p:sp>
        <p:nvSpPr>
          <p:cNvPr id="6" name="Slide Number Placeholder 5">
            <a:extLst>
              <a:ext uri="{FF2B5EF4-FFF2-40B4-BE49-F238E27FC236}">
                <a16:creationId xmlns:a16="http://schemas.microsoft.com/office/drawing/2014/main" id="{A273D373-5946-42A9-AABB-C337AA256265}"/>
              </a:ext>
            </a:extLst>
          </p:cNvPr>
          <p:cNvSpPr>
            <a:spLocks noGrp="1"/>
          </p:cNvSpPr>
          <p:nvPr>
            <p:ph type="sldNum" sz="quarter" idx="12"/>
          </p:nvPr>
        </p:nvSpPr>
        <p:spPr/>
        <p:txBody>
          <a:bodyPr/>
          <a:lstStyle/>
          <a:p>
            <a:fld id="{1B30F0CC-EBAF-4E3D-80D7-CFC82A3A738F}" type="slidenum">
              <a:rPr lang="en-US" smtClean="0"/>
              <a:pPr/>
              <a:t>22</a:t>
            </a:fld>
            <a:endParaRPr lang="en-US" dirty="0"/>
          </a:p>
        </p:txBody>
      </p:sp>
      <p:pic>
        <p:nvPicPr>
          <p:cNvPr id="7" name="Shape 1141">
            <a:extLst>
              <a:ext uri="{FF2B5EF4-FFF2-40B4-BE49-F238E27FC236}">
                <a16:creationId xmlns:a16="http://schemas.microsoft.com/office/drawing/2014/main" id="{C432760B-4879-4598-A6D0-CB3B499CC22F}"/>
              </a:ext>
            </a:extLst>
          </p:cNvPr>
          <p:cNvPicPr preferRelativeResize="0"/>
          <p:nvPr/>
        </p:nvPicPr>
        <p:blipFill>
          <a:blip r:embed="rId3">
            <a:alphaModFix/>
          </a:blip>
          <a:stretch>
            <a:fillRect/>
          </a:stretch>
        </p:blipFill>
        <p:spPr>
          <a:xfrm>
            <a:off x="4774368" y="2795666"/>
            <a:ext cx="2075200" cy="1927731"/>
          </a:xfrm>
          <a:prstGeom prst="rect">
            <a:avLst/>
          </a:prstGeom>
          <a:noFill/>
          <a:ln>
            <a:noFill/>
          </a:ln>
        </p:spPr>
      </p:pic>
      <p:sp>
        <p:nvSpPr>
          <p:cNvPr id="8" name="Right Arrow 6">
            <a:extLst>
              <a:ext uri="{FF2B5EF4-FFF2-40B4-BE49-F238E27FC236}">
                <a16:creationId xmlns:a16="http://schemas.microsoft.com/office/drawing/2014/main" id="{FB126A03-AE4E-4891-812A-4E705E2099CE}"/>
              </a:ext>
            </a:extLst>
          </p:cNvPr>
          <p:cNvSpPr/>
          <p:nvPr/>
        </p:nvSpPr>
        <p:spPr>
          <a:xfrm>
            <a:off x="3521105" y="3517215"/>
            <a:ext cx="978408" cy="484632"/>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ight Arrow 9">
            <a:extLst>
              <a:ext uri="{FF2B5EF4-FFF2-40B4-BE49-F238E27FC236}">
                <a16:creationId xmlns:a16="http://schemas.microsoft.com/office/drawing/2014/main" id="{B2E8ECC7-2736-45ED-A8CB-DEA7F6A92AFA}"/>
              </a:ext>
            </a:extLst>
          </p:cNvPr>
          <p:cNvSpPr/>
          <p:nvPr/>
        </p:nvSpPr>
        <p:spPr>
          <a:xfrm>
            <a:off x="6990182" y="3517215"/>
            <a:ext cx="978408" cy="484632"/>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2" descr="http://latex2png.com/output/latex_b0cd94fbed368bfa8830f11eb2664dc7.png">
            <a:extLst>
              <a:ext uri="{FF2B5EF4-FFF2-40B4-BE49-F238E27FC236}">
                <a16:creationId xmlns:a16="http://schemas.microsoft.com/office/drawing/2014/main" id="{A5AAC087-956E-4A44-B685-A8BADB0EDF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5002" y="3567459"/>
            <a:ext cx="400050" cy="36195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latex2png.com/output/latex_e7a412156353c50e78053394f88083bb.png">
            <a:extLst>
              <a:ext uri="{FF2B5EF4-FFF2-40B4-BE49-F238E27FC236}">
                <a16:creationId xmlns:a16="http://schemas.microsoft.com/office/drawing/2014/main" id="{19F39EA6-A1BD-4D6C-9599-855C7D3A69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8866" y="3458447"/>
            <a:ext cx="371475" cy="51435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http://latex2png.com/output/latex_ddc64280239fa4e36b3b5d38f3051575.png">
            <a:extLst>
              <a:ext uri="{FF2B5EF4-FFF2-40B4-BE49-F238E27FC236}">
                <a16:creationId xmlns:a16="http://schemas.microsoft.com/office/drawing/2014/main" id="{5F28878F-D38E-4DB6-9ECE-1B4BC82C48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4093" y="4902784"/>
            <a:ext cx="1419225" cy="79057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E459750-FB42-40A4-BE70-946A032448F6}"/>
              </a:ext>
            </a:extLst>
          </p:cNvPr>
          <p:cNvSpPr txBox="1"/>
          <p:nvPr/>
        </p:nvSpPr>
        <p:spPr>
          <a:xfrm>
            <a:off x="2470164" y="4272701"/>
            <a:ext cx="949940" cy="461665"/>
          </a:xfrm>
          <a:prstGeom prst="rect">
            <a:avLst/>
          </a:prstGeom>
          <a:noFill/>
        </p:spPr>
        <p:txBody>
          <a:bodyPr wrap="none" rtlCol="0">
            <a:spAutoFit/>
          </a:bodyPr>
          <a:lstStyle/>
          <a:p>
            <a:r>
              <a:rPr lang="en-US" sz="2400" dirty="0"/>
              <a:t>Image</a:t>
            </a:r>
          </a:p>
        </p:txBody>
      </p:sp>
      <p:sp>
        <p:nvSpPr>
          <p:cNvPr id="14" name="TextBox 13">
            <a:extLst>
              <a:ext uri="{FF2B5EF4-FFF2-40B4-BE49-F238E27FC236}">
                <a16:creationId xmlns:a16="http://schemas.microsoft.com/office/drawing/2014/main" id="{47EE4D0A-4937-4E38-A15A-8281F022843D}"/>
              </a:ext>
            </a:extLst>
          </p:cNvPr>
          <p:cNvSpPr txBox="1"/>
          <p:nvPr/>
        </p:nvSpPr>
        <p:spPr>
          <a:xfrm>
            <a:off x="7893639" y="4272701"/>
            <a:ext cx="1667444" cy="461665"/>
          </a:xfrm>
          <a:prstGeom prst="rect">
            <a:avLst/>
          </a:prstGeom>
          <a:noFill/>
        </p:spPr>
        <p:txBody>
          <a:bodyPr wrap="none" rtlCol="0">
            <a:spAutoFit/>
          </a:bodyPr>
          <a:lstStyle/>
          <a:p>
            <a:r>
              <a:rPr lang="en-US" sz="2400" dirty="0"/>
              <a:t>Object class</a:t>
            </a:r>
          </a:p>
        </p:txBody>
      </p:sp>
    </p:spTree>
    <p:extLst>
      <p:ext uri="{BB962C8B-B14F-4D97-AF65-F5344CB8AC3E}">
        <p14:creationId xmlns:p14="http://schemas.microsoft.com/office/powerpoint/2010/main" val="277648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78937-9268-4209-9A18-EA8AE55D1D4A}"/>
              </a:ext>
            </a:extLst>
          </p:cNvPr>
          <p:cNvSpPr>
            <a:spLocks noGrp="1"/>
          </p:cNvSpPr>
          <p:nvPr>
            <p:ph type="title"/>
          </p:nvPr>
        </p:nvSpPr>
        <p:spPr/>
        <p:txBody>
          <a:bodyPr/>
          <a:lstStyle/>
          <a:p>
            <a:r>
              <a:rPr lang="en-US" dirty="0"/>
              <a:t>Mathematic Models </a:t>
            </a:r>
          </a:p>
        </p:txBody>
      </p:sp>
      <p:sp>
        <p:nvSpPr>
          <p:cNvPr id="3" name="Content Placeholder 2">
            <a:extLst>
              <a:ext uri="{FF2B5EF4-FFF2-40B4-BE49-F238E27FC236}">
                <a16:creationId xmlns:a16="http://schemas.microsoft.com/office/drawing/2014/main" id="{2A6914DA-8F7C-48E9-B0C9-09F0E200BFB1}"/>
              </a:ext>
            </a:extLst>
          </p:cNvPr>
          <p:cNvSpPr>
            <a:spLocks noGrp="1"/>
          </p:cNvSpPr>
          <p:nvPr>
            <p:ph idx="1"/>
          </p:nvPr>
        </p:nvSpPr>
        <p:spPr/>
        <p:txBody>
          <a:bodyPr/>
          <a:lstStyle/>
          <a:p>
            <a:pPr fontAlgn="auto">
              <a:spcAft>
                <a:spcPts val="0"/>
              </a:spcAft>
            </a:pPr>
            <a:r>
              <a:rPr lang="en-US" dirty="0"/>
              <a:t>What is the form of the function              ?</a:t>
            </a:r>
          </a:p>
          <a:p>
            <a:pPr lvl="1" fontAlgn="auto">
              <a:spcAft>
                <a:spcPts val="0"/>
              </a:spcAft>
            </a:pPr>
            <a:r>
              <a:rPr lang="en-US" dirty="0"/>
              <a:t>No idea!</a:t>
            </a:r>
          </a:p>
          <a:p>
            <a:pPr lvl="1" fontAlgn="auto">
              <a:spcAft>
                <a:spcPts val="0"/>
              </a:spcAft>
            </a:pPr>
            <a:r>
              <a:rPr lang="en-US" dirty="0"/>
              <a:t>Concatenate simple functions (neurons)</a:t>
            </a:r>
          </a:p>
        </p:txBody>
      </p:sp>
      <p:sp>
        <p:nvSpPr>
          <p:cNvPr id="6" name="Slide Number Placeholder 5">
            <a:extLst>
              <a:ext uri="{FF2B5EF4-FFF2-40B4-BE49-F238E27FC236}">
                <a16:creationId xmlns:a16="http://schemas.microsoft.com/office/drawing/2014/main" id="{241A9893-43BD-45D5-A9A9-51A0B45D0231}"/>
              </a:ext>
            </a:extLst>
          </p:cNvPr>
          <p:cNvSpPr>
            <a:spLocks noGrp="1"/>
          </p:cNvSpPr>
          <p:nvPr>
            <p:ph type="sldNum" sz="quarter" idx="12"/>
          </p:nvPr>
        </p:nvSpPr>
        <p:spPr/>
        <p:txBody>
          <a:bodyPr/>
          <a:lstStyle/>
          <a:p>
            <a:fld id="{1B30F0CC-EBAF-4E3D-80D7-CFC82A3A738F}" type="slidenum">
              <a:rPr lang="en-US" smtClean="0"/>
              <a:pPr/>
              <a:t>23</a:t>
            </a:fld>
            <a:endParaRPr lang="en-US" dirty="0"/>
          </a:p>
        </p:txBody>
      </p:sp>
      <p:pic>
        <p:nvPicPr>
          <p:cNvPr id="7" name="Picture 6" descr="http://latex2png.com/output/latex_ddc64280239fa4e36b3b5d38f3051575.png">
            <a:extLst>
              <a:ext uri="{FF2B5EF4-FFF2-40B4-BE49-F238E27FC236}">
                <a16:creationId xmlns:a16="http://schemas.microsoft.com/office/drawing/2014/main" id="{EF69C718-5601-48FE-9558-4578BBD0F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4586" y="1461821"/>
            <a:ext cx="1025129" cy="57104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r.ddmcdn.com/s_f/o_1/cx_633/cy_0/cw_1725/ch_1725/w_720/APL/uploads/2014/11/too-cute-doggone-it-video-playlist.jpg">
            <a:extLst>
              <a:ext uri="{FF2B5EF4-FFF2-40B4-BE49-F238E27FC236}">
                <a16:creationId xmlns:a16="http://schemas.microsoft.com/office/drawing/2014/main" id="{08027D32-BF85-4311-AA0C-2F1842F8B66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63842" y="3429000"/>
            <a:ext cx="1600200" cy="1600200"/>
          </a:xfrm>
          <a:prstGeom prst="rect">
            <a:avLst/>
          </a:prstGeom>
          <a:noFill/>
          <a:extLst>
            <a:ext uri="{909E8E84-426E-40DD-AFC4-6F175D3DCCD1}">
              <a14:hiddenFill xmlns:a14="http://schemas.microsoft.com/office/drawing/2010/main">
                <a:solidFill>
                  <a:srgbClr val="FFFFFF"/>
                </a:solidFill>
              </a14:hiddenFill>
            </a:ext>
          </a:extLst>
        </p:spPr>
      </p:pic>
      <p:sp>
        <p:nvSpPr>
          <p:cNvPr id="9" name="Right Arrow 7">
            <a:extLst>
              <a:ext uri="{FF2B5EF4-FFF2-40B4-BE49-F238E27FC236}">
                <a16:creationId xmlns:a16="http://schemas.microsoft.com/office/drawing/2014/main" id="{FE273282-6E6A-487D-925E-E81E351297B1}"/>
              </a:ext>
            </a:extLst>
          </p:cNvPr>
          <p:cNvSpPr/>
          <p:nvPr/>
        </p:nvSpPr>
        <p:spPr>
          <a:xfrm>
            <a:off x="3544838" y="4038600"/>
            <a:ext cx="978408" cy="484632"/>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7AD11191-7882-4137-8742-D38ACC90214D}"/>
              </a:ext>
            </a:extLst>
          </p:cNvPr>
          <p:cNvSpPr/>
          <p:nvPr/>
        </p:nvSpPr>
        <p:spPr>
          <a:xfrm>
            <a:off x="6786045" y="4038600"/>
            <a:ext cx="978408" cy="484632"/>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AA1F979-B00F-4C80-AC47-8434D0B8F60D}"/>
              </a:ext>
            </a:extLst>
          </p:cNvPr>
          <p:cNvSpPr txBox="1"/>
          <p:nvPr/>
        </p:nvSpPr>
        <p:spPr>
          <a:xfrm>
            <a:off x="8654518" y="4631365"/>
            <a:ext cx="1031051" cy="646331"/>
          </a:xfrm>
          <a:prstGeom prst="rect">
            <a:avLst/>
          </a:prstGeom>
          <a:noFill/>
        </p:spPr>
        <p:txBody>
          <a:bodyPr wrap="none" rtlCol="0">
            <a:spAutoFit/>
          </a:bodyPr>
          <a:lstStyle/>
          <a:p>
            <a:r>
              <a:rPr lang="en-US" sz="3600" dirty="0"/>
              <a:t>Dog</a:t>
            </a:r>
          </a:p>
        </p:txBody>
      </p:sp>
      <p:pic>
        <p:nvPicPr>
          <p:cNvPr id="12" name="Picture 2" descr="http://latex2png.com/output/latex_b0cd94fbed368bfa8830f11eb2664dc7.png">
            <a:extLst>
              <a:ext uri="{FF2B5EF4-FFF2-40B4-BE49-F238E27FC236}">
                <a16:creationId xmlns:a16="http://schemas.microsoft.com/office/drawing/2014/main" id="{E00013EC-138D-4AC9-B951-93B4681A76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3917" y="5185167"/>
            <a:ext cx="400050" cy="36195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http://latex2png.com/output/latex_ddc64280239fa4e36b3b5d38f3051575.png">
            <a:extLst>
              <a:ext uri="{FF2B5EF4-FFF2-40B4-BE49-F238E27FC236}">
                <a16:creationId xmlns:a16="http://schemas.microsoft.com/office/drawing/2014/main" id="{22E059F1-511D-4BE7-AC6C-80F3F258B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5919" y="3896178"/>
            <a:ext cx="1419225" cy="79057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ttp://latex2png.com/output/latex_2bb9be76468d14844cc8a9718c2c14a8.png">
            <a:extLst>
              <a:ext uri="{FF2B5EF4-FFF2-40B4-BE49-F238E27FC236}">
                <a16:creationId xmlns:a16="http://schemas.microsoft.com/office/drawing/2014/main" id="{D2C17E0E-52A2-4A49-BE68-D699E7DD40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0454" y="4011498"/>
            <a:ext cx="2523397" cy="445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996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26546-39FF-4261-9A87-0DDA59FE24A0}"/>
              </a:ext>
            </a:extLst>
          </p:cNvPr>
          <p:cNvSpPr>
            <a:spLocks noGrp="1"/>
          </p:cNvSpPr>
          <p:nvPr>
            <p:ph type="title"/>
          </p:nvPr>
        </p:nvSpPr>
        <p:spPr/>
        <p:txBody>
          <a:bodyPr/>
          <a:lstStyle/>
          <a:p>
            <a:r>
              <a:rPr lang="en" sz="4400" dirty="0"/>
              <a:t>Neural Network: Concatenation of functions</a:t>
            </a:r>
            <a:endParaRPr lang="en-US" dirty="0"/>
          </a:p>
        </p:txBody>
      </p:sp>
      <p:sp>
        <p:nvSpPr>
          <p:cNvPr id="6" name="Slide Number Placeholder 5">
            <a:extLst>
              <a:ext uri="{FF2B5EF4-FFF2-40B4-BE49-F238E27FC236}">
                <a16:creationId xmlns:a16="http://schemas.microsoft.com/office/drawing/2014/main" id="{FE08B364-8B0D-4407-9CC2-2A079B83ED40}"/>
              </a:ext>
            </a:extLst>
          </p:cNvPr>
          <p:cNvSpPr>
            <a:spLocks noGrp="1"/>
          </p:cNvSpPr>
          <p:nvPr>
            <p:ph type="sldNum" sz="quarter" idx="12"/>
          </p:nvPr>
        </p:nvSpPr>
        <p:spPr/>
        <p:txBody>
          <a:bodyPr/>
          <a:lstStyle/>
          <a:p>
            <a:fld id="{1B30F0CC-EBAF-4E3D-80D7-CFC82A3A738F}" type="slidenum">
              <a:rPr lang="en-US" smtClean="0"/>
              <a:pPr/>
              <a:t>24</a:t>
            </a:fld>
            <a:endParaRPr lang="en-US" dirty="0"/>
          </a:p>
        </p:txBody>
      </p:sp>
      <p:sp>
        <p:nvSpPr>
          <p:cNvPr id="7" name="Shape 1167">
            <a:extLst>
              <a:ext uri="{FF2B5EF4-FFF2-40B4-BE49-F238E27FC236}">
                <a16:creationId xmlns:a16="http://schemas.microsoft.com/office/drawing/2014/main" id="{C428CBF9-DB5B-46CB-B5D5-4D1134B36C33}"/>
              </a:ext>
            </a:extLst>
          </p:cNvPr>
          <p:cNvSpPr txBox="1"/>
          <p:nvPr/>
        </p:nvSpPr>
        <p:spPr>
          <a:xfrm>
            <a:off x="1617767" y="1582480"/>
            <a:ext cx="4771199" cy="609600"/>
          </a:xfrm>
          <a:prstGeom prst="rect">
            <a:avLst/>
          </a:prstGeom>
          <a:noFill/>
          <a:ln>
            <a:noFill/>
          </a:ln>
        </p:spPr>
        <p:txBody>
          <a:bodyPr lIns="91425" tIns="91425" rIns="91425" bIns="91425" anchor="t" anchorCtr="0">
            <a:noAutofit/>
          </a:bodyPr>
          <a:lstStyle/>
          <a:p>
            <a:pPr lvl="0" rtl="0">
              <a:spcBef>
                <a:spcPts val="0"/>
              </a:spcBef>
              <a:buNone/>
            </a:pPr>
            <a:r>
              <a:rPr lang="en" sz="2400" dirty="0"/>
              <a:t>Linear score function:</a:t>
            </a:r>
          </a:p>
        </p:txBody>
      </p:sp>
      <p:sp>
        <p:nvSpPr>
          <p:cNvPr id="8" name="Shape 1168">
            <a:extLst>
              <a:ext uri="{FF2B5EF4-FFF2-40B4-BE49-F238E27FC236}">
                <a16:creationId xmlns:a16="http://schemas.microsoft.com/office/drawing/2014/main" id="{FB495F12-E924-41A6-B449-59ED6B0E27DB}"/>
              </a:ext>
            </a:extLst>
          </p:cNvPr>
          <p:cNvSpPr txBox="1"/>
          <p:nvPr/>
        </p:nvSpPr>
        <p:spPr>
          <a:xfrm>
            <a:off x="1691967" y="2371247"/>
            <a:ext cx="4771199" cy="609600"/>
          </a:xfrm>
          <a:prstGeom prst="rect">
            <a:avLst/>
          </a:prstGeom>
          <a:noFill/>
          <a:ln>
            <a:noFill/>
          </a:ln>
        </p:spPr>
        <p:txBody>
          <a:bodyPr lIns="91425" tIns="91425" rIns="91425" bIns="91425" anchor="t" anchorCtr="0">
            <a:noAutofit/>
          </a:bodyPr>
          <a:lstStyle/>
          <a:p>
            <a:pPr lvl="0" rtl="0">
              <a:spcBef>
                <a:spcPts val="0"/>
              </a:spcBef>
              <a:buNone/>
            </a:pPr>
            <a:r>
              <a:rPr lang="en" sz="2400" dirty="0"/>
              <a:t>2-layer Neural Network</a:t>
            </a:r>
          </a:p>
          <a:p>
            <a:pPr lvl="0" rtl="0">
              <a:spcBef>
                <a:spcPts val="0"/>
              </a:spcBef>
              <a:buNone/>
            </a:pPr>
            <a:r>
              <a:rPr lang="en" sz="2400" dirty="0"/>
              <a:t>      </a:t>
            </a:r>
          </a:p>
        </p:txBody>
      </p:sp>
      <p:grpSp>
        <p:nvGrpSpPr>
          <p:cNvPr id="9" name="Group 8">
            <a:extLst>
              <a:ext uri="{FF2B5EF4-FFF2-40B4-BE49-F238E27FC236}">
                <a16:creationId xmlns:a16="http://schemas.microsoft.com/office/drawing/2014/main" id="{0AFBB209-C1E4-4CAB-8FF8-847E2390247B}"/>
              </a:ext>
            </a:extLst>
          </p:cNvPr>
          <p:cNvGrpSpPr/>
          <p:nvPr/>
        </p:nvGrpSpPr>
        <p:grpSpPr>
          <a:xfrm>
            <a:off x="3028024" y="4143285"/>
            <a:ext cx="4593999" cy="2159233"/>
            <a:chOff x="2428418" y="4317767"/>
            <a:chExt cx="4593999" cy="2159233"/>
          </a:xfrm>
        </p:grpSpPr>
        <p:sp>
          <p:nvSpPr>
            <p:cNvPr id="10" name="Shape 1170">
              <a:extLst>
                <a:ext uri="{FF2B5EF4-FFF2-40B4-BE49-F238E27FC236}">
                  <a16:creationId xmlns:a16="http://schemas.microsoft.com/office/drawing/2014/main" id="{07F52636-5A56-4A68-B505-2E72A3BA3EAE}"/>
                </a:ext>
              </a:extLst>
            </p:cNvPr>
            <p:cNvSpPr/>
            <p:nvPr/>
          </p:nvSpPr>
          <p:spPr>
            <a:xfrm>
              <a:off x="3153118" y="4317767"/>
              <a:ext cx="448199" cy="19423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2400"/>
                <a:t>x</a:t>
              </a:r>
            </a:p>
          </p:txBody>
        </p:sp>
        <p:sp>
          <p:nvSpPr>
            <p:cNvPr id="11" name="Shape 1171">
              <a:extLst>
                <a:ext uri="{FF2B5EF4-FFF2-40B4-BE49-F238E27FC236}">
                  <a16:creationId xmlns:a16="http://schemas.microsoft.com/office/drawing/2014/main" id="{FBF12574-91EC-47AF-8387-0187FB8BB417}"/>
                </a:ext>
              </a:extLst>
            </p:cNvPr>
            <p:cNvSpPr/>
            <p:nvPr/>
          </p:nvSpPr>
          <p:spPr>
            <a:xfrm>
              <a:off x="4501321" y="4765987"/>
              <a:ext cx="448199" cy="11419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2400" dirty="0"/>
                <a:t>h</a:t>
              </a:r>
            </a:p>
          </p:txBody>
        </p:sp>
        <p:cxnSp>
          <p:nvCxnSpPr>
            <p:cNvPr id="12" name="Shape 1172">
              <a:extLst>
                <a:ext uri="{FF2B5EF4-FFF2-40B4-BE49-F238E27FC236}">
                  <a16:creationId xmlns:a16="http://schemas.microsoft.com/office/drawing/2014/main" id="{99069A46-A094-473A-9886-BE5B6A01CC07}"/>
                </a:ext>
              </a:extLst>
            </p:cNvPr>
            <p:cNvCxnSpPr/>
            <p:nvPr/>
          </p:nvCxnSpPr>
          <p:spPr>
            <a:xfrm rot="10800000" flipH="1">
              <a:off x="3601346" y="5907999"/>
              <a:ext cx="904499" cy="362800"/>
            </a:xfrm>
            <a:prstGeom prst="straightConnector1">
              <a:avLst/>
            </a:prstGeom>
            <a:noFill/>
            <a:ln w="9525" cap="flat" cmpd="sng">
              <a:solidFill>
                <a:schemeClr val="dk2"/>
              </a:solidFill>
              <a:prstDash val="solid"/>
              <a:round/>
              <a:headEnd type="none" w="lg" len="lg"/>
              <a:tailEnd type="none" w="lg" len="lg"/>
            </a:ln>
          </p:spPr>
        </p:cxnSp>
        <p:cxnSp>
          <p:nvCxnSpPr>
            <p:cNvPr id="13" name="Shape 1173">
              <a:extLst>
                <a:ext uri="{FF2B5EF4-FFF2-40B4-BE49-F238E27FC236}">
                  <a16:creationId xmlns:a16="http://schemas.microsoft.com/office/drawing/2014/main" id="{D9AD1DDF-F215-4FE0-95D6-9863865F4C7A}"/>
                </a:ext>
              </a:extLst>
            </p:cNvPr>
            <p:cNvCxnSpPr/>
            <p:nvPr/>
          </p:nvCxnSpPr>
          <p:spPr>
            <a:xfrm>
              <a:off x="3601346" y="4328423"/>
              <a:ext cx="912599" cy="437599"/>
            </a:xfrm>
            <a:prstGeom prst="straightConnector1">
              <a:avLst/>
            </a:prstGeom>
            <a:noFill/>
            <a:ln w="9525" cap="flat" cmpd="sng">
              <a:solidFill>
                <a:schemeClr val="dk2"/>
              </a:solidFill>
              <a:prstDash val="solid"/>
              <a:round/>
              <a:headEnd type="none" w="lg" len="lg"/>
              <a:tailEnd type="none" w="lg" len="lg"/>
            </a:ln>
          </p:spPr>
        </p:cxnSp>
        <p:sp>
          <p:nvSpPr>
            <p:cNvPr id="14" name="Shape 1174">
              <a:extLst>
                <a:ext uri="{FF2B5EF4-FFF2-40B4-BE49-F238E27FC236}">
                  <a16:creationId xmlns:a16="http://schemas.microsoft.com/office/drawing/2014/main" id="{F5697770-F4B6-4DDC-B98F-5770DA80EC6C}"/>
                </a:ext>
              </a:extLst>
            </p:cNvPr>
            <p:cNvSpPr txBox="1"/>
            <p:nvPr/>
          </p:nvSpPr>
          <p:spPr>
            <a:xfrm>
              <a:off x="3729450" y="4993643"/>
              <a:ext cx="840600" cy="590799"/>
            </a:xfrm>
            <a:prstGeom prst="rect">
              <a:avLst/>
            </a:prstGeom>
            <a:noFill/>
            <a:ln>
              <a:noFill/>
            </a:ln>
          </p:spPr>
          <p:txBody>
            <a:bodyPr lIns="91425" tIns="91425" rIns="91425" bIns="91425" anchor="t" anchorCtr="0">
              <a:noAutofit/>
            </a:bodyPr>
            <a:lstStyle/>
            <a:p>
              <a:pPr lvl="0" rtl="0">
                <a:spcBef>
                  <a:spcPts val="0"/>
                </a:spcBef>
                <a:buNone/>
              </a:pPr>
              <a:r>
                <a:rPr lang="en" sz="1800"/>
                <a:t>W1</a:t>
              </a:r>
            </a:p>
          </p:txBody>
        </p:sp>
        <p:sp>
          <p:nvSpPr>
            <p:cNvPr id="15" name="Shape 1175">
              <a:extLst>
                <a:ext uri="{FF2B5EF4-FFF2-40B4-BE49-F238E27FC236}">
                  <a16:creationId xmlns:a16="http://schemas.microsoft.com/office/drawing/2014/main" id="{5832651F-B476-4356-8599-81F7CEEFEB41}"/>
                </a:ext>
              </a:extLst>
            </p:cNvPr>
            <p:cNvSpPr/>
            <p:nvPr/>
          </p:nvSpPr>
          <p:spPr>
            <a:xfrm>
              <a:off x="5913548" y="5018597"/>
              <a:ext cx="448199" cy="6367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2400" dirty="0"/>
                <a:t>s</a:t>
              </a:r>
            </a:p>
          </p:txBody>
        </p:sp>
        <p:cxnSp>
          <p:nvCxnSpPr>
            <p:cNvPr id="16" name="Shape 1176">
              <a:extLst>
                <a:ext uri="{FF2B5EF4-FFF2-40B4-BE49-F238E27FC236}">
                  <a16:creationId xmlns:a16="http://schemas.microsoft.com/office/drawing/2014/main" id="{B7E9160C-59EA-42A6-939D-77A37745378F}"/>
                </a:ext>
              </a:extLst>
            </p:cNvPr>
            <p:cNvCxnSpPr/>
            <p:nvPr/>
          </p:nvCxnSpPr>
          <p:spPr>
            <a:xfrm>
              <a:off x="4930046" y="4765987"/>
              <a:ext cx="1000499" cy="267199"/>
            </a:xfrm>
            <a:prstGeom prst="straightConnector1">
              <a:avLst/>
            </a:prstGeom>
            <a:noFill/>
            <a:ln w="9525" cap="flat" cmpd="sng">
              <a:solidFill>
                <a:schemeClr val="dk2"/>
              </a:solidFill>
              <a:prstDash val="solid"/>
              <a:round/>
              <a:headEnd type="none" w="lg" len="lg"/>
              <a:tailEnd type="none" w="lg" len="lg"/>
            </a:ln>
          </p:spPr>
        </p:cxnSp>
        <p:cxnSp>
          <p:nvCxnSpPr>
            <p:cNvPr id="17" name="Shape 1177">
              <a:extLst>
                <a:ext uri="{FF2B5EF4-FFF2-40B4-BE49-F238E27FC236}">
                  <a16:creationId xmlns:a16="http://schemas.microsoft.com/office/drawing/2014/main" id="{6D6256B0-4D85-4B22-AFF8-336B28AAB27F}"/>
                </a:ext>
              </a:extLst>
            </p:cNvPr>
            <p:cNvCxnSpPr/>
            <p:nvPr/>
          </p:nvCxnSpPr>
          <p:spPr>
            <a:xfrm rot="10800000" flipH="1">
              <a:off x="4946059" y="5640746"/>
              <a:ext cx="968699" cy="267199"/>
            </a:xfrm>
            <a:prstGeom prst="straightConnector1">
              <a:avLst/>
            </a:prstGeom>
            <a:noFill/>
            <a:ln w="9525" cap="flat" cmpd="sng">
              <a:solidFill>
                <a:schemeClr val="dk2"/>
              </a:solidFill>
              <a:prstDash val="solid"/>
              <a:round/>
              <a:headEnd type="none" w="lg" len="lg"/>
              <a:tailEnd type="none" w="lg" len="lg"/>
            </a:ln>
          </p:spPr>
        </p:cxnSp>
        <p:sp>
          <p:nvSpPr>
            <p:cNvPr id="18" name="Shape 1178">
              <a:extLst>
                <a:ext uri="{FF2B5EF4-FFF2-40B4-BE49-F238E27FC236}">
                  <a16:creationId xmlns:a16="http://schemas.microsoft.com/office/drawing/2014/main" id="{F68563E1-1FCB-441C-978A-2C935E6EA587}"/>
                </a:ext>
              </a:extLst>
            </p:cNvPr>
            <p:cNvSpPr txBox="1"/>
            <p:nvPr/>
          </p:nvSpPr>
          <p:spPr>
            <a:xfrm>
              <a:off x="5103901" y="5001895"/>
              <a:ext cx="840600" cy="590799"/>
            </a:xfrm>
            <a:prstGeom prst="rect">
              <a:avLst/>
            </a:prstGeom>
            <a:noFill/>
            <a:ln>
              <a:noFill/>
            </a:ln>
          </p:spPr>
          <p:txBody>
            <a:bodyPr lIns="91425" tIns="91425" rIns="91425" bIns="91425" anchor="t" anchorCtr="0">
              <a:noAutofit/>
            </a:bodyPr>
            <a:lstStyle/>
            <a:p>
              <a:pPr lvl="0" rtl="0">
                <a:spcBef>
                  <a:spcPts val="0"/>
                </a:spcBef>
                <a:buNone/>
              </a:pPr>
              <a:r>
                <a:rPr lang="en" sz="1800"/>
                <a:t>W2</a:t>
              </a:r>
            </a:p>
          </p:txBody>
        </p:sp>
        <p:sp>
          <p:nvSpPr>
            <p:cNvPr id="19" name="Shape 1179">
              <a:extLst>
                <a:ext uri="{FF2B5EF4-FFF2-40B4-BE49-F238E27FC236}">
                  <a16:creationId xmlns:a16="http://schemas.microsoft.com/office/drawing/2014/main" id="{563D41AA-6BA9-4034-8D78-E16A9FE21C10}"/>
                </a:ext>
              </a:extLst>
            </p:cNvPr>
            <p:cNvSpPr txBox="1"/>
            <p:nvPr/>
          </p:nvSpPr>
          <p:spPr>
            <a:xfrm>
              <a:off x="2428418" y="5886201"/>
              <a:ext cx="1088099" cy="590799"/>
            </a:xfrm>
            <a:prstGeom prst="rect">
              <a:avLst/>
            </a:prstGeom>
            <a:noFill/>
            <a:ln>
              <a:noFill/>
            </a:ln>
          </p:spPr>
          <p:txBody>
            <a:bodyPr lIns="91425" tIns="91425" rIns="91425" bIns="91425" anchor="t" anchorCtr="0">
              <a:noAutofit/>
            </a:bodyPr>
            <a:lstStyle/>
            <a:p>
              <a:pPr lvl="0" rtl="0">
                <a:spcBef>
                  <a:spcPts val="0"/>
                </a:spcBef>
                <a:buNone/>
              </a:pPr>
              <a:r>
                <a:rPr lang="en" sz="1800"/>
                <a:t>3072</a:t>
              </a:r>
            </a:p>
          </p:txBody>
        </p:sp>
        <p:sp>
          <p:nvSpPr>
            <p:cNvPr id="20" name="Shape 1180">
              <a:extLst>
                <a:ext uri="{FF2B5EF4-FFF2-40B4-BE49-F238E27FC236}">
                  <a16:creationId xmlns:a16="http://schemas.microsoft.com/office/drawing/2014/main" id="{84073456-93B2-42D9-B6F5-2716D7DF7FD7}"/>
                </a:ext>
              </a:extLst>
            </p:cNvPr>
            <p:cNvSpPr txBox="1"/>
            <p:nvPr/>
          </p:nvSpPr>
          <p:spPr>
            <a:xfrm>
              <a:off x="4400868" y="5886201"/>
              <a:ext cx="1088099" cy="590799"/>
            </a:xfrm>
            <a:prstGeom prst="rect">
              <a:avLst/>
            </a:prstGeom>
            <a:noFill/>
            <a:ln>
              <a:noFill/>
            </a:ln>
          </p:spPr>
          <p:txBody>
            <a:bodyPr lIns="91425" tIns="91425" rIns="91425" bIns="91425" anchor="t" anchorCtr="0">
              <a:noAutofit/>
            </a:bodyPr>
            <a:lstStyle/>
            <a:p>
              <a:pPr lvl="0" rtl="0">
                <a:spcBef>
                  <a:spcPts val="0"/>
                </a:spcBef>
                <a:buNone/>
              </a:pPr>
              <a:r>
                <a:rPr lang="en" sz="1800"/>
                <a:t>100</a:t>
              </a:r>
            </a:p>
          </p:txBody>
        </p:sp>
        <p:sp>
          <p:nvSpPr>
            <p:cNvPr id="21" name="Shape 1181">
              <a:extLst>
                <a:ext uri="{FF2B5EF4-FFF2-40B4-BE49-F238E27FC236}">
                  <a16:creationId xmlns:a16="http://schemas.microsoft.com/office/drawing/2014/main" id="{09340C79-9180-4575-B0B4-7D37B1FE0598}"/>
                </a:ext>
              </a:extLst>
            </p:cNvPr>
            <p:cNvSpPr txBox="1"/>
            <p:nvPr/>
          </p:nvSpPr>
          <p:spPr>
            <a:xfrm>
              <a:off x="5934318" y="5794001"/>
              <a:ext cx="1088099" cy="590799"/>
            </a:xfrm>
            <a:prstGeom prst="rect">
              <a:avLst/>
            </a:prstGeom>
            <a:noFill/>
            <a:ln>
              <a:noFill/>
            </a:ln>
          </p:spPr>
          <p:txBody>
            <a:bodyPr lIns="91425" tIns="91425" rIns="91425" bIns="91425" anchor="t" anchorCtr="0">
              <a:noAutofit/>
            </a:bodyPr>
            <a:lstStyle/>
            <a:p>
              <a:pPr lvl="0" rtl="0">
                <a:spcBef>
                  <a:spcPts val="0"/>
                </a:spcBef>
                <a:buNone/>
              </a:pPr>
              <a:r>
                <a:rPr lang="en" sz="1800"/>
                <a:t>10</a:t>
              </a:r>
            </a:p>
          </p:txBody>
        </p:sp>
      </p:grpSp>
      <p:sp>
        <p:nvSpPr>
          <p:cNvPr id="22" name="TextBox 21">
            <a:extLst>
              <a:ext uri="{FF2B5EF4-FFF2-40B4-BE49-F238E27FC236}">
                <a16:creationId xmlns:a16="http://schemas.microsoft.com/office/drawing/2014/main" id="{90567715-451D-4D0D-95D5-84CCEE90B79D}"/>
              </a:ext>
            </a:extLst>
          </p:cNvPr>
          <p:cNvSpPr txBox="1"/>
          <p:nvPr/>
        </p:nvSpPr>
        <p:spPr>
          <a:xfrm>
            <a:off x="7290777" y="3742898"/>
            <a:ext cx="1479892" cy="369332"/>
          </a:xfrm>
          <a:prstGeom prst="rect">
            <a:avLst/>
          </a:prstGeom>
          <a:noFill/>
        </p:spPr>
        <p:txBody>
          <a:bodyPr wrap="none" rtlCol="0">
            <a:spAutoFit/>
          </a:bodyPr>
          <a:lstStyle/>
          <a:p>
            <a:r>
              <a:rPr lang="en-US" dirty="0"/>
              <a:t>Non-linearity</a:t>
            </a:r>
          </a:p>
        </p:txBody>
      </p:sp>
      <p:pic>
        <p:nvPicPr>
          <p:cNvPr id="23" name="Picture 2" descr="http://latex2png.com/output/latex_cd64beb52fb420802f55a43fa5c89b77.png">
            <a:extLst>
              <a:ext uri="{FF2B5EF4-FFF2-40B4-BE49-F238E27FC236}">
                <a16:creationId xmlns:a16="http://schemas.microsoft.com/office/drawing/2014/main" id="{4C0E1C6E-54DD-45F0-8059-9B7EE6A62C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1720" y="1635098"/>
            <a:ext cx="2270026" cy="59285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http://latex2png.com/output/latex_da75de841cbbffc335048e8bfea34217.png">
            <a:extLst>
              <a:ext uri="{FF2B5EF4-FFF2-40B4-BE49-F238E27FC236}">
                <a16:creationId xmlns:a16="http://schemas.microsoft.com/office/drawing/2014/main" id="{0AD391D7-1A1A-4E17-B27B-12CA6BA850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8323" y="3086427"/>
            <a:ext cx="7997825" cy="56208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latex2png.com/output/latex_834b368c987966af654970545e802bfe.png">
            <a:extLst>
              <a:ext uri="{FF2B5EF4-FFF2-40B4-BE49-F238E27FC236}">
                <a16:creationId xmlns:a16="http://schemas.microsoft.com/office/drawing/2014/main" id="{720C571C-1541-4ACF-B31E-E50643C8B2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4179" y="4620807"/>
            <a:ext cx="1812155" cy="41321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latex2png.com/output/latex_d447a5314c56064ec2b26df113bb48ac.png">
            <a:extLst>
              <a:ext uri="{FF2B5EF4-FFF2-40B4-BE49-F238E27FC236}">
                <a16:creationId xmlns:a16="http://schemas.microsoft.com/office/drawing/2014/main" id="{6DADE2EB-6E85-4D3F-9C35-C0325CCEAB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7707" y="5229921"/>
            <a:ext cx="1838627" cy="465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951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F913E-3311-45C4-8D42-777D2DB77196}"/>
              </a:ext>
            </a:extLst>
          </p:cNvPr>
          <p:cNvSpPr>
            <a:spLocks noGrp="1"/>
          </p:cNvSpPr>
          <p:nvPr>
            <p:ph type="title"/>
          </p:nvPr>
        </p:nvSpPr>
        <p:spPr/>
        <p:txBody>
          <a:bodyPr/>
          <a:lstStyle/>
          <a:p>
            <a:r>
              <a:rPr lang="en-US" dirty="0"/>
              <a:t>Activation Functions</a:t>
            </a:r>
          </a:p>
        </p:txBody>
      </p:sp>
      <p:sp>
        <p:nvSpPr>
          <p:cNvPr id="6" name="Slide Number Placeholder 5">
            <a:extLst>
              <a:ext uri="{FF2B5EF4-FFF2-40B4-BE49-F238E27FC236}">
                <a16:creationId xmlns:a16="http://schemas.microsoft.com/office/drawing/2014/main" id="{FC199C58-A12D-4601-A24B-E45BEB0A53FD}"/>
              </a:ext>
            </a:extLst>
          </p:cNvPr>
          <p:cNvSpPr>
            <a:spLocks noGrp="1"/>
          </p:cNvSpPr>
          <p:nvPr>
            <p:ph type="sldNum" sz="quarter" idx="12"/>
          </p:nvPr>
        </p:nvSpPr>
        <p:spPr/>
        <p:txBody>
          <a:bodyPr/>
          <a:lstStyle/>
          <a:p>
            <a:fld id="{1B30F0CC-EBAF-4E3D-80D7-CFC82A3A738F}" type="slidenum">
              <a:rPr lang="en-US" smtClean="0"/>
              <a:pPr/>
              <a:t>25</a:t>
            </a:fld>
            <a:endParaRPr lang="en-US" dirty="0"/>
          </a:p>
        </p:txBody>
      </p:sp>
      <p:sp>
        <p:nvSpPr>
          <p:cNvPr id="7" name="Shape 1296">
            <a:extLst>
              <a:ext uri="{FF2B5EF4-FFF2-40B4-BE49-F238E27FC236}">
                <a16:creationId xmlns:a16="http://schemas.microsoft.com/office/drawing/2014/main" id="{EC7B8A22-37E6-48F7-8698-134A9E6C40AB}"/>
              </a:ext>
            </a:extLst>
          </p:cNvPr>
          <p:cNvSpPr txBox="1"/>
          <p:nvPr/>
        </p:nvSpPr>
        <p:spPr>
          <a:xfrm>
            <a:off x="2652553" y="3660171"/>
            <a:ext cx="4089941" cy="956536"/>
          </a:xfrm>
          <a:prstGeom prst="rect">
            <a:avLst/>
          </a:prstGeom>
          <a:noFill/>
          <a:ln>
            <a:noFill/>
          </a:ln>
        </p:spPr>
        <p:txBody>
          <a:bodyPr lIns="91425" tIns="91425" rIns="91425" bIns="91425" anchor="t" anchorCtr="0">
            <a:noAutofit/>
          </a:bodyPr>
          <a:lstStyle/>
          <a:p>
            <a:pPr lvl="0">
              <a:spcBef>
                <a:spcPts val="0"/>
              </a:spcBef>
            </a:pPr>
            <a:r>
              <a:rPr lang="en-US" sz="2400" b="1" dirty="0"/>
              <a:t>rectified linear unit</a:t>
            </a:r>
            <a:r>
              <a:rPr lang="en-US" sz="2400" dirty="0"/>
              <a:t> (</a:t>
            </a:r>
            <a:r>
              <a:rPr lang="en-US" sz="2400" b="1" dirty="0" err="1"/>
              <a:t>ReLU</a:t>
            </a:r>
            <a:r>
              <a:rPr lang="en-US" sz="2400" dirty="0"/>
              <a:t>)</a:t>
            </a:r>
            <a:r>
              <a:rPr lang="en" sz="2400" b="1" dirty="0"/>
              <a:t>    </a:t>
            </a:r>
            <a:r>
              <a:rPr lang="en" sz="2400" dirty="0"/>
              <a:t>max(0,x)</a:t>
            </a:r>
          </a:p>
        </p:txBody>
      </p:sp>
      <p:sp>
        <p:nvSpPr>
          <p:cNvPr id="8" name="Shape 1168">
            <a:extLst>
              <a:ext uri="{FF2B5EF4-FFF2-40B4-BE49-F238E27FC236}">
                <a16:creationId xmlns:a16="http://schemas.microsoft.com/office/drawing/2014/main" id="{74228256-1ACA-4B1D-93CA-66138319BDAA}"/>
              </a:ext>
            </a:extLst>
          </p:cNvPr>
          <p:cNvSpPr txBox="1"/>
          <p:nvPr/>
        </p:nvSpPr>
        <p:spPr>
          <a:xfrm>
            <a:off x="2121950" y="1234718"/>
            <a:ext cx="4771199" cy="609600"/>
          </a:xfrm>
          <a:prstGeom prst="rect">
            <a:avLst/>
          </a:prstGeom>
          <a:noFill/>
          <a:ln>
            <a:noFill/>
          </a:ln>
        </p:spPr>
        <p:txBody>
          <a:bodyPr lIns="91425" tIns="91425" rIns="91425" bIns="91425" anchor="t" anchorCtr="0">
            <a:noAutofit/>
          </a:bodyPr>
          <a:lstStyle/>
          <a:p>
            <a:pPr lvl="0" rtl="0">
              <a:spcBef>
                <a:spcPts val="0"/>
              </a:spcBef>
              <a:buNone/>
            </a:pPr>
            <a:r>
              <a:rPr lang="en" sz="2400" dirty="0"/>
              <a:t>2-layer Neural Network</a:t>
            </a:r>
          </a:p>
          <a:p>
            <a:pPr lvl="0" rtl="0">
              <a:spcBef>
                <a:spcPts val="0"/>
              </a:spcBef>
              <a:buNone/>
            </a:pPr>
            <a:r>
              <a:rPr lang="en" sz="2400" dirty="0"/>
              <a:t>      </a:t>
            </a:r>
          </a:p>
        </p:txBody>
      </p:sp>
      <p:pic>
        <p:nvPicPr>
          <p:cNvPr id="9" name="Picture 2" descr="http://cs231n.github.io/assets/nn1/relu.jpeg">
            <a:extLst>
              <a:ext uri="{FF2B5EF4-FFF2-40B4-BE49-F238E27FC236}">
                <a16:creationId xmlns:a16="http://schemas.microsoft.com/office/drawing/2014/main" id="{94D851F9-8E02-4648-8144-1739AFAEC1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2494" y="3137954"/>
            <a:ext cx="2962275" cy="200025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BC56B08-72B0-4D4A-A0E9-4A3ADDC9EE92}"/>
              </a:ext>
            </a:extLst>
          </p:cNvPr>
          <p:cNvSpPr txBox="1"/>
          <p:nvPr/>
        </p:nvSpPr>
        <p:spPr>
          <a:xfrm>
            <a:off x="2652553" y="5639265"/>
            <a:ext cx="6104556" cy="523220"/>
          </a:xfrm>
          <a:prstGeom prst="rect">
            <a:avLst/>
          </a:prstGeom>
          <a:noFill/>
        </p:spPr>
        <p:txBody>
          <a:bodyPr wrap="none" rtlCol="0">
            <a:spAutoFit/>
          </a:bodyPr>
          <a:lstStyle/>
          <a:p>
            <a:r>
              <a:rPr lang="en-US" sz="2800" dirty="0"/>
              <a:t>Introduce non-linearity to the network</a:t>
            </a:r>
          </a:p>
        </p:txBody>
      </p:sp>
      <p:pic>
        <p:nvPicPr>
          <p:cNvPr id="11" name="Picture 2" descr="http://latex2png.com/output/latex_da75de841cbbffc335048e8bfea34217.png">
            <a:extLst>
              <a:ext uri="{FF2B5EF4-FFF2-40B4-BE49-F238E27FC236}">
                <a16:creationId xmlns:a16="http://schemas.microsoft.com/office/drawing/2014/main" id="{310A6D31-8C33-414C-A01F-C75EA986D8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4699" y="2065860"/>
            <a:ext cx="7997825" cy="562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56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B54CB-742E-4ABE-BE7B-2124ECCCD968}"/>
              </a:ext>
            </a:extLst>
          </p:cNvPr>
          <p:cNvSpPr>
            <a:spLocks noGrp="1"/>
          </p:cNvSpPr>
          <p:nvPr>
            <p:ph type="title"/>
          </p:nvPr>
        </p:nvSpPr>
        <p:spPr/>
        <p:txBody>
          <a:bodyPr/>
          <a:lstStyle/>
          <a:p>
            <a:r>
              <a:rPr lang="en-US" dirty="0"/>
              <a:t>Activation Functions</a:t>
            </a:r>
          </a:p>
        </p:txBody>
      </p:sp>
      <p:sp>
        <p:nvSpPr>
          <p:cNvPr id="6" name="Slide Number Placeholder 5">
            <a:extLst>
              <a:ext uri="{FF2B5EF4-FFF2-40B4-BE49-F238E27FC236}">
                <a16:creationId xmlns:a16="http://schemas.microsoft.com/office/drawing/2014/main" id="{DAA9130D-7407-48C5-96FA-3885CD0BFC93}"/>
              </a:ext>
            </a:extLst>
          </p:cNvPr>
          <p:cNvSpPr>
            <a:spLocks noGrp="1"/>
          </p:cNvSpPr>
          <p:nvPr>
            <p:ph type="sldNum" sz="quarter" idx="12"/>
          </p:nvPr>
        </p:nvSpPr>
        <p:spPr/>
        <p:txBody>
          <a:bodyPr/>
          <a:lstStyle/>
          <a:p>
            <a:fld id="{1B30F0CC-EBAF-4E3D-80D7-CFC82A3A738F}" type="slidenum">
              <a:rPr lang="en-US" smtClean="0"/>
              <a:pPr/>
              <a:t>26</a:t>
            </a:fld>
            <a:endParaRPr lang="en-US" dirty="0"/>
          </a:p>
        </p:txBody>
      </p:sp>
      <p:pic>
        <p:nvPicPr>
          <p:cNvPr id="7" name="Shape 1290">
            <a:extLst>
              <a:ext uri="{FF2B5EF4-FFF2-40B4-BE49-F238E27FC236}">
                <a16:creationId xmlns:a16="http://schemas.microsoft.com/office/drawing/2014/main" id="{EBCE7551-BC93-4A0B-972D-D92B051C2AEB}"/>
              </a:ext>
            </a:extLst>
          </p:cNvPr>
          <p:cNvPicPr preferRelativeResize="0"/>
          <p:nvPr/>
        </p:nvPicPr>
        <p:blipFill>
          <a:blip r:embed="rId3">
            <a:alphaModFix/>
          </a:blip>
          <a:stretch>
            <a:fillRect/>
          </a:stretch>
        </p:blipFill>
        <p:spPr>
          <a:xfrm>
            <a:off x="4038600" y="1443317"/>
            <a:ext cx="1650075" cy="1402565"/>
          </a:xfrm>
          <a:prstGeom prst="rect">
            <a:avLst/>
          </a:prstGeom>
          <a:noFill/>
          <a:ln>
            <a:noFill/>
          </a:ln>
        </p:spPr>
      </p:pic>
      <p:sp>
        <p:nvSpPr>
          <p:cNvPr id="8" name="Shape 1292">
            <a:extLst>
              <a:ext uri="{FF2B5EF4-FFF2-40B4-BE49-F238E27FC236}">
                <a16:creationId xmlns:a16="http://schemas.microsoft.com/office/drawing/2014/main" id="{7F380C65-D297-44D0-BBEC-E1709C281592}"/>
              </a:ext>
            </a:extLst>
          </p:cNvPr>
          <p:cNvSpPr txBox="1"/>
          <p:nvPr/>
        </p:nvSpPr>
        <p:spPr>
          <a:xfrm>
            <a:off x="1181280" y="1443316"/>
            <a:ext cx="1512000" cy="603600"/>
          </a:xfrm>
          <a:prstGeom prst="rect">
            <a:avLst/>
          </a:prstGeom>
          <a:noFill/>
          <a:ln>
            <a:noFill/>
          </a:ln>
        </p:spPr>
        <p:txBody>
          <a:bodyPr lIns="91425" tIns="91425" rIns="91425" bIns="91425" anchor="t" anchorCtr="0">
            <a:noAutofit/>
          </a:bodyPr>
          <a:lstStyle/>
          <a:p>
            <a:pPr lvl="0" rtl="0">
              <a:spcBef>
                <a:spcPts val="0"/>
              </a:spcBef>
              <a:buNone/>
            </a:pPr>
            <a:r>
              <a:rPr lang="en" sz="2400" b="1" dirty="0"/>
              <a:t>Sigmoid</a:t>
            </a:r>
          </a:p>
        </p:txBody>
      </p:sp>
      <p:pic>
        <p:nvPicPr>
          <p:cNvPr id="9" name="Shape 1293">
            <a:extLst>
              <a:ext uri="{FF2B5EF4-FFF2-40B4-BE49-F238E27FC236}">
                <a16:creationId xmlns:a16="http://schemas.microsoft.com/office/drawing/2014/main" id="{B8865AE3-29D8-4F2E-9D06-5DE2419DA089}"/>
              </a:ext>
            </a:extLst>
          </p:cNvPr>
          <p:cNvPicPr preferRelativeResize="0"/>
          <p:nvPr/>
        </p:nvPicPr>
        <p:blipFill>
          <a:blip r:embed="rId4">
            <a:alphaModFix/>
          </a:blip>
          <a:stretch>
            <a:fillRect/>
          </a:stretch>
        </p:blipFill>
        <p:spPr>
          <a:xfrm>
            <a:off x="1181280" y="2277616"/>
            <a:ext cx="2667674" cy="482634"/>
          </a:xfrm>
          <a:prstGeom prst="rect">
            <a:avLst/>
          </a:prstGeom>
          <a:noFill/>
          <a:ln>
            <a:noFill/>
          </a:ln>
        </p:spPr>
      </p:pic>
      <p:grpSp>
        <p:nvGrpSpPr>
          <p:cNvPr id="23" name="Group 22">
            <a:extLst>
              <a:ext uri="{FF2B5EF4-FFF2-40B4-BE49-F238E27FC236}">
                <a16:creationId xmlns:a16="http://schemas.microsoft.com/office/drawing/2014/main" id="{08491A5B-9BDC-4B46-8BF1-5488A3654D98}"/>
              </a:ext>
            </a:extLst>
          </p:cNvPr>
          <p:cNvGrpSpPr/>
          <p:nvPr/>
        </p:nvGrpSpPr>
        <p:grpSpPr>
          <a:xfrm>
            <a:off x="962152" y="4685871"/>
            <a:ext cx="4415175" cy="1402567"/>
            <a:chOff x="962152" y="4730475"/>
            <a:chExt cx="4415175" cy="1402567"/>
          </a:xfrm>
        </p:grpSpPr>
        <p:sp>
          <p:nvSpPr>
            <p:cNvPr id="12" name="Shape 1296">
              <a:extLst>
                <a:ext uri="{FF2B5EF4-FFF2-40B4-BE49-F238E27FC236}">
                  <a16:creationId xmlns:a16="http://schemas.microsoft.com/office/drawing/2014/main" id="{AAA6DC3C-94D0-464E-A728-429FBDFC7DCB}"/>
                </a:ext>
              </a:extLst>
            </p:cNvPr>
            <p:cNvSpPr txBox="1"/>
            <p:nvPr/>
          </p:nvSpPr>
          <p:spPr>
            <a:xfrm>
              <a:off x="962152" y="5320875"/>
              <a:ext cx="3127800" cy="603600"/>
            </a:xfrm>
            <a:prstGeom prst="rect">
              <a:avLst/>
            </a:prstGeom>
            <a:noFill/>
            <a:ln>
              <a:noFill/>
            </a:ln>
          </p:spPr>
          <p:txBody>
            <a:bodyPr lIns="91425" tIns="91425" rIns="91425" bIns="91425" anchor="t" anchorCtr="0">
              <a:noAutofit/>
            </a:bodyPr>
            <a:lstStyle/>
            <a:p>
              <a:pPr lvl="0" rtl="0">
                <a:spcBef>
                  <a:spcPts val="0"/>
                </a:spcBef>
                <a:buNone/>
              </a:pPr>
              <a:r>
                <a:rPr lang="en" sz="2400" b="1" dirty="0"/>
                <a:t>ReLU    </a:t>
              </a:r>
              <a:r>
                <a:rPr lang="en" sz="2400" dirty="0"/>
                <a:t>max(0,x)</a:t>
              </a:r>
            </a:p>
          </p:txBody>
        </p:sp>
        <p:pic>
          <p:nvPicPr>
            <p:cNvPr id="13" name="Shape 1297">
              <a:extLst>
                <a:ext uri="{FF2B5EF4-FFF2-40B4-BE49-F238E27FC236}">
                  <a16:creationId xmlns:a16="http://schemas.microsoft.com/office/drawing/2014/main" id="{9BCA7115-8B24-4716-BD3E-58B2B7F51598}"/>
                </a:ext>
              </a:extLst>
            </p:cNvPr>
            <p:cNvPicPr preferRelativeResize="0"/>
            <p:nvPr/>
          </p:nvPicPr>
          <p:blipFill>
            <a:blip r:embed="rId5">
              <a:alphaModFix/>
            </a:blip>
            <a:stretch>
              <a:fillRect/>
            </a:stretch>
          </p:blipFill>
          <p:spPr>
            <a:xfrm>
              <a:off x="3819477" y="4730475"/>
              <a:ext cx="1557850" cy="1402567"/>
            </a:xfrm>
            <a:prstGeom prst="rect">
              <a:avLst/>
            </a:prstGeom>
            <a:noFill/>
            <a:ln>
              <a:noFill/>
            </a:ln>
          </p:spPr>
        </p:pic>
      </p:grpSp>
      <p:grpSp>
        <p:nvGrpSpPr>
          <p:cNvPr id="24" name="Group 23">
            <a:extLst>
              <a:ext uri="{FF2B5EF4-FFF2-40B4-BE49-F238E27FC236}">
                <a16:creationId xmlns:a16="http://schemas.microsoft.com/office/drawing/2014/main" id="{57FBBDAD-B845-4176-A46C-66C1329D77E5}"/>
              </a:ext>
            </a:extLst>
          </p:cNvPr>
          <p:cNvGrpSpPr/>
          <p:nvPr/>
        </p:nvGrpSpPr>
        <p:grpSpPr>
          <a:xfrm>
            <a:off x="7039182" y="702756"/>
            <a:ext cx="4230091" cy="1859699"/>
            <a:chOff x="7039182" y="702756"/>
            <a:chExt cx="4230091" cy="1859699"/>
          </a:xfrm>
        </p:grpSpPr>
        <p:sp>
          <p:nvSpPr>
            <p:cNvPr id="14" name="Shape 1298">
              <a:extLst>
                <a:ext uri="{FF2B5EF4-FFF2-40B4-BE49-F238E27FC236}">
                  <a16:creationId xmlns:a16="http://schemas.microsoft.com/office/drawing/2014/main" id="{A7242246-B0C7-42E0-A6ED-7A3C50BB986C}"/>
                </a:ext>
              </a:extLst>
            </p:cNvPr>
            <p:cNvSpPr txBox="1"/>
            <p:nvPr/>
          </p:nvSpPr>
          <p:spPr>
            <a:xfrm>
              <a:off x="7039182" y="1147916"/>
              <a:ext cx="2285700" cy="928469"/>
            </a:xfrm>
            <a:prstGeom prst="rect">
              <a:avLst/>
            </a:prstGeom>
            <a:noFill/>
            <a:ln>
              <a:noFill/>
            </a:ln>
          </p:spPr>
          <p:txBody>
            <a:bodyPr lIns="91425" tIns="91425" rIns="91425" bIns="91425" anchor="t" anchorCtr="0">
              <a:noAutofit/>
            </a:bodyPr>
            <a:lstStyle/>
            <a:p>
              <a:pPr lvl="0" rtl="0">
                <a:spcBef>
                  <a:spcPts val="0"/>
                </a:spcBef>
                <a:buNone/>
              </a:pPr>
              <a:r>
                <a:rPr lang="en" sz="2400" b="1" dirty="0"/>
                <a:t>Leaky ReLU</a:t>
              </a:r>
            </a:p>
            <a:p>
              <a:pPr lvl="0" rtl="0">
                <a:spcBef>
                  <a:spcPts val="0"/>
                </a:spcBef>
                <a:buNone/>
              </a:pPr>
              <a:r>
                <a:rPr lang="en" sz="2400" dirty="0"/>
                <a:t>max(0.1x, x)</a:t>
              </a:r>
            </a:p>
          </p:txBody>
        </p:sp>
        <p:pic>
          <p:nvPicPr>
            <p:cNvPr id="15" name="Shape 1299">
              <a:extLst>
                <a:ext uri="{FF2B5EF4-FFF2-40B4-BE49-F238E27FC236}">
                  <a16:creationId xmlns:a16="http://schemas.microsoft.com/office/drawing/2014/main" id="{DCECCD5E-43FD-421F-8B3D-39B022F54388}"/>
                </a:ext>
              </a:extLst>
            </p:cNvPr>
            <p:cNvPicPr preferRelativeResize="0"/>
            <p:nvPr/>
          </p:nvPicPr>
          <p:blipFill>
            <a:blip r:embed="rId6">
              <a:alphaModFix/>
            </a:blip>
            <a:stretch>
              <a:fillRect/>
            </a:stretch>
          </p:blipFill>
          <p:spPr>
            <a:xfrm>
              <a:off x="9100374" y="702756"/>
              <a:ext cx="2168899" cy="1859699"/>
            </a:xfrm>
            <a:prstGeom prst="rect">
              <a:avLst/>
            </a:prstGeom>
            <a:noFill/>
            <a:ln>
              <a:noFill/>
            </a:ln>
          </p:spPr>
        </p:pic>
      </p:grpSp>
      <p:grpSp>
        <p:nvGrpSpPr>
          <p:cNvPr id="25" name="Group 24">
            <a:extLst>
              <a:ext uri="{FF2B5EF4-FFF2-40B4-BE49-F238E27FC236}">
                <a16:creationId xmlns:a16="http://schemas.microsoft.com/office/drawing/2014/main" id="{D0DECEF5-0335-4E1F-860B-9F7286336B83}"/>
              </a:ext>
            </a:extLst>
          </p:cNvPr>
          <p:cNvGrpSpPr/>
          <p:nvPr/>
        </p:nvGrpSpPr>
        <p:grpSpPr>
          <a:xfrm>
            <a:off x="7099432" y="2765475"/>
            <a:ext cx="3649466" cy="603600"/>
            <a:chOff x="7099432" y="3155767"/>
            <a:chExt cx="3649466" cy="603600"/>
          </a:xfrm>
        </p:grpSpPr>
        <p:sp>
          <p:nvSpPr>
            <p:cNvPr id="16" name="Shape 1300">
              <a:extLst>
                <a:ext uri="{FF2B5EF4-FFF2-40B4-BE49-F238E27FC236}">
                  <a16:creationId xmlns:a16="http://schemas.microsoft.com/office/drawing/2014/main" id="{717676FD-5571-488E-B321-0B41B2B17794}"/>
                </a:ext>
              </a:extLst>
            </p:cNvPr>
            <p:cNvSpPr txBox="1"/>
            <p:nvPr/>
          </p:nvSpPr>
          <p:spPr>
            <a:xfrm>
              <a:off x="7099432" y="3155767"/>
              <a:ext cx="2285700" cy="603600"/>
            </a:xfrm>
            <a:prstGeom prst="rect">
              <a:avLst/>
            </a:prstGeom>
            <a:noFill/>
            <a:ln>
              <a:noFill/>
            </a:ln>
          </p:spPr>
          <p:txBody>
            <a:bodyPr lIns="91425" tIns="91425" rIns="91425" bIns="91425" anchor="t" anchorCtr="0">
              <a:noAutofit/>
            </a:bodyPr>
            <a:lstStyle/>
            <a:p>
              <a:pPr lvl="0" rtl="0">
                <a:spcBef>
                  <a:spcPts val="0"/>
                </a:spcBef>
                <a:buNone/>
              </a:pPr>
              <a:r>
                <a:rPr lang="en" sz="2400" b="1" dirty="0"/>
                <a:t>Maxout</a:t>
              </a:r>
            </a:p>
          </p:txBody>
        </p:sp>
        <p:pic>
          <p:nvPicPr>
            <p:cNvPr id="17" name="Shape 1301">
              <a:extLst>
                <a:ext uri="{FF2B5EF4-FFF2-40B4-BE49-F238E27FC236}">
                  <a16:creationId xmlns:a16="http://schemas.microsoft.com/office/drawing/2014/main" id="{2D414A7C-1251-4EB3-A5E4-A2929372C7E1}"/>
                </a:ext>
              </a:extLst>
            </p:cNvPr>
            <p:cNvPicPr preferRelativeResize="0"/>
            <p:nvPr/>
          </p:nvPicPr>
          <p:blipFill>
            <a:blip r:embed="rId7">
              <a:alphaModFix/>
            </a:blip>
            <a:stretch>
              <a:fillRect/>
            </a:stretch>
          </p:blipFill>
          <p:spPr>
            <a:xfrm>
              <a:off x="8467568" y="3236452"/>
              <a:ext cx="2281330" cy="333452"/>
            </a:xfrm>
            <a:prstGeom prst="rect">
              <a:avLst/>
            </a:prstGeom>
            <a:noFill/>
            <a:ln>
              <a:noFill/>
            </a:ln>
          </p:spPr>
        </p:pic>
      </p:grpSp>
      <p:grpSp>
        <p:nvGrpSpPr>
          <p:cNvPr id="26" name="Group 25">
            <a:extLst>
              <a:ext uri="{FF2B5EF4-FFF2-40B4-BE49-F238E27FC236}">
                <a16:creationId xmlns:a16="http://schemas.microsoft.com/office/drawing/2014/main" id="{865C0BF9-70FB-4535-A928-8D48D233AD39}"/>
              </a:ext>
            </a:extLst>
          </p:cNvPr>
          <p:cNvGrpSpPr/>
          <p:nvPr/>
        </p:nvGrpSpPr>
        <p:grpSpPr>
          <a:xfrm>
            <a:off x="7010550" y="3533130"/>
            <a:ext cx="4500865" cy="2378779"/>
            <a:chOff x="7010550" y="3923422"/>
            <a:chExt cx="4500865" cy="2378779"/>
          </a:xfrm>
        </p:grpSpPr>
        <p:pic>
          <p:nvPicPr>
            <p:cNvPr id="18" name="Shape 1302">
              <a:extLst>
                <a:ext uri="{FF2B5EF4-FFF2-40B4-BE49-F238E27FC236}">
                  <a16:creationId xmlns:a16="http://schemas.microsoft.com/office/drawing/2014/main" id="{368CA967-2422-414D-B8F6-AD6CECA79270}"/>
                </a:ext>
              </a:extLst>
            </p:cNvPr>
            <p:cNvPicPr preferRelativeResize="0"/>
            <p:nvPr/>
          </p:nvPicPr>
          <p:blipFill>
            <a:blip r:embed="rId8">
              <a:alphaModFix/>
            </a:blip>
            <a:stretch>
              <a:fillRect/>
            </a:stretch>
          </p:blipFill>
          <p:spPr>
            <a:xfrm>
              <a:off x="8017764" y="4778134"/>
              <a:ext cx="2317625" cy="1524067"/>
            </a:xfrm>
            <a:prstGeom prst="rect">
              <a:avLst/>
            </a:prstGeom>
            <a:noFill/>
            <a:ln>
              <a:noFill/>
            </a:ln>
          </p:spPr>
        </p:pic>
        <p:sp>
          <p:nvSpPr>
            <p:cNvPr id="19" name="Shape 1303">
              <a:extLst>
                <a:ext uri="{FF2B5EF4-FFF2-40B4-BE49-F238E27FC236}">
                  <a16:creationId xmlns:a16="http://schemas.microsoft.com/office/drawing/2014/main" id="{461D1DC0-36B5-4E2F-B683-9AF3927DEB21}"/>
                </a:ext>
              </a:extLst>
            </p:cNvPr>
            <p:cNvSpPr txBox="1"/>
            <p:nvPr/>
          </p:nvSpPr>
          <p:spPr>
            <a:xfrm>
              <a:off x="7010550" y="3923422"/>
              <a:ext cx="2285700" cy="603600"/>
            </a:xfrm>
            <a:prstGeom prst="rect">
              <a:avLst/>
            </a:prstGeom>
            <a:noFill/>
            <a:ln>
              <a:noFill/>
            </a:ln>
          </p:spPr>
          <p:txBody>
            <a:bodyPr lIns="91425" tIns="91425" rIns="91425" bIns="91425" anchor="t" anchorCtr="0">
              <a:noAutofit/>
            </a:bodyPr>
            <a:lstStyle/>
            <a:p>
              <a:pPr lvl="0"/>
              <a:r>
                <a:rPr lang="en" sz="2400" b="1" dirty="0"/>
                <a:t>ELU </a:t>
              </a:r>
              <a:r>
                <a:rPr lang="en-US" dirty="0"/>
                <a:t>Exponential Linear Unit</a:t>
              </a:r>
              <a:endParaRPr lang="en" sz="2400" b="1" dirty="0"/>
            </a:p>
          </p:txBody>
        </p:sp>
        <p:pic>
          <p:nvPicPr>
            <p:cNvPr id="20" name="Shape 1304">
              <a:extLst>
                <a:ext uri="{FF2B5EF4-FFF2-40B4-BE49-F238E27FC236}">
                  <a16:creationId xmlns:a16="http://schemas.microsoft.com/office/drawing/2014/main" id="{8815BFFC-C9EE-4904-A18B-534E3C6F8FCA}"/>
                </a:ext>
              </a:extLst>
            </p:cNvPr>
            <p:cNvPicPr preferRelativeResize="0"/>
            <p:nvPr/>
          </p:nvPicPr>
          <p:blipFill>
            <a:blip r:embed="rId9">
              <a:alphaModFix/>
            </a:blip>
            <a:stretch>
              <a:fillRect/>
            </a:stretch>
          </p:blipFill>
          <p:spPr>
            <a:xfrm>
              <a:off x="8929238" y="3947021"/>
              <a:ext cx="2582177" cy="643334"/>
            </a:xfrm>
            <a:prstGeom prst="rect">
              <a:avLst/>
            </a:prstGeom>
            <a:noFill/>
            <a:ln>
              <a:noFill/>
            </a:ln>
          </p:spPr>
        </p:pic>
      </p:grpSp>
      <p:grpSp>
        <p:nvGrpSpPr>
          <p:cNvPr id="22" name="Group 21">
            <a:extLst>
              <a:ext uri="{FF2B5EF4-FFF2-40B4-BE49-F238E27FC236}">
                <a16:creationId xmlns:a16="http://schemas.microsoft.com/office/drawing/2014/main" id="{F8E41C45-8918-4FAD-A2E0-CEAE45CB8FF2}"/>
              </a:ext>
            </a:extLst>
          </p:cNvPr>
          <p:cNvGrpSpPr/>
          <p:nvPr/>
        </p:nvGrpSpPr>
        <p:grpSpPr>
          <a:xfrm>
            <a:off x="1075843" y="3214494"/>
            <a:ext cx="4301484" cy="1388812"/>
            <a:chOff x="1075843" y="3259098"/>
            <a:chExt cx="4301484" cy="1388812"/>
          </a:xfrm>
        </p:grpSpPr>
        <p:sp>
          <p:nvSpPr>
            <p:cNvPr id="10" name="Shape 1294">
              <a:extLst>
                <a:ext uri="{FF2B5EF4-FFF2-40B4-BE49-F238E27FC236}">
                  <a16:creationId xmlns:a16="http://schemas.microsoft.com/office/drawing/2014/main" id="{0655EE47-E509-4F93-9B37-9B02E999A6FF}"/>
                </a:ext>
              </a:extLst>
            </p:cNvPr>
            <p:cNvSpPr txBox="1"/>
            <p:nvPr/>
          </p:nvSpPr>
          <p:spPr>
            <a:xfrm>
              <a:off x="1075843" y="3343421"/>
              <a:ext cx="2964299" cy="603600"/>
            </a:xfrm>
            <a:prstGeom prst="rect">
              <a:avLst/>
            </a:prstGeom>
            <a:noFill/>
            <a:ln>
              <a:noFill/>
            </a:ln>
          </p:spPr>
          <p:txBody>
            <a:bodyPr lIns="91425" tIns="91425" rIns="91425" bIns="91425" anchor="t" anchorCtr="0">
              <a:noAutofit/>
            </a:bodyPr>
            <a:lstStyle/>
            <a:p>
              <a:pPr lvl="0" rtl="0">
                <a:spcBef>
                  <a:spcPts val="0"/>
                </a:spcBef>
                <a:buNone/>
              </a:pPr>
              <a:r>
                <a:rPr lang="en" sz="2400" b="1" dirty="0"/>
                <a:t>tanh    </a:t>
              </a:r>
              <a:r>
                <a:rPr lang="en" sz="2400" dirty="0"/>
                <a:t>tanh(x)</a:t>
              </a:r>
            </a:p>
          </p:txBody>
        </p:sp>
        <p:pic>
          <p:nvPicPr>
            <p:cNvPr id="11" name="Shape 1295">
              <a:extLst>
                <a:ext uri="{FF2B5EF4-FFF2-40B4-BE49-F238E27FC236}">
                  <a16:creationId xmlns:a16="http://schemas.microsoft.com/office/drawing/2014/main" id="{249ACF2A-CBE7-4041-86D5-63A60A1B0310}"/>
                </a:ext>
              </a:extLst>
            </p:cNvPr>
            <p:cNvPicPr preferRelativeResize="0"/>
            <p:nvPr/>
          </p:nvPicPr>
          <p:blipFill>
            <a:blip r:embed="rId10">
              <a:alphaModFix/>
            </a:blip>
            <a:stretch>
              <a:fillRect/>
            </a:stretch>
          </p:blipFill>
          <p:spPr>
            <a:xfrm>
              <a:off x="3727252" y="3259098"/>
              <a:ext cx="1650075" cy="1388812"/>
            </a:xfrm>
            <a:prstGeom prst="rect">
              <a:avLst/>
            </a:prstGeom>
            <a:noFill/>
            <a:ln>
              <a:noFill/>
            </a:ln>
          </p:spPr>
        </p:pic>
        <p:pic>
          <p:nvPicPr>
            <p:cNvPr id="21" name="Picture 20">
              <a:extLst>
                <a:ext uri="{FF2B5EF4-FFF2-40B4-BE49-F238E27FC236}">
                  <a16:creationId xmlns:a16="http://schemas.microsoft.com/office/drawing/2014/main" id="{5BE3309B-37C5-44F0-9A68-F4998EE39EAE}"/>
                </a:ext>
              </a:extLst>
            </p:cNvPr>
            <p:cNvPicPr>
              <a:picLocks noChangeAspect="1"/>
            </p:cNvPicPr>
            <p:nvPr/>
          </p:nvPicPr>
          <p:blipFill>
            <a:blip r:embed="rId11"/>
            <a:stretch>
              <a:fillRect/>
            </a:stretch>
          </p:blipFill>
          <p:spPr>
            <a:xfrm>
              <a:off x="1993243" y="3904219"/>
              <a:ext cx="884537" cy="686136"/>
            </a:xfrm>
            <a:prstGeom prst="rect">
              <a:avLst/>
            </a:prstGeom>
          </p:spPr>
        </p:pic>
      </p:grpSp>
      <p:sp>
        <p:nvSpPr>
          <p:cNvPr id="5" name="TextBox 4">
            <a:extLst>
              <a:ext uri="{FF2B5EF4-FFF2-40B4-BE49-F238E27FC236}">
                <a16:creationId xmlns:a16="http://schemas.microsoft.com/office/drawing/2014/main" id="{FADBCEDC-11BD-319B-A979-9A779BBBFE6A}"/>
              </a:ext>
            </a:extLst>
          </p:cNvPr>
          <p:cNvSpPr txBox="1"/>
          <p:nvPr/>
        </p:nvSpPr>
        <p:spPr>
          <a:xfrm>
            <a:off x="3557239" y="4014749"/>
            <a:ext cx="2285700" cy="369332"/>
          </a:xfrm>
          <a:prstGeom prst="rect">
            <a:avLst/>
          </a:prstGeom>
          <a:noFill/>
        </p:spPr>
        <p:txBody>
          <a:bodyPr wrap="square">
            <a:spAutoFit/>
          </a:bodyPr>
          <a:lstStyle/>
          <a:p>
            <a:r>
              <a:rPr lang="en-US" dirty="0"/>
              <a:t>Hyperbolic tangent</a:t>
            </a:r>
          </a:p>
        </p:txBody>
      </p:sp>
    </p:spTree>
    <p:extLst>
      <p:ext uri="{BB962C8B-B14F-4D97-AF65-F5344CB8AC3E}">
        <p14:creationId xmlns:p14="http://schemas.microsoft.com/office/powerpoint/2010/main" val="296685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4A61-E82C-455C-95CD-9EE68C487F97}"/>
              </a:ext>
            </a:extLst>
          </p:cNvPr>
          <p:cNvSpPr>
            <a:spLocks noGrp="1"/>
          </p:cNvSpPr>
          <p:nvPr>
            <p:ph type="title"/>
          </p:nvPr>
        </p:nvSpPr>
        <p:spPr/>
        <p:txBody>
          <a:bodyPr/>
          <a:lstStyle/>
          <a:p>
            <a:r>
              <a:rPr lang="en-US" dirty="0"/>
              <a:t>Fully Connected Layer</a:t>
            </a:r>
          </a:p>
        </p:txBody>
      </p:sp>
      <p:sp>
        <p:nvSpPr>
          <p:cNvPr id="6" name="Slide Number Placeholder 5">
            <a:extLst>
              <a:ext uri="{FF2B5EF4-FFF2-40B4-BE49-F238E27FC236}">
                <a16:creationId xmlns:a16="http://schemas.microsoft.com/office/drawing/2014/main" id="{B9521014-617E-4F30-8844-BB454310F219}"/>
              </a:ext>
            </a:extLst>
          </p:cNvPr>
          <p:cNvSpPr>
            <a:spLocks noGrp="1"/>
          </p:cNvSpPr>
          <p:nvPr>
            <p:ph type="sldNum" sz="quarter" idx="12"/>
          </p:nvPr>
        </p:nvSpPr>
        <p:spPr/>
        <p:txBody>
          <a:bodyPr/>
          <a:lstStyle/>
          <a:p>
            <a:fld id="{1B30F0CC-EBAF-4E3D-80D7-CFC82A3A738F}" type="slidenum">
              <a:rPr lang="en-US" smtClean="0"/>
              <a:pPr/>
              <a:t>27</a:t>
            </a:fld>
            <a:endParaRPr lang="en-US" dirty="0"/>
          </a:p>
        </p:txBody>
      </p:sp>
      <p:sp>
        <p:nvSpPr>
          <p:cNvPr id="8" name="Rectangle 7">
            <a:extLst>
              <a:ext uri="{FF2B5EF4-FFF2-40B4-BE49-F238E27FC236}">
                <a16:creationId xmlns:a16="http://schemas.microsoft.com/office/drawing/2014/main" id="{06C48A96-8C65-47DA-A4E2-3700B6AC3BD7}"/>
              </a:ext>
            </a:extLst>
          </p:cNvPr>
          <p:cNvSpPr/>
          <p:nvPr/>
        </p:nvSpPr>
        <p:spPr>
          <a:xfrm>
            <a:off x="1183957" y="2848132"/>
            <a:ext cx="254833" cy="18999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DA8CD8E-55DC-40A7-9096-63F08C8EA901}"/>
              </a:ext>
            </a:extLst>
          </p:cNvPr>
          <p:cNvSpPr/>
          <p:nvPr/>
        </p:nvSpPr>
        <p:spPr>
          <a:xfrm>
            <a:off x="2528341" y="2848132"/>
            <a:ext cx="2106118" cy="184746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67126060-4B47-47CE-A8D1-58FE1D629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276" y="4904237"/>
            <a:ext cx="1663361" cy="3094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80DE8B2-9373-48C0-BDEC-8594D0DEF0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6387" y="4849153"/>
            <a:ext cx="2290567" cy="364547"/>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34D30061-C42E-4E5B-B556-A5CCC44136E2}"/>
              </a:ext>
            </a:extLst>
          </p:cNvPr>
          <p:cNvSpPr/>
          <p:nvPr/>
        </p:nvSpPr>
        <p:spPr>
          <a:xfrm>
            <a:off x="5823944" y="2821899"/>
            <a:ext cx="254833" cy="189993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a:extLst>
              <a:ext uri="{FF2B5EF4-FFF2-40B4-BE49-F238E27FC236}">
                <a16:creationId xmlns:a16="http://schemas.microsoft.com/office/drawing/2014/main" id="{0AC4A141-48FB-4BED-B00A-CEE5E98180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4205" y="4839147"/>
            <a:ext cx="1709144" cy="384557"/>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8CCB7857-B6D1-419A-A7C0-5CEF703D9BEA}"/>
              </a:ext>
            </a:extLst>
          </p:cNvPr>
          <p:cNvGrpSpPr/>
          <p:nvPr/>
        </p:nvGrpSpPr>
        <p:grpSpPr>
          <a:xfrm>
            <a:off x="7927309" y="1533056"/>
            <a:ext cx="3965241" cy="3995443"/>
            <a:chOff x="8000299" y="1533056"/>
            <a:chExt cx="3965241" cy="3995443"/>
          </a:xfrm>
        </p:grpSpPr>
        <p:pic>
          <p:nvPicPr>
            <p:cNvPr id="11" name="Picture 10" descr="Diagram&#10;&#10;Description automatically generated">
              <a:extLst>
                <a:ext uri="{FF2B5EF4-FFF2-40B4-BE49-F238E27FC236}">
                  <a16:creationId xmlns:a16="http://schemas.microsoft.com/office/drawing/2014/main" id="{296122EF-0DA6-4A63-B5B6-DCA190D8FC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7196" y="2063289"/>
              <a:ext cx="2856834" cy="3064295"/>
            </a:xfrm>
            <a:prstGeom prst="rect">
              <a:avLst/>
            </a:prstGeom>
          </p:spPr>
        </p:pic>
        <p:pic>
          <p:nvPicPr>
            <p:cNvPr id="17" name="Picture 4">
              <a:extLst>
                <a:ext uri="{FF2B5EF4-FFF2-40B4-BE49-F238E27FC236}">
                  <a16:creationId xmlns:a16="http://schemas.microsoft.com/office/drawing/2014/main" id="{7808D9D5-9783-49C0-9143-0E853688E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0299" y="5215314"/>
              <a:ext cx="1309086" cy="24355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a:extLst>
                <a:ext uri="{FF2B5EF4-FFF2-40B4-BE49-F238E27FC236}">
                  <a16:creationId xmlns:a16="http://schemas.microsoft.com/office/drawing/2014/main" id="{0982A5C7-C631-405F-9C3F-DEC4D23203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56396" y="5143942"/>
              <a:ext cx="1709144" cy="38455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84390C9A-A691-46FE-B5F1-59106A2207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3719" y="1533056"/>
              <a:ext cx="2290567" cy="364547"/>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a:extLst>
              <a:ext uri="{FF2B5EF4-FFF2-40B4-BE49-F238E27FC236}">
                <a16:creationId xmlns:a16="http://schemas.microsoft.com/office/drawing/2014/main" id="{6EABDB76-106E-485C-9CB4-64D2FA554D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44318" y="1919620"/>
            <a:ext cx="2733675" cy="71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78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314C-EB6E-426C-AD20-841C05054E03}"/>
              </a:ext>
            </a:extLst>
          </p:cNvPr>
          <p:cNvSpPr>
            <a:spLocks noGrp="1"/>
          </p:cNvSpPr>
          <p:nvPr>
            <p:ph type="title"/>
          </p:nvPr>
        </p:nvSpPr>
        <p:spPr/>
        <p:txBody>
          <a:bodyPr/>
          <a:lstStyle/>
          <a:p>
            <a:r>
              <a:rPr lang="en-US" dirty="0"/>
              <a:t>Fully Connected Layer</a:t>
            </a:r>
          </a:p>
        </p:txBody>
      </p:sp>
      <p:sp>
        <p:nvSpPr>
          <p:cNvPr id="3" name="Content Placeholder 2">
            <a:extLst>
              <a:ext uri="{FF2B5EF4-FFF2-40B4-BE49-F238E27FC236}">
                <a16:creationId xmlns:a16="http://schemas.microsoft.com/office/drawing/2014/main" id="{0A6A4847-0A19-4FD0-8B75-ADE82667FC89}"/>
              </a:ext>
            </a:extLst>
          </p:cNvPr>
          <p:cNvSpPr>
            <a:spLocks noGrp="1"/>
          </p:cNvSpPr>
          <p:nvPr>
            <p:ph idx="1"/>
          </p:nvPr>
        </p:nvSpPr>
        <p:spPr/>
        <p:txBody>
          <a:bodyPr/>
          <a:lstStyle/>
          <a:p>
            <a:r>
              <a:rPr lang="en-US" dirty="0"/>
              <a:t>What is the drawback of only using fully connected layers?</a:t>
            </a:r>
          </a:p>
          <a:p>
            <a:endParaRPr lang="en-US" dirty="0"/>
          </a:p>
          <a:p>
            <a:endParaRPr lang="en-US" dirty="0"/>
          </a:p>
          <a:p>
            <a:endParaRPr lang="en-US" dirty="0"/>
          </a:p>
          <a:p>
            <a:r>
              <a:rPr lang="en-US" dirty="0"/>
              <a:t>Consider an image with 640 x 480</a:t>
            </a:r>
          </a:p>
          <a:p>
            <a:pPr lvl="1"/>
            <a:r>
              <a:rPr lang="en-US" dirty="0"/>
              <a:t>x is with dimension 307,200</a:t>
            </a:r>
          </a:p>
          <a:p>
            <a:pPr lvl="1"/>
            <a:r>
              <a:rPr lang="en-US" dirty="0"/>
              <a:t>The weight matrix of the fully connect layer is too large</a:t>
            </a:r>
          </a:p>
        </p:txBody>
      </p:sp>
      <p:sp>
        <p:nvSpPr>
          <p:cNvPr id="6" name="Slide Number Placeholder 5">
            <a:extLst>
              <a:ext uri="{FF2B5EF4-FFF2-40B4-BE49-F238E27FC236}">
                <a16:creationId xmlns:a16="http://schemas.microsoft.com/office/drawing/2014/main" id="{2DF0E5B0-7895-4002-911D-72862597E6B0}"/>
              </a:ext>
            </a:extLst>
          </p:cNvPr>
          <p:cNvSpPr>
            <a:spLocks noGrp="1"/>
          </p:cNvSpPr>
          <p:nvPr>
            <p:ph type="sldNum" sz="quarter" idx="12"/>
          </p:nvPr>
        </p:nvSpPr>
        <p:spPr/>
        <p:txBody>
          <a:bodyPr/>
          <a:lstStyle/>
          <a:p>
            <a:fld id="{1B30F0CC-EBAF-4E3D-80D7-CFC82A3A738F}" type="slidenum">
              <a:rPr lang="en-US" smtClean="0"/>
              <a:pPr/>
              <a:t>28</a:t>
            </a:fld>
            <a:endParaRPr lang="en-US" dirty="0"/>
          </a:p>
        </p:txBody>
      </p:sp>
      <p:pic>
        <p:nvPicPr>
          <p:cNvPr id="7" name="Picture 10">
            <a:extLst>
              <a:ext uri="{FF2B5EF4-FFF2-40B4-BE49-F238E27FC236}">
                <a16:creationId xmlns:a16="http://schemas.microsoft.com/office/drawing/2014/main" id="{70B6F2F1-1EDB-4F38-A1CB-1AF3E9ABE8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5467" y="2354335"/>
            <a:ext cx="2510128" cy="655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929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FED58-C27B-40BA-B4E7-A8707CF12B6A}"/>
              </a:ext>
            </a:extLst>
          </p:cNvPr>
          <p:cNvSpPr>
            <a:spLocks noGrp="1"/>
          </p:cNvSpPr>
          <p:nvPr>
            <p:ph type="title"/>
          </p:nvPr>
        </p:nvSpPr>
        <p:spPr/>
        <p:txBody>
          <a:bodyPr/>
          <a:lstStyle/>
          <a:p>
            <a:r>
              <a:rPr lang="en-US" dirty="0"/>
              <a:t>Convolutional Layers</a:t>
            </a:r>
          </a:p>
        </p:txBody>
      </p:sp>
      <p:sp>
        <p:nvSpPr>
          <p:cNvPr id="3" name="Content Placeholder 2">
            <a:extLst>
              <a:ext uri="{FF2B5EF4-FFF2-40B4-BE49-F238E27FC236}">
                <a16:creationId xmlns:a16="http://schemas.microsoft.com/office/drawing/2014/main" id="{BFE2955A-A3DB-4336-9A94-E6EAE9A81986}"/>
              </a:ext>
            </a:extLst>
          </p:cNvPr>
          <p:cNvSpPr>
            <a:spLocks noGrp="1"/>
          </p:cNvSpPr>
          <p:nvPr>
            <p:ph idx="1"/>
          </p:nvPr>
        </p:nvSpPr>
        <p:spPr/>
        <p:txBody>
          <a:bodyPr/>
          <a:lstStyle/>
          <a:p>
            <a:r>
              <a:rPr lang="en-US" dirty="0"/>
              <a:t>Consist of convolutional filters</a:t>
            </a:r>
          </a:p>
          <a:p>
            <a:endParaRPr lang="en-US" dirty="0"/>
          </a:p>
          <a:p>
            <a:r>
              <a:rPr lang="en-US" dirty="0"/>
              <a:t>Share weights among different image locations</a:t>
            </a:r>
          </a:p>
        </p:txBody>
      </p:sp>
      <p:sp>
        <p:nvSpPr>
          <p:cNvPr id="6" name="Slide Number Placeholder 5">
            <a:extLst>
              <a:ext uri="{FF2B5EF4-FFF2-40B4-BE49-F238E27FC236}">
                <a16:creationId xmlns:a16="http://schemas.microsoft.com/office/drawing/2014/main" id="{93CB7692-30AD-407B-84EF-E562F87AA9AA}"/>
              </a:ext>
            </a:extLst>
          </p:cNvPr>
          <p:cNvSpPr>
            <a:spLocks noGrp="1"/>
          </p:cNvSpPr>
          <p:nvPr>
            <p:ph type="sldNum" sz="quarter" idx="12"/>
          </p:nvPr>
        </p:nvSpPr>
        <p:spPr/>
        <p:txBody>
          <a:bodyPr/>
          <a:lstStyle/>
          <a:p>
            <a:fld id="{1B30F0CC-EBAF-4E3D-80D7-CFC82A3A738F}" type="slidenum">
              <a:rPr lang="en-US" smtClean="0"/>
              <a:pPr/>
              <a:t>29</a:t>
            </a:fld>
            <a:endParaRPr lang="en-US" dirty="0"/>
          </a:p>
        </p:txBody>
      </p:sp>
    </p:spTree>
    <p:extLst>
      <p:ext uri="{BB962C8B-B14F-4D97-AF65-F5344CB8AC3E}">
        <p14:creationId xmlns:p14="http://schemas.microsoft.com/office/powerpoint/2010/main" val="244887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865548-C118-408C-13D2-CE26F824E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1C747-3567-1993-EB90-BEB10DCDF85A}"/>
              </a:ext>
            </a:extLst>
          </p:cNvPr>
          <p:cNvSpPr>
            <a:spLocks noGrp="1"/>
          </p:cNvSpPr>
          <p:nvPr>
            <p:ph type="title"/>
          </p:nvPr>
        </p:nvSpPr>
        <p:spPr/>
        <p:txBody>
          <a:bodyPr/>
          <a:lstStyle/>
          <a:p>
            <a:r>
              <a:rPr lang="en-US" dirty="0"/>
              <a:t>Convolutional Layers</a:t>
            </a:r>
          </a:p>
        </p:txBody>
      </p:sp>
      <p:sp>
        <p:nvSpPr>
          <p:cNvPr id="3" name="Content Placeholder 2">
            <a:extLst>
              <a:ext uri="{FF2B5EF4-FFF2-40B4-BE49-F238E27FC236}">
                <a16:creationId xmlns:a16="http://schemas.microsoft.com/office/drawing/2014/main" id="{5F84701A-3A59-91CF-9184-6527EDDA1AA0}"/>
              </a:ext>
            </a:extLst>
          </p:cNvPr>
          <p:cNvSpPr>
            <a:spLocks noGrp="1"/>
          </p:cNvSpPr>
          <p:nvPr>
            <p:ph idx="1"/>
          </p:nvPr>
        </p:nvSpPr>
        <p:spPr/>
        <p:txBody>
          <a:bodyPr/>
          <a:lstStyle/>
          <a:p>
            <a:r>
              <a:rPr lang="en-US" dirty="0"/>
              <a:t>Consist of convolutional filters</a:t>
            </a:r>
          </a:p>
          <a:p>
            <a:endParaRPr lang="en-US" dirty="0"/>
          </a:p>
          <a:p>
            <a:r>
              <a:rPr lang="en-US" dirty="0"/>
              <a:t>Share weights among different image locations</a:t>
            </a:r>
          </a:p>
        </p:txBody>
      </p:sp>
      <p:sp>
        <p:nvSpPr>
          <p:cNvPr id="6" name="Slide Number Placeholder 5">
            <a:extLst>
              <a:ext uri="{FF2B5EF4-FFF2-40B4-BE49-F238E27FC236}">
                <a16:creationId xmlns:a16="http://schemas.microsoft.com/office/drawing/2014/main" id="{D2B9782A-4FFE-6C61-FB51-67373D8674C2}"/>
              </a:ext>
            </a:extLst>
          </p:cNvPr>
          <p:cNvSpPr>
            <a:spLocks noGrp="1"/>
          </p:cNvSpPr>
          <p:nvPr>
            <p:ph type="sldNum" sz="quarter" idx="12"/>
          </p:nvPr>
        </p:nvSpPr>
        <p:spPr/>
        <p:txBody>
          <a:bodyPr/>
          <a:lstStyle/>
          <a:p>
            <a:fld id="{1B30F0CC-EBAF-4E3D-80D7-CFC82A3A738F}" type="slidenum">
              <a:rPr lang="en-US" smtClean="0"/>
              <a:pPr/>
              <a:t>30</a:t>
            </a:fld>
            <a:endParaRPr lang="en-US" dirty="0"/>
          </a:p>
        </p:txBody>
      </p:sp>
      <p:grpSp>
        <p:nvGrpSpPr>
          <p:cNvPr id="7" name="Group 6">
            <a:extLst>
              <a:ext uri="{FF2B5EF4-FFF2-40B4-BE49-F238E27FC236}">
                <a16:creationId xmlns:a16="http://schemas.microsoft.com/office/drawing/2014/main" id="{1D2DDB2A-BA33-709E-72B3-0EF7F5F7AC92}"/>
              </a:ext>
            </a:extLst>
          </p:cNvPr>
          <p:cNvGrpSpPr/>
          <p:nvPr/>
        </p:nvGrpSpPr>
        <p:grpSpPr>
          <a:xfrm>
            <a:off x="2977105" y="3204508"/>
            <a:ext cx="5551049" cy="2668320"/>
            <a:chOff x="2977105" y="3204508"/>
            <a:chExt cx="5551049" cy="2668320"/>
          </a:xfrm>
        </p:grpSpPr>
        <p:pic>
          <p:nvPicPr>
            <p:cNvPr id="9" name="Picture 8">
              <a:extLst>
                <a:ext uri="{FF2B5EF4-FFF2-40B4-BE49-F238E27FC236}">
                  <a16:creationId xmlns:a16="http://schemas.microsoft.com/office/drawing/2014/main" id="{AB639056-DA95-8380-B7E4-BA99F3AAA328}"/>
                </a:ext>
              </a:extLst>
            </p:cNvPr>
            <p:cNvPicPr>
              <a:picLocks noChangeAspect="1"/>
            </p:cNvPicPr>
            <p:nvPr/>
          </p:nvPicPr>
          <p:blipFill>
            <a:blip r:embed="rId3"/>
            <a:stretch>
              <a:fillRect/>
            </a:stretch>
          </p:blipFill>
          <p:spPr>
            <a:xfrm>
              <a:off x="5079672" y="3204508"/>
              <a:ext cx="3448482" cy="1149494"/>
            </a:xfrm>
            <a:prstGeom prst="rect">
              <a:avLst/>
            </a:prstGeom>
          </p:spPr>
        </p:pic>
        <p:pic>
          <p:nvPicPr>
            <p:cNvPr id="10" name="Picture 9">
              <a:extLst>
                <a:ext uri="{FF2B5EF4-FFF2-40B4-BE49-F238E27FC236}">
                  <a16:creationId xmlns:a16="http://schemas.microsoft.com/office/drawing/2014/main" id="{AD572ECB-F054-769A-2E37-0C410447B86D}"/>
                </a:ext>
              </a:extLst>
            </p:cNvPr>
            <p:cNvPicPr>
              <a:picLocks noChangeAspect="1"/>
            </p:cNvPicPr>
            <p:nvPr/>
          </p:nvPicPr>
          <p:blipFill>
            <a:blip r:embed="rId4"/>
            <a:stretch>
              <a:fillRect/>
            </a:stretch>
          </p:blipFill>
          <p:spPr>
            <a:xfrm>
              <a:off x="4720666" y="4267327"/>
              <a:ext cx="3676499" cy="1605501"/>
            </a:xfrm>
            <a:prstGeom prst="rect">
              <a:avLst/>
            </a:prstGeom>
          </p:spPr>
        </p:pic>
        <p:sp>
          <p:nvSpPr>
            <p:cNvPr id="12" name="TextBox 11">
              <a:extLst>
                <a:ext uri="{FF2B5EF4-FFF2-40B4-BE49-F238E27FC236}">
                  <a16:creationId xmlns:a16="http://schemas.microsoft.com/office/drawing/2014/main" id="{DB65AD31-F4A9-F601-E6E7-E20985D468FB}"/>
                </a:ext>
              </a:extLst>
            </p:cNvPr>
            <p:cNvSpPr txBox="1"/>
            <p:nvPr/>
          </p:nvSpPr>
          <p:spPr>
            <a:xfrm>
              <a:off x="2977105" y="4518893"/>
              <a:ext cx="1656293" cy="369332"/>
            </a:xfrm>
            <a:prstGeom prst="rect">
              <a:avLst/>
            </a:prstGeom>
            <a:noFill/>
          </p:spPr>
          <p:txBody>
            <a:bodyPr wrap="square">
              <a:spAutoFit/>
            </a:bodyPr>
            <a:lstStyle/>
            <a:p>
              <a:r>
                <a:rPr lang="en-US" dirty="0"/>
                <a:t>Gaussian Filter</a:t>
              </a:r>
            </a:p>
          </p:txBody>
        </p:sp>
      </p:grpSp>
      <p:sp>
        <p:nvSpPr>
          <p:cNvPr id="11" name="TextBox 10">
            <a:extLst>
              <a:ext uri="{FF2B5EF4-FFF2-40B4-BE49-F238E27FC236}">
                <a16:creationId xmlns:a16="http://schemas.microsoft.com/office/drawing/2014/main" id="{EF266F33-EF43-4B02-01D8-48883DD45140}"/>
              </a:ext>
            </a:extLst>
          </p:cNvPr>
          <p:cNvSpPr txBox="1"/>
          <p:nvPr/>
        </p:nvSpPr>
        <p:spPr>
          <a:xfrm>
            <a:off x="9630382" y="4700745"/>
            <a:ext cx="1932580" cy="369332"/>
          </a:xfrm>
          <a:prstGeom prst="rect">
            <a:avLst/>
          </a:prstGeom>
          <a:noFill/>
        </p:spPr>
        <p:txBody>
          <a:bodyPr wrap="none" rtlCol="0">
            <a:spAutoFit/>
          </a:bodyPr>
          <a:lstStyle/>
          <a:p>
            <a:r>
              <a:rPr lang="en-US" dirty="0">
                <a:solidFill>
                  <a:srgbClr val="FF0000"/>
                </a:solidFill>
              </a:rPr>
              <a:t>Learn the weights!</a:t>
            </a:r>
          </a:p>
        </p:txBody>
      </p:sp>
    </p:spTree>
    <p:extLst>
      <p:ext uri="{BB962C8B-B14F-4D97-AF65-F5344CB8AC3E}">
        <p14:creationId xmlns:p14="http://schemas.microsoft.com/office/powerpoint/2010/main" val="425515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4A19D-085D-4492-A6E1-17C22B338FBC}"/>
              </a:ext>
            </a:extLst>
          </p:cNvPr>
          <p:cNvSpPr>
            <a:spLocks noGrp="1"/>
          </p:cNvSpPr>
          <p:nvPr>
            <p:ph type="title"/>
          </p:nvPr>
        </p:nvSpPr>
        <p:spPr/>
        <p:txBody>
          <a:bodyPr/>
          <a:lstStyle/>
          <a:p>
            <a:r>
              <a:rPr lang="en-US" dirty="0"/>
              <a:t>Convolutional Neural Networks</a:t>
            </a:r>
          </a:p>
        </p:txBody>
      </p:sp>
      <p:sp>
        <p:nvSpPr>
          <p:cNvPr id="6" name="Slide Number Placeholder 5">
            <a:extLst>
              <a:ext uri="{FF2B5EF4-FFF2-40B4-BE49-F238E27FC236}">
                <a16:creationId xmlns:a16="http://schemas.microsoft.com/office/drawing/2014/main" id="{EBF7ABB6-92E9-4463-9562-F44A4FF03EEC}"/>
              </a:ext>
            </a:extLst>
          </p:cNvPr>
          <p:cNvSpPr>
            <a:spLocks noGrp="1"/>
          </p:cNvSpPr>
          <p:nvPr>
            <p:ph type="sldNum" sz="quarter" idx="12"/>
          </p:nvPr>
        </p:nvSpPr>
        <p:spPr/>
        <p:txBody>
          <a:bodyPr/>
          <a:lstStyle/>
          <a:p>
            <a:fld id="{1B30F0CC-EBAF-4E3D-80D7-CFC82A3A738F}" type="slidenum">
              <a:rPr lang="en-US" smtClean="0"/>
              <a:pPr/>
              <a:t>31</a:t>
            </a:fld>
            <a:endParaRPr lang="en-US" dirty="0"/>
          </a:p>
        </p:txBody>
      </p:sp>
      <p:pic>
        <p:nvPicPr>
          <p:cNvPr id="7" name="Shape 107">
            <a:extLst>
              <a:ext uri="{FF2B5EF4-FFF2-40B4-BE49-F238E27FC236}">
                <a16:creationId xmlns:a16="http://schemas.microsoft.com/office/drawing/2014/main" id="{0574DD2C-E0C1-4E87-B6A3-9AAA11DA4AA2}"/>
              </a:ext>
            </a:extLst>
          </p:cNvPr>
          <p:cNvPicPr preferRelativeResize="0">
            <a:picLocks noChangeAspect="1"/>
          </p:cNvPicPr>
          <p:nvPr/>
        </p:nvPicPr>
        <p:blipFill>
          <a:blip r:embed="rId3">
            <a:alphaModFix/>
          </a:blip>
          <a:stretch>
            <a:fillRect/>
          </a:stretch>
        </p:blipFill>
        <p:spPr>
          <a:xfrm>
            <a:off x="1293617" y="1545204"/>
            <a:ext cx="9714167" cy="3566552"/>
          </a:xfrm>
          <a:prstGeom prst="rect">
            <a:avLst/>
          </a:prstGeom>
          <a:noFill/>
          <a:ln>
            <a:noFill/>
          </a:ln>
        </p:spPr>
      </p:pic>
      <p:sp>
        <p:nvSpPr>
          <p:cNvPr id="8" name="Shape 108">
            <a:extLst>
              <a:ext uri="{FF2B5EF4-FFF2-40B4-BE49-F238E27FC236}">
                <a16:creationId xmlns:a16="http://schemas.microsoft.com/office/drawing/2014/main" id="{652F80EA-14A7-4079-80DD-23D74B027F8B}"/>
              </a:ext>
            </a:extLst>
          </p:cNvPr>
          <p:cNvSpPr txBox="1"/>
          <p:nvPr/>
        </p:nvSpPr>
        <p:spPr>
          <a:xfrm>
            <a:off x="7672540" y="5487709"/>
            <a:ext cx="3098164" cy="557766"/>
          </a:xfrm>
          <a:prstGeom prst="rect">
            <a:avLst/>
          </a:prstGeom>
          <a:noFill/>
          <a:ln>
            <a:noFill/>
          </a:ln>
        </p:spPr>
        <p:txBody>
          <a:bodyPr lIns="91425" tIns="91425" rIns="91425" bIns="91425" anchor="t" anchorCtr="0">
            <a:noAutofit/>
          </a:bodyPr>
          <a:lstStyle/>
          <a:p>
            <a:pPr lvl="0" rtl="0">
              <a:spcBef>
                <a:spcPts val="0"/>
              </a:spcBef>
              <a:buNone/>
            </a:pPr>
            <a:r>
              <a:rPr lang="en" i="1" dirty="0"/>
              <a:t>[LeNet-5, LeCun 1980]</a:t>
            </a:r>
          </a:p>
        </p:txBody>
      </p:sp>
    </p:spTree>
    <p:extLst>
      <p:ext uri="{BB962C8B-B14F-4D97-AF65-F5344CB8AC3E}">
        <p14:creationId xmlns:p14="http://schemas.microsoft.com/office/powerpoint/2010/main" val="2260434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7463F-B16A-4FF2-B7F4-6E7E1E550725}"/>
              </a:ext>
            </a:extLst>
          </p:cNvPr>
          <p:cNvSpPr>
            <a:spLocks noGrp="1"/>
          </p:cNvSpPr>
          <p:nvPr>
            <p:ph type="title"/>
          </p:nvPr>
        </p:nvSpPr>
        <p:spPr/>
        <p:txBody>
          <a:bodyPr/>
          <a:lstStyle/>
          <a:p>
            <a:r>
              <a:rPr lang="en-US" dirty="0"/>
              <a:t>Convolutional Neural Networks</a:t>
            </a:r>
          </a:p>
        </p:txBody>
      </p:sp>
      <p:sp>
        <p:nvSpPr>
          <p:cNvPr id="6" name="Slide Number Placeholder 5">
            <a:extLst>
              <a:ext uri="{FF2B5EF4-FFF2-40B4-BE49-F238E27FC236}">
                <a16:creationId xmlns:a16="http://schemas.microsoft.com/office/drawing/2014/main" id="{176A4BBB-A641-454F-B1C5-B5ED73E024E7}"/>
              </a:ext>
            </a:extLst>
          </p:cNvPr>
          <p:cNvSpPr>
            <a:spLocks noGrp="1"/>
          </p:cNvSpPr>
          <p:nvPr>
            <p:ph type="sldNum" sz="quarter" idx="12"/>
          </p:nvPr>
        </p:nvSpPr>
        <p:spPr/>
        <p:txBody>
          <a:bodyPr/>
          <a:lstStyle/>
          <a:p>
            <a:fld id="{1B30F0CC-EBAF-4E3D-80D7-CFC82A3A738F}" type="slidenum">
              <a:rPr lang="en-US" smtClean="0"/>
              <a:pPr/>
              <a:t>32</a:t>
            </a:fld>
            <a:endParaRPr lang="en-US" dirty="0"/>
          </a:p>
        </p:txBody>
      </p:sp>
      <p:sp>
        <p:nvSpPr>
          <p:cNvPr id="7" name="Shape 136">
            <a:extLst>
              <a:ext uri="{FF2B5EF4-FFF2-40B4-BE49-F238E27FC236}">
                <a16:creationId xmlns:a16="http://schemas.microsoft.com/office/drawing/2014/main" id="{F80B89E1-16D1-4E84-AC88-7971588B219A}"/>
              </a:ext>
            </a:extLst>
          </p:cNvPr>
          <p:cNvSpPr/>
          <p:nvPr/>
        </p:nvSpPr>
        <p:spPr>
          <a:xfrm>
            <a:off x="3832485" y="1184223"/>
            <a:ext cx="956400" cy="3677200"/>
          </a:xfrm>
          <a:prstGeom prst="cube">
            <a:avLst>
              <a:gd name="adj" fmla="val 91130"/>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136">
            <a:extLst>
              <a:ext uri="{FF2B5EF4-FFF2-40B4-BE49-F238E27FC236}">
                <a16:creationId xmlns:a16="http://schemas.microsoft.com/office/drawing/2014/main" id="{0BEC3E36-23BC-4A80-9606-BA02666D00BF}"/>
              </a:ext>
            </a:extLst>
          </p:cNvPr>
          <p:cNvSpPr/>
          <p:nvPr/>
        </p:nvSpPr>
        <p:spPr>
          <a:xfrm>
            <a:off x="2502033" y="2375123"/>
            <a:ext cx="457200" cy="1295400"/>
          </a:xfrm>
          <a:prstGeom prst="cube">
            <a:avLst>
              <a:gd name="adj" fmla="val 77711"/>
            </a:avLst>
          </a:prstGeom>
          <a:solidFill>
            <a:schemeClr val="accent1">
              <a:alpha val="51920"/>
            </a:scheme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Right Arrow 5">
            <a:extLst>
              <a:ext uri="{FF2B5EF4-FFF2-40B4-BE49-F238E27FC236}">
                <a16:creationId xmlns:a16="http://schemas.microsoft.com/office/drawing/2014/main" id="{68FFCADC-F13B-49B3-AB73-3ABC40319D0C}"/>
              </a:ext>
            </a:extLst>
          </p:cNvPr>
          <p:cNvSpPr/>
          <p:nvPr/>
        </p:nvSpPr>
        <p:spPr>
          <a:xfrm>
            <a:off x="3052959" y="2875323"/>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ight Arrow 7">
            <a:extLst>
              <a:ext uri="{FF2B5EF4-FFF2-40B4-BE49-F238E27FC236}">
                <a16:creationId xmlns:a16="http://schemas.microsoft.com/office/drawing/2014/main" id="{A75A2578-83E5-4AE9-9CFD-B4AA28082DA9}"/>
              </a:ext>
            </a:extLst>
          </p:cNvPr>
          <p:cNvSpPr/>
          <p:nvPr/>
        </p:nvSpPr>
        <p:spPr>
          <a:xfrm>
            <a:off x="7566285" y="2875323"/>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1B60C33-9FF4-4083-8515-029AA34F4DB4}"/>
              </a:ext>
            </a:extLst>
          </p:cNvPr>
          <p:cNvSpPr/>
          <p:nvPr/>
        </p:nvSpPr>
        <p:spPr>
          <a:xfrm>
            <a:off x="8556885" y="1575023"/>
            <a:ext cx="304800" cy="2895600"/>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Shape 136">
            <a:extLst>
              <a:ext uri="{FF2B5EF4-FFF2-40B4-BE49-F238E27FC236}">
                <a16:creationId xmlns:a16="http://schemas.microsoft.com/office/drawing/2014/main" id="{1B68EED3-D094-4FE1-8B75-E6C2EB822FBD}"/>
              </a:ext>
            </a:extLst>
          </p:cNvPr>
          <p:cNvSpPr/>
          <p:nvPr/>
        </p:nvSpPr>
        <p:spPr>
          <a:xfrm>
            <a:off x="5962796" y="1902001"/>
            <a:ext cx="834874" cy="2032804"/>
          </a:xfrm>
          <a:prstGeom prst="cube">
            <a:avLst>
              <a:gd name="adj" fmla="val 90038"/>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3" name="Right Arrow 11">
            <a:extLst>
              <a:ext uri="{FF2B5EF4-FFF2-40B4-BE49-F238E27FC236}">
                <a16:creationId xmlns:a16="http://schemas.microsoft.com/office/drawing/2014/main" id="{13D2293E-0B70-416D-B79B-18AE47CB3729}"/>
              </a:ext>
            </a:extLst>
          </p:cNvPr>
          <p:cNvSpPr/>
          <p:nvPr/>
        </p:nvSpPr>
        <p:spPr>
          <a:xfrm>
            <a:off x="9110343" y="2875323"/>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050398-A411-4BA6-96C3-B13C3983C9EB}"/>
              </a:ext>
            </a:extLst>
          </p:cNvPr>
          <p:cNvSpPr/>
          <p:nvPr/>
        </p:nvSpPr>
        <p:spPr>
          <a:xfrm>
            <a:off x="10035591" y="2452900"/>
            <a:ext cx="197694" cy="1139846"/>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97A8251-87E9-4F3A-90FB-B18769DD4AD6}"/>
              </a:ext>
            </a:extLst>
          </p:cNvPr>
          <p:cNvSpPr txBox="1"/>
          <p:nvPr/>
        </p:nvSpPr>
        <p:spPr>
          <a:xfrm>
            <a:off x="2156085" y="3826627"/>
            <a:ext cx="1390124" cy="369332"/>
          </a:xfrm>
          <a:prstGeom prst="rect">
            <a:avLst/>
          </a:prstGeom>
          <a:noFill/>
        </p:spPr>
        <p:txBody>
          <a:bodyPr wrap="none" rtlCol="0">
            <a:spAutoFit/>
          </a:bodyPr>
          <a:lstStyle/>
          <a:p>
            <a:r>
              <a:rPr lang="en-US" dirty="0"/>
              <a:t>Input image</a:t>
            </a:r>
          </a:p>
        </p:txBody>
      </p:sp>
      <p:sp>
        <p:nvSpPr>
          <p:cNvPr id="16" name="TextBox 15">
            <a:extLst>
              <a:ext uri="{FF2B5EF4-FFF2-40B4-BE49-F238E27FC236}">
                <a16:creationId xmlns:a16="http://schemas.microsoft.com/office/drawing/2014/main" id="{4215C6ED-C64F-419B-B141-D611583C7B5F}"/>
              </a:ext>
            </a:extLst>
          </p:cNvPr>
          <p:cNvSpPr txBox="1"/>
          <p:nvPr/>
        </p:nvSpPr>
        <p:spPr>
          <a:xfrm>
            <a:off x="2267273" y="5295355"/>
            <a:ext cx="1582484" cy="646331"/>
          </a:xfrm>
          <a:prstGeom prst="rect">
            <a:avLst/>
          </a:prstGeom>
          <a:noFill/>
        </p:spPr>
        <p:txBody>
          <a:bodyPr wrap="square" rtlCol="0">
            <a:spAutoFit/>
          </a:bodyPr>
          <a:lstStyle/>
          <a:p>
            <a:r>
              <a:rPr lang="en-US" dirty="0"/>
              <a:t>Convolutional</a:t>
            </a:r>
          </a:p>
          <a:p>
            <a:r>
              <a:rPr lang="en-US" dirty="0"/>
              <a:t>layer</a:t>
            </a:r>
          </a:p>
        </p:txBody>
      </p:sp>
      <p:sp>
        <p:nvSpPr>
          <p:cNvPr id="17" name="TextBox 16">
            <a:extLst>
              <a:ext uri="{FF2B5EF4-FFF2-40B4-BE49-F238E27FC236}">
                <a16:creationId xmlns:a16="http://schemas.microsoft.com/office/drawing/2014/main" id="{70528BCF-F7E1-475A-8F01-44A61802D48F}"/>
              </a:ext>
            </a:extLst>
          </p:cNvPr>
          <p:cNvSpPr txBox="1"/>
          <p:nvPr/>
        </p:nvSpPr>
        <p:spPr>
          <a:xfrm>
            <a:off x="7526910" y="4997348"/>
            <a:ext cx="2364750" cy="369332"/>
          </a:xfrm>
          <a:prstGeom prst="rect">
            <a:avLst/>
          </a:prstGeom>
          <a:noFill/>
        </p:spPr>
        <p:txBody>
          <a:bodyPr wrap="none" rtlCol="0">
            <a:spAutoFit/>
          </a:bodyPr>
          <a:lstStyle/>
          <a:p>
            <a:r>
              <a:rPr lang="en-US" dirty="0"/>
              <a:t>Fully connected layer</a:t>
            </a:r>
          </a:p>
        </p:txBody>
      </p:sp>
      <p:sp>
        <p:nvSpPr>
          <p:cNvPr id="18" name="TextBox 17">
            <a:extLst>
              <a:ext uri="{FF2B5EF4-FFF2-40B4-BE49-F238E27FC236}">
                <a16:creationId xmlns:a16="http://schemas.microsoft.com/office/drawing/2014/main" id="{3B9335CD-7259-4B93-9638-7E2002FF3B9C}"/>
              </a:ext>
            </a:extLst>
          </p:cNvPr>
          <p:cNvSpPr txBox="1"/>
          <p:nvPr/>
        </p:nvSpPr>
        <p:spPr>
          <a:xfrm>
            <a:off x="9273225" y="3750139"/>
            <a:ext cx="1569660" cy="369332"/>
          </a:xfrm>
          <a:prstGeom prst="rect">
            <a:avLst/>
          </a:prstGeom>
          <a:noFill/>
        </p:spPr>
        <p:txBody>
          <a:bodyPr wrap="none" rtlCol="0">
            <a:spAutoFit/>
          </a:bodyPr>
          <a:lstStyle/>
          <a:p>
            <a:r>
              <a:rPr lang="en-US" dirty="0"/>
              <a:t>Output vector</a:t>
            </a:r>
          </a:p>
        </p:txBody>
      </p:sp>
      <p:sp>
        <p:nvSpPr>
          <p:cNvPr id="19" name="Shape 136">
            <a:extLst>
              <a:ext uri="{FF2B5EF4-FFF2-40B4-BE49-F238E27FC236}">
                <a16:creationId xmlns:a16="http://schemas.microsoft.com/office/drawing/2014/main" id="{046E3A64-5132-4503-B409-4F11476D7472}"/>
              </a:ext>
            </a:extLst>
          </p:cNvPr>
          <p:cNvSpPr/>
          <p:nvPr/>
        </p:nvSpPr>
        <p:spPr>
          <a:xfrm>
            <a:off x="4061085" y="1184223"/>
            <a:ext cx="956400" cy="3677200"/>
          </a:xfrm>
          <a:prstGeom prst="cube">
            <a:avLst>
              <a:gd name="adj" fmla="val 91130"/>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0" name="Shape 136">
            <a:extLst>
              <a:ext uri="{FF2B5EF4-FFF2-40B4-BE49-F238E27FC236}">
                <a16:creationId xmlns:a16="http://schemas.microsoft.com/office/drawing/2014/main" id="{EE7F901D-6CCC-4D51-94FA-7363E2E20A8E}"/>
              </a:ext>
            </a:extLst>
          </p:cNvPr>
          <p:cNvSpPr/>
          <p:nvPr/>
        </p:nvSpPr>
        <p:spPr>
          <a:xfrm>
            <a:off x="4257393" y="1184223"/>
            <a:ext cx="956400" cy="3677200"/>
          </a:xfrm>
          <a:prstGeom prst="cube">
            <a:avLst>
              <a:gd name="adj" fmla="val 91130"/>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cxnSp>
        <p:nvCxnSpPr>
          <p:cNvPr id="21" name="Straight Arrow Connector 20">
            <a:extLst>
              <a:ext uri="{FF2B5EF4-FFF2-40B4-BE49-F238E27FC236}">
                <a16:creationId xmlns:a16="http://schemas.microsoft.com/office/drawing/2014/main" id="{A008B4F5-D769-4AC3-9C56-E1B46E38E97E}"/>
              </a:ext>
            </a:extLst>
          </p:cNvPr>
          <p:cNvCxnSpPr>
            <a:cxnSpLocks/>
            <a:stCxn id="16" idx="0"/>
            <a:endCxn id="7" idx="3"/>
          </p:cNvCxnSpPr>
          <p:nvPr/>
        </p:nvCxnSpPr>
        <p:spPr>
          <a:xfrm flipV="1">
            <a:off x="3058515" y="4861423"/>
            <a:ext cx="816386" cy="43393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CC2D1BA-C25E-456A-B46B-12CA3FDF6EFC}"/>
              </a:ext>
            </a:extLst>
          </p:cNvPr>
          <p:cNvSpPr txBox="1"/>
          <p:nvPr/>
        </p:nvSpPr>
        <p:spPr>
          <a:xfrm>
            <a:off x="3923967" y="5295355"/>
            <a:ext cx="774571" cy="646331"/>
          </a:xfrm>
          <a:prstGeom prst="rect">
            <a:avLst/>
          </a:prstGeom>
          <a:noFill/>
        </p:spPr>
        <p:txBody>
          <a:bodyPr wrap="none" rtlCol="0">
            <a:spAutoFit/>
          </a:bodyPr>
          <a:lstStyle/>
          <a:p>
            <a:r>
              <a:rPr lang="en-US" dirty="0" err="1"/>
              <a:t>ReLU</a:t>
            </a:r>
            <a:endParaRPr lang="en-US" dirty="0"/>
          </a:p>
          <a:p>
            <a:r>
              <a:rPr lang="en-US" dirty="0"/>
              <a:t>layer</a:t>
            </a:r>
          </a:p>
        </p:txBody>
      </p:sp>
      <p:cxnSp>
        <p:nvCxnSpPr>
          <p:cNvPr id="23" name="Straight Arrow Connector 22">
            <a:extLst>
              <a:ext uri="{FF2B5EF4-FFF2-40B4-BE49-F238E27FC236}">
                <a16:creationId xmlns:a16="http://schemas.microsoft.com/office/drawing/2014/main" id="{AB532B89-DF96-4808-86D4-C4076D527A1A}"/>
              </a:ext>
            </a:extLst>
          </p:cNvPr>
          <p:cNvCxnSpPr/>
          <p:nvPr/>
        </p:nvCxnSpPr>
        <p:spPr>
          <a:xfrm flipV="1">
            <a:off x="4161177" y="4852263"/>
            <a:ext cx="5306" cy="44309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9C7015A-62C4-4C5A-9239-D4BFC636653F}"/>
              </a:ext>
            </a:extLst>
          </p:cNvPr>
          <p:cNvSpPr txBox="1"/>
          <p:nvPr/>
        </p:nvSpPr>
        <p:spPr>
          <a:xfrm>
            <a:off x="4935748" y="5295354"/>
            <a:ext cx="954107" cy="646331"/>
          </a:xfrm>
          <a:prstGeom prst="rect">
            <a:avLst/>
          </a:prstGeom>
          <a:noFill/>
        </p:spPr>
        <p:txBody>
          <a:bodyPr wrap="none" rtlCol="0">
            <a:spAutoFit/>
          </a:bodyPr>
          <a:lstStyle/>
          <a:p>
            <a:r>
              <a:rPr lang="en-US" dirty="0"/>
              <a:t>Pooling</a:t>
            </a:r>
          </a:p>
          <a:p>
            <a:r>
              <a:rPr lang="en-US" dirty="0"/>
              <a:t>layer</a:t>
            </a:r>
          </a:p>
        </p:txBody>
      </p:sp>
      <p:cxnSp>
        <p:nvCxnSpPr>
          <p:cNvPr id="25" name="Straight Arrow Connector 24">
            <a:extLst>
              <a:ext uri="{FF2B5EF4-FFF2-40B4-BE49-F238E27FC236}">
                <a16:creationId xmlns:a16="http://schemas.microsoft.com/office/drawing/2014/main" id="{BBC8C9CC-087B-47D3-A729-B0956D39C2BE}"/>
              </a:ext>
            </a:extLst>
          </p:cNvPr>
          <p:cNvCxnSpPr>
            <a:stCxn id="24" idx="0"/>
          </p:cNvCxnSpPr>
          <p:nvPr/>
        </p:nvCxnSpPr>
        <p:spPr>
          <a:xfrm flipH="1" flipV="1">
            <a:off x="4539285" y="4689423"/>
            <a:ext cx="873517" cy="60593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6" name="Shape 136">
            <a:extLst>
              <a:ext uri="{FF2B5EF4-FFF2-40B4-BE49-F238E27FC236}">
                <a16:creationId xmlns:a16="http://schemas.microsoft.com/office/drawing/2014/main" id="{F6158E77-7F8F-42B1-A6D5-8EC9A4C07FBC}"/>
              </a:ext>
            </a:extLst>
          </p:cNvPr>
          <p:cNvSpPr/>
          <p:nvPr/>
        </p:nvSpPr>
        <p:spPr>
          <a:xfrm>
            <a:off x="6189645" y="1902001"/>
            <a:ext cx="834874" cy="2032804"/>
          </a:xfrm>
          <a:prstGeom prst="cube">
            <a:avLst>
              <a:gd name="adj" fmla="val 90038"/>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7" name="Shape 136">
            <a:extLst>
              <a:ext uri="{FF2B5EF4-FFF2-40B4-BE49-F238E27FC236}">
                <a16:creationId xmlns:a16="http://schemas.microsoft.com/office/drawing/2014/main" id="{7A159E68-EE53-4C05-AC81-DEA4C3D8CEE7}"/>
              </a:ext>
            </a:extLst>
          </p:cNvPr>
          <p:cNvSpPr/>
          <p:nvPr/>
        </p:nvSpPr>
        <p:spPr>
          <a:xfrm>
            <a:off x="6418427" y="1858921"/>
            <a:ext cx="834874" cy="2032804"/>
          </a:xfrm>
          <a:prstGeom prst="cube">
            <a:avLst>
              <a:gd name="adj" fmla="val 90038"/>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8" name="TextBox 27">
            <a:extLst>
              <a:ext uri="{FF2B5EF4-FFF2-40B4-BE49-F238E27FC236}">
                <a16:creationId xmlns:a16="http://schemas.microsoft.com/office/drawing/2014/main" id="{1D9A7D42-5139-4998-A385-4CB681DE1F90}"/>
              </a:ext>
            </a:extLst>
          </p:cNvPr>
          <p:cNvSpPr txBox="1"/>
          <p:nvPr/>
        </p:nvSpPr>
        <p:spPr>
          <a:xfrm>
            <a:off x="5096966" y="2324850"/>
            <a:ext cx="954107" cy="1015663"/>
          </a:xfrm>
          <a:prstGeom prst="rect">
            <a:avLst/>
          </a:prstGeom>
          <a:noFill/>
        </p:spPr>
        <p:txBody>
          <a:bodyPr wrap="none" rtlCol="0">
            <a:spAutoFit/>
          </a:bodyPr>
          <a:lstStyle/>
          <a:p>
            <a:r>
              <a:rPr lang="en-US" sz="6000" dirty="0"/>
              <a:t>…</a:t>
            </a:r>
          </a:p>
        </p:txBody>
      </p:sp>
      <p:sp>
        <p:nvSpPr>
          <p:cNvPr id="29" name="TextBox 28">
            <a:extLst>
              <a:ext uri="{FF2B5EF4-FFF2-40B4-BE49-F238E27FC236}">
                <a16:creationId xmlns:a16="http://schemas.microsoft.com/office/drawing/2014/main" id="{81A3FCC3-C5F0-4F74-9C64-768939D51DBA}"/>
              </a:ext>
            </a:extLst>
          </p:cNvPr>
          <p:cNvSpPr txBox="1"/>
          <p:nvPr/>
        </p:nvSpPr>
        <p:spPr>
          <a:xfrm>
            <a:off x="1822075" y="5800702"/>
            <a:ext cx="2339102" cy="369332"/>
          </a:xfrm>
          <a:prstGeom prst="rect">
            <a:avLst/>
          </a:prstGeom>
          <a:noFill/>
        </p:spPr>
        <p:txBody>
          <a:bodyPr wrap="none" rtlCol="0">
            <a:spAutoFit/>
          </a:bodyPr>
          <a:lstStyle/>
          <a:p>
            <a:r>
              <a:rPr lang="en-US" dirty="0"/>
              <a:t>(translation invariant)</a:t>
            </a:r>
          </a:p>
        </p:txBody>
      </p:sp>
    </p:spTree>
    <p:extLst>
      <p:ext uri="{BB962C8B-B14F-4D97-AF65-F5344CB8AC3E}">
        <p14:creationId xmlns:p14="http://schemas.microsoft.com/office/powerpoint/2010/main" val="22465074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Shape 136"/>
          <p:cNvSpPr/>
          <p:nvPr/>
        </p:nvSpPr>
        <p:spPr>
          <a:xfrm>
            <a:off x="2590450" y="1901016"/>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138" name="Shape 138"/>
          <p:cNvSpPr txBox="1"/>
          <p:nvPr/>
        </p:nvSpPr>
        <p:spPr>
          <a:xfrm>
            <a:off x="3126875" y="4967683"/>
            <a:ext cx="491700" cy="412800"/>
          </a:xfrm>
          <a:prstGeom prst="rect">
            <a:avLst/>
          </a:prstGeom>
          <a:noFill/>
          <a:ln>
            <a:noFill/>
          </a:ln>
        </p:spPr>
        <p:txBody>
          <a:bodyPr lIns="91425" tIns="91425" rIns="91425" bIns="91425" anchor="t" anchorCtr="0">
            <a:noAutofit/>
          </a:bodyPr>
          <a:lstStyle/>
          <a:p>
            <a:r>
              <a:rPr lang="en"/>
              <a:t>32</a:t>
            </a:r>
          </a:p>
        </p:txBody>
      </p:sp>
      <p:sp>
        <p:nvSpPr>
          <p:cNvPr id="139" name="Shape 139"/>
          <p:cNvSpPr txBox="1"/>
          <p:nvPr/>
        </p:nvSpPr>
        <p:spPr>
          <a:xfrm>
            <a:off x="3546850" y="2912651"/>
            <a:ext cx="491700" cy="376399"/>
          </a:xfrm>
          <a:prstGeom prst="rect">
            <a:avLst/>
          </a:prstGeom>
          <a:noFill/>
          <a:ln>
            <a:noFill/>
          </a:ln>
        </p:spPr>
        <p:txBody>
          <a:bodyPr lIns="91425" tIns="91425" rIns="91425" bIns="91425" anchor="t" anchorCtr="0">
            <a:noAutofit/>
          </a:bodyPr>
          <a:lstStyle/>
          <a:p>
            <a:r>
              <a:rPr lang="en"/>
              <a:t>32</a:t>
            </a:r>
          </a:p>
        </p:txBody>
      </p:sp>
      <p:sp>
        <p:nvSpPr>
          <p:cNvPr id="140" name="Shape 140"/>
          <p:cNvSpPr txBox="1"/>
          <p:nvPr/>
        </p:nvSpPr>
        <p:spPr>
          <a:xfrm>
            <a:off x="2532462" y="5489860"/>
            <a:ext cx="491700" cy="242799"/>
          </a:xfrm>
          <a:prstGeom prst="rect">
            <a:avLst/>
          </a:prstGeom>
          <a:noFill/>
          <a:ln>
            <a:noFill/>
          </a:ln>
        </p:spPr>
        <p:txBody>
          <a:bodyPr lIns="91425" tIns="91425" rIns="91425" bIns="91425" anchor="t" anchorCtr="0">
            <a:noAutofit/>
          </a:bodyPr>
          <a:lstStyle/>
          <a:p>
            <a:r>
              <a:rPr lang="en"/>
              <a:t>3</a:t>
            </a:r>
          </a:p>
        </p:txBody>
      </p:sp>
      <p:sp>
        <p:nvSpPr>
          <p:cNvPr id="141" name="Shape 141"/>
          <p:cNvSpPr txBox="1"/>
          <p:nvPr/>
        </p:nvSpPr>
        <p:spPr>
          <a:xfrm>
            <a:off x="1524000" y="1"/>
            <a:ext cx="7701900" cy="875999"/>
          </a:xfrm>
          <a:prstGeom prst="rect">
            <a:avLst/>
          </a:prstGeom>
          <a:noFill/>
          <a:ln>
            <a:noFill/>
          </a:ln>
        </p:spPr>
        <p:txBody>
          <a:bodyPr lIns="91425" tIns="91425" rIns="91425" bIns="91425" anchor="t" anchorCtr="0">
            <a:noAutofit/>
          </a:bodyPr>
          <a:lstStyle/>
          <a:p>
            <a:r>
              <a:rPr lang="en" sz="3600" dirty="0"/>
              <a:t>Convolutional Layer</a:t>
            </a:r>
          </a:p>
        </p:txBody>
      </p:sp>
      <p:sp>
        <p:nvSpPr>
          <p:cNvPr id="142" name="Shape 142"/>
          <p:cNvSpPr txBox="1"/>
          <p:nvPr/>
        </p:nvSpPr>
        <p:spPr>
          <a:xfrm>
            <a:off x="2275225" y="1125351"/>
            <a:ext cx="3350100" cy="632399"/>
          </a:xfrm>
          <a:prstGeom prst="rect">
            <a:avLst/>
          </a:prstGeom>
          <a:noFill/>
          <a:ln>
            <a:noFill/>
          </a:ln>
        </p:spPr>
        <p:txBody>
          <a:bodyPr lIns="91425" tIns="91425" rIns="91425" bIns="91425" anchor="t" anchorCtr="0">
            <a:noAutofit/>
          </a:bodyPr>
          <a:lstStyle/>
          <a:p>
            <a:r>
              <a:rPr lang="en" sz="2400"/>
              <a:t>32x32x3 image</a:t>
            </a:r>
          </a:p>
        </p:txBody>
      </p:sp>
      <p:sp>
        <p:nvSpPr>
          <p:cNvPr id="143" name="Shape 143"/>
          <p:cNvSpPr txBox="1"/>
          <p:nvPr/>
        </p:nvSpPr>
        <p:spPr>
          <a:xfrm>
            <a:off x="3542377" y="4911067"/>
            <a:ext cx="2016899" cy="171200"/>
          </a:xfrm>
          <a:prstGeom prst="rect">
            <a:avLst/>
          </a:prstGeom>
          <a:noFill/>
          <a:ln>
            <a:noFill/>
          </a:ln>
        </p:spPr>
        <p:txBody>
          <a:bodyPr lIns="91425" tIns="91425" rIns="91425" bIns="91425" anchor="t" anchorCtr="0">
            <a:noAutofit/>
          </a:bodyPr>
          <a:lstStyle/>
          <a:p>
            <a:r>
              <a:rPr lang="en">
                <a:solidFill>
                  <a:srgbClr val="0000FF"/>
                </a:solidFill>
              </a:rPr>
              <a:t>width</a:t>
            </a:r>
          </a:p>
        </p:txBody>
      </p:sp>
      <p:sp>
        <p:nvSpPr>
          <p:cNvPr id="144" name="Shape 144"/>
          <p:cNvSpPr txBox="1"/>
          <p:nvPr/>
        </p:nvSpPr>
        <p:spPr>
          <a:xfrm>
            <a:off x="3962352" y="2890497"/>
            <a:ext cx="2016899" cy="171200"/>
          </a:xfrm>
          <a:prstGeom prst="rect">
            <a:avLst/>
          </a:prstGeom>
          <a:noFill/>
          <a:ln>
            <a:noFill/>
          </a:ln>
        </p:spPr>
        <p:txBody>
          <a:bodyPr lIns="91425" tIns="91425" rIns="91425" bIns="91425" anchor="t" anchorCtr="0">
            <a:noAutofit/>
          </a:bodyPr>
          <a:lstStyle/>
          <a:p>
            <a:r>
              <a:rPr lang="en">
                <a:solidFill>
                  <a:srgbClr val="0000FF"/>
                </a:solidFill>
              </a:rPr>
              <a:t>height</a:t>
            </a:r>
          </a:p>
        </p:txBody>
      </p:sp>
      <p:sp>
        <p:nvSpPr>
          <p:cNvPr id="145" name="Shape 145"/>
          <p:cNvSpPr txBox="1"/>
          <p:nvPr/>
        </p:nvSpPr>
        <p:spPr>
          <a:xfrm>
            <a:off x="2829402" y="5471655"/>
            <a:ext cx="4407299" cy="171200"/>
          </a:xfrm>
          <a:prstGeom prst="rect">
            <a:avLst/>
          </a:prstGeom>
          <a:noFill/>
          <a:ln>
            <a:noFill/>
          </a:ln>
        </p:spPr>
        <p:txBody>
          <a:bodyPr lIns="91425" tIns="91425" rIns="91425" bIns="91425" anchor="t" anchorCtr="0">
            <a:noAutofit/>
          </a:bodyPr>
          <a:lstStyle/>
          <a:p>
            <a:r>
              <a:rPr lang="en">
                <a:solidFill>
                  <a:srgbClr val="0000FF"/>
                </a:solidFill>
              </a:rPr>
              <a:t>depth</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33</a:t>
            </a:fld>
            <a:endParaRPr lang="en-US" dirty="0">
              <a:solidFill>
                <a:prstClr val="white"/>
              </a:solidFill>
              <a:latin typeface="Calibri"/>
            </a:endParaRPr>
          </a:p>
        </p:txBody>
      </p:sp>
    </p:spTree>
    <p:extLst>
      <p:ext uri="{BB962C8B-B14F-4D97-AF65-F5344CB8AC3E}">
        <p14:creationId xmlns:p14="http://schemas.microsoft.com/office/powerpoint/2010/main" val="1929483774"/>
      </p:ext>
    </p:extLst>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p:nvPr/>
        </p:nvSpPr>
        <p:spPr>
          <a:xfrm>
            <a:off x="2590450" y="1901016"/>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152" name="Shape 152"/>
          <p:cNvSpPr txBox="1"/>
          <p:nvPr/>
        </p:nvSpPr>
        <p:spPr>
          <a:xfrm>
            <a:off x="3126875" y="4967683"/>
            <a:ext cx="491700" cy="412800"/>
          </a:xfrm>
          <a:prstGeom prst="rect">
            <a:avLst/>
          </a:prstGeom>
          <a:noFill/>
          <a:ln>
            <a:noFill/>
          </a:ln>
        </p:spPr>
        <p:txBody>
          <a:bodyPr lIns="91425" tIns="91425" rIns="91425" bIns="91425" anchor="t" anchorCtr="0">
            <a:noAutofit/>
          </a:bodyPr>
          <a:lstStyle/>
          <a:p>
            <a:r>
              <a:rPr lang="en"/>
              <a:t>32</a:t>
            </a:r>
          </a:p>
        </p:txBody>
      </p:sp>
      <p:sp>
        <p:nvSpPr>
          <p:cNvPr id="153" name="Shape 153"/>
          <p:cNvSpPr txBox="1"/>
          <p:nvPr/>
        </p:nvSpPr>
        <p:spPr>
          <a:xfrm>
            <a:off x="3546850" y="2912651"/>
            <a:ext cx="491700" cy="376399"/>
          </a:xfrm>
          <a:prstGeom prst="rect">
            <a:avLst/>
          </a:prstGeom>
          <a:noFill/>
          <a:ln>
            <a:noFill/>
          </a:ln>
        </p:spPr>
        <p:txBody>
          <a:bodyPr lIns="91425" tIns="91425" rIns="91425" bIns="91425" anchor="t" anchorCtr="0">
            <a:noAutofit/>
          </a:bodyPr>
          <a:lstStyle/>
          <a:p>
            <a:r>
              <a:rPr lang="en"/>
              <a:t>32</a:t>
            </a:r>
          </a:p>
        </p:txBody>
      </p:sp>
      <p:sp>
        <p:nvSpPr>
          <p:cNvPr id="154" name="Shape 154"/>
          <p:cNvSpPr txBox="1"/>
          <p:nvPr/>
        </p:nvSpPr>
        <p:spPr>
          <a:xfrm>
            <a:off x="2532462" y="5489860"/>
            <a:ext cx="491700" cy="242799"/>
          </a:xfrm>
          <a:prstGeom prst="rect">
            <a:avLst/>
          </a:prstGeom>
          <a:noFill/>
          <a:ln>
            <a:noFill/>
          </a:ln>
        </p:spPr>
        <p:txBody>
          <a:bodyPr lIns="91425" tIns="91425" rIns="91425" bIns="91425" anchor="t" anchorCtr="0">
            <a:noAutofit/>
          </a:bodyPr>
          <a:lstStyle/>
          <a:p>
            <a:r>
              <a:rPr lang="en"/>
              <a:t>3</a:t>
            </a:r>
          </a:p>
        </p:txBody>
      </p:sp>
      <p:sp>
        <p:nvSpPr>
          <p:cNvPr id="155" name="Shape 155"/>
          <p:cNvSpPr txBox="1"/>
          <p:nvPr/>
        </p:nvSpPr>
        <p:spPr>
          <a:xfrm>
            <a:off x="1524000" y="1"/>
            <a:ext cx="7701900" cy="875999"/>
          </a:xfrm>
          <a:prstGeom prst="rect">
            <a:avLst/>
          </a:prstGeom>
          <a:noFill/>
          <a:ln>
            <a:noFill/>
          </a:ln>
        </p:spPr>
        <p:txBody>
          <a:bodyPr lIns="91425" tIns="91425" rIns="91425" bIns="91425" anchor="t" anchorCtr="0">
            <a:noAutofit/>
          </a:bodyPr>
          <a:lstStyle/>
          <a:p>
            <a:r>
              <a:rPr lang="en" sz="3600" dirty="0"/>
              <a:t>Convolutional Layer</a:t>
            </a:r>
          </a:p>
        </p:txBody>
      </p:sp>
      <p:sp>
        <p:nvSpPr>
          <p:cNvPr id="156" name="Shape 156"/>
          <p:cNvSpPr/>
          <p:nvPr/>
        </p:nvSpPr>
        <p:spPr>
          <a:xfrm>
            <a:off x="5669902" y="3072984"/>
            <a:ext cx="282299" cy="1085199"/>
          </a:xfrm>
          <a:prstGeom prst="cube">
            <a:avLst>
              <a:gd name="adj" fmla="val 53382"/>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157" name="Shape 157"/>
          <p:cNvSpPr txBox="1"/>
          <p:nvPr/>
        </p:nvSpPr>
        <p:spPr>
          <a:xfrm>
            <a:off x="5444100" y="2166784"/>
            <a:ext cx="2115600" cy="469599"/>
          </a:xfrm>
          <a:prstGeom prst="rect">
            <a:avLst/>
          </a:prstGeom>
          <a:noFill/>
          <a:ln>
            <a:noFill/>
          </a:ln>
        </p:spPr>
        <p:txBody>
          <a:bodyPr lIns="91425" tIns="91425" rIns="91425" bIns="91425" anchor="t" anchorCtr="0">
            <a:noAutofit/>
          </a:bodyPr>
          <a:lstStyle/>
          <a:p>
            <a:r>
              <a:rPr lang="en" sz="2400"/>
              <a:t>5x5x3 filter</a:t>
            </a:r>
          </a:p>
        </p:txBody>
      </p:sp>
      <p:sp>
        <p:nvSpPr>
          <p:cNvPr id="158" name="Shape 158"/>
          <p:cNvSpPr txBox="1"/>
          <p:nvPr/>
        </p:nvSpPr>
        <p:spPr>
          <a:xfrm>
            <a:off x="2275225" y="1125351"/>
            <a:ext cx="3350100" cy="632399"/>
          </a:xfrm>
          <a:prstGeom prst="rect">
            <a:avLst/>
          </a:prstGeom>
          <a:noFill/>
          <a:ln>
            <a:noFill/>
          </a:ln>
        </p:spPr>
        <p:txBody>
          <a:bodyPr lIns="91425" tIns="91425" rIns="91425" bIns="91425" anchor="t" anchorCtr="0">
            <a:noAutofit/>
          </a:bodyPr>
          <a:lstStyle/>
          <a:p>
            <a:r>
              <a:rPr lang="en" sz="2400"/>
              <a:t>32x32x3 image</a:t>
            </a:r>
          </a:p>
        </p:txBody>
      </p:sp>
      <p:sp>
        <p:nvSpPr>
          <p:cNvPr id="159" name="Shape 159"/>
          <p:cNvSpPr txBox="1"/>
          <p:nvPr/>
        </p:nvSpPr>
        <p:spPr>
          <a:xfrm>
            <a:off x="6721800" y="3545933"/>
            <a:ext cx="3946200" cy="1013200"/>
          </a:xfrm>
          <a:prstGeom prst="rect">
            <a:avLst/>
          </a:prstGeom>
          <a:noFill/>
          <a:ln>
            <a:noFill/>
          </a:ln>
        </p:spPr>
        <p:txBody>
          <a:bodyPr lIns="91425" tIns="91425" rIns="91425" bIns="91425" anchor="t" anchorCtr="0">
            <a:noAutofit/>
          </a:bodyPr>
          <a:lstStyle/>
          <a:p>
            <a:r>
              <a:rPr lang="en" b="1" dirty="0"/>
              <a:t>Convolve </a:t>
            </a:r>
            <a:r>
              <a:rPr lang="en" dirty="0"/>
              <a:t>the filter with the image</a:t>
            </a:r>
          </a:p>
          <a:p>
            <a:r>
              <a:rPr lang="en" dirty="0"/>
              <a:t>i.e. “slide over the image spatially, computing dot products”</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34</a:t>
            </a:fld>
            <a:endParaRPr lang="en-US" dirty="0">
              <a:solidFill>
                <a:prstClr val="white"/>
              </a:solidFill>
              <a:latin typeface="Calibri"/>
            </a:endParaRPr>
          </a:p>
        </p:txBody>
      </p:sp>
    </p:spTree>
    <p:extLst>
      <p:ext uri="{BB962C8B-B14F-4D97-AF65-F5344CB8AC3E}">
        <p14:creationId xmlns:p14="http://schemas.microsoft.com/office/powerpoint/2010/main" val="1803922959"/>
      </p:ext>
    </p:extLst>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Shape 182"/>
          <p:cNvSpPr/>
          <p:nvPr/>
        </p:nvSpPr>
        <p:spPr>
          <a:xfrm>
            <a:off x="3162401" y="2883802"/>
            <a:ext cx="282299" cy="1085199"/>
          </a:xfrm>
          <a:prstGeom prst="cube">
            <a:avLst>
              <a:gd name="adj" fmla="val 53382"/>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183" name="Shape 183"/>
          <p:cNvSpPr/>
          <p:nvPr/>
        </p:nvSpPr>
        <p:spPr>
          <a:xfrm>
            <a:off x="4758652" y="3238202"/>
            <a:ext cx="282299" cy="376399"/>
          </a:xfrm>
          <a:prstGeom prst="ellipse">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184" name="Shape 184"/>
          <p:cNvCxnSpPr>
            <a:endCxn id="183" idx="2"/>
          </p:cNvCxnSpPr>
          <p:nvPr/>
        </p:nvCxnSpPr>
        <p:spPr>
          <a:xfrm rot="10800000" flipH="1">
            <a:off x="3269150" y="3426399"/>
            <a:ext cx="1489500" cy="532000"/>
          </a:xfrm>
          <a:prstGeom prst="straightConnector1">
            <a:avLst/>
          </a:prstGeom>
          <a:noFill/>
          <a:ln w="19050" cap="flat" cmpd="sng">
            <a:solidFill>
              <a:srgbClr val="000000"/>
            </a:solidFill>
            <a:prstDash val="solid"/>
            <a:round/>
            <a:headEnd type="none" w="lg" len="lg"/>
            <a:tailEnd type="none" w="lg" len="lg"/>
          </a:ln>
        </p:spPr>
      </p:cxnSp>
      <p:cxnSp>
        <p:nvCxnSpPr>
          <p:cNvPr id="185" name="Shape 185"/>
          <p:cNvCxnSpPr>
            <a:endCxn id="183" idx="2"/>
          </p:cNvCxnSpPr>
          <p:nvPr/>
        </p:nvCxnSpPr>
        <p:spPr>
          <a:xfrm>
            <a:off x="3288650" y="3109999"/>
            <a:ext cx="1470000" cy="316400"/>
          </a:xfrm>
          <a:prstGeom prst="straightConnector1">
            <a:avLst/>
          </a:prstGeom>
          <a:noFill/>
          <a:ln w="19050" cap="flat" cmpd="sng">
            <a:solidFill>
              <a:srgbClr val="000000"/>
            </a:solidFill>
            <a:prstDash val="solid"/>
            <a:round/>
            <a:headEnd type="none" w="lg" len="lg"/>
            <a:tailEnd type="none" w="lg" len="lg"/>
          </a:ln>
        </p:spPr>
      </p:cxnSp>
      <p:cxnSp>
        <p:nvCxnSpPr>
          <p:cNvPr id="186" name="Shape 186"/>
          <p:cNvCxnSpPr>
            <a:endCxn id="183" idx="2"/>
          </p:cNvCxnSpPr>
          <p:nvPr/>
        </p:nvCxnSpPr>
        <p:spPr>
          <a:xfrm>
            <a:off x="3424850" y="2910799"/>
            <a:ext cx="1333800" cy="515600"/>
          </a:xfrm>
          <a:prstGeom prst="straightConnector1">
            <a:avLst/>
          </a:prstGeom>
          <a:noFill/>
          <a:ln w="19050" cap="flat" cmpd="sng">
            <a:solidFill>
              <a:srgbClr val="000000"/>
            </a:solidFill>
            <a:prstDash val="solid"/>
            <a:round/>
            <a:headEnd type="none" w="lg" len="lg"/>
            <a:tailEnd type="none" w="lg" len="lg"/>
          </a:ln>
        </p:spPr>
      </p:cxnSp>
      <p:cxnSp>
        <p:nvCxnSpPr>
          <p:cNvPr id="187" name="Shape 187"/>
          <p:cNvCxnSpPr>
            <a:endCxn id="183" idx="2"/>
          </p:cNvCxnSpPr>
          <p:nvPr/>
        </p:nvCxnSpPr>
        <p:spPr>
          <a:xfrm rot="10800000" flipH="1">
            <a:off x="3450950" y="3426399"/>
            <a:ext cx="1307700" cy="332800"/>
          </a:xfrm>
          <a:prstGeom prst="straightConnector1">
            <a:avLst/>
          </a:prstGeom>
          <a:noFill/>
          <a:ln w="19050" cap="flat" cmpd="sng">
            <a:solidFill>
              <a:srgbClr val="000000"/>
            </a:solidFill>
            <a:prstDash val="solid"/>
            <a:round/>
            <a:headEnd type="none" w="lg" len="lg"/>
            <a:tailEnd type="none" w="lg" len="lg"/>
          </a:ln>
        </p:spPr>
      </p:cxnSp>
      <p:sp>
        <p:nvSpPr>
          <p:cNvPr id="188" name="Shape 188"/>
          <p:cNvSpPr txBox="1"/>
          <p:nvPr/>
        </p:nvSpPr>
        <p:spPr>
          <a:xfrm>
            <a:off x="3358500" y="4654467"/>
            <a:ext cx="491700" cy="412800"/>
          </a:xfrm>
          <a:prstGeom prst="rect">
            <a:avLst/>
          </a:prstGeom>
          <a:noFill/>
          <a:ln>
            <a:noFill/>
          </a:ln>
        </p:spPr>
        <p:txBody>
          <a:bodyPr lIns="91425" tIns="91425" rIns="91425" bIns="91425" anchor="t" anchorCtr="0">
            <a:noAutofit/>
          </a:bodyPr>
          <a:lstStyle/>
          <a:p>
            <a:r>
              <a:rPr lang="en"/>
              <a:t>32</a:t>
            </a:r>
          </a:p>
        </p:txBody>
      </p:sp>
      <p:sp>
        <p:nvSpPr>
          <p:cNvPr id="189" name="Shape 189"/>
          <p:cNvSpPr txBox="1"/>
          <p:nvPr/>
        </p:nvSpPr>
        <p:spPr>
          <a:xfrm>
            <a:off x="3722800" y="1890235"/>
            <a:ext cx="491700" cy="376399"/>
          </a:xfrm>
          <a:prstGeom prst="rect">
            <a:avLst/>
          </a:prstGeom>
          <a:noFill/>
          <a:ln>
            <a:noFill/>
          </a:ln>
        </p:spPr>
        <p:txBody>
          <a:bodyPr lIns="91425" tIns="91425" rIns="91425" bIns="91425" anchor="t" anchorCtr="0">
            <a:noAutofit/>
          </a:bodyPr>
          <a:lstStyle/>
          <a:p>
            <a:r>
              <a:rPr lang="en"/>
              <a:t>32</a:t>
            </a:r>
          </a:p>
        </p:txBody>
      </p:sp>
      <p:sp>
        <p:nvSpPr>
          <p:cNvPr id="190" name="Shape 190"/>
          <p:cNvSpPr txBox="1"/>
          <p:nvPr/>
        </p:nvSpPr>
        <p:spPr>
          <a:xfrm>
            <a:off x="2687887" y="5176644"/>
            <a:ext cx="491700" cy="242799"/>
          </a:xfrm>
          <a:prstGeom prst="rect">
            <a:avLst/>
          </a:prstGeom>
          <a:noFill/>
          <a:ln>
            <a:noFill/>
          </a:ln>
        </p:spPr>
        <p:txBody>
          <a:bodyPr lIns="91425" tIns="91425" rIns="91425" bIns="91425" anchor="t" anchorCtr="0">
            <a:noAutofit/>
          </a:bodyPr>
          <a:lstStyle/>
          <a:p>
            <a:r>
              <a:rPr lang="en"/>
              <a:t>3</a:t>
            </a:r>
          </a:p>
        </p:txBody>
      </p:sp>
      <p:sp>
        <p:nvSpPr>
          <p:cNvPr id="191" name="Shape 191"/>
          <p:cNvSpPr txBox="1"/>
          <p:nvPr/>
        </p:nvSpPr>
        <p:spPr>
          <a:xfrm>
            <a:off x="1644875" y="93268"/>
            <a:ext cx="7701900" cy="840399"/>
          </a:xfrm>
          <a:prstGeom prst="rect">
            <a:avLst/>
          </a:prstGeom>
          <a:noFill/>
          <a:ln>
            <a:noFill/>
          </a:ln>
        </p:spPr>
        <p:txBody>
          <a:bodyPr lIns="91425" tIns="91425" rIns="91425" bIns="91425" anchor="t" anchorCtr="0">
            <a:noAutofit/>
          </a:bodyPr>
          <a:lstStyle/>
          <a:p>
            <a:r>
              <a:rPr lang="en" sz="3000" dirty="0"/>
              <a:t>Convolutional Layer</a:t>
            </a:r>
          </a:p>
        </p:txBody>
      </p:sp>
      <p:sp>
        <p:nvSpPr>
          <p:cNvPr id="192" name="Shape 192"/>
          <p:cNvSpPr/>
          <p:nvPr/>
        </p:nvSpPr>
        <p:spPr>
          <a:xfrm>
            <a:off x="2745875" y="1587800"/>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193" name="Shape 193"/>
          <p:cNvSpPr txBox="1"/>
          <p:nvPr/>
        </p:nvSpPr>
        <p:spPr>
          <a:xfrm>
            <a:off x="5003727" y="1024633"/>
            <a:ext cx="3635099" cy="736800"/>
          </a:xfrm>
          <a:prstGeom prst="rect">
            <a:avLst/>
          </a:prstGeom>
          <a:noFill/>
          <a:ln>
            <a:noFill/>
          </a:ln>
        </p:spPr>
        <p:txBody>
          <a:bodyPr lIns="91425" tIns="91425" rIns="91425" bIns="91425" anchor="t" anchorCtr="0">
            <a:noAutofit/>
          </a:bodyPr>
          <a:lstStyle/>
          <a:p>
            <a:r>
              <a:rPr lang="en" sz="2400">
                <a:solidFill>
                  <a:srgbClr val="FF0000"/>
                </a:solidFill>
              </a:rPr>
              <a:t>32x32x3 image</a:t>
            </a:r>
          </a:p>
          <a:p>
            <a:r>
              <a:rPr lang="en" sz="2400">
                <a:solidFill>
                  <a:srgbClr val="0000FF"/>
                </a:solidFill>
              </a:rPr>
              <a:t>5x5x3 filter</a:t>
            </a:r>
          </a:p>
        </p:txBody>
      </p:sp>
      <p:cxnSp>
        <p:nvCxnSpPr>
          <p:cNvPr id="194" name="Shape 194"/>
          <p:cNvCxnSpPr/>
          <p:nvPr/>
        </p:nvCxnSpPr>
        <p:spPr>
          <a:xfrm flipH="1">
            <a:off x="3872652" y="1347002"/>
            <a:ext cx="984299" cy="310799"/>
          </a:xfrm>
          <a:prstGeom prst="straightConnector1">
            <a:avLst/>
          </a:prstGeom>
          <a:noFill/>
          <a:ln w="9525" cap="flat" cmpd="sng">
            <a:solidFill>
              <a:srgbClr val="FF0000"/>
            </a:solidFill>
            <a:prstDash val="solid"/>
            <a:round/>
            <a:headEnd type="none" w="lg" len="lg"/>
            <a:tailEnd type="triangle" w="lg" len="lg"/>
          </a:ln>
        </p:spPr>
      </p:cxnSp>
      <p:cxnSp>
        <p:nvCxnSpPr>
          <p:cNvPr id="195" name="Shape 195"/>
          <p:cNvCxnSpPr/>
          <p:nvPr/>
        </p:nvCxnSpPr>
        <p:spPr>
          <a:xfrm flipH="1">
            <a:off x="3561649" y="1991702"/>
            <a:ext cx="1398900" cy="725199"/>
          </a:xfrm>
          <a:prstGeom prst="straightConnector1">
            <a:avLst/>
          </a:prstGeom>
          <a:noFill/>
          <a:ln w="9525" cap="flat" cmpd="sng">
            <a:solidFill>
              <a:srgbClr val="0000FF"/>
            </a:solidFill>
            <a:prstDash val="solid"/>
            <a:round/>
            <a:headEnd type="none" w="lg" len="lg"/>
            <a:tailEnd type="triangle" w="lg" len="lg"/>
          </a:ln>
        </p:spPr>
      </p:cxnSp>
      <p:cxnSp>
        <p:nvCxnSpPr>
          <p:cNvPr id="196" name="Shape 196"/>
          <p:cNvCxnSpPr/>
          <p:nvPr/>
        </p:nvCxnSpPr>
        <p:spPr>
          <a:xfrm rot="10800000">
            <a:off x="5098802" y="3822002"/>
            <a:ext cx="408299" cy="194399"/>
          </a:xfrm>
          <a:prstGeom prst="straightConnector1">
            <a:avLst/>
          </a:prstGeom>
          <a:noFill/>
          <a:ln w="9525" cap="flat" cmpd="sng">
            <a:solidFill>
              <a:srgbClr val="000000"/>
            </a:solidFill>
            <a:prstDash val="solid"/>
            <a:round/>
            <a:headEnd type="none" w="lg" len="lg"/>
            <a:tailEnd type="triangle" w="lg" len="lg"/>
          </a:ln>
        </p:spPr>
      </p:cxnSp>
      <p:sp>
        <p:nvSpPr>
          <p:cNvPr id="197" name="Shape 197"/>
          <p:cNvSpPr txBox="1"/>
          <p:nvPr/>
        </p:nvSpPr>
        <p:spPr>
          <a:xfrm>
            <a:off x="5594975" y="3665667"/>
            <a:ext cx="5016000" cy="1416000"/>
          </a:xfrm>
          <a:prstGeom prst="rect">
            <a:avLst/>
          </a:prstGeom>
          <a:noFill/>
          <a:ln>
            <a:noFill/>
          </a:ln>
        </p:spPr>
        <p:txBody>
          <a:bodyPr lIns="91425" tIns="91425" rIns="91425" bIns="91425" anchor="t" anchorCtr="0">
            <a:noAutofit/>
          </a:bodyPr>
          <a:lstStyle/>
          <a:p>
            <a:r>
              <a:rPr lang="en" b="1"/>
              <a:t>1 number: </a:t>
            </a:r>
          </a:p>
          <a:p>
            <a:r>
              <a:rPr lang="en"/>
              <a:t>the result of taking a dot product between the filter and a small 5x5x3 chunk of the image</a:t>
            </a:r>
          </a:p>
          <a:p>
            <a:r>
              <a:rPr lang="en"/>
              <a:t>(i.e. 5*5*3 = 75-dimensional dot product + bias)</a:t>
            </a:r>
          </a:p>
        </p:txBody>
      </p:sp>
      <p:pic>
        <p:nvPicPr>
          <p:cNvPr id="198" name="Shape 198"/>
          <p:cNvPicPr preferRelativeResize="0"/>
          <p:nvPr/>
        </p:nvPicPr>
        <p:blipFill>
          <a:blip r:embed="rId3">
            <a:alphaModFix/>
          </a:blip>
          <a:stretch>
            <a:fillRect/>
          </a:stretch>
        </p:blipFill>
        <p:spPr>
          <a:xfrm>
            <a:off x="6687229" y="1483850"/>
            <a:ext cx="370518" cy="376400"/>
          </a:xfrm>
          <a:prstGeom prst="rect">
            <a:avLst/>
          </a:prstGeom>
          <a:noFill/>
          <a:ln>
            <a:noFill/>
          </a:ln>
        </p:spPr>
      </p:pic>
      <p:pic>
        <p:nvPicPr>
          <p:cNvPr id="199" name="Shape 199"/>
          <p:cNvPicPr preferRelativeResize="0"/>
          <p:nvPr/>
        </p:nvPicPr>
        <p:blipFill>
          <a:blip r:embed="rId4">
            <a:alphaModFix/>
          </a:blip>
          <a:stretch>
            <a:fillRect/>
          </a:stretch>
        </p:blipFill>
        <p:spPr>
          <a:xfrm>
            <a:off x="5740700" y="5381094"/>
            <a:ext cx="1222231" cy="452273"/>
          </a:xfrm>
          <a:prstGeom prst="rect">
            <a:avLst/>
          </a:prstGeom>
          <a:noFill/>
          <a:ln>
            <a:noFill/>
          </a:ln>
        </p:spPr>
      </p:pic>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35</a:t>
            </a:fld>
            <a:endParaRPr lang="en-US" dirty="0">
              <a:solidFill>
                <a:prstClr val="white"/>
              </a:solidFill>
              <a:latin typeface="Calibri"/>
            </a:endParaRPr>
          </a:p>
        </p:txBody>
      </p:sp>
    </p:spTree>
    <p:extLst>
      <p:ext uri="{BB962C8B-B14F-4D97-AF65-F5344CB8AC3E}">
        <p14:creationId xmlns:p14="http://schemas.microsoft.com/office/powerpoint/2010/main" val="4065355123"/>
      </p:ext>
    </p:extLst>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5" name="Shape 205"/>
          <p:cNvSpPr/>
          <p:nvPr/>
        </p:nvSpPr>
        <p:spPr>
          <a:xfrm>
            <a:off x="3162401" y="2883802"/>
            <a:ext cx="282299" cy="1085199"/>
          </a:xfrm>
          <a:prstGeom prst="cube">
            <a:avLst>
              <a:gd name="adj" fmla="val 53382"/>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06" name="Shape 206"/>
          <p:cNvSpPr/>
          <p:nvPr/>
        </p:nvSpPr>
        <p:spPr>
          <a:xfrm>
            <a:off x="4758652" y="3238202"/>
            <a:ext cx="282299" cy="376399"/>
          </a:xfrm>
          <a:prstGeom prst="ellipse">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207" name="Shape 207"/>
          <p:cNvCxnSpPr>
            <a:endCxn id="206" idx="2"/>
          </p:cNvCxnSpPr>
          <p:nvPr/>
        </p:nvCxnSpPr>
        <p:spPr>
          <a:xfrm rot="10800000" flipH="1">
            <a:off x="3269150" y="3426399"/>
            <a:ext cx="1489500" cy="532000"/>
          </a:xfrm>
          <a:prstGeom prst="straightConnector1">
            <a:avLst/>
          </a:prstGeom>
          <a:noFill/>
          <a:ln w="19050" cap="flat" cmpd="sng">
            <a:solidFill>
              <a:srgbClr val="000000"/>
            </a:solidFill>
            <a:prstDash val="solid"/>
            <a:round/>
            <a:headEnd type="none" w="lg" len="lg"/>
            <a:tailEnd type="none" w="lg" len="lg"/>
          </a:ln>
        </p:spPr>
      </p:cxnSp>
      <p:cxnSp>
        <p:nvCxnSpPr>
          <p:cNvPr id="208" name="Shape 208"/>
          <p:cNvCxnSpPr>
            <a:endCxn id="206" idx="2"/>
          </p:cNvCxnSpPr>
          <p:nvPr/>
        </p:nvCxnSpPr>
        <p:spPr>
          <a:xfrm>
            <a:off x="3288650" y="3109999"/>
            <a:ext cx="1470000" cy="316400"/>
          </a:xfrm>
          <a:prstGeom prst="straightConnector1">
            <a:avLst/>
          </a:prstGeom>
          <a:noFill/>
          <a:ln w="19050" cap="flat" cmpd="sng">
            <a:solidFill>
              <a:srgbClr val="000000"/>
            </a:solidFill>
            <a:prstDash val="solid"/>
            <a:round/>
            <a:headEnd type="none" w="lg" len="lg"/>
            <a:tailEnd type="none" w="lg" len="lg"/>
          </a:ln>
        </p:spPr>
      </p:cxnSp>
      <p:cxnSp>
        <p:nvCxnSpPr>
          <p:cNvPr id="209" name="Shape 209"/>
          <p:cNvCxnSpPr>
            <a:endCxn id="206" idx="2"/>
          </p:cNvCxnSpPr>
          <p:nvPr/>
        </p:nvCxnSpPr>
        <p:spPr>
          <a:xfrm>
            <a:off x="3424850" y="2910799"/>
            <a:ext cx="1333800" cy="515600"/>
          </a:xfrm>
          <a:prstGeom prst="straightConnector1">
            <a:avLst/>
          </a:prstGeom>
          <a:noFill/>
          <a:ln w="19050" cap="flat" cmpd="sng">
            <a:solidFill>
              <a:srgbClr val="000000"/>
            </a:solidFill>
            <a:prstDash val="solid"/>
            <a:round/>
            <a:headEnd type="none" w="lg" len="lg"/>
            <a:tailEnd type="none" w="lg" len="lg"/>
          </a:ln>
        </p:spPr>
      </p:cxnSp>
      <p:cxnSp>
        <p:nvCxnSpPr>
          <p:cNvPr id="210" name="Shape 210"/>
          <p:cNvCxnSpPr>
            <a:endCxn id="206" idx="2"/>
          </p:cNvCxnSpPr>
          <p:nvPr/>
        </p:nvCxnSpPr>
        <p:spPr>
          <a:xfrm rot="10800000" flipH="1">
            <a:off x="3450950" y="3426399"/>
            <a:ext cx="1307700" cy="332800"/>
          </a:xfrm>
          <a:prstGeom prst="straightConnector1">
            <a:avLst/>
          </a:prstGeom>
          <a:noFill/>
          <a:ln w="19050" cap="flat" cmpd="sng">
            <a:solidFill>
              <a:srgbClr val="000000"/>
            </a:solidFill>
            <a:prstDash val="solid"/>
            <a:round/>
            <a:headEnd type="none" w="lg" len="lg"/>
            <a:tailEnd type="none" w="lg" len="lg"/>
          </a:ln>
        </p:spPr>
      </p:cxnSp>
      <p:sp>
        <p:nvSpPr>
          <p:cNvPr id="211" name="Shape 211"/>
          <p:cNvSpPr txBox="1"/>
          <p:nvPr/>
        </p:nvSpPr>
        <p:spPr>
          <a:xfrm>
            <a:off x="3358500" y="4654467"/>
            <a:ext cx="491700" cy="412800"/>
          </a:xfrm>
          <a:prstGeom prst="rect">
            <a:avLst/>
          </a:prstGeom>
          <a:noFill/>
          <a:ln>
            <a:noFill/>
          </a:ln>
        </p:spPr>
        <p:txBody>
          <a:bodyPr lIns="91425" tIns="91425" rIns="91425" bIns="91425" anchor="t" anchorCtr="0">
            <a:noAutofit/>
          </a:bodyPr>
          <a:lstStyle/>
          <a:p>
            <a:r>
              <a:rPr lang="en"/>
              <a:t>32</a:t>
            </a:r>
          </a:p>
        </p:txBody>
      </p:sp>
      <p:sp>
        <p:nvSpPr>
          <p:cNvPr id="212" name="Shape 212"/>
          <p:cNvSpPr txBox="1"/>
          <p:nvPr/>
        </p:nvSpPr>
        <p:spPr>
          <a:xfrm>
            <a:off x="3722800" y="1890235"/>
            <a:ext cx="491700" cy="376399"/>
          </a:xfrm>
          <a:prstGeom prst="rect">
            <a:avLst/>
          </a:prstGeom>
          <a:noFill/>
          <a:ln>
            <a:noFill/>
          </a:ln>
        </p:spPr>
        <p:txBody>
          <a:bodyPr lIns="91425" tIns="91425" rIns="91425" bIns="91425" anchor="t" anchorCtr="0">
            <a:noAutofit/>
          </a:bodyPr>
          <a:lstStyle/>
          <a:p>
            <a:r>
              <a:rPr lang="en"/>
              <a:t>32</a:t>
            </a:r>
          </a:p>
        </p:txBody>
      </p:sp>
      <p:sp>
        <p:nvSpPr>
          <p:cNvPr id="213" name="Shape 213"/>
          <p:cNvSpPr txBox="1"/>
          <p:nvPr/>
        </p:nvSpPr>
        <p:spPr>
          <a:xfrm>
            <a:off x="2687887" y="5176644"/>
            <a:ext cx="491700" cy="242799"/>
          </a:xfrm>
          <a:prstGeom prst="rect">
            <a:avLst/>
          </a:prstGeom>
          <a:noFill/>
          <a:ln>
            <a:noFill/>
          </a:ln>
        </p:spPr>
        <p:txBody>
          <a:bodyPr lIns="91425" tIns="91425" rIns="91425" bIns="91425" anchor="t" anchorCtr="0">
            <a:noAutofit/>
          </a:bodyPr>
          <a:lstStyle/>
          <a:p>
            <a:r>
              <a:rPr lang="en"/>
              <a:t>3</a:t>
            </a:r>
          </a:p>
        </p:txBody>
      </p:sp>
      <p:sp>
        <p:nvSpPr>
          <p:cNvPr id="214" name="Shape 214"/>
          <p:cNvSpPr txBox="1"/>
          <p:nvPr/>
        </p:nvSpPr>
        <p:spPr>
          <a:xfrm>
            <a:off x="1644875" y="93268"/>
            <a:ext cx="7701900" cy="840399"/>
          </a:xfrm>
          <a:prstGeom prst="rect">
            <a:avLst/>
          </a:prstGeom>
          <a:noFill/>
          <a:ln>
            <a:noFill/>
          </a:ln>
        </p:spPr>
        <p:txBody>
          <a:bodyPr lIns="91425" tIns="91425" rIns="91425" bIns="91425" anchor="t" anchorCtr="0">
            <a:noAutofit/>
          </a:bodyPr>
          <a:lstStyle/>
          <a:p>
            <a:r>
              <a:rPr lang="en" sz="3000" dirty="0"/>
              <a:t>Convolutional Layer</a:t>
            </a:r>
          </a:p>
        </p:txBody>
      </p:sp>
      <p:sp>
        <p:nvSpPr>
          <p:cNvPr id="215" name="Shape 215"/>
          <p:cNvSpPr/>
          <p:nvPr/>
        </p:nvSpPr>
        <p:spPr>
          <a:xfrm>
            <a:off x="2745875" y="1587800"/>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16" name="Shape 216"/>
          <p:cNvSpPr txBox="1"/>
          <p:nvPr/>
        </p:nvSpPr>
        <p:spPr>
          <a:xfrm>
            <a:off x="5003727" y="1024633"/>
            <a:ext cx="3635099" cy="736800"/>
          </a:xfrm>
          <a:prstGeom prst="rect">
            <a:avLst/>
          </a:prstGeom>
          <a:noFill/>
          <a:ln>
            <a:noFill/>
          </a:ln>
        </p:spPr>
        <p:txBody>
          <a:bodyPr lIns="91425" tIns="91425" rIns="91425" bIns="91425" anchor="t" anchorCtr="0">
            <a:noAutofit/>
          </a:bodyPr>
          <a:lstStyle/>
          <a:p>
            <a:r>
              <a:rPr lang="en" sz="2400">
                <a:solidFill>
                  <a:srgbClr val="FF0000"/>
                </a:solidFill>
              </a:rPr>
              <a:t>32x32x3 image</a:t>
            </a:r>
          </a:p>
          <a:p>
            <a:r>
              <a:rPr lang="en" sz="2400">
                <a:solidFill>
                  <a:srgbClr val="0000FF"/>
                </a:solidFill>
              </a:rPr>
              <a:t>5x5x3 filter</a:t>
            </a:r>
          </a:p>
        </p:txBody>
      </p:sp>
      <p:cxnSp>
        <p:nvCxnSpPr>
          <p:cNvPr id="217" name="Shape 217"/>
          <p:cNvCxnSpPr/>
          <p:nvPr/>
        </p:nvCxnSpPr>
        <p:spPr>
          <a:xfrm flipH="1">
            <a:off x="3872652" y="1347002"/>
            <a:ext cx="984299" cy="310799"/>
          </a:xfrm>
          <a:prstGeom prst="straightConnector1">
            <a:avLst/>
          </a:prstGeom>
          <a:noFill/>
          <a:ln w="9525" cap="flat" cmpd="sng">
            <a:solidFill>
              <a:srgbClr val="FF0000"/>
            </a:solidFill>
            <a:prstDash val="solid"/>
            <a:round/>
            <a:headEnd type="none" w="lg" len="lg"/>
            <a:tailEnd type="triangle" w="lg" len="lg"/>
          </a:ln>
        </p:spPr>
      </p:cxnSp>
      <p:cxnSp>
        <p:nvCxnSpPr>
          <p:cNvPr id="218" name="Shape 218"/>
          <p:cNvCxnSpPr/>
          <p:nvPr/>
        </p:nvCxnSpPr>
        <p:spPr>
          <a:xfrm flipH="1">
            <a:off x="3561649" y="1991702"/>
            <a:ext cx="1398900" cy="725199"/>
          </a:xfrm>
          <a:prstGeom prst="straightConnector1">
            <a:avLst/>
          </a:prstGeom>
          <a:noFill/>
          <a:ln w="9525" cap="flat" cmpd="sng">
            <a:solidFill>
              <a:srgbClr val="0000FF"/>
            </a:solidFill>
            <a:prstDash val="solid"/>
            <a:round/>
            <a:headEnd type="none" w="lg" len="lg"/>
            <a:tailEnd type="triangle" w="lg" len="lg"/>
          </a:ln>
        </p:spPr>
      </p:cxnSp>
      <p:cxnSp>
        <p:nvCxnSpPr>
          <p:cNvPr id="219" name="Shape 219"/>
          <p:cNvCxnSpPr/>
          <p:nvPr/>
        </p:nvCxnSpPr>
        <p:spPr>
          <a:xfrm>
            <a:off x="5495900" y="3430800"/>
            <a:ext cx="2365800" cy="0"/>
          </a:xfrm>
          <a:prstGeom prst="straightConnector1">
            <a:avLst/>
          </a:prstGeom>
          <a:noFill/>
          <a:ln w="9525" cap="flat" cmpd="sng">
            <a:solidFill>
              <a:schemeClr val="dk2"/>
            </a:solidFill>
            <a:prstDash val="solid"/>
            <a:round/>
            <a:headEnd type="none" w="lg" len="lg"/>
            <a:tailEnd type="triangle" w="lg" len="lg"/>
          </a:ln>
        </p:spPr>
      </p:cxnSp>
      <p:sp>
        <p:nvSpPr>
          <p:cNvPr id="220" name="Shape 220"/>
          <p:cNvSpPr txBox="1"/>
          <p:nvPr/>
        </p:nvSpPr>
        <p:spPr>
          <a:xfrm>
            <a:off x="5366425" y="3614601"/>
            <a:ext cx="3272400" cy="1085199"/>
          </a:xfrm>
          <a:prstGeom prst="rect">
            <a:avLst/>
          </a:prstGeom>
          <a:noFill/>
          <a:ln>
            <a:noFill/>
          </a:ln>
        </p:spPr>
        <p:txBody>
          <a:bodyPr lIns="91425" tIns="91425" rIns="91425" bIns="91425" anchor="t" anchorCtr="0">
            <a:noAutofit/>
          </a:bodyPr>
          <a:lstStyle/>
          <a:p>
            <a:r>
              <a:rPr lang="en"/>
              <a:t>convolve (slide) over all spatial locations</a:t>
            </a:r>
          </a:p>
        </p:txBody>
      </p:sp>
      <p:sp>
        <p:nvSpPr>
          <p:cNvPr id="221" name="Shape 221"/>
          <p:cNvSpPr/>
          <p:nvPr/>
        </p:nvSpPr>
        <p:spPr>
          <a:xfrm>
            <a:off x="8598950" y="1587800"/>
            <a:ext cx="956400" cy="3677200"/>
          </a:xfrm>
          <a:prstGeom prst="cube">
            <a:avLst>
              <a:gd name="adj" fmla="val 90357"/>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22" name="Shape 222"/>
          <p:cNvSpPr txBox="1"/>
          <p:nvPr/>
        </p:nvSpPr>
        <p:spPr>
          <a:xfrm>
            <a:off x="8604351" y="698235"/>
            <a:ext cx="1804499" cy="725199"/>
          </a:xfrm>
          <a:prstGeom prst="rect">
            <a:avLst/>
          </a:prstGeom>
          <a:noFill/>
          <a:ln>
            <a:noFill/>
          </a:ln>
        </p:spPr>
        <p:txBody>
          <a:bodyPr lIns="91425" tIns="91425" rIns="91425" bIns="91425" anchor="t" anchorCtr="0">
            <a:noAutofit/>
          </a:bodyPr>
          <a:lstStyle/>
          <a:p>
            <a:r>
              <a:rPr lang="en" b="1">
                <a:solidFill>
                  <a:srgbClr val="0000FF"/>
                </a:solidFill>
              </a:rPr>
              <a:t>activation map</a:t>
            </a:r>
          </a:p>
        </p:txBody>
      </p:sp>
      <p:sp>
        <p:nvSpPr>
          <p:cNvPr id="223" name="Shape 223"/>
          <p:cNvSpPr txBox="1"/>
          <p:nvPr/>
        </p:nvSpPr>
        <p:spPr>
          <a:xfrm>
            <a:off x="8483445" y="5205772"/>
            <a:ext cx="328199" cy="412800"/>
          </a:xfrm>
          <a:prstGeom prst="rect">
            <a:avLst/>
          </a:prstGeom>
          <a:noFill/>
          <a:ln>
            <a:noFill/>
          </a:ln>
        </p:spPr>
        <p:txBody>
          <a:bodyPr lIns="91425" tIns="91425" rIns="91425" bIns="91425" anchor="t" anchorCtr="0">
            <a:noAutofit/>
          </a:bodyPr>
          <a:lstStyle/>
          <a:p>
            <a:r>
              <a:rPr lang="en"/>
              <a:t>1</a:t>
            </a:r>
          </a:p>
        </p:txBody>
      </p:sp>
      <p:sp>
        <p:nvSpPr>
          <p:cNvPr id="224" name="Shape 224"/>
          <p:cNvSpPr txBox="1"/>
          <p:nvPr/>
        </p:nvSpPr>
        <p:spPr>
          <a:xfrm>
            <a:off x="9150953" y="4598200"/>
            <a:ext cx="491700" cy="412800"/>
          </a:xfrm>
          <a:prstGeom prst="rect">
            <a:avLst/>
          </a:prstGeom>
          <a:noFill/>
          <a:ln>
            <a:noFill/>
          </a:ln>
        </p:spPr>
        <p:txBody>
          <a:bodyPr lIns="91425" tIns="91425" rIns="91425" bIns="91425" anchor="t" anchorCtr="0">
            <a:noAutofit/>
          </a:bodyPr>
          <a:lstStyle/>
          <a:p>
            <a:r>
              <a:rPr lang="en"/>
              <a:t>28</a:t>
            </a:r>
          </a:p>
        </p:txBody>
      </p:sp>
      <p:sp>
        <p:nvSpPr>
          <p:cNvPr id="225" name="Shape 225"/>
          <p:cNvSpPr txBox="1"/>
          <p:nvPr/>
        </p:nvSpPr>
        <p:spPr>
          <a:xfrm>
            <a:off x="9555353" y="2716883"/>
            <a:ext cx="491700" cy="412800"/>
          </a:xfrm>
          <a:prstGeom prst="rect">
            <a:avLst/>
          </a:prstGeom>
          <a:noFill/>
          <a:ln>
            <a:noFill/>
          </a:ln>
        </p:spPr>
        <p:txBody>
          <a:bodyPr lIns="91425" tIns="91425" rIns="91425" bIns="91425" anchor="t" anchorCtr="0">
            <a:noAutofit/>
          </a:bodyPr>
          <a:lstStyle/>
          <a:p>
            <a:r>
              <a:rPr lang="en"/>
              <a:t>28</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36</a:t>
            </a:fld>
            <a:endParaRPr lang="en-US" dirty="0">
              <a:solidFill>
                <a:prstClr val="white"/>
              </a:solidFill>
              <a:latin typeface="Calibri"/>
            </a:endParaRPr>
          </a:p>
        </p:txBody>
      </p:sp>
    </p:spTree>
    <p:extLst>
      <p:ext uri="{BB962C8B-B14F-4D97-AF65-F5344CB8AC3E}">
        <p14:creationId xmlns:p14="http://schemas.microsoft.com/office/powerpoint/2010/main" val="3561458186"/>
      </p:ext>
    </p:extLst>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graphicFrame>
        <p:nvGraphicFramePr>
          <p:cNvPr id="395" name="Shape 395"/>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397" name="Shape 397"/>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398" name="Shape 398"/>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399" name="Shape 399"/>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37</a:t>
            </a:fld>
            <a:endParaRPr lang="en-US" dirty="0">
              <a:solidFill>
                <a:prstClr val="white"/>
              </a:solidFill>
              <a:latin typeface="Calibri"/>
            </a:endParaRPr>
          </a:p>
        </p:txBody>
      </p:sp>
      <p:sp>
        <p:nvSpPr>
          <p:cNvPr id="9" name="Shape 435">
            <a:extLst>
              <a:ext uri="{FF2B5EF4-FFF2-40B4-BE49-F238E27FC236}">
                <a16:creationId xmlns:a16="http://schemas.microsoft.com/office/drawing/2014/main" id="{7AAFD250-1CE2-4DC4-9A02-6B6016C6C7FE}"/>
              </a:ext>
            </a:extLst>
          </p:cNvPr>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dirty="0"/>
              <a:t>7x7 input (spatially)</a:t>
            </a:r>
          </a:p>
          <a:p>
            <a:r>
              <a:rPr lang="en" sz="2400" dirty="0"/>
              <a:t>assume 3x3 filter, with stride 1</a:t>
            </a:r>
          </a:p>
        </p:txBody>
      </p:sp>
    </p:spTree>
    <p:extLst>
      <p:ext uri="{BB962C8B-B14F-4D97-AF65-F5344CB8AC3E}">
        <p14:creationId xmlns:p14="http://schemas.microsoft.com/office/powerpoint/2010/main" val="1380858368"/>
      </p:ext>
    </p:extLst>
  </p:cSld>
  <p:clrMapOvr>
    <a:masterClrMapping/>
  </p:clrMapOvr>
  <p:transition spd="slow">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graphicFrame>
        <p:nvGraphicFramePr>
          <p:cNvPr id="405" name="Shape 405"/>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a:spcBef>
                          <a:spcPts val="0"/>
                        </a:spcBef>
                        <a:buNone/>
                      </a:pPr>
                      <a:endParaRPr sz="2400" dirty="0"/>
                    </a:p>
                  </a:txBody>
                  <a:tcPr marL="91425" marR="91425" marT="121900" marB="121900">
                    <a:solidFill>
                      <a:srgbClr val="FFFFFF"/>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406" name="Shape 406"/>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p:txBody>
      </p:sp>
      <p:sp>
        <p:nvSpPr>
          <p:cNvPr id="407" name="Shape 407"/>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08" name="Shape 408"/>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09" name="Shape 409"/>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38</a:t>
            </a:fld>
            <a:endParaRPr lang="en-US" dirty="0">
              <a:solidFill>
                <a:prstClr val="white"/>
              </a:solidFill>
              <a:latin typeface="Calibri"/>
            </a:endParaRPr>
          </a:p>
        </p:txBody>
      </p:sp>
    </p:spTree>
    <p:extLst>
      <p:ext uri="{BB962C8B-B14F-4D97-AF65-F5344CB8AC3E}">
        <p14:creationId xmlns:p14="http://schemas.microsoft.com/office/powerpoint/2010/main" val="3755117976"/>
      </p:ext>
    </p:extLst>
  </p:cSld>
  <p:clrMapOvr>
    <a:masterClrMapping/>
  </p:clrMapOvr>
  <p:transition spd="slow">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5" name="Shape 415"/>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p:txBody>
      </p:sp>
      <p:sp>
        <p:nvSpPr>
          <p:cNvPr id="416" name="Shape 41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17" name="Shape 41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18" name="Shape 41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19" name="Shape 41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39</a:t>
            </a:fld>
            <a:endParaRPr lang="en-US" dirty="0">
              <a:solidFill>
                <a:prstClr val="white"/>
              </a:solidFill>
              <a:latin typeface="Calibri"/>
            </a:endParaRPr>
          </a:p>
        </p:txBody>
      </p:sp>
    </p:spTree>
    <p:extLst>
      <p:ext uri="{BB962C8B-B14F-4D97-AF65-F5344CB8AC3E}">
        <p14:creationId xmlns:p14="http://schemas.microsoft.com/office/powerpoint/2010/main" val="3208053302"/>
      </p:ext>
    </p:extLst>
  </p:cSld>
  <p:clrMapOvr>
    <a:masterClrMapping/>
  </p:clrMapOvr>
  <p:transition spd="slow">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5" name="Shape 425"/>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p:txBody>
      </p:sp>
      <p:sp>
        <p:nvSpPr>
          <p:cNvPr id="426" name="Shape 42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27" name="Shape 42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28" name="Shape 42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29" name="Shape 42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40</a:t>
            </a:fld>
            <a:endParaRPr lang="en-US" dirty="0">
              <a:solidFill>
                <a:prstClr val="white"/>
              </a:solidFill>
              <a:latin typeface="Calibri"/>
            </a:endParaRPr>
          </a:p>
        </p:txBody>
      </p:sp>
    </p:spTree>
    <p:extLst>
      <p:ext uri="{BB962C8B-B14F-4D97-AF65-F5344CB8AC3E}">
        <p14:creationId xmlns:p14="http://schemas.microsoft.com/office/powerpoint/2010/main" val="2537572631"/>
      </p:ext>
    </p:extLst>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5" name="Shape 435"/>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dirty="0"/>
              <a:t>7x7 input (spatially)</a:t>
            </a:r>
          </a:p>
          <a:p>
            <a:r>
              <a:rPr lang="en" sz="2400" dirty="0"/>
              <a:t>assume 3x3 filter</a:t>
            </a:r>
          </a:p>
        </p:txBody>
      </p:sp>
      <p:sp>
        <p:nvSpPr>
          <p:cNvPr id="436" name="Shape 43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37" name="Shape 43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38" name="Shape 43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39" name="Shape 43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41</a:t>
            </a:fld>
            <a:endParaRPr lang="en-US" dirty="0">
              <a:solidFill>
                <a:prstClr val="white"/>
              </a:solidFill>
              <a:latin typeface="Calibri"/>
            </a:endParaRPr>
          </a:p>
        </p:txBody>
      </p:sp>
    </p:spTree>
    <p:extLst>
      <p:ext uri="{BB962C8B-B14F-4D97-AF65-F5344CB8AC3E}">
        <p14:creationId xmlns:p14="http://schemas.microsoft.com/office/powerpoint/2010/main" val="477834091"/>
      </p:ext>
    </p:extLst>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5" name="Shape 435"/>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dirty="0"/>
              <a:t>7x7 input (spatially)</a:t>
            </a:r>
          </a:p>
          <a:p>
            <a:r>
              <a:rPr lang="en" sz="2400" dirty="0"/>
              <a:t>assume 3x3 filter</a:t>
            </a:r>
          </a:p>
        </p:txBody>
      </p:sp>
      <p:sp>
        <p:nvSpPr>
          <p:cNvPr id="436" name="Shape 43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37" name="Shape 43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38" name="Shape 43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39" name="Shape 43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chemeClr val="bg1"/>
                    </a:solidFill>
                  </a:tcPr>
                </a:tc>
                <a:tc>
                  <a:txBody>
                    <a:bodyPr/>
                    <a:lstStyle/>
                    <a:p>
                      <a:pPr lvl="0" rtl="0">
                        <a:spcBef>
                          <a:spcPts val="0"/>
                        </a:spcBef>
                        <a:buNone/>
                      </a:pPr>
                      <a:endParaRPr sz="2400" dirty="0"/>
                    </a:p>
                  </a:txBody>
                  <a:tcPr marL="91425" marR="91425" marT="121900" marB="121900">
                    <a:solidFill>
                      <a:schemeClr val="bg1"/>
                    </a:solidFill>
                  </a:tcPr>
                </a:tc>
                <a:tc>
                  <a:txBody>
                    <a:bodyPr/>
                    <a:lstStyle/>
                    <a:p>
                      <a:pPr lvl="0" rtl="0">
                        <a:spcBef>
                          <a:spcPts val="0"/>
                        </a:spcBef>
                        <a:buNone/>
                      </a:pPr>
                      <a:endParaRPr sz="2400"/>
                    </a:p>
                  </a:txBody>
                  <a:tcPr marL="91425" marR="91425" marT="121900" marB="121900">
                    <a:solidFill>
                      <a:schemeClr val="bg1"/>
                    </a:solidFill>
                  </a:tcPr>
                </a:tc>
                <a:extLst>
                  <a:ext uri="{0D108BD9-81ED-4DB2-BD59-A6C34878D82A}">
                    <a16:rowId xmlns:a16="http://schemas.microsoft.com/office/drawing/2014/main" val="10000"/>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bg1"/>
                    </a:solidFill>
                  </a:tcPr>
                </a:tc>
                <a:tc>
                  <a:txBody>
                    <a:bodyPr/>
                    <a:lstStyle/>
                    <a:p>
                      <a:pPr lvl="0">
                        <a:spcBef>
                          <a:spcPts val="0"/>
                        </a:spcBef>
                        <a:buNone/>
                      </a:pPr>
                      <a:endParaRPr sz="2400"/>
                    </a:p>
                  </a:txBody>
                  <a:tcPr marL="91425" marR="91425" marT="121900" marB="121900">
                    <a:solidFill>
                      <a:schemeClr val="bg1"/>
                    </a:solidFill>
                  </a:tcPr>
                </a:tc>
                <a:tc>
                  <a:txBody>
                    <a:bodyPr/>
                    <a:lstStyle/>
                    <a:p>
                      <a:pPr lvl="0">
                        <a:spcBef>
                          <a:spcPts val="0"/>
                        </a:spcBef>
                        <a:buNone/>
                      </a:pPr>
                      <a:endParaRPr sz="2400" dirty="0"/>
                    </a:p>
                  </a:txBody>
                  <a:tcPr marL="91425" marR="91425" marT="121900" marB="121900">
                    <a:solidFill>
                      <a:schemeClr val="bg1"/>
                    </a:solidFill>
                  </a:tcPr>
                </a:tc>
                <a:extLst>
                  <a:ext uri="{0D108BD9-81ED-4DB2-BD59-A6C34878D82A}">
                    <a16:rowId xmlns:a16="http://schemas.microsoft.com/office/drawing/2014/main" val="10001"/>
                  </a:ext>
                </a:extLst>
              </a:tr>
              <a:tr h="609560">
                <a:tc>
                  <a:txBody>
                    <a:bodyPr/>
                    <a:lstStyle/>
                    <a:p>
                      <a:pPr marL="0" lvl="0" algn="l" defTabSz="457200" rtl="0" eaLnBrk="1" latinLnBrk="0" hangingPunct="1">
                        <a:spcBef>
                          <a:spcPts val="0"/>
                        </a:spcBef>
                        <a:buNone/>
                      </a:pPr>
                      <a:endParaRPr sz="2400" kern="120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bg1"/>
                    </a:solidFill>
                  </a:tcPr>
                </a:tc>
                <a:tc>
                  <a:txBody>
                    <a:bodyPr/>
                    <a:lstStyle/>
                    <a:p>
                      <a:pPr lvl="0">
                        <a:spcBef>
                          <a:spcPts val="0"/>
                        </a:spcBef>
                        <a:buNone/>
                      </a:pPr>
                      <a:endParaRPr sz="2400" dirty="0"/>
                    </a:p>
                  </a:txBody>
                  <a:tcPr marL="91425" marR="91425" marT="121900" marB="121900">
                    <a:solidFill>
                      <a:schemeClr val="bg1"/>
                    </a:solidFill>
                  </a:tcPr>
                </a:tc>
                <a:tc>
                  <a:txBody>
                    <a:bodyPr/>
                    <a:lstStyle/>
                    <a:p>
                      <a:pPr lvl="0">
                        <a:spcBef>
                          <a:spcPts val="0"/>
                        </a:spcBef>
                        <a:buNone/>
                      </a:pPr>
                      <a:endParaRPr sz="2400" dirty="0"/>
                    </a:p>
                  </a:txBody>
                  <a:tcPr marL="91425" marR="91425" marT="121900" marB="121900">
                    <a:solidFill>
                      <a:schemeClr val="bg1"/>
                    </a:solidFill>
                  </a:tcPr>
                </a:tc>
                <a:extLst>
                  <a:ext uri="{0D108BD9-81ED-4DB2-BD59-A6C34878D82A}">
                    <a16:rowId xmlns:a16="http://schemas.microsoft.com/office/drawing/2014/main" val="10002"/>
                  </a:ext>
                </a:extLst>
              </a:tr>
              <a:tr h="609560">
                <a:tc>
                  <a:txBody>
                    <a:bodyPr/>
                    <a:lstStyle/>
                    <a:p>
                      <a:pPr marL="0" lvl="0" algn="l" defTabSz="457200" rtl="0" eaLnBrk="1" latinLnBrk="0" hangingPunct="1">
                        <a:spcBef>
                          <a:spcPts val="0"/>
                        </a:spcBef>
                        <a:buNone/>
                      </a:pPr>
                      <a:endParaRPr sz="2400" kern="120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dirty="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42</a:t>
            </a:fld>
            <a:endParaRPr lang="en-US" dirty="0">
              <a:solidFill>
                <a:prstClr val="white"/>
              </a:solidFill>
              <a:latin typeface="Calibri"/>
            </a:endParaRPr>
          </a:p>
        </p:txBody>
      </p:sp>
    </p:spTree>
    <p:extLst>
      <p:ext uri="{BB962C8B-B14F-4D97-AF65-F5344CB8AC3E}">
        <p14:creationId xmlns:p14="http://schemas.microsoft.com/office/powerpoint/2010/main" val="3018944083"/>
      </p:ext>
    </p:extLst>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5" name="Shape 435"/>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dirty="0"/>
              <a:t>7x7 input (spatially)</a:t>
            </a:r>
          </a:p>
          <a:p>
            <a:r>
              <a:rPr lang="en" sz="2400" dirty="0"/>
              <a:t>assume 3x3 filter</a:t>
            </a:r>
          </a:p>
        </p:txBody>
      </p:sp>
      <p:sp>
        <p:nvSpPr>
          <p:cNvPr id="436" name="Shape 43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37" name="Shape 43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38" name="Shape 43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39" name="Shape 43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chemeClr val="bg1"/>
                    </a:solidFill>
                  </a:tcPr>
                </a:tc>
                <a:tc>
                  <a:txBody>
                    <a:bodyPr/>
                    <a:lstStyle/>
                    <a:p>
                      <a:pPr lvl="0" rtl="0">
                        <a:spcBef>
                          <a:spcPts val="0"/>
                        </a:spcBef>
                        <a:buNone/>
                      </a:pPr>
                      <a:endParaRPr sz="2400" dirty="0"/>
                    </a:p>
                  </a:txBody>
                  <a:tcPr marL="91425" marR="91425" marT="121900" marB="121900">
                    <a:solidFill>
                      <a:schemeClr val="bg1"/>
                    </a:solidFill>
                  </a:tcPr>
                </a:tc>
                <a:tc>
                  <a:txBody>
                    <a:bodyPr/>
                    <a:lstStyle/>
                    <a:p>
                      <a:pPr lvl="0" rtl="0">
                        <a:spcBef>
                          <a:spcPts val="0"/>
                        </a:spcBef>
                        <a:buNone/>
                      </a:pPr>
                      <a:endParaRPr sz="2400"/>
                    </a:p>
                  </a:txBody>
                  <a:tcPr marL="91425" marR="91425" marT="121900" marB="121900">
                    <a:solidFill>
                      <a:schemeClr val="bg1"/>
                    </a:solidFill>
                  </a:tcPr>
                </a:tc>
                <a:extLst>
                  <a:ext uri="{0D108BD9-81ED-4DB2-BD59-A6C34878D82A}">
                    <a16:rowId xmlns:a16="http://schemas.microsoft.com/office/drawing/2014/main" val="10000"/>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bg1"/>
                    </a:solidFill>
                  </a:tcPr>
                </a:tc>
                <a:tc>
                  <a:txBody>
                    <a:bodyPr/>
                    <a:lstStyle/>
                    <a:p>
                      <a:pPr lvl="0">
                        <a:spcBef>
                          <a:spcPts val="0"/>
                        </a:spcBef>
                        <a:buNone/>
                      </a:pPr>
                      <a:endParaRPr sz="2400"/>
                    </a:p>
                  </a:txBody>
                  <a:tcPr marL="91425" marR="91425" marT="121900" marB="121900">
                    <a:solidFill>
                      <a:schemeClr val="bg1"/>
                    </a:solidFill>
                  </a:tcPr>
                </a:tc>
                <a:tc>
                  <a:txBody>
                    <a:bodyPr/>
                    <a:lstStyle/>
                    <a:p>
                      <a:pPr lvl="0">
                        <a:spcBef>
                          <a:spcPts val="0"/>
                        </a:spcBef>
                        <a:buNone/>
                      </a:pPr>
                      <a:endParaRPr sz="2400" dirty="0"/>
                    </a:p>
                  </a:txBody>
                  <a:tcPr marL="91425" marR="91425" marT="121900" marB="121900">
                    <a:solidFill>
                      <a:schemeClr val="bg1"/>
                    </a:solidFill>
                  </a:tcPr>
                </a:tc>
                <a:extLst>
                  <a:ext uri="{0D108BD9-81ED-4DB2-BD59-A6C34878D82A}">
                    <a16:rowId xmlns:a16="http://schemas.microsoft.com/office/drawing/2014/main" val="10001"/>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bg1"/>
                    </a:solidFill>
                  </a:tcPr>
                </a:tc>
                <a:tc>
                  <a:txBody>
                    <a:bodyPr/>
                    <a:lstStyle/>
                    <a:p>
                      <a:pPr lvl="0">
                        <a:spcBef>
                          <a:spcPts val="0"/>
                        </a:spcBef>
                        <a:buNone/>
                      </a:pPr>
                      <a:endParaRPr sz="2400" dirty="0"/>
                    </a:p>
                  </a:txBody>
                  <a:tcPr marL="91425" marR="91425" marT="121900" marB="121900">
                    <a:solidFill>
                      <a:schemeClr val="bg1"/>
                    </a:solidFill>
                  </a:tcPr>
                </a:tc>
                <a:tc>
                  <a:txBody>
                    <a:bodyPr/>
                    <a:lstStyle/>
                    <a:p>
                      <a:pPr lvl="0">
                        <a:spcBef>
                          <a:spcPts val="0"/>
                        </a:spcBef>
                        <a:buNone/>
                      </a:pPr>
                      <a:endParaRPr sz="2400" dirty="0"/>
                    </a:p>
                  </a:txBody>
                  <a:tcPr marL="91425" marR="91425" marT="121900" marB="121900">
                    <a:solidFill>
                      <a:schemeClr val="bg1"/>
                    </a:solidFill>
                  </a:tcPr>
                </a:tc>
                <a:extLst>
                  <a:ext uri="{0D108BD9-81ED-4DB2-BD59-A6C34878D82A}">
                    <a16:rowId xmlns:a16="http://schemas.microsoft.com/office/drawing/2014/main" val="10002"/>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dirty="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43</a:t>
            </a:fld>
            <a:endParaRPr lang="en-US" dirty="0">
              <a:solidFill>
                <a:prstClr val="white"/>
              </a:solidFill>
              <a:latin typeface="Calibri"/>
            </a:endParaRPr>
          </a:p>
        </p:txBody>
      </p:sp>
    </p:spTree>
    <p:extLst>
      <p:ext uri="{BB962C8B-B14F-4D97-AF65-F5344CB8AC3E}">
        <p14:creationId xmlns:p14="http://schemas.microsoft.com/office/powerpoint/2010/main" val="3607507159"/>
      </p:ext>
    </p:extLst>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5" name="Shape 435"/>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dirty="0"/>
              <a:t>7x7 input (spatially)</a:t>
            </a:r>
          </a:p>
          <a:p>
            <a:r>
              <a:rPr lang="en" sz="2400" dirty="0"/>
              <a:t>assume 3x3 filter</a:t>
            </a:r>
          </a:p>
        </p:txBody>
      </p:sp>
      <p:sp>
        <p:nvSpPr>
          <p:cNvPr id="436" name="Shape 43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37" name="Shape 43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38" name="Shape 43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39" name="Shape 43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chemeClr val="bg1"/>
                    </a:solidFill>
                  </a:tcPr>
                </a:tc>
                <a:tc>
                  <a:txBody>
                    <a:bodyPr/>
                    <a:lstStyle/>
                    <a:p>
                      <a:pPr lvl="0" rtl="0">
                        <a:spcBef>
                          <a:spcPts val="0"/>
                        </a:spcBef>
                        <a:buNone/>
                      </a:pPr>
                      <a:endParaRPr sz="2400" dirty="0"/>
                    </a:p>
                  </a:txBody>
                  <a:tcPr marL="91425" marR="91425" marT="121900" marB="121900">
                    <a:solidFill>
                      <a:schemeClr val="bg1"/>
                    </a:solidFill>
                  </a:tcPr>
                </a:tc>
                <a:tc>
                  <a:txBody>
                    <a:bodyPr/>
                    <a:lstStyle/>
                    <a:p>
                      <a:pPr lvl="0" rtl="0">
                        <a:spcBef>
                          <a:spcPts val="0"/>
                        </a:spcBef>
                        <a:buNone/>
                      </a:pPr>
                      <a:endParaRPr sz="2400"/>
                    </a:p>
                  </a:txBody>
                  <a:tcPr marL="91425" marR="91425" marT="121900" marB="121900">
                    <a:solidFill>
                      <a:schemeClr val="bg1"/>
                    </a:solidFill>
                  </a:tcPr>
                </a:tc>
                <a:extLst>
                  <a:ext uri="{0D108BD9-81ED-4DB2-BD59-A6C34878D82A}">
                    <a16:rowId xmlns:a16="http://schemas.microsoft.com/office/drawing/2014/main" val="10000"/>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bg1"/>
                    </a:solidFill>
                  </a:tcPr>
                </a:tc>
                <a:tc>
                  <a:txBody>
                    <a:bodyPr/>
                    <a:lstStyle/>
                    <a:p>
                      <a:pPr lvl="0">
                        <a:spcBef>
                          <a:spcPts val="0"/>
                        </a:spcBef>
                        <a:buNone/>
                      </a:pPr>
                      <a:endParaRPr sz="2400" dirty="0"/>
                    </a:p>
                  </a:txBody>
                  <a:tcPr marL="91425" marR="91425" marT="121900" marB="121900">
                    <a:solidFill>
                      <a:schemeClr val="bg1"/>
                    </a:solidFill>
                  </a:tcPr>
                </a:tc>
                <a:extLst>
                  <a:ext uri="{0D108BD9-81ED-4DB2-BD59-A6C34878D82A}">
                    <a16:rowId xmlns:a16="http://schemas.microsoft.com/office/drawing/2014/main" val="10001"/>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bg1"/>
                    </a:solidFill>
                  </a:tcPr>
                </a:tc>
                <a:tc>
                  <a:txBody>
                    <a:bodyPr/>
                    <a:lstStyle/>
                    <a:p>
                      <a:pPr lvl="0">
                        <a:spcBef>
                          <a:spcPts val="0"/>
                        </a:spcBef>
                        <a:buNone/>
                      </a:pPr>
                      <a:endParaRPr sz="2400" dirty="0"/>
                    </a:p>
                  </a:txBody>
                  <a:tcPr marL="91425" marR="91425" marT="121900" marB="121900">
                    <a:solidFill>
                      <a:schemeClr val="bg1"/>
                    </a:solidFill>
                  </a:tcPr>
                </a:tc>
                <a:extLst>
                  <a:ext uri="{0D108BD9-81ED-4DB2-BD59-A6C34878D82A}">
                    <a16:rowId xmlns:a16="http://schemas.microsoft.com/office/drawing/2014/main" val="10002"/>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dirty="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44</a:t>
            </a:fld>
            <a:endParaRPr lang="en-US" dirty="0">
              <a:solidFill>
                <a:prstClr val="white"/>
              </a:solidFill>
              <a:latin typeface="Calibri"/>
            </a:endParaRPr>
          </a:p>
        </p:txBody>
      </p:sp>
    </p:spTree>
    <p:extLst>
      <p:ext uri="{BB962C8B-B14F-4D97-AF65-F5344CB8AC3E}">
        <p14:creationId xmlns:p14="http://schemas.microsoft.com/office/powerpoint/2010/main" val="478566939"/>
      </p:ext>
    </p:extLst>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5" name="Shape 435"/>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dirty="0"/>
              <a:t>7x7 input (spatially)</a:t>
            </a:r>
          </a:p>
          <a:p>
            <a:r>
              <a:rPr lang="en" sz="2400" dirty="0"/>
              <a:t>assume 3x3 filter</a:t>
            </a:r>
          </a:p>
        </p:txBody>
      </p:sp>
      <p:sp>
        <p:nvSpPr>
          <p:cNvPr id="436" name="Shape 43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37" name="Shape 43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38" name="Shape 43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39" name="Shape 43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chemeClr val="bg1"/>
                    </a:solidFill>
                  </a:tcPr>
                </a:tc>
                <a:tc>
                  <a:txBody>
                    <a:bodyPr/>
                    <a:lstStyle/>
                    <a:p>
                      <a:pPr lvl="0" rtl="0">
                        <a:spcBef>
                          <a:spcPts val="0"/>
                        </a:spcBef>
                        <a:buNone/>
                      </a:pPr>
                      <a:endParaRPr sz="2400" dirty="0"/>
                    </a:p>
                  </a:txBody>
                  <a:tcPr marL="91425" marR="91425" marT="121900" marB="121900">
                    <a:solidFill>
                      <a:schemeClr val="bg1"/>
                    </a:solidFill>
                  </a:tcPr>
                </a:tc>
                <a:tc>
                  <a:txBody>
                    <a:bodyPr/>
                    <a:lstStyle/>
                    <a:p>
                      <a:pPr lvl="0" rtl="0">
                        <a:spcBef>
                          <a:spcPts val="0"/>
                        </a:spcBef>
                        <a:buNone/>
                      </a:pPr>
                      <a:endParaRPr sz="2400"/>
                    </a:p>
                  </a:txBody>
                  <a:tcPr marL="91425" marR="91425" marT="121900" marB="121900">
                    <a:solidFill>
                      <a:schemeClr val="bg1"/>
                    </a:solidFill>
                  </a:tcPr>
                </a:tc>
                <a:extLst>
                  <a:ext uri="{0D108BD9-81ED-4DB2-BD59-A6C34878D82A}">
                    <a16:rowId xmlns:a16="http://schemas.microsoft.com/office/drawing/2014/main" val="10000"/>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bg1"/>
                    </a:solidFill>
                  </a:tcPr>
                </a:tc>
                <a:extLst>
                  <a:ext uri="{0D108BD9-81ED-4DB2-BD59-A6C34878D82A}">
                    <a16:rowId xmlns:a16="http://schemas.microsoft.com/office/drawing/2014/main" val="10001"/>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bg1"/>
                    </a:solidFill>
                  </a:tcPr>
                </a:tc>
                <a:extLst>
                  <a:ext uri="{0D108BD9-81ED-4DB2-BD59-A6C34878D82A}">
                    <a16:rowId xmlns:a16="http://schemas.microsoft.com/office/drawing/2014/main" val="10002"/>
                  </a:ext>
                </a:extLst>
              </a:tr>
              <a:tr h="609560">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marL="0" lvl="0" algn="l" defTabSz="457200" rtl="0" eaLnBrk="1" latinLnBrk="0" hangingPunct="1">
                        <a:spcBef>
                          <a:spcPts val="0"/>
                        </a:spcBef>
                        <a:buNone/>
                      </a:pPr>
                      <a:endParaRPr sz="2400" kern="1200" dirty="0">
                        <a:solidFill>
                          <a:schemeClr val="tx1"/>
                        </a:solidFill>
                        <a:latin typeface="+mn-lt"/>
                        <a:ea typeface="+mn-ea"/>
                        <a:cs typeface="+mn-cs"/>
                      </a:endParaRPr>
                    </a:p>
                  </a:txBody>
                  <a:tcPr marL="91425" marR="91425" marT="121900" marB="121900">
                    <a:no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dirty="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dirty="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45</a:t>
            </a:fld>
            <a:endParaRPr lang="en-US" dirty="0">
              <a:solidFill>
                <a:prstClr val="white"/>
              </a:solidFill>
              <a:latin typeface="Calibri"/>
            </a:endParaRPr>
          </a:p>
        </p:txBody>
      </p:sp>
    </p:spTree>
    <p:extLst>
      <p:ext uri="{BB962C8B-B14F-4D97-AF65-F5344CB8AC3E}">
        <p14:creationId xmlns:p14="http://schemas.microsoft.com/office/powerpoint/2010/main" val="2612279082"/>
      </p:ext>
    </p:extLst>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5" name="Shape 435"/>
          <p:cNvSpPr txBox="1"/>
          <p:nvPr/>
        </p:nvSpPr>
        <p:spPr>
          <a:xfrm>
            <a:off x="5258100" y="1785100"/>
            <a:ext cx="5118600" cy="2452800"/>
          </a:xfrm>
          <a:prstGeom prst="rect">
            <a:avLst/>
          </a:prstGeom>
          <a:noFill/>
          <a:ln>
            <a:noFill/>
          </a:ln>
        </p:spPr>
        <p:txBody>
          <a:bodyPr lIns="91425" tIns="91425" rIns="91425" bIns="91425" anchor="t" anchorCtr="0">
            <a:noAutofit/>
          </a:bodyPr>
          <a:lstStyle/>
          <a:p>
            <a:r>
              <a:rPr lang="en" sz="2400" dirty="0"/>
              <a:t>7x7 input (spatially)</a:t>
            </a:r>
          </a:p>
          <a:p>
            <a:r>
              <a:rPr lang="en" sz="2400" dirty="0"/>
              <a:t>assume 3x3 filter</a:t>
            </a:r>
          </a:p>
          <a:p>
            <a:endParaRPr sz="2400" dirty="0"/>
          </a:p>
          <a:p>
            <a:r>
              <a:rPr lang="en" sz="2400" b="1" dirty="0"/>
              <a:t>=&gt; 5x5 output</a:t>
            </a:r>
          </a:p>
        </p:txBody>
      </p:sp>
      <p:sp>
        <p:nvSpPr>
          <p:cNvPr id="436" name="Shape 43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37" name="Shape 43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38" name="Shape 43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39" name="Shape 43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dirty="0"/>
                    </a:p>
                  </a:txBody>
                  <a:tcPr marL="91425" marR="91425" marT="121900" marB="121900">
                    <a:noFill/>
                  </a:tcPr>
                </a:tc>
                <a:tc>
                  <a:txBody>
                    <a:bodyPr/>
                    <a:lstStyle/>
                    <a:p>
                      <a:pPr lvl="0" rtl="0">
                        <a:spcBef>
                          <a:spcPts val="0"/>
                        </a:spcBef>
                        <a:buNone/>
                      </a:pPr>
                      <a:endParaRPr sz="2400"/>
                    </a:p>
                  </a:txBody>
                  <a:tcPr marL="91425" marR="91425" marT="121900" marB="121900">
                    <a:noFill/>
                  </a:tcPr>
                </a:tc>
                <a:tc>
                  <a:txBody>
                    <a:bodyPr/>
                    <a:lstStyle/>
                    <a:p>
                      <a:pPr lvl="0" rtl="0">
                        <a:spcBef>
                          <a:spcPts val="0"/>
                        </a:spcBef>
                        <a:buNone/>
                      </a:pPr>
                      <a:endParaRPr sz="2400"/>
                    </a:p>
                  </a:txBody>
                  <a:tcPr marL="91425" marR="91425" marT="121900" marB="121900">
                    <a:noFill/>
                  </a:tcPr>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46</a:t>
            </a:fld>
            <a:endParaRPr lang="en-US" dirty="0">
              <a:solidFill>
                <a:prstClr val="white"/>
              </a:solidFill>
              <a:latin typeface="Calibri"/>
            </a:endParaRPr>
          </a:p>
        </p:txBody>
      </p:sp>
    </p:spTree>
    <p:extLst>
      <p:ext uri="{BB962C8B-B14F-4D97-AF65-F5344CB8AC3E}">
        <p14:creationId xmlns:p14="http://schemas.microsoft.com/office/powerpoint/2010/main" val="1914332382"/>
      </p:ext>
    </p:extLst>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5" name="Shape 445"/>
          <p:cNvSpPr txBox="1"/>
          <p:nvPr/>
        </p:nvSpPr>
        <p:spPr>
          <a:xfrm>
            <a:off x="6096300" y="13787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a:p>
            <a:pPr>
              <a:buClr>
                <a:schemeClr val="dk1"/>
              </a:buClr>
              <a:buSzPct val="45833"/>
            </a:pPr>
            <a:r>
              <a:rPr lang="en" sz="2400">
                <a:solidFill>
                  <a:schemeClr val="dk1"/>
                </a:solidFill>
              </a:rPr>
              <a:t>applied </a:t>
            </a:r>
            <a:r>
              <a:rPr lang="en" sz="2400" b="1">
                <a:solidFill>
                  <a:schemeClr val="dk1"/>
                </a:solidFill>
              </a:rPr>
              <a:t>with stride 2</a:t>
            </a:r>
          </a:p>
        </p:txBody>
      </p:sp>
      <p:sp>
        <p:nvSpPr>
          <p:cNvPr id="446" name="Shape 44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47" name="Shape 44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48" name="Shape 44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49" name="Shape 44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47</a:t>
            </a:fld>
            <a:endParaRPr lang="en-US" dirty="0">
              <a:solidFill>
                <a:prstClr val="white"/>
              </a:solidFill>
              <a:latin typeface="Calibri"/>
            </a:endParaRPr>
          </a:p>
        </p:txBody>
      </p:sp>
    </p:spTree>
    <p:extLst>
      <p:ext uri="{BB962C8B-B14F-4D97-AF65-F5344CB8AC3E}">
        <p14:creationId xmlns:p14="http://schemas.microsoft.com/office/powerpoint/2010/main" val="1022924497"/>
      </p:ext>
    </p:extLst>
  </p:cSld>
  <p:clrMapOvr>
    <a:masterClrMapping/>
  </p:clrMapOvr>
  <p:transition spd="slow">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5" name="Shape 455"/>
          <p:cNvSpPr txBox="1"/>
          <p:nvPr/>
        </p:nvSpPr>
        <p:spPr>
          <a:xfrm>
            <a:off x="6096300" y="13787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a:p>
            <a:r>
              <a:rPr lang="en" sz="2400">
                <a:solidFill>
                  <a:schemeClr val="dk1"/>
                </a:solidFill>
              </a:rPr>
              <a:t>applied </a:t>
            </a:r>
            <a:r>
              <a:rPr lang="en" sz="2400" b="1">
                <a:solidFill>
                  <a:schemeClr val="dk1"/>
                </a:solidFill>
              </a:rPr>
              <a:t>with stride 2</a:t>
            </a:r>
          </a:p>
        </p:txBody>
      </p:sp>
      <p:sp>
        <p:nvSpPr>
          <p:cNvPr id="456" name="Shape 45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57" name="Shape 45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58" name="Shape 45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59" name="Shape 45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48</a:t>
            </a:fld>
            <a:endParaRPr lang="en-US" dirty="0">
              <a:solidFill>
                <a:prstClr val="white"/>
              </a:solidFill>
              <a:latin typeface="Calibri"/>
            </a:endParaRPr>
          </a:p>
        </p:txBody>
      </p:sp>
    </p:spTree>
    <p:extLst>
      <p:ext uri="{BB962C8B-B14F-4D97-AF65-F5344CB8AC3E}">
        <p14:creationId xmlns:p14="http://schemas.microsoft.com/office/powerpoint/2010/main" val="275365545"/>
      </p:ext>
    </p:extLst>
  </p:cSld>
  <p:clrMapOvr>
    <a:masterClrMapping/>
  </p:clrMapOvr>
  <p:transition spd="slow">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5" name="Shape 465"/>
          <p:cNvSpPr txBox="1"/>
          <p:nvPr/>
        </p:nvSpPr>
        <p:spPr>
          <a:xfrm>
            <a:off x="6096300" y="13787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a:p>
            <a:r>
              <a:rPr lang="en" sz="2400"/>
              <a:t>applied </a:t>
            </a:r>
            <a:r>
              <a:rPr lang="en" sz="2400" b="1"/>
              <a:t>with stride 2</a:t>
            </a:r>
          </a:p>
          <a:p>
            <a:r>
              <a:rPr lang="en" sz="2400" b="1"/>
              <a:t>=&gt; 3x3 output!</a:t>
            </a:r>
          </a:p>
          <a:p>
            <a:endParaRPr sz="2400" b="1"/>
          </a:p>
        </p:txBody>
      </p:sp>
      <p:sp>
        <p:nvSpPr>
          <p:cNvPr id="466" name="Shape 46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67" name="Shape 46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68" name="Shape 46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69" name="Shape 46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49</a:t>
            </a:fld>
            <a:endParaRPr lang="en-US" dirty="0">
              <a:solidFill>
                <a:prstClr val="white"/>
              </a:solidFill>
              <a:latin typeface="Calibri"/>
            </a:endParaRPr>
          </a:p>
        </p:txBody>
      </p:sp>
      <p:sp>
        <p:nvSpPr>
          <p:cNvPr id="4" name="TextBox 3">
            <a:extLst>
              <a:ext uri="{FF2B5EF4-FFF2-40B4-BE49-F238E27FC236}">
                <a16:creationId xmlns:a16="http://schemas.microsoft.com/office/drawing/2014/main" id="{698D9D9A-DEB4-43FD-E1D1-BA09BD2A83A9}"/>
              </a:ext>
            </a:extLst>
          </p:cNvPr>
          <p:cNvSpPr txBox="1"/>
          <p:nvPr/>
        </p:nvSpPr>
        <p:spPr>
          <a:xfrm>
            <a:off x="6097052" y="3677268"/>
            <a:ext cx="6094948" cy="646331"/>
          </a:xfrm>
          <a:prstGeom prst="rect">
            <a:avLst/>
          </a:prstGeom>
          <a:noFill/>
        </p:spPr>
        <p:txBody>
          <a:bodyPr wrap="square">
            <a:spAutoFit/>
          </a:bodyPr>
          <a:lstStyle/>
          <a:p>
            <a:r>
              <a:rPr lang="en" sz="1800" dirty="0"/>
              <a:t>Output size:</a:t>
            </a:r>
          </a:p>
          <a:p>
            <a:r>
              <a:rPr lang="en" sz="1800" b="1" dirty="0"/>
              <a:t>(N - F) / stride + 1</a:t>
            </a:r>
          </a:p>
        </p:txBody>
      </p:sp>
    </p:spTree>
    <p:extLst>
      <p:ext uri="{BB962C8B-B14F-4D97-AF65-F5344CB8AC3E}">
        <p14:creationId xmlns:p14="http://schemas.microsoft.com/office/powerpoint/2010/main" val="133441987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473"/>
        <p:cNvGrpSpPr/>
        <p:nvPr/>
      </p:nvGrpSpPr>
      <p:grpSpPr>
        <a:xfrm>
          <a:off x="0" y="0"/>
          <a:ext cx="0" cy="0"/>
          <a:chOff x="0" y="0"/>
          <a:chExt cx="0" cy="0"/>
        </a:xfrm>
      </p:grpSpPr>
      <p:sp>
        <p:nvSpPr>
          <p:cNvPr id="475" name="Shape 475"/>
          <p:cNvSpPr txBox="1"/>
          <p:nvPr/>
        </p:nvSpPr>
        <p:spPr>
          <a:xfrm>
            <a:off x="6096300" y="13787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a:p>
            <a:r>
              <a:rPr lang="en" sz="2400">
                <a:solidFill>
                  <a:schemeClr val="dk1"/>
                </a:solidFill>
              </a:rPr>
              <a:t>applied </a:t>
            </a:r>
            <a:r>
              <a:rPr lang="en" sz="2400" b="1">
                <a:solidFill>
                  <a:schemeClr val="dk1"/>
                </a:solidFill>
              </a:rPr>
              <a:t>with stride 3?</a:t>
            </a:r>
          </a:p>
        </p:txBody>
      </p:sp>
      <p:sp>
        <p:nvSpPr>
          <p:cNvPr id="476" name="Shape 47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77" name="Shape 47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78" name="Shape 47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79" name="Shape 47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0"/>
                  </a:ext>
                </a:extLst>
              </a:tr>
              <a:tr h="609560">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1"/>
                  </a:ext>
                </a:extLst>
              </a:tr>
              <a:tr h="609560">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50</a:t>
            </a:fld>
            <a:endParaRPr lang="en-US" dirty="0">
              <a:solidFill>
                <a:prstClr val="white"/>
              </a:solidFill>
              <a:latin typeface="Calibri"/>
            </a:endParaRPr>
          </a:p>
        </p:txBody>
      </p:sp>
    </p:spTree>
    <p:extLst>
      <p:ext uri="{BB962C8B-B14F-4D97-AF65-F5344CB8AC3E}">
        <p14:creationId xmlns:p14="http://schemas.microsoft.com/office/powerpoint/2010/main" val="3115241749"/>
      </p:ext>
    </p:extLst>
  </p:cSld>
  <p:clrMapOvr>
    <a:masterClrMapping/>
  </p:clrMapOvr>
  <p:transition spd="slow">
    <p:cut/>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473"/>
        <p:cNvGrpSpPr/>
        <p:nvPr/>
      </p:nvGrpSpPr>
      <p:grpSpPr>
        <a:xfrm>
          <a:off x="0" y="0"/>
          <a:ext cx="0" cy="0"/>
          <a:chOff x="0" y="0"/>
          <a:chExt cx="0" cy="0"/>
        </a:xfrm>
      </p:grpSpPr>
      <p:sp>
        <p:nvSpPr>
          <p:cNvPr id="475" name="Shape 475"/>
          <p:cNvSpPr txBox="1"/>
          <p:nvPr/>
        </p:nvSpPr>
        <p:spPr>
          <a:xfrm>
            <a:off x="6096300" y="13787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a:p>
            <a:r>
              <a:rPr lang="en" sz="2400">
                <a:solidFill>
                  <a:schemeClr val="dk1"/>
                </a:solidFill>
              </a:rPr>
              <a:t>applied </a:t>
            </a:r>
            <a:r>
              <a:rPr lang="en" sz="2400" b="1">
                <a:solidFill>
                  <a:schemeClr val="dk1"/>
                </a:solidFill>
              </a:rPr>
              <a:t>with stride 3?</a:t>
            </a:r>
          </a:p>
        </p:txBody>
      </p:sp>
      <p:sp>
        <p:nvSpPr>
          <p:cNvPr id="476" name="Shape 47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77" name="Shape 47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78" name="Shape 47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79" name="Shape 47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noFill/>
                  </a:tcPr>
                </a:tc>
                <a:tc>
                  <a:txBody>
                    <a:bodyPr/>
                    <a:lstStyle/>
                    <a:p>
                      <a:pPr lvl="0" rtl="0">
                        <a:spcBef>
                          <a:spcPts val="0"/>
                        </a:spcBef>
                        <a:buNone/>
                      </a:pPr>
                      <a:endParaRPr sz="2400" dirty="0"/>
                    </a:p>
                  </a:txBody>
                  <a:tcPr marL="91425" marR="91425" marT="121900" marB="121900">
                    <a:noFill/>
                  </a:tcPr>
                </a:tc>
                <a:tc>
                  <a:txBody>
                    <a:bodyPr/>
                    <a:lstStyle/>
                    <a:p>
                      <a:pPr lvl="0" rtl="0">
                        <a:spcBef>
                          <a:spcPts val="0"/>
                        </a:spcBef>
                        <a:buNone/>
                      </a:pPr>
                      <a:endParaRPr sz="2400" dirty="0"/>
                    </a:p>
                  </a:txBody>
                  <a:tcPr marL="91425" marR="91425" marT="121900" marB="121900">
                    <a:no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0"/>
                  </a:ext>
                </a:extLst>
              </a:tr>
              <a:tr h="609560">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1"/>
                  </a:ext>
                </a:extLst>
              </a:tr>
              <a:tr h="609560">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dirty="0"/>
                    </a:p>
                  </a:txBody>
                  <a:tcPr marL="91425" marR="91425" marT="121900" marB="121900"/>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51</a:t>
            </a:fld>
            <a:endParaRPr lang="en-US" dirty="0">
              <a:solidFill>
                <a:prstClr val="white"/>
              </a:solidFill>
              <a:latin typeface="Calibri"/>
            </a:endParaRPr>
          </a:p>
        </p:txBody>
      </p:sp>
    </p:spTree>
    <p:extLst>
      <p:ext uri="{BB962C8B-B14F-4D97-AF65-F5344CB8AC3E}">
        <p14:creationId xmlns:p14="http://schemas.microsoft.com/office/powerpoint/2010/main" val="1957003452"/>
      </p:ext>
    </p:extLst>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483"/>
        <p:cNvGrpSpPr/>
        <p:nvPr/>
      </p:nvGrpSpPr>
      <p:grpSpPr>
        <a:xfrm>
          <a:off x="0" y="0"/>
          <a:ext cx="0" cy="0"/>
          <a:chOff x="0" y="0"/>
          <a:chExt cx="0" cy="0"/>
        </a:xfrm>
      </p:grpSpPr>
      <p:sp>
        <p:nvSpPr>
          <p:cNvPr id="485" name="Shape 485"/>
          <p:cNvSpPr txBox="1"/>
          <p:nvPr/>
        </p:nvSpPr>
        <p:spPr>
          <a:xfrm>
            <a:off x="6096300" y="1378700"/>
            <a:ext cx="5118600" cy="2452800"/>
          </a:xfrm>
          <a:prstGeom prst="rect">
            <a:avLst/>
          </a:prstGeom>
          <a:noFill/>
          <a:ln>
            <a:noFill/>
          </a:ln>
        </p:spPr>
        <p:txBody>
          <a:bodyPr lIns="91425" tIns="91425" rIns="91425" bIns="91425" anchor="t" anchorCtr="0">
            <a:noAutofit/>
          </a:bodyPr>
          <a:lstStyle/>
          <a:p>
            <a:r>
              <a:rPr lang="en" sz="2400"/>
              <a:t>7x7 input (spatially)</a:t>
            </a:r>
          </a:p>
          <a:p>
            <a:r>
              <a:rPr lang="en" sz="2400"/>
              <a:t>assume 3x3 filter</a:t>
            </a:r>
          </a:p>
          <a:p>
            <a:r>
              <a:rPr lang="en" sz="2400">
                <a:solidFill>
                  <a:schemeClr val="dk1"/>
                </a:solidFill>
              </a:rPr>
              <a:t>applied </a:t>
            </a:r>
            <a:r>
              <a:rPr lang="en" sz="2400" b="1">
                <a:solidFill>
                  <a:schemeClr val="dk1"/>
                </a:solidFill>
              </a:rPr>
              <a:t>with stride 3?</a:t>
            </a:r>
          </a:p>
        </p:txBody>
      </p:sp>
      <p:sp>
        <p:nvSpPr>
          <p:cNvPr id="486" name="Shape 486"/>
          <p:cNvSpPr txBox="1"/>
          <p:nvPr/>
        </p:nvSpPr>
        <p:spPr>
          <a:xfrm>
            <a:off x="2914177" y="1059167"/>
            <a:ext cx="548699" cy="610000"/>
          </a:xfrm>
          <a:prstGeom prst="rect">
            <a:avLst/>
          </a:prstGeom>
          <a:noFill/>
          <a:ln>
            <a:noFill/>
          </a:ln>
        </p:spPr>
        <p:txBody>
          <a:bodyPr lIns="91425" tIns="91425" rIns="91425" bIns="91425" anchor="t" anchorCtr="0">
            <a:noAutofit/>
          </a:bodyPr>
          <a:lstStyle/>
          <a:p>
            <a:r>
              <a:rPr lang="en" sz="2400"/>
              <a:t>7</a:t>
            </a:r>
          </a:p>
        </p:txBody>
      </p:sp>
      <p:sp>
        <p:nvSpPr>
          <p:cNvPr id="487" name="Shape 487"/>
          <p:cNvSpPr txBox="1"/>
          <p:nvPr/>
        </p:nvSpPr>
        <p:spPr>
          <a:xfrm>
            <a:off x="4619700" y="3551968"/>
            <a:ext cx="587100" cy="381199"/>
          </a:xfrm>
          <a:prstGeom prst="rect">
            <a:avLst/>
          </a:prstGeom>
          <a:noFill/>
          <a:ln>
            <a:noFill/>
          </a:ln>
        </p:spPr>
        <p:txBody>
          <a:bodyPr lIns="91425" tIns="91425" rIns="91425" bIns="91425" anchor="t" anchorCtr="0">
            <a:noAutofit/>
          </a:bodyPr>
          <a:lstStyle/>
          <a:p>
            <a:r>
              <a:rPr lang="en" sz="2400"/>
              <a:t>7</a:t>
            </a:r>
          </a:p>
        </p:txBody>
      </p:sp>
      <p:sp>
        <p:nvSpPr>
          <p:cNvPr id="488" name="Shape 488"/>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graphicFrame>
        <p:nvGraphicFramePr>
          <p:cNvPr id="489" name="Shape 489"/>
          <p:cNvGraphicFramePr/>
          <p:nvPr/>
        </p:nvGraphicFramePr>
        <p:xfrm>
          <a:off x="1826525" y="18330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noFill/>
                  </a:tcPr>
                </a:tc>
                <a:tc>
                  <a:txBody>
                    <a:bodyPr/>
                    <a:lstStyle/>
                    <a:p>
                      <a:pPr lvl="0" rtl="0">
                        <a:spcBef>
                          <a:spcPts val="0"/>
                        </a:spcBef>
                        <a:buNone/>
                      </a:pPr>
                      <a:endParaRPr sz="2400"/>
                    </a:p>
                  </a:txBody>
                  <a:tcPr marL="91425" marR="91425" marT="121900" marB="121900">
                    <a:noFill/>
                  </a:tcPr>
                </a:tc>
                <a:tc>
                  <a:txBody>
                    <a:bodyPr/>
                    <a:lstStyle/>
                    <a:p>
                      <a:pPr lvl="0" rtl="0">
                        <a:spcBef>
                          <a:spcPts val="0"/>
                        </a:spcBef>
                        <a:buNone/>
                      </a:pPr>
                      <a:endParaRPr sz="2400"/>
                    </a:p>
                  </a:txBody>
                  <a:tcPr marL="91425" marR="91425" marT="121900" marB="121900">
                    <a:noFill/>
                  </a:tcPr>
                </a:tc>
                <a:tc>
                  <a:txBody>
                    <a:bodyPr/>
                    <a:lstStyle/>
                    <a:p>
                      <a:pPr lvl="0" rt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0"/>
                  </a:ext>
                </a:extLst>
              </a:tr>
              <a:tr h="609560">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noFill/>
                  </a:tcPr>
                </a:tc>
                <a:tc>
                  <a:txBody>
                    <a:bodyPr/>
                    <a:lstStyle/>
                    <a:p>
                      <a:pPr lvl="0">
                        <a:spcBef>
                          <a:spcPts val="0"/>
                        </a:spcBef>
                        <a:buNone/>
                      </a:pPr>
                      <a:endParaRPr sz="2400"/>
                    </a:p>
                  </a:txBody>
                  <a:tcPr marL="91425" marR="91425" marT="121900" marB="121900">
                    <a:noFill/>
                  </a:tcPr>
                </a:tc>
                <a:tc>
                  <a:txBody>
                    <a:bodyPr/>
                    <a:lstStyle/>
                    <a:p>
                      <a:pPr lvl="0">
                        <a:spcBef>
                          <a:spcPts val="0"/>
                        </a:spcBef>
                        <a:buNone/>
                      </a:pPr>
                      <a:endParaRPr sz="2400" dirty="0"/>
                    </a:p>
                  </a:txBody>
                  <a:tcPr marL="91425" marR="91425" marT="121900" marB="121900">
                    <a:no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a:p>
                  </a:txBody>
                  <a:tcPr marL="91425" marR="91425" marT="121900" marB="121900">
                    <a:solidFill>
                      <a:schemeClr val="accent3">
                        <a:lumMod val="40000"/>
                        <a:lumOff val="60000"/>
                      </a:schemeClr>
                    </a:solidFill>
                  </a:tcPr>
                </a:tc>
                <a:tc>
                  <a:txBody>
                    <a:bodyPr/>
                    <a:lstStyle/>
                    <a:p>
                      <a:pPr lvl="0">
                        <a:spcBef>
                          <a:spcPts val="0"/>
                        </a:spcBef>
                        <a:buNone/>
                      </a:pPr>
                      <a:endParaRPr sz="2400" dirty="0"/>
                    </a:p>
                  </a:txBody>
                  <a:tcPr marL="91425" marR="91425" marT="121900" marB="121900">
                    <a:solidFill>
                      <a:schemeClr val="accent3">
                        <a:lumMod val="40000"/>
                        <a:lumOff val="60000"/>
                      </a:schemeClr>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sp>
        <p:nvSpPr>
          <p:cNvPr id="490" name="Shape 490"/>
          <p:cNvSpPr txBox="1"/>
          <p:nvPr/>
        </p:nvSpPr>
        <p:spPr>
          <a:xfrm>
            <a:off x="6213650" y="3532400"/>
            <a:ext cx="3972000" cy="1623600"/>
          </a:xfrm>
          <a:prstGeom prst="rect">
            <a:avLst/>
          </a:prstGeom>
          <a:noFill/>
          <a:ln>
            <a:noFill/>
          </a:ln>
        </p:spPr>
        <p:txBody>
          <a:bodyPr lIns="91425" tIns="91425" rIns="91425" bIns="91425" anchor="t" anchorCtr="0">
            <a:noAutofit/>
          </a:bodyPr>
          <a:lstStyle/>
          <a:p>
            <a:r>
              <a:rPr lang="en" sz="2400" b="1">
                <a:solidFill>
                  <a:srgbClr val="FF0000"/>
                </a:solidFill>
              </a:rPr>
              <a:t>doesn’t fit! </a:t>
            </a:r>
          </a:p>
          <a:p>
            <a:r>
              <a:rPr lang="en" sz="2400">
                <a:solidFill>
                  <a:srgbClr val="FF0000"/>
                </a:solidFill>
              </a:rPr>
              <a:t>cannot apply 3x3 filter on 7x7 input with stride 3.</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52</a:t>
            </a:fld>
            <a:endParaRPr lang="en-US" dirty="0">
              <a:solidFill>
                <a:prstClr val="white"/>
              </a:solidFill>
              <a:latin typeface="Calibri"/>
            </a:endParaRPr>
          </a:p>
        </p:txBody>
      </p:sp>
    </p:spTree>
    <p:extLst>
      <p:ext uri="{BB962C8B-B14F-4D97-AF65-F5344CB8AC3E}">
        <p14:creationId xmlns:p14="http://schemas.microsoft.com/office/powerpoint/2010/main" val="3668768927"/>
      </p:ext>
    </p:extLst>
  </p:cSld>
  <p:clrMapOvr>
    <a:masterClrMapping/>
  </p:clrMapOvr>
  <p:transition spd="slow">
    <p:cut/>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494"/>
        <p:cNvGrpSpPr/>
        <p:nvPr/>
      </p:nvGrpSpPr>
      <p:grpSpPr>
        <a:xfrm>
          <a:off x="0" y="0"/>
          <a:ext cx="0" cy="0"/>
          <a:chOff x="0" y="0"/>
          <a:chExt cx="0" cy="0"/>
        </a:xfrm>
      </p:grpSpPr>
      <p:graphicFrame>
        <p:nvGraphicFramePr>
          <p:cNvPr id="496" name="Shape 496"/>
          <p:cNvGraphicFramePr/>
          <p:nvPr/>
        </p:nvGraphicFramePr>
        <p:xfrm>
          <a:off x="1978925" y="1121867"/>
          <a:ext cx="2679950" cy="426692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609560">
                <a:tc>
                  <a:txBody>
                    <a:bodyPr/>
                    <a:lstStyle/>
                    <a:p>
                      <a:pPr lvl="0" rtl="0">
                        <a:spcBef>
                          <a:spcPts val="0"/>
                        </a:spcBef>
                        <a:buNone/>
                      </a:pPr>
                      <a:endParaRPr sz="2400" dirty="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0"/>
                  </a:ext>
                </a:extLst>
              </a:tr>
              <a:tr h="609560">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1"/>
                  </a:ext>
                </a:extLst>
              </a:tr>
              <a:tr h="609560">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extLst>
                  <a:ext uri="{0D108BD9-81ED-4DB2-BD59-A6C34878D82A}">
                    <a16:rowId xmlns:a16="http://schemas.microsoft.com/office/drawing/2014/main" val="10002"/>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3"/>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extLst>
                  <a:ext uri="{0D108BD9-81ED-4DB2-BD59-A6C34878D82A}">
                    <a16:rowId xmlns:a16="http://schemas.microsoft.com/office/drawing/2014/main" val="10006"/>
                  </a:ext>
                </a:extLst>
              </a:tr>
            </a:tbl>
          </a:graphicData>
        </a:graphic>
      </p:graphicFrame>
      <p:cxnSp>
        <p:nvCxnSpPr>
          <p:cNvPr id="497" name="Shape 497"/>
          <p:cNvCxnSpPr/>
          <p:nvPr/>
        </p:nvCxnSpPr>
        <p:spPr>
          <a:xfrm>
            <a:off x="1988477" y="837900"/>
            <a:ext cx="2695799" cy="0"/>
          </a:xfrm>
          <a:prstGeom prst="straightConnector1">
            <a:avLst/>
          </a:prstGeom>
          <a:noFill/>
          <a:ln w="19050" cap="flat" cmpd="sng">
            <a:solidFill>
              <a:srgbClr val="666666"/>
            </a:solidFill>
            <a:prstDash val="solid"/>
            <a:round/>
            <a:headEnd type="none" w="lg" len="lg"/>
            <a:tailEnd type="none" w="lg" len="lg"/>
          </a:ln>
        </p:spPr>
      </p:cxnSp>
      <p:sp>
        <p:nvSpPr>
          <p:cNvPr id="498" name="Shape 498"/>
          <p:cNvSpPr txBox="1"/>
          <p:nvPr/>
        </p:nvSpPr>
        <p:spPr>
          <a:xfrm>
            <a:off x="2881025" y="121433"/>
            <a:ext cx="774300" cy="524800"/>
          </a:xfrm>
          <a:prstGeom prst="rect">
            <a:avLst/>
          </a:prstGeom>
          <a:noFill/>
          <a:ln>
            <a:noFill/>
          </a:ln>
        </p:spPr>
        <p:txBody>
          <a:bodyPr lIns="91425" tIns="91425" rIns="91425" bIns="91425" anchor="t" anchorCtr="0">
            <a:noAutofit/>
          </a:bodyPr>
          <a:lstStyle/>
          <a:p>
            <a:pPr>
              <a:buClr>
                <a:srgbClr val="000000"/>
              </a:buClr>
              <a:buSzPct val="45833"/>
            </a:pPr>
            <a:r>
              <a:rPr lang="en" sz="2400">
                <a:solidFill>
                  <a:srgbClr val="000000"/>
                </a:solidFill>
              </a:rPr>
              <a:t>N</a:t>
            </a:r>
          </a:p>
          <a:p>
            <a:endParaRPr sz="2400"/>
          </a:p>
        </p:txBody>
      </p:sp>
      <p:sp>
        <p:nvSpPr>
          <p:cNvPr id="499" name="Shape 499"/>
          <p:cNvSpPr txBox="1"/>
          <p:nvPr/>
        </p:nvSpPr>
        <p:spPr>
          <a:xfrm>
            <a:off x="4936900" y="2413300"/>
            <a:ext cx="774300" cy="524800"/>
          </a:xfrm>
          <a:prstGeom prst="rect">
            <a:avLst/>
          </a:prstGeom>
          <a:noFill/>
          <a:ln>
            <a:noFill/>
          </a:ln>
        </p:spPr>
        <p:txBody>
          <a:bodyPr lIns="91425" tIns="91425" rIns="91425" bIns="91425" anchor="t" anchorCtr="0">
            <a:noAutofit/>
          </a:bodyPr>
          <a:lstStyle/>
          <a:p>
            <a:r>
              <a:rPr lang="en" sz="2400">
                <a:solidFill>
                  <a:srgbClr val="000000"/>
                </a:solidFill>
              </a:rPr>
              <a:t>N</a:t>
            </a:r>
          </a:p>
          <a:p>
            <a:endParaRPr sz="2400"/>
          </a:p>
        </p:txBody>
      </p:sp>
      <p:cxnSp>
        <p:nvCxnSpPr>
          <p:cNvPr id="500" name="Shape 500"/>
          <p:cNvCxnSpPr/>
          <p:nvPr/>
        </p:nvCxnSpPr>
        <p:spPr>
          <a:xfrm>
            <a:off x="4824300" y="1134333"/>
            <a:ext cx="0" cy="3460400"/>
          </a:xfrm>
          <a:prstGeom prst="straightConnector1">
            <a:avLst/>
          </a:prstGeom>
          <a:noFill/>
          <a:ln w="19050" cap="flat" cmpd="sng">
            <a:solidFill>
              <a:srgbClr val="666666"/>
            </a:solidFill>
            <a:prstDash val="solid"/>
            <a:round/>
            <a:headEnd type="none" w="lg" len="lg"/>
            <a:tailEnd type="none" w="lg" len="lg"/>
          </a:ln>
        </p:spPr>
      </p:cxnSp>
      <p:sp>
        <p:nvSpPr>
          <p:cNvPr id="501" name="Shape 501"/>
          <p:cNvSpPr txBox="1"/>
          <p:nvPr/>
        </p:nvSpPr>
        <p:spPr>
          <a:xfrm>
            <a:off x="2368575" y="2904200"/>
            <a:ext cx="774300" cy="524800"/>
          </a:xfrm>
          <a:prstGeom prst="rect">
            <a:avLst/>
          </a:prstGeom>
          <a:noFill/>
          <a:ln>
            <a:noFill/>
          </a:ln>
        </p:spPr>
        <p:txBody>
          <a:bodyPr lIns="91425" tIns="91425" rIns="91425" bIns="91425" anchor="t" anchorCtr="0">
            <a:noAutofit/>
          </a:bodyPr>
          <a:lstStyle/>
          <a:p>
            <a:r>
              <a:rPr lang="en" sz="2400" dirty="0">
                <a:solidFill>
                  <a:srgbClr val="000000"/>
                </a:solidFill>
              </a:rPr>
              <a:t>F</a:t>
            </a:r>
          </a:p>
          <a:p>
            <a:endParaRPr sz="2400" dirty="0"/>
          </a:p>
        </p:txBody>
      </p:sp>
      <p:sp>
        <p:nvSpPr>
          <p:cNvPr id="502" name="Shape 502"/>
          <p:cNvSpPr txBox="1"/>
          <p:nvPr/>
        </p:nvSpPr>
        <p:spPr>
          <a:xfrm>
            <a:off x="3142875" y="1685000"/>
            <a:ext cx="774300" cy="524800"/>
          </a:xfrm>
          <a:prstGeom prst="rect">
            <a:avLst/>
          </a:prstGeom>
          <a:noFill/>
          <a:ln>
            <a:noFill/>
          </a:ln>
        </p:spPr>
        <p:txBody>
          <a:bodyPr lIns="91425" tIns="91425" rIns="91425" bIns="91425" anchor="t" anchorCtr="0">
            <a:noAutofit/>
          </a:bodyPr>
          <a:lstStyle/>
          <a:p>
            <a:r>
              <a:rPr lang="en" sz="2400" dirty="0">
                <a:solidFill>
                  <a:srgbClr val="000000"/>
                </a:solidFill>
              </a:rPr>
              <a:t>F</a:t>
            </a:r>
          </a:p>
          <a:p>
            <a:endParaRPr sz="2400" dirty="0"/>
          </a:p>
        </p:txBody>
      </p:sp>
      <p:sp>
        <p:nvSpPr>
          <p:cNvPr id="503" name="Shape 503"/>
          <p:cNvSpPr txBox="1"/>
          <p:nvPr/>
        </p:nvSpPr>
        <p:spPr>
          <a:xfrm>
            <a:off x="6132426" y="752902"/>
            <a:ext cx="4535699" cy="3217999"/>
          </a:xfrm>
          <a:prstGeom prst="rect">
            <a:avLst/>
          </a:prstGeom>
          <a:noFill/>
          <a:ln>
            <a:noFill/>
          </a:ln>
        </p:spPr>
        <p:txBody>
          <a:bodyPr lIns="91425" tIns="91425" rIns="91425" bIns="91425" anchor="t" anchorCtr="0">
            <a:noAutofit/>
          </a:bodyPr>
          <a:lstStyle/>
          <a:p>
            <a:r>
              <a:rPr lang="en" sz="2400" dirty="0"/>
              <a:t>Output size:</a:t>
            </a:r>
          </a:p>
          <a:p>
            <a:r>
              <a:rPr lang="en" sz="2400" b="1" dirty="0"/>
              <a:t>(N - F) / stride + 1</a:t>
            </a:r>
          </a:p>
          <a:p>
            <a:endParaRPr sz="2400" dirty="0"/>
          </a:p>
          <a:p>
            <a:r>
              <a:rPr lang="en" sz="2400" dirty="0"/>
              <a:t>e.g. N = 7, F = 3:</a:t>
            </a:r>
          </a:p>
          <a:p>
            <a:r>
              <a:rPr lang="en" sz="2400" dirty="0"/>
              <a:t>stride 1 =&gt; (7 - 3)/1 + 1 = 5</a:t>
            </a:r>
          </a:p>
          <a:p>
            <a:r>
              <a:rPr lang="en" sz="2400" dirty="0"/>
              <a:t>stride 2 =&gt; (7 - 3)/2 + 1 = 3</a:t>
            </a:r>
          </a:p>
          <a:p>
            <a:r>
              <a:rPr lang="en" sz="2400" dirty="0"/>
              <a:t>stride 3 =&gt; (7 - 3)/3 + 1 = 2.33</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53</a:t>
            </a:fld>
            <a:endParaRPr lang="en-US" dirty="0">
              <a:solidFill>
                <a:prstClr val="white"/>
              </a:solidFill>
              <a:latin typeface="Calibri"/>
            </a:endParaRPr>
          </a:p>
        </p:txBody>
      </p:sp>
    </p:spTree>
    <p:extLst>
      <p:ext uri="{BB962C8B-B14F-4D97-AF65-F5344CB8AC3E}">
        <p14:creationId xmlns:p14="http://schemas.microsoft.com/office/powerpoint/2010/main" val="778098680"/>
      </p:ext>
    </p:extLst>
  </p:cSld>
  <p:clrMapOvr>
    <a:masterClrMapping/>
  </p:clrMapOvr>
  <p:transition spd="slow">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9" name="Shape 509"/>
          <p:cNvSpPr txBox="1"/>
          <p:nvPr/>
        </p:nvSpPr>
        <p:spPr>
          <a:xfrm>
            <a:off x="1788125" y="279300"/>
            <a:ext cx="8289000" cy="983600"/>
          </a:xfrm>
          <a:prstGeom prst="rect">
            <a:avLst/>
          </a:prstGeom>
          <a:noFill/>
          <a:ln>
            <a:noFill/>
          </a:ln>
        </p:spPr>
        <p:txBody>
          <a:bodyPr lIns="91425" tIns="91425" rIns="91425" bIns="91425" anchor="t" anchorCtr="0">
            <a:noAutofit/>
          </a:bodyPr>
          <a:lstStyle/>
          <a:p>
            <a:r>
              <a:rPr lang="en" sz="3000"/>
              <a:t>In practice: Common to zero pad the border</a:t>
            </a:r>
          </a:p>
        </p:txBody>
      </p:sp>
      <p:sp>
        <p:nvSpPr>
          <p:cNvPr id="511" name="Shape 511"/>
          <p:cNvSpPr txBox="1"/>
          <p:nvPr/>
        </p:nvSpPr>
        <p:spPr>
          <a:xfrm>
            <a:off x="4823125" y="1364500"/>
            <a:ext cx="5844900" cy="1974400"/>
          </a:xfrm>
          <a:prstGeom prst="rect">
            <a:avLst/>
          </a:prstGeom>
          <a:noFill/>
          <a:ln>
            <a:noFill/>
          </a:ln>
        </p:spPr>
        <p:txBody>
          <a:bodyPr lIns="91425" tIns="91425" rIns="91425" bIns="91425" anchor="t" anchorCtr="0">
            <a:noAutofit/>
          </a:bodyPr>
          <a:lstStyle/>
          <a:p>
            <a:r>
              <a:rPr lang="en" sz="2000"/>
              <a:t>e.g. input 7x7</a:t>
            </a:r>
          </a:p>
          <a:p>
            <a:r>
              <a:rPr lang="en" sz="2000" b="1"/>
              <a:t>3x3</a:t>
            </a:r>
            <a:r>
              <a:rPr lang="en" sz="2000"/>
              <a:t> filter, applied with </a:t>
            </a:r>
            <a:r>
              <a:rPr lang="en" sz="2000" b="1"/>
              <a:t>stride 1 </a:t>
            </a:r>
          </a:p>
          <a:p>
            <a:r>
              <a:rPr lang="en" sz="2000" b="1"/>
              <a:t>pad with 1 pixel</a:t>
            </a:r>
            <a:r>
              <a:rPr lang="en" sz="2000"/>
              <a:t> border =&gt; what is the output?</a:t>
            </a:r>
          </a:p>
          <a:p>
            <a:endParaRPr sz="2000"/>
          </a:p>
          <a:p>
            <a:endParaRPr sz="2000"/>
          </a:p>
        </p:txBody>
      </p:sp>
      <p:sp>
        <p:nvSpPr>
          <p:cNvPr id="512" name="Shape 512"/>
          <p:cNvSpPr txBox="1"/>
          <p:nvPr/>
        </p:nvSpPr>
        <p:spPr>
          <a:xfrm>
            <a:off x="6545575" y="4282702"/>
            <a:ext cx="2892600" cy="1634799"/>
          </a:xfrm>
          <a:prstGeom prst="rect">
            <a:avLst/>
          </a:prstGeom>
          <a:noFill/>
          <a:ln>
            <a:noFill/>
          </a:ln>
        </p:spPr>
        <p:txBody>
          <a:bodyPr lIns="91425" tIns="91425" rIns="91425" bIns="91425" anchor="ctr" anchorCtr="0">
            <a:noAutofit/>
          </a:bodyPr>
          <a:lstStyle/>
          <a:p>
            <a:r>
              <a:rPr lang="en" sz="2400">
                <a:solidFill>
                  <a:srgbClr val="434343"/>
                </a:solidFill>
              </a:rPr>
              <a:t>(recall:)</a:t>
            </a:r>
          </a:p>
          <a:p>
            <a:r>
              <a:rPr lang="en" sz="2400">
                <a:solidFill>
                  <a:srgbClr val="0000FF"/>
                </a:solidFill>
              </a:rPr>
              <a:t>(N - F) / stride + 1</a:t>
            </a:r>
          </a:p>
        </p:txBody>
      </p:sp>
      <p:graphicFrame>
        <p:nvGraphicFramePr>
          <p:cNvPr id="6" name="Shape 528"/>
          <p:cNvGraphicFramePr/>
          <p:nvPr/>
        </p:nvGraphicFramePr>
        <p:xfrm>
          <a:off x="1901402" y="838200"/>
          <a:ext cx="2679975" cy="5486040"/>
        </p:xfrm>
        <a:graphic>
          <a:graphicData uri="http://schemas.openxmlformats.org/drawingml/2006/table">
            <a:tbl>
              <a:tblPr>
                <a:noFill/>
              </a:tblPr>
              <a:tblGrid>
                <a:gridCol w="297775">
                  <a:extLst>
                    <a:ext uri="{9D8B030D-6E8A-4147-A177-3AD203B41FA5}">
                      <a16:colId xmlns:a16="http://schemas.microsoft.com/office/drawing/2014/main" val="20000"/>
                    </a:ext>
                  </a:extLst>
                </a:gridCol>
                <a:gridCol w="297775">
                  <a:extLst>
                    <a:ext uri="{9D8B030D-6E8A-4147-A177-3AD203B41FA5}">
                      <a16:colId xmlns:a16="http://schemas.microsoft.com/office/drawing/2014/main" val="20001"/>
                    </a:ext>
                  </a:extLst>
                </a:gridCol>
                <a:gridCol w="297775">
                  <a:extLst>
                    <a:ext uri="{9D8B030D-6E8A-4147-A177-3AD203B41FA5}">
                      <a16:colId xmlns:a16="http://schemas.microsoft.com/office/drawing/2014/main" val="20002"/>
                    </a:ext>
                  </a:extLst>
                </a:gridCol>
                <a:gridCol w="297775">
                  <a:extLst>
                    <a:ext uri="{9D8B030D-6E8A-4147-A177-3AD203B41FA5}">
                      <a16:colId xmlns:a16="http://schemas.microsoft.com/office/drawing/2014/main" val="20003"/>
                    </a:ext>
                  </a:extLst>
                </a:gridCol>
                <a:gridCol w="297775">
                  <a:extLst>
                    <a:ext uri="{9D8B030D-6E8A-4147-A177-3AD203B41FA5}">
                      <a16:colId xmlns:a16="http://schemas.microsoft.com/office/drawing/2014/main" val="20004"/>
                    </a:ext>
                  </a:extLst>
                </a:gridCol>
                <a:gridCol w="297775">
                  <a:extLst>
                    <a:ext uri="{9D8B030D-6E8A-4147-A177-3AD203B41FA5}">
                      <a16:colId xmlns:a16="http://schemas.microsoft.com/office/drawing/2014/main" val="20005"/>
                    </a:ext>
                  </a:extLst>
                </a:gridCol>
                <a:gridCol w="297775">
                  <a:extLst>
                    <a:ext uri="{9D8B030D-6E8A-4147-A177-3AD203B41FA5}">
                      <a16:colId xmlns:a16="http://schemas.microsoft.com/office/drawing/2014/main" val="20006"/>
                    </a:ext>
                  </a:extLst>
                </a:gridCol>
                <a:gridCol w="297775">
                  <a:extLst>
                    <a:ext uri="{9D8B030D-6E8A-4147-A177-3AD203B41FA5}">
                      <a16:colId xmlns:a16="http://schemas.microsoft.com/office/drawing/2014/main" val="20007"/>
                    </a:ext>
                  </a:extLst>
                </a:gridCol>
                <a:gridCol w="297775">
                  <a:extLst>
                    <a:ext uri="{9D8B030D-6E8A-4147-A177-3AD203B41FA5}">
                      <a16:colId xmlns:a16="http://schemas.microsoft.com/office/drawing/2014/main" val="20008"/>
                    </a:ext>
                  </a:extLst>
                </a:gridCol>
              </a:tblGrid>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r>
                        <a:rPr lang="en" sz="2400" dirty="0"/>
                        <a:t>0</a:t>
                      </a:r>
                    </a:p>
                  </a:txBody>
                  <a:tcPr marL="91425" marR="91425" marT="121900" marB="121900">
                    <a:solidFill>
                      <a:srgbClr val="D9D9D9"/>
                    </a:solidFill>
                  </a:tcPr>
                </a:tc>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0"/>
                  </a:ext>
                </a:extLst>
              </a:tr>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1"/>
                  </a:ext>
                </a:extLst>
              </a:tr>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2"/>
                  </a:ext>
                </a:extLst>
              </a:tr>
              <a:tr h="609560">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3"/>
                  </a:ext>
                </a:extLst>
              </a:tr>
              <a:tr h="609560">
                <a:tc>
                  <a:txBody>
                    <a:bodyPr/>
                    <a:lstStyle/>
                    <a:p>
                      <a:pPr lvl="0" rtl="0">
                        <a:spcBef>
                          <a:spcPts val="0"/>
                        </a:spcBef>
                        <a:buNone/>
                      </a:pPr>
                      <a:r>
                        <a:rPr lang="en" sz="2400"/>
                        <a:t>0</a:t>
                      </a:r>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6"/>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7"/>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dirty="0"/>
                    </a:p>
                  </a:txBody>
                  <a:tcPr marL="91425" marR="91425" marT="121900" marB="121900">
                    <a:solidFill>
                      <a:srgbClr val="D9D9D9"/>
                    </a:solidFill>
                  </a:tcPr>
                </a:tc>
                <a:extLst>
                  <a:ext uri="{0D108BD9-81ED-4DB2-BD59-A6C34878D82A}">
                    <a16:rowId xmlns:a16="http://schemas.microsoft.com/office/drawing/2014/main" val="10008"/>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54</a:t>
            </a:fld>
            <a:endParaRPr lang="en-US" dirty="0">
              <a:solidFill>
                <a:prstClr val="white"/>
              </a:solidFill>
              <a:latin typeface="Calibri"/>
            </a:endParaRPr>
          </a:p>
        </p:txBody>
      </p:sp>
    </p:spTree>
    <p:extLst>
      <p:ext uri="{BB962C8B-B14F-4D97-AF65-F5344CB8AC3E}">
        <p14:creationId xmlns:p14="http://schemas.microsoft.com/office/powerpoint/2010/main" val="1644330393"/>
      </p:ext>
    </p:extLst>
  </p:cSld>
  <p:clrMapOvr>
    <a:masterClrMapping/>
  </p:clrMapOvr>
  <p:transition spd="slow">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8" name="Shape 518"/>
          <p:cNvSpPr txBox="1"/>
          <p:nvPr/>
        </p:nvSpPr>
        <p:spPr>
          <a:xfrm>
            <a:off x="1788125" y="279300"/>
            <a:ext cx="8289000" cy="983600"/>
          </a:xfrm>
          <a:prstGeom prst="rect">
            <a:avLst/>
          </a:prstGeom>
          <a:noFill/>
          <a:ln>
            <a:noFill/>
          </a:ln>
        </p:spPr>
        <p:txBody>
          <a:bodyPr lIns="91425" tIns="91425" rIns="91425" bIns="91425" anchor="t" anchorCtr="0">
            <a:noAutofit/>
          </a:bodyPr>
          <a:lstStyle/>
          <a:p>
            <a:r>
              <a:rPr lang="en" sz="3000"/>
              <a:t>In practice: Common to zero pad the border</a:t>
            </a:r>
          </a:p>
        </p:txBody>
      </p:sp>
      <p:sp>
        <p:nvSpPr>
          <p:cNvPr id="519" name="Shape 519"/>
          <p:cNvSpPr txBox="1"/>
          <p:nvPr/>
        </p:nvSpPr>
        <p:spPr>
          <a:xfrm>
            <a:off x="4823125" y="1364500"/>
            <a:ext cx="5844900" cy="1974400"/>
          </a:xfrm>
          <a:prstGeom prst="rect">
            <a:avLst/>
          </a:prstGeom>
          <a:noFill/>
          <a:ln>
            <a:noFill/>
          </a:ln>
        </p:spPr>
        <p:txBody>
          <a:bodyPr lIns="91425" tIns="91425" rIns="91425" bIns="91425" anchor="t" anchorCtr="0">
            <a:noAutofit/>
          </a:bodyPr>
          <a:lstStyle/>
          <a:p>
            <a:r>
              <a:rPr lang="en" sz="2000"/>
              <a:t>e.g. input 7x7</a:t>
            </a:r>
          </a:p>
          <a:p>
            <a:r>
              <a:rPr lang="en" sz="2000" b="1"/>
              <a:t>3x3</a:t>
            </a:r>
            <a:r>
              <a:rPr lang="en" sz="2000"/>
              <a:t> filter, applied with </a:t>
            </a:r>
            <a:r>
              <a:rPr lang="en" sz="2000" b="1"/>
              <a:t>stride 1 </a:t>
            </a:r>
          </a:p>
          <a:p>
            <a:r>
              <a:rPr lang="en" sz="2000" b="1"/>
              <a:t>pad with 1 pixel</a:t>
            </a:r>
            <a:r>
              <a:rPr lang="en" sz="2000"/>
              <a:t> border =&gt; what is the output?</a:t>
            </a:r>
          </a:p>
          <a:p>
            <a:endParaRPr sz="2000"/>
          </a:p>
          <a:p>
            <a:r>
              <a:rPr lang="en" sz="2000" b="1"/>
              <a:t>7x7 output!</a:t>
            </a:r>
          </a:p>
          <a:p>
            <a:endParaRPr sz="2000"/>
          </a:p>
          <a:p>
            <a:endParaRPr sz="2000"/>
          </a:p>
          <a:p>
            <a:endParaRPr sz="2000"/>
          </a:p>
        </p:txBody>
      </p:sp>
      <p:graphicFrame>
        <p:nvGraphicFramePr>
          <p:cNvPr id="5" name="Shape 528"/>
          <p:cNvGraphicFramePr/>
          <p:nvPr/>
        </p:nvGraphicFramePr>
        <p:xfrm>
          <a:off x="1901402" y="838200"/>
          <a:ext cx="2679975" cy="5486040"/>
        </p:xfrm>
        <a:graphic>
          <a:graphicData uri="http://schemas.openxmlformats.org/drawingml/2006/table">
            <a:tbl>
              <a:tblPr>
                <a:noFill/>
              </a:tblPr>
              <a:tblGrid>
                <a:gridCol w="297775">
                  <a:extLst>
                    <a:ext uri="{9D8B030D-6E8A-4147-A177-3AD203B41FA5}">
                      <a16:colId xmlns:a16="http://schemas.microsoft.com/office/drawing/2014/main" val="20000"/>
                    </a:ext>
                  </a:extLst>
                </a:gridCol>
                <a:gridCol w="297775">
                  <a:extLst>
                    <a:ext uri="{9D8B030D-6E8A-4147-A177-3AD203B41FA5}">
                      <a16:colId xmlns:a16="http://schemas.microsoft.com/office/drawing/2014/main" val="20001"/>
                    </a:ext>
                  </a:extLst>
                </a:gridCol>
                <a:gridCol w="297775">
                  <a:extLst>
                    <a:ext uri="{9D8B030D-6E8A-4147-A177-3AD203B41FA5}">
                      <a16:colId xmlns:a16="http://schemas.microsoft.com/office/drawing/2014/main" val="20002"/>
                    </a:ext>
                  </a:extLst>
                </a:gridCol>
                <a:gridCol w="297775">
                  <a:extLst>
                    <a:ext uri="{9D8B030D-6E8A-4147-A177-3AD203B41FA5}">
                      <a16:colId xmlns:a16="http://schemas.microsoft.com/office/drawing/2014/main" val="20003"/>
                    </a:ext>
                  </a:extLst>
                </a:gridCol>
                <a:gridCol w="297775">
                  <a:extLst>
                    <a:ext uri="{9D8B030D-6E8A-4147-A177-3AD203B41FA5}">
                      <a16:colId xmlns:a16="http://schemas.microsoft.com/office/drawing/2014/main" val="20004"/>
                    </a:ext>
                  </a:extLst>
                </a:gridCol>
                <a:gridCol w="297775">
                  <a:extLst>
                    <a:ext uri="{9D8B030D-6E8A-4147-A177-3AD203B41FA5}">
                      <a16:colId xmlns:a16="http://schemas.microsoft.com/office/drawing/2014/main" val="20005"/>
                    </a:ext>
                  </a:extLst>
                </a:gridCol>
                <a:gridCol w="297775">
                  <a:extLst>
                    <a:ext uri="{9D8B030D-6E8A-4147-A177-3AD203B41FA5}">
                      <a16:colId xmlns:a16="http://schemas.microsoft.com/office/drawing/2014/main" val="20006"/>
                    </a:ext>
                  </a:extLst>
                </a:gridCol>
                <a:gridCol w="297775">
                  <a:extLst>
                    <a:ext uri="{9D8B030D-6E8A-4147-A177-3AD203B41FA5}">
                      <a16:colId xmlns:a16="http://schemas.microsoft.com/office/drawing/2014/main" val="20007"/>
                    </a:ext>
                  </a:extLst>
                </a:gridCol>
                <a:gridCol w="297775">
                  <a:extLst>
                    <a:ext uri="{9D8B030D-6E8A-4147-A177-3AD203B41FA5}">
                      <a16:colId xmlns:a16="http://schemas.microsoft.com/office/drawing/2014/main" val="20008"/>
                    </a:ext>
                  </a:extLst>
                </a:gridCol>
              </a:tblGrid>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r>
                        <a:rPr lang="en" sz="2400" dirty="0"/>
                        <a:t>0</a:t>
                      </a:r>
                    </a:p>
                  </a:txBody>
                  <a:tcPr marL="91425" marR="91425" marT="121900" marB="121900">
                    <a:solidFill>
                      <a:srgbClr val="D9D9D9"/>
                    </a:solidFill>
                  </a:tcPr>
                </a:tc>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0"/>
                  </a:ext>
                </a:extLst>
              </a:tr>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1"/>
                  </a:ext>
                </a:extLst>
              </a:tr>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2"/>
                  </a:ext>
                </a:extLst>
              </a:tr>
              <a:tr h="609560">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3"/>
                  </a:ext>
                </a:extLst>
              </a:tr>
              <a:tr h="609560">
                <a:tc>
                  <a:txBody>
                    <a:bodyPr/>
                    <a:lstStyle/>
                    <a:p>
                      <a:pPr lvl="0" rtl="0">
                        <a:spcBef>
                          <a:spcPts val="0"/>
                        </a:spcBef>
                        <a:buNone/>
                      </a:pPr>
                      <a:r>
                        <a:rPr lang="en" sz="2400"/>
                        <a:t>0</a:t>
                      </a:r>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6"/>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7"/>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dirty="0"/>
                    </a:p>
                  </a:txBody>
                  <a:tcPr marL="91425" marR="91425" marT="121900" marB="121900">
                    <a:solidFill>
                      <a:srgbClr val="D9D9D9"/>
                    </a:solidFill>
                  </a:tcPr>
                </a:tc>
                <a:extLst>
                  <a:ext uri="{0D108BD9-81ED-4DB2-BD59-A6C34878D82A}">
                    <a16:rowId xmlns:a16="http://schemas.microsoft.com/office/drawing/2014/main" val="10008"/>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55</a:t>
            </a:fld>
            <a:endParaRPr lang="en-US" dirty="0">
              <a:solidFill>
                <a:prstClr val="white"/>
              </a:solidFill>
              <a:latin typeface="Calibri"/>
            </a:endParaRPr>
          </a:p>
        </p:txBody>
      </p:sp>
    </p:spTree>
    <p:extLst>
      <p:ext uri="{BB962C8B-B14F-4D97-AF65-F5344CB8AC3E}">
        <p14:creationId xmlns:p14="http://schemas.microsoft.com/office/powerpoint/2010/main" val="646643965"/>
      </p:ext>
    </p:extLst>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Shape 526"/>
          <p:cNvSpPr txBox="1"/>
          <p:nvPr/>
        </p:nvSpPr>
        <p:spPr>
          <a:xfrm>
            <a:off x="1788125" y="279300"/>
            <a:ext cx="8289000" cy="983600"/>
          </a:xfrm>
          <a:prstGeom prst="rect">
            <a:avLst/>
          </a:prstGeom>
          <a:noFill/>
          <a:ln>
            <a:noFill/>
          </a:ln>
        </p:spPr>
        <p:txBody>
          <a:bodyPr lIns="91425" tIns="91425" rIns="91425" bIns="91425" anchor="t" anchorCtr="0">
            <a:noAutofit/>
          </a:bodyPr>
          <a:lstStyle/>
          <a:p>
            <a:r>
              <a:rPr lang="en" sz="3000"/>
              <a:t>In practice: Common to zero pad the border</a:t>
            </a:r>
          </a:p>
        </p:txBody>
      </p:sp>
      <p:sp>
        <p:nvSpPr>
          <p:cNvPr id="527" name="Shape 527"/>
          <p:cNvSpPr txBox="1"/>
          <p:nvPr/>
        </p:nvSpPr>
        <p:spPr>
          <a:xfrm>
            <a:off x="4823125" y="1364499"/>
            <a:ext cx="5844900" cy="4016969"/>
          </a:xfrm>
          <a:prstGeom prst="rect">
            <a:avLst/>
          </a:prstGeom>
          <a:noFill/>
          <a:ln>
            <a:noFill/>
          </a:ln>
        </p:spPr>
        <p:txBody>
          <a:bodyPr lIns="91425" tIns="91425" rIns="91425" bIns="91425" anchor="t" anchorCtr="0">
            <a:noAutofit/>
          </a:bodyPr>
          <a:lstStyle/>
          <a:p>
            <a:r>
              <a:rPr lang="en" sz="2000" dirty="0"/>
              <a:t>e.g. input 7x7</a:t>
            </a:r>
          </a:p>
          <a:p>
            <a:r>
              <a:rPr lang="en" sz="2000" b="1" dirty="0"/>
              <a:t>3x3</a:t>
            </a:r>
            <a:r>
              <a:rPr lang="en" sz="2000" dirty="0"/>
              <a:t> filter, applied with </a:t>
            </a:r>
            <a:r>
              <a:rPr lang="en" sz="2000" b="1" dirty="0"/>
              <a:t>stride 1 </a:t>
            </a:r>
          </a:p>
          <a:p>
            <a:r>
              <a:rPr lang="en" sz="2000" b="1" dirty="0"/>
              <a:t>pad with 1 pixel</a:t>
            </a:r>
            <a:r>
              <a:rPr lang="en" sz="2000" dirty="0"/>
              <a:t> border =&gt; what is the output?</a:t>
            </a:r>
          </a:p>
          <a:p>
            <a:endParaRPr sz="2000" dirty="0"/>
          </a:p>
          <a:p>
            <a:r>
              <a:rPr lang="en" sz="2000" b="1" dirty="0"/>
              <a:t>7x7 output!</a:t>
            </a:r>
          </a:p>
          <a:p>
            <a:r>
              <a:rPr lang="en" sz="2000" dirty="0"/>
              <a:t>in general, common to see CONV layers with stride 1, filters of size FxF, and zero-padding with (F-1)/2. (will preserve size spatially)</a:t>
            </a:r>
          </a:p>
          <a:p>
            <a:endParaRPr lang="en" sz="2000" dirty="0"/>
          </a:p>
          <a:p>
            <a:r>
              <a:rPr lang="en" sz="2000" dirty="0">
                <a:solidFill>
                  <a:srgbClr val="0000FF"/>
                </a:solidFill>
              </a:rPr>
              <a:t>e.g. F = 3 =&gt; zero pad with 1</a:t>
            </a:r>
          </a:p>
          <a:p>
            <a:r>
              <a:rPr lang="en" sz="2000" dirty="0">
                <a:solidFill>
                  <a:srgbClr val="0000FF"/>
                </a:solidFill>
              </a:rPr>
              <a:t>       F = 5 =&gt; zero pad with 2</a:t>
            </a:r>
          </a:p>
          <a:p>
            <a:r>
              <a:rPr lang="en" sz="2000" dirty="0">
                <a:solidFill>
                  <a:srgbClr val="0000FF"/>
                </a:solidFill>
              </a:rPr>
              <a:t>       F = 7 =&gt; zero pad with 3</a:t>
            </a:r>
          </a:p>
          <a:p>
            <a:endParaRPr sz="2000" dirty="0"/>
          </a:p>
          <a:p>
            <a:endParaRPr sz="2000" dirty="0"/>
          </a:p>
        </p:txBody>
      </p:sp>
      <p:graphicFrame>
        <p:nvGraphicFramePr>
          <p:cNvPr id="528" name="Shape 528"/>
          <p:cNvGraphicFramePr/>
          <p:nvPr/>
        </p:nvGraphicFramePr>
        <p:xfrm>
          <a:off x="1901402" y="838200"/>
          <a:ext cx="2679975" cy="5486040"/>
        </p:xfrm>
        <a:graphic>
          <a:graphicData uri="http://schemas.openxmlformats.org/drawingml/2006/table">
            <a:tbl>
              <a:tblPr>
                <a:noFill/>
              </a:tblPr>
              <a:tblGrid>
                <a:gridCol w="297775">
                  <a:extLst>
                    <a:ext uri="{9D8B030D-6E8A-4147-A177-3AD203B41FA5}">
                      <a16:colId xmlns:a16="http://schemas.microsoft.com/office/drawing/2014/main" val="20000"/>
                    </a:ext>
                  </a:extLst>
                </a:gridCol>
                <a:gridCol w="297775">
                  <a:extLst>
                    <a:ext uri="{9D8B030D-6E8A-4147-A177-3AD203B41FA5}">
                      <a16:colId xmlns:a16="http://schemas.microsoft.com/office/drawing/2014/main" val="20001"/>
                    </a:ext>
                  </a:extLst>
                </a:gridCol>
                <a:gridCol w="297775">
                  <a:extLst>
                    <a:ext uri="{9D8B030D-6E8A-4147-A177-3AD203B41FA5}">
                      <a16:colId xmlns:a16="http://schemas.microsoft.com/office/drawing/2014/main" val="20002"/>
                    </a:ext>
                  </a:extLst>
                </a:gridCol>
                <a:gridCol w="297775">
                  <a:extLst>
                    <a:ext uri="{9D8B030D-6E8A-4147-A177-3AD203B41FA5}">
                      <a16:colId xmlns:a16="http://schemas.microsoft.com/office/drawing/2014/main" val="20003"/>
                    </a:ext>
                  </a:extLst>
                </a:gridCol>
                <a:gridCol w="297775">
                  <a:extLst>
                    <a:ext uri="{9D8B030D-6E8A-4147-A177-3AD203B41FA5}">
                      <a16:colId xmlns:a16="http://schemas.microsoft.com/office/drawing/2014/main" val="20004"/>
                    </a:ext>
                  </a:extLst>
                </a:gridCol>
                <a:gridCol w="297775">
                  <a:extLst>
                    <a:ext uri="{9D8B030D-6E8A-4147-A177-3AD203B41FA5}">
                      <a16:colId xmlns:a16="http://schemas.microsoft.com/office/drawing/2014/main" val="20005"/>
                    </a:ext>
                  </a:extLst>
                </a:gridCol>
                <a:gridCol w="297775">
                  <a:extLst>
                    <a:ext uri="{9D8B030D-6E8A-4147-A177-3AD203B41FA5}">
                      <a16:colId xmlns:a16="http://schemas.microsoft.com/office/drawing/2014/main" val="20006"/>
                    </a:ext>
                  </a:extLst>
                </a:gridCol>
                <a:gridCol w="297775">
                  <a:extLst>
                    <a:ext uri="{9D8B030D-6E8A-4147-A177-3AD203B41FA5}">
                      <a16:colId xmlns:a16="http://schemas.microsoft.com/office/drawing/2014/main" val="20007"/>
                    </a:ext>
                  </a:extLst>
                </a:gridCol>
                <a:gridCol w="297775">
                  <a:extLst>
                    <a:ext uri="{9D8B030D-6E8A-4147-A177-3AD203B41FA5}">
                      <a16:colId xmlns:a16="http://schemas.microsoft.com/office/drawing/2014/main" val="20008"/>
                    </a:ext>
                  </a:extLst>
                </a:gridCol>
              </a:tblGrid>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r>
                        <a:rPr lang="en" sz="2400" dirty="0"/>
                        <a:t>0</a:t>
                      </a:r>
                    </a:p>
                  </a:txBody>
                  <a:tcPr marL="91425" marR="91425" marT="121900" marB="121900">
                    <a:solidFill>
                      <a:srgbClr val="D9D9D9"/>
                    </a:solidFill>
                  </a:tcPr>
                </a:tc>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0"/>
                  </a:ext>
                </a:extLst>
              </a:tr>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D9EAD3"/>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1"/>
                  </a:ext>
                </a:extLst>
              </a:tr>
              <a:tr h="609560">
                <a:tc>
                  <a:txBody>
                    <a:bodyPr/>
                    <a:lstStyle/>
                    <a:p>
                      <a:pPr lvl="0" rtl="0">
                        <a:spcBef>
                          <a:spcPts val="0"/>
                        </a:spcBef>
                        <a:buNone/>
                      </a:pPr>
                      <a:r>
                        <a:rPr lang="en" sz="2400"/>
                        <a:t>0</a:t>
                      </a:r>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D9EAD3"/>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2"/>
                  </a:ext>
                </a:extLst>
              </a:tr>
              <a:tr h="609560">
                <a:tc>
                  <a:txBody>
                    <a:bodyPr/>
                    <a:lstStyle/>
                    <a:p>
                      <a:pPr lvl="0" rtl="0">
                        <a:spcBef>
                          <a:spcPts val="0"/>
                        </a:spcBef>
                        <a:buNone/>
                      </a:pPr>
                      <a:r>
                        <a:rPr lang="en" sz="2400"/>
                        <a:t>0</a:t>
                      </a:r>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solidFill>
                      <a:srgbClr val="FFFFFF"/>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3"/>
                  </a:ext>
                </a:extLst>
              </a:tr>
              <a:tr h="609560">
                <a:tc>
                  <a:txBody>
                    <a:bodyPr/>
                    <a:lstStyle/>
                    <a:p>
                      <a:pPr lvl="0" rtl="0">
                        <a:spcBef>
                          <a:spcPts val="0"/>
                        </a:spcBef>
                        <a:buNone/>
                      </a:pPr>
                      <a:r>
                        <a:rPr lang="en" sz="2400"/>
                        <a:t>0</a:t>
                      </a:r>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4"/>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5"/>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6"/>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tc>
                <a:tc>
                  <a:txBody>
                    <a:bodyPr/>
                    <a:lstStyle/>
                    <a:p>
                      <a:pPr lvl="0" rtl="0">
                        <a:spcBef>
                          <a:spcPts val="0"/>
                        </a:spcBef>
                        <a:buNone/>
                      </a:pPr>
                      <a:endParaRPr sz="2400"/>
                    </a:p>
                  </a:txBody>
                  <a:tcPr marL="91425" marR="91425" marT="121900" marB="121900">
                    <a:solidFill>
                      <a:srgbClr val="D9D9D9"/>
                    </a:solidFill>
                  </a:tcPr>
                </a:tc>
                <a:extLst>
                  <a:ext uri="{0D108BD9-81ED-4DB2-BD59-A6C34878D82A}">
                    <a16:rowId xmlns:a16="http://schemas.microsoft.com/office/drawing/2014/main" val="10007"/>
                  </a:ext>
                </a:extLst>
              </a:tr>
              <a:tr h="609560">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a:p>
                  </a:txBody>
                  <a:tcPr marL="91425" marR="91425" marT="121900" marB="121900">
                    <a:solidFill>
                      <a:srgbClr val="D9D9D9"/>
                    </a:solidFill>
                  </a:tcPr>
                </a:tc>
                <a:tc>
                  <a:txBody>
                    <a:bodyPr/>
                    <a:lstStyle/>
                    <a:p>
                      <a:pPr lvl="0" rtl="0">
                        <a:spcBef>
                          <a:spcPts val="0"/>
                        </a:spcBef>
                        <a:buNone/>
                      </a:pPr>
                      <a:endParaRPr sz="2400" dirty="0"/>
                    </a:p>
                  </a:txBody>
                  <a:tcPr marL="91425" marR="91425" marT="121900" marB="121900">
                    <a:solidFill>
                      <a:srgbClr val="D9D9D9"/>
                    </a:solidFill>
                  </a:tcPr>
                </a:tc>
                <a:extLst>
                  <a:ext uri="{0D108BD9-81ED-4DB2-BD59-A6C34878D82A}">
                    <a16:rowId xmlns:a16="http://schemas.microsoft.com/office/drawing/2014/main" val="10008"/>
                  </a:ext>
                </a:extLst>
              </a:tr>
            </a:tbl>
          </a:graphicData>
        </a:graphic>
      </p:graphicFrame>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56</a:t>
            </a:fld>
            <a:endParaRPr lang="en-US" dirty="0">
              <a:solidFill>
                <a:prstClr val="white"/>
              </a:solidFill>
              <a:latin typeface="Calibri"/>
            </a:endParaRPr>
          </a:p>
        </p:txBody>
      </p:sp>
    </p:spTree>
    <p:extLst>
      <p:ext uri="{BB962C8B-B14F-4D97-AF65-F5344CB8AC3E}">
        <p14:creationId xmlns:p14="http://schemas.microsoft.com/office/powerpoint/2010/main" val="1330665331"/>
      </p:ext>
    </p:extLst>
  </p:cSld>
  <p:clrMapOvr>
    <a:masterClrMapping/>
  </p:clrMapOvr>
  <p:transition spd="slow">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9" name="Shape 369"/>
          <p:cNvSpPr txBox="1"/>
          <p:nvPr/>
        </p:nvSpPr>
        <p:spPr>
          <a:xfrm>
            <a:off x="1662150" y="80602"/>
            <a:ext cx="8375400" cy="805999"/>
          </a:xfrm>
          <a:prstGeom prst="rect">
            <a:avLst/>
          </a:prstGeom>
          <a:noFill/>
          <a:ln>
            <a:noFill/>
          </a:ln>
        </p:spPr>
        <p:txBody>
          <a:bodyPr lIns="91425" tIns="91425" rIns="91425" bIns="91425" anchor="t" anchorCtr="0">
            <a:noAutofit/>
          </a:bodyPr>
          <a:lstStyle/>
          <a:p>
            <a:r>
              <a:rPr lang="en" sz="2200"/>
              <a:t>A closer look at spatial dimensions:</a:t>
            </a:r>
          </a:p>
        </p:txBody>
      </p:sp>
      <p:sp>
        <p:nvSpPr>
          <p:cNvPr id="370" name="Shape 370"/>
          <p:cNvSpPr/>
          <p:nvPr/>
        </p:nvSpPr>
        <p:spPr>
          <a:xfrm>
            <a:off x="2791102" y="3072168"/>
            <a:ext cx="282299" cy="1085199"/>
          </a:xfrm>
          <a:prstGeom prst="cube">
            <a:avLst>
              <a:gd name="adj" fmla="val 53382"/>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71" name="Shape 371"/>
          <p:cNvSpPr/>
          <p:nvPr/>
        </p:nvSpPr>
        <p:spPr>
          <a:xfrm>
            <a:off x="4387352" y="3426568"/>
            <a:ext cx="282299" cy="376399"/>
          </a:xfrm>
          <a:prstGeom prst="ellipse">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372" name="Shape 372"/>
          <p:cNvCxnSpPr>
            <a:endCxn id="371" idx="2"/>
          </p:cNvCxnSpPr>
          <p:nvPr/>
        </p:nvCxnSpPr>
        <p:spPr>
          <a:xfrm rot="10800000" flipH="1">
            <a:off x="2897850" y="3614765"/>
            <a:ext cx="1489500" cy="532000"/>
          </a:xfrm>
          <a:prstGeom prst="straightConnector1">
            <a:avLst/>
          </a:prstGeom>
          <a:noFill/>
          <a:ln w="19050" cap="flat" cmpd="sng">
            <a:solidFill>
              <a:srgbClr val="000000"/>
            </a:solidFill>
            <a:prstDash val="solid"/>
            <a:round/>
            <a:headEnd type="none" w="lg" len="lg"/>
            <a:tailEnd type="none" w="lg" len="lg"/>
          </a:ln>
        </p:spPr>
      </p:cxnSp>
      <p:cxnSp>
        <p:nvCxnSpPr>
          <p:cNvPr id="373" name="Shape 373"/>
          <p:cNvCxnSpPr>
            <a:endCxn id="371" idx="2"/>
          </p:cNvCxnSpPr>
          <p:nvPr/>
        </p:nvCxnSpPr>
        <p:spPr>
          <a:xfrm>
            <a:off x="2917350" y="3298365"/>
            <a:ext cx="1470000" cy="316400"/>
          </a:xfrm>
          <a:prstGeom prst="straightConnector1">
            <a:avLst/>
          </a:prstGeom>
          <a:noFill/>
          <a:ln w="19050" cap="flat" cmpd="sng">
            <a:solidFill>
              <a:srgbClr val="000000"/>
            </a:solidFill>
            <a:prstDash val="solid"/>
            <a:round/>
            <a:headEnd type="none" w="lg" len="lg"/>
            <a:tailEnd type="none" w="lg" len="lg"/>
          </a:ln>
        </p:spPr>
      </p:cxnSp>
      <p:cxnSp>
        <p:nvCxnSpPr>
          <p:cNvPr id="374" name="Shape 374"/>
          <p:cNvCxnSpPr>
            <a:endCxn id="371" idx="2"/>
          </p:cNvCxnSpPr>
          <p:nvPr/>
        </p:nvCxnSpPr>
        <p:spPr>
          <a:xfrm>
            <a:off x="3053550" y="3099165"/>
            <a:ext cx="1333800" cy="515600"/>
          </a:xfrm>
          <a:prstGeom prst="straightConnector1">
            <a:avLst/>
          </a:prstGeom>
          <a:noFill/>
          <a:ln w="19050" cap="flat" cmpd="sng">
            <a:solidFill>
              <a:srgbClr val="000000"/>
            </a:solidFill>
            <a:prstDash val="solid"/>
            <a:round/>
            <a:headEnd type="none" w="lg" len="lg"/>
            <a:tailEnd type="none" w="lg" len="lg"/>
          </a:ln>
        </p:spPr>
      </p:cxnSp>
      <p:cxnSp>
        <p:nvCxnSpPr>
          <p:cNvPr id="375" name="Shape 375"/>
          <p:cNvCxnSpPr>
            <a:endCxn id="371" idx="2"/>
          </p:cNvCxnSpPr>
          <p:nvPr/>
        </p:nvCxnSpPr>
        <p:spPr>
          <a:xfrm rot="10800000" flipH="1">
            <a:off x="3079650" y="3614765"/>
            <a:ext cx="1307700" cy="332800"/>
          </a:xfrm>
          <a:prstGeom prst="straightConnector1">
            <a:avLst/>
          </a:prstGeom>
          <a:noFill/>
          <a:ln w="19050" cap="flat" cmpd="sng">
            <a:solidFill>
              <a:srgbClr val="000000"/>
            </a:solidFill>
            <a:prstDash val="solid"/>
            <a:round/>
            <a:headEnd type="none" w="lg" len="lg"/>
            <a:tailEnd type="none" w="lg" len="lg"/>
          </a:ln>
        </p:spPr>
      </p:cxnSp>
      <p:sp>
        <p:nvSpPr>
          <p:cNvPr id="376" name="Shape 376"/>
          <p:cNvSpPr txBox="1"/>
          <p:nvPr/>
        </p:nvSpPr>
        <p:spPr>
          <a:xfrm>
            <a:off x="2987200" y="4842833"/>
            <a:ext cx="491700" cy="412800"/>
          </a:xfrm>
          <a:prstGeom prst="rect">
            <a:avLst/>
          </a:prstGeom>
          <a:noFill/>
          <a:ln>
            <a:noFill/>
          </a:ln>
        </p:spPr>
        <p:txBody>
          <a:bodyPr lIns="91425" tIns="91425" rIns="91425" bIns="91425" anchor="t" anchorCtr="0">
            <a:noAutofit/>
          </a:bodyPr>
          <a:lstStyle/>
          <a:p>
            <a:r>
              <a:rPr lang="en"/>
              <a:t>32</a:t>
            </a:r>
          </a:p>
        </p:txBody>
      </p:sp>
      <p:sp>
        <p:nvSpPr>
          <p:cNvPr id="377" name="Shape 377"/>
          <p:cNvSpPr txBox="1"/>
          <p:nvPr/>
        </p:nvSpPr>
        <p:spPr>
          <a:xfrm>
            <a:off x="3351500" y="2078602"/>
            <a:ext cx="491700" cy="376399"/>
          </a:xfrm>
          <a:prstGeom prst="rect">
            <a:avLst/>
          </a:prstGeom>
          <a:noFill/>
          <a:ln>
            <a:noFill/>
          </a:ln>
        </p:spPr>
        <p:txBody>
          <a:bodyPr lIns="91425" tIns="91425" rIns="91425" bIns="91425" anchor="t" anchorCtr="0">
            <a:noAutofit/>
          </a:bodyPr>
          <a:lstStyle/>
          <a:p>
            <a:r>
              <a:rPr lang="en"/>
              <a:t>32</a:t>
            </a:r>
          </a:p>
        </p:txBody>
      </p:sp>
      <p:sp>
        <p:nvSpPr>
          <p:cNvPr id="378" name="Shape 378"/>
          <p:cNvSpPr txBox="1"/>
          <p:nvPr/>
        </p:nvSpPr>
        <p:spPr>
          <a:xfrm>
            <a:off x="2316587" y="5365011"/>
            <a:ext cx="491700" cy="242799"/>
          </a:xfrm>
          <a:prstGeom prst="rect">
            <a:avLst/>
          </a:prstGeom>
          <a:noFill/>
          <a:ln>
            <a:noFill/>
          </a:ln>
        </p:spPr>
        <p:txBody>
          <a:bodyPr lIns="91425" tIns="91425" rIns="91425" bIns="91425" anchor="t" anchorCtr="0">
            <a:noAutofit/>
          </a:bodyPr>
          <a:lstStyle/>
          <a:p>
            <a:r>
              <a:rPr lang="en"/>
              <a:t>3</a:t>
            </a:r>
          </a:p>
        </p:txBody>
      </p:sp>
      <p:sp>
        <p:nvSpPr>
          <p:cNvPr id="379" name="Shape 379"/>
          <p:cNvSpPr/>
          <p:nvPr/>
        </p:nvSpPr>
        <p:spPr>
          <a:xfrm>
            <a:off x="2374575" y="1776167"/>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80" name="Shape 380"/>
          <p:cNvSpPr txBox="1"/>
          <p:nvPr/>
        </p:nvSpPr>
        <p:spPr>
          <a:xfrm>
            <a:off x="4632427" y="1213000"/>
            <a:ext cx="3635099" cy="736800"/>
          </a:xfrm>
          <a:prstGeom prst="rect">
            <a:avLst/>
          </a:prstGeom>
          <a:noFill/>
          <a:ln>
            <a:noFill/>
          </a:ln>
        </p:spPr>
        <p:txBody>
          <a:bodyPr lIns="91425" tIns="91425" rIns="91425" bIns="91425" anchor="t" anchorCtr="0">
            <a:noAutofit/>
          </a:bodyPr>
          <a:lstStyle/>
          <a:p>
            <a:r>
              <a:rPr lang="en" sz="2400">
                <a:solidFill>
                  <a:srgbClr val="FF0000"/>
                </a:solidFill>
              </a:rPr>
              <a:t>32x32x3 image</a:t>
            </a:r>
          </a:p>
          <a:p>
            <a:r>
              <a:rPr lang="en" sz="2400">
                <a:solidFill>
                  <a:srgbClr val="0000FF"/>
                </a:solidFill>
              </a:rPr>
              <a:t>5x5x3 filter</a:t>
            </a:r>
          </a:p>
        </p:txBody>
      </p:sp>
      <p:cxnSp>
        <p:nvCxnSpPr>
          <p:cNvPr id="381" name="Shape 381"/>
          <p:cNvCxnSpPr/>
          <p:nvPr/>
        </p:nvCxnSpPr>
        <p:spPr>
          <a:xfrm flipH="1">
            <a:off x="3501352" y="1535368"/>
            <a:ext cx="984299" cy="310799"/>
          </a:xfrm>
          <a:prstGeom prst="straightConnector1">
            <a:avLst/>
          </a:prstGeom>
          <a:noFill/>
          <a:ln w="9525" cap="flat" cmpd="sng">
            <a:solidFill>
              <a:srgbClr val="FF0000"/>
            </a:solidFill>
            <a:prstDash val="solid"/>
            <a:round/>
            <a:headEnd type="none" w="lg" len="lg"/>
            <a:tailEnd type="triangle" w="lg" len="lg"/>
          </a:ln>
        </p:spPr>
      </p:cxnSp>
      <p:cxnSp>
        <p:nvCxnSpPr>
          <p:cNvPr id="382" name="Shape 382"/>
          <p:cNvCxnSpPr/>
          <p:nvPr/>
        </p:nvCxnSpPr>
        <p:spPr>
          <a:xfrm flipH="1">
            <a:off x="3190349" y="2180068"/>
            <a:ext cx="1398900" cy="725199"/>
          </a:xfrm>
          <a:prstGeom prst="straightConnector1">
            <a:avLst/>
          </a:prstGeom>
          <a:noFill/>
          <a:ln w="9525" cap="flat" cmpd="sng">
            <a:solidFill>
              <a:srgbClr val="0000FF"/>
            </a:solidFill>
            <a:prstDash val="solid"/>
            <a:round/>
            <a:headEnd type="none" w="lg" len="lg"/>
            <a:tailEnd type="triangle" w="lg" len="lg"/>
          </a:ln>
        </p:spPr>
      </p:cxnSp>
      <p:cxnSp>
        <p:nvCxnSpPr>
          <p:cNvPr id="383" name="Shape 383"/>
          <p:cNvCxnSpPr/>
          <p:nvPr/>
        </p:nvCxnSpPr>
        <p:spPr>
          <a:xfrm>
            <a:off x="5124600" y="3619167"/>
            <a:ext cx="2365800" cy="0"/>
          </a:xfrm>
          <a:prstGeom prst="straightConnector1">
            <a:avLst/>
          </a:prstGeom>
          <a:noFill/>
          <a:ln w="9525" cap="flat" cmpd="sng">
            <a:solidFill>
              <a:schemeClr val="dk2"/>
            </a:solidFill>
            <a:prstDash val="solid"/>
            <a:round/>
            <a:headEnd type="none" w="lg" len="lg"/>
            <a:tailEnd type="triangle" w="lg" len="lg"/>
          </a:ln>
        </p:spPr>
      </p:cxnSp>
      <p:sp>
        <p:nvSpPr>
          <p:cNvPr id="384" name="Shape 384"/>
          <p:cNvSpPr txBox="1"/>
          <p:nvPr/>
        </p:nvSpPr>
        <p:spPr>
          <a:xfrm>
            <a:off x="4995125" y="3802968"/>
            <a:ext cx="3272400" cy="1085199"/>
          </a:xfrm>
          <a:prstGeom prst="rect">
            <a:avLst/>
          </a:prstGeom>
          <a:noFill/>
          <a:ln>
            <a:noFill/>
          </a:ln>
        </p:spPr>
        <p:txBody>
          <a:bodyPr lIns="91425" tIns="91425" rIns="91425" bIns="91425" anchor="t" anchorCtr="0">
            <a:noAutofit/>
          </a:bodyPr>
          <a:lstStyle/>
          <a:p>
            <a:r>
              <a:rPr lang="en"/>
              <a:t>convolve (slide) over all spatial locations</a:t>
            </a:r>
          </a:p>
        </p:txBody>
      </p:sp>
      <p:sp>
        <p:nvSpPr>
          <p:cNvPr id="385" name="Shape 385"/>
          <p:cNvSpPr/>
          <p:nvPr/>
        </p:nvSpPr>
        <p:spPr>
          <a:xfrm>
            <a:off x="8227650" y="1776167"/>
            <a:ext cx="956400" cy="3677200"/>
          </a:xfrm>
          <a:prstGeom prst="cube">
            <a:avLst>
              <a:gd name="adj" fmla="val 90357"/>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86" name="Shape 386"/>
          <p:cNvSpPr txBox="1"/>
          <p:nvPr/>
        </p:nvSpPr>
        <p:spPr>
          <a:xfrm>
            <a:off x="8233052" y="886602"/>
            <a:ext cx="1804499" cy="725199"/>
          </a:xfrm>
          <a:prstGeom prst="rect">
            <a:avLst/>
          </a:prstGeom>
          <a:noFill/>
          <a:ln>
            <a:noFill/>
          </a:ln>
        </p:spPr>
        <p:txBody>
          <a:bodyPr lIns="91425" tIns="91425" rIns="91425" bIns="91425" anchor="t" anchorCtr="0">
            <a:noAutofit/>
          </a:bodyPr>
          <a:lstStyle/>
          <a:p>
            <a:r>
              <a:rPr lang="en" b="1">
                <a:solidFill>
                  <a:srgbClr val="0000FF"/>
                </a:solidFill>
              </a:rPr>
              <a:t>activation map</a:t>
            </a:r>
          </a:p>
        </p:txBody>
      </p:sp>
      <p:sp>
        <p:nvSpPr>
          <p:cNvPr id="387" name="Shape 387"/>
          <p:cNvSpPr txBox="1"/>
          <p:nvPr/>
        </p:nvSpPr>
        <p:spPr>
          <a:xfrm>
            <a:off x="8112145" y="5394139"/>
            <a:ext cx="328199" cy="412800"/>
          </a:xfrm>
          <a:prstGeom prst="rect">
            <a:avLst/>
          </a:prstGeom>
          <a:noFill/>
          <a:ln>
            <a:noFill/>
          </a:ln>
        </p:spPr>
        <p:txBody>
          <a:bodyPr lIns="91425" tIns="91425" rIns="91425" bIns="91425" anchor="t" anchorCtr="0">
            <a:noAutofit/>
          </a:bodyPr>
          <a:lstStyle/>
          <a:p>
            <a:r>
              <a:rPr lang="en"/>
              <a:t>1</a:t>
            </a:r>
          </a:p>
        </p:txBody>
      </p:sp>
      <p:sp>
        <p:nvSpPr>
          <p:cNvPr id="388" name="Shape 388"/>
          <p:cNvSpPr txBox="1"/>
          <p:nvPr/>
        </p:nvSpPr>
        <p:spPr>
          <a:xfrm>
            <a:off x="8779653" y="4786567"/>
            <a:ext cx="491700" cy="412800"/>
          </a:xfrm>
          <a:prstGeom prst="rect">
            <a:avLst/>
          </a:prstGeom>
          <a:noFill/>
          <a:ln>
            <a:noFill/>
          </a:ln>
        </p:spPr>
        <p:txBody>
          <a:bodyPr lIns="91425" tIns="91425" rIns="91425" bIns="91425" anchor="t" anchorCtr="0">
            <a:noAutofit/>
          </a:bodyPr>
          <a:lstStyle/>
          <a:p>
            <a:r>
              <a:rPr lang="en" b="1"/>
              <a:t>28</a:t>
            </a:r>
          </a:p>
        </p:txBody>
      </p:sp>
      <p:sp>
        <p:nvSpPr>
          <p:cNvPr id="389" name="Shape 389"/>
          <p:cNvSpPr txBox="1"/>
          <p:nvPr/>
        </p:nvSpPr>
        <p:spPr>
          <a:xfrm>
            <a:off x="9184053" y="2905249"/>
            <a:ext cx="491700" cy="412800"/>
          </a:xfrm>
          <a:prstGeom prst="rect">
            <a:avLst/>
          </a:prstGeom>
          <a:noFill/>
          <a:ln>
            <a:noFill/>
          </a:ln>
        </p:spPr>
        <p:txBody>
          <a:bodyPr lIns="91425" tIns="91425" rIns="91425" bIns="91425" anchor="t" anchorCtr="0">
            <a:noAutofit/>
          </a:bodyPr>
          <a:lstStyle/>
          <a:p>
            <a:r>
              <a:rPr lang="en" b="1"/>
              <a:t>28</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57</a:t>
            </a:fld>
            <a:endParaRPr lang="en-US" dirty="0">
              <a:solidFill>
                <a:prstClr val="white"/>
              </a:solidFill>
              <a:latin typeface="Calibri"/>
            </a:endParaRPr>
          </a:p>
        </p:txBody>
      </p:sp>
    </p:spTree>
    <p:extLst>
      <p:ext uri="{BB962C8B-B14F-4D97-AF65-F5344CB8AC3E}">
        <p14:creationId xmlns:p14="http://schemas.microsoft.com/office/powerpoint/2010/main" val="2109175694"/>
      </p:ext>
    </p:extLst>
  </p:cSld>
  <p:clrMapOvr>
    <a:masterClrMapping/>
  </p:clrMapOvr>
  <p:transition spd="slow">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Shape 230"/>
          <p:cNvSpPr/>
          <p:nvPr/>
        </p:nvSpPr>
        <p:spPr>
          <a:xfrm>
            <a:off x="8598950" y="1587800"/>
            <a:ext cx="956400" cy="3677200"/>
          </a:xfrm>
          <a:prstGeom prst="cube">
            <a:avLst>
              <a:gd name="adj" fmla="val 90357"/>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32" name="Shape 232"/>
          <p:cNvSpPr/>
          <p:nvPr/>
        </p:nvSpPr>
        <p:spPr>
          <a:xfrm>
            <a:off x="3162401" y="2883802"/>
            <a:ext cx="282299" cy="1085199"/>
          </a:xfrm>
          <a:prstGeom prst="cube">
            <a:avLst>
              <a:gd name="adj" fmla="val 53382"/>
            </a:avLst>
          </a:prstGeom>
          <a:solidFill>
            <a:srgbClr val="D9EAD3"/>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33" name="Shape 233"/>
          <p:cNvSpPr/>
          <p:nvPr/>
        </p:nvSpPr>
        <p:spPr>
          <a:xfrm>
            <a:off x="4758652" y="3238202"/>
            <a:ext cx="282299" cy="376399"/>
          </a:xfrm>
          <a:prstGeom prst="ellipse">
            <a:avLst/>
          </a:prstGeom>
          <a:solidFill>
            <a:srgbClr val="D9EAD3"/>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234" name="Shape 234"/>
          <p:cNvCxnSpPr>
            <a:endCxn id="233" idx="2"/>
          </p:cNvCxnSpPr>
          <p:nvPr/>
        </p:nvCxnSpPr>
        <p:spPr>
          <a:xfrm rot="10800000" flipH="1">
            <a:off x="3269150" y="3426399"/>
            <a:ext cx="1489500" cy="532000"/>
          </a:xfrm>
          <a:prstGeom prst="straightConnector1">
            <a:avLst/>
          </a:prstGeom>
          <a:noFill/>
          <a:ln w="19050" cap="flat" cmpd="sng">
            <a:solidFill>
              <a:srgbClr val="000000"/>
            </a:solidFill>
            <a:prstDash val="solid"/>
            <a:round/>
            <a:headEnd type="none" w="lg" len="lg"/>
            <a:tailEnd type="none" w="lg" len="lg"/>
          </a:ln>
        </p:spPr>
      </p:cxnSp>
      <p:cxnSp>
        <p:nvCxnSpPr>
          <p:cNvPr id="235" name="Shape 235"/>
          <p:cNvCxnSpPr>
            <a:endCxn id="233" idx="2"/>
          </p:cNvCxnSpPr>
          <p:nvPr/>
        </p:nvCxnSpPr>
        <p:spPr>
          <a:xfrm>
            <a:off x="3288650" y="3109999"/>
            <a:ext cx="1470000" cy="316400"/>
          </a:xfrm>
          <a:prstGeom prst="straightConnector1">
            <a:avLst/>
          </a:prstGeom>
          <a:noFill/>
          <a:ln w="19050" cap="flat" cmpd="sng">
            <a:solidFill>
              <a:srgbClr val="000000"/>
            </a:solidFill>
            <a:prstDash val="solid"/>
            <a:round/>
            <a:headEnd type="none" w="lg" len="lg"/>
            <a:tailEnd type="none" w="lg" len="lg"/>
          </a:ln>
        </p:spPr>
      </p:cxnSp>
      <p:cxnSp>
        <p:nvCxnSpPr>
          <p:cNvPr id="236" name="Shape 236"/>
          <p:cNvCxnSpPr>
            <a:endCxn id="233" idx="2"/>
          </p:cNvCxnSpPr>
          <p:nvPr/>
        </p:nvCxnSpPr>
        <p:spPr>
          <a:xfrm>
            <a:off x="3424850" y="2910799"/>
            <a:ext cx="1333800" cy="515600"/>
          </a:xfrm>
          <a:prstGeom prst="straightConnector1">
            <a:avLst/>
          </a:prstGeom>
          <a:noFill/>
          <a:ln w="19050" cap="flat" cmpd="sng">
            <a:solidFill>
              <a:srgbClr val="000000"/>
            </a:solidFill>
            <a:prstDash val="solid"/>
            <a:round/>
            <a:headEnd type="none" w="lg" len="lg"/>
            <a:tailEnd type="none" w="lg" len="lg"/>
          </a:ln>
        </p:spPr>
      </p:cxnSp>
      <p:cxnSp>
        <p:nvCxnSpPr>
          <p:cNvPr id="237" name="Shape 237"/>
          <p:cNvCxnSpPr>
            <a:endCxn id="233" idx="2"/>
          </p:cNvCxnSpPr>
          <p:nvPr/>
        </p:nvCxnSpPr>
        <p:spPr>
          <a:xfrm rot="10800000" flipH="1">
            <a:off x="3450950" y="3426399"/>
            <a:ext cx="1307700" cy="332800"/>
          </a:xfrm>
          <a:prstGeom prst="straightConnector1">
            <a:avLst/>
          </a:prstGeom>
          <a:noFill/>
          <a:ln w="19050" cap="flat" cmpd="sng">
            <a:solidFill>
              <a:srgbClr val="000000"/>
            </a:solidFill>
            <a:prstDash val="solid"/>
            <a:round/>
            <a:headEnd type="none" w="lg" len="lg"/>
            <a:tailEnd type="none" w="lg" len="lg"/>
          </a:ln>
        </p:spPr>
      </p:cxnSp>
      <p:sp>
        <p:nvSpPr>
          <p:cNvPr id="238" name="Shape 238"/>
          <p:cNvSpPr txBox="1"/>
          <p:nvPr/>
        </p:nvSpPr>
        <p:spPr>
          <a:xfrm>
            <a:off x="3358500" y="4654467"/>
            <a:ext cx="491700" cy="412800"/>
          </a:xfrm>
          <a:prstGeom prst="rect">
            <a:avLst/>
          </a:prstGeom>
          <a:noFill/>
          <a:ln>
            <a:noFill/>
          </a:ln>
        </p:spPr>
        <p:txBody>
          <a:bodyPr lIns="91425" tIns="91425" rIns="91425" bIns="91425" anchor="t" anchorCtr="0">
            <a:noAutofit/>
          </a:bodyPr>
          <a:lstStyle/>
          <a:p>
            <a:r>
              <a:rPr lang="en"/>
              <a:t>32</a:t>
            </a:r>
          </a:p>
        </p:txBody>
      </p:sp>
      <p:sp>
        <p:nvSpPr>
          <p:cNvPr id="239" name="Shape 239"/>
          <p:cNvSpPr txBox="1"/>
          <p:nvPr/>
        </p:nvSpPr>
        <p:spPr>
          <a:xfrm>
            <a:off x="3722800" y="1890235"/>
            <a:ext cx="491700" cy="376399"/>
          </a:xfrm>
          <a:prstGeom prst="rect">
            <a:avLst/>
          </a:prstGeom>
          <a:noFill/>
          <a:ln>
            <a:noFill/>
          </a:ln>
        </p:spPr>
        <p:txBody>
          <a:bodyPr lIns="91425" tIns="91425" rIns="91425" bIns="91425" anchor="t" anchorCtr="0">
            <a:noAutofit/>
          </a:bodyPr>
          <a:lstStyle/>
          <a:p>
            <a:r>
              <a:rPr lang="en"/>
              <a:t>32</a:t>
            </a:r>
          </a:p>
        </p:txBody>
      </p:sp>
      <p:sp>
        <p:nvSpPr>
          <p:cNvPr id="240" name="Shape 240"/>
          <p:cNvSpPr txBox="1"/>
          <p:nvPr/>
        </p:nvSpPr>
        <p:spPr>
          <a:xfrm>
            <a:off x="2687887" y="5176644"/>
            <a:ext cx="491700" cy="242799"/>
          </a:xfrm>
          <a:prstGeom prst="rect">
            <a:avLst/>
          </a:prstGeom>
          <a:noFill/>
          <a:ln>
            <a:noFill/>
          </a:ln>
        </p:spPr>
        <p:txBody>
          <a:bodyPr lIns="91425" tIns="91425" rIns="91425" bIns="91425" anchor="t" anchorCtr="0">
            <a:noAutofit/>
          </a:bodyPr>
          <a:lstStyle/>
          <a:p>
            <a:r>
              <a:rPr lang="en"/>
              <a:t>3</a:t>
            </a:r>
          </a:p>
        </p:txBody>
      </p:sp>
      <p:sp>
        <p:nvSpPr>
          <p:cNvPr id="241" name="Shape 241"/>
          <p:cNvSpPr txBox="1"/>
          <p:nvPr/>
        </p:nvSpPr>
        <p:spPr>
          <a:xfrm>
            <a:off x="1644875" y="93268"/>
            <a:ext cx="7701900" cy="840399"/>
          </a:xfrm>
          <a:prstGeom prst="rect">
            <a:avLst/>
          </a:prstGeom>
          <a:noFill/>
          <a:ln>
            <a:noFill/>
          </a:ln>
        </p:spPr>
        <p:txBody>
          <a:bodyPr lIns="91425" tIns="91425" rIns="91425" bIns="91425" anchor="t" anchorCtr="0">
            <a:noAutofit/>
          </a:bodyPr>
          <a:lstStyle/>
          <a:p>
            <a:r>
              <a:rPr lang="en" sz="3000" dirty="0"/>
              <a:t>Convolutional Layer</a:t>
            </a:r>
          </a:p>
        </p:txBody>
      </p:sp>
      <p:sp>
        <p:nvSpPr>
          <p:cNvPr id="242" name="Shape 242"/>
          <p:cNvSpPr txBox="1"/>
          <p:nvPr/>
        </p:nvSpPr>
        <p:spPr>
          <a:xfrm>
            <a:off x="5003727" y="1024633"/>
            <a:ext cx="3635099" cy="736800"/>
          </a:xfrm>
          <a:prstGeom prst="rect">
            <a:avLst/>
          </a:prstGeom>
          <a:noFill/>
          <a:ln>
            <a:noFill/>
          </a:ln>
        </p:spPr>
        <p:txBody>
          <a:bodyPr lIns="91425" tIns="91425" rIns="91425" bIns="91425" anchor="t" anchorCtr="0">
            <a:noAutofit/>
          </a:bodyPr>
          <a:lstStyle/>
          <a:p>
            <a:r>
              <a:rPr lang="en" sz="2400">
                <a:solidFill>
                  <a:srgbClr val="FF0000"/>
                </a:solidFill>
              </a:rPr>
              <a:t>32x32x3 image</a:t>
            </a:r>
          </a:p>
          <a:p>
            <a:r>
              <a:rPr lang="en" sz="2400">
                <a:solidFill>
                  <a:srgbClr val="38761D"/>
                </a:solidFill>
              </a:rPr>
              <a:t>5x5x3 filter</a:t>
            </a:r>
          </a:p>
        </p:txBody>
      </p:sp>
      <p:cxnSp>
        <p:nvCxnSpPr>
          <p:cNvPr id="243" name="Shape 243"/>
          <p:cNvCxnSpPr/>
          <p:nvPr/>
        </p:nvCxnSpPr>
        <p:spPr>
          <a:xfrm flipH="1">
            <a:off x="3872652" y="1347002"/>
            <a:ext cx="984299" cy="310799"/>
          </a:xfrm>
          <a:prstGeom prst="straightConnector1">
            <a:avLst/>
          </a:prstGeom>
          <a:noFill/>
          <a:ln w="9525" cap="flat" cmpd="sng">
            <a:solidFill>
              <a:srgbClr val="FF0000"/>
            </a:solidFill>
            <a:prstDash val="solid"/>
            <a:round/>
            <a:headEnd type="none" w="lg" len="lg"/>
            <a:tailEnd type="triangle" w="lg" len="lg"/>
          </a:ln>
        </p:spPr>
      </p:cxnSp>
      <p:cxnSp>
        <p:nvCxnSpPr>
          <p:cNvPr id="244" name="Shape 244"/>
          <p:cNvCxnSpPr/>
          <p:nvPr/>
        </p:nvCxnSpPr>
        <p:spPr>
          <a:xfrm flipH="1">
            <a:off x="3561649" y="1991702"/>
            <a:ext cx="1398900" cy="725199"/>
          </a:xfrm>
          <a:prstGeom prst="straightConnector1">
            <a:avLst/>
          </a:prstGeom>
          <a:noFill/>
          <a:ln w="9525" cap="flat" cmpd="sng">
            <a:solidFill>
              <a:srgbClr val="38761D"/>
            </a:solidFill>
            <a:prstDash val="solid"/>
            <a:round/>
            <a:headEnd type="none" w="lg" len="lg"/>
            <a:tailEnd type="triangle" w="lg" len="lg"/>
          </a:ln>
        </p:spPr>
      </p:cxnSp>
      <p:cxnSp>
        <p:nvCxnSpPr>
          <p:cNvPr id="245" name="Shape 245"/>
          <p:cNvCxnSpPr/>
          <p:nvPr/>
        </p:nvCxnSpPr>
        <p:spPr>
          <a:xfrm>
            <a:off x="5495900" y="3430800"/>
            <a:ext cx="2365800" cy="0"/>
          </a:xfrm>
          <a:prstGeom prst="straightConnector1">
            <a:avLst/>
          </a:prstGeom>
          <a:noFill/>
          <a:ln w="9525" cap="flat" cmpd="sng">
            <a:solidFill>
              <a:schemeClr val="dk2"/>
            </a:solidFill>
            <a:prstDash val="solid"/>
            <a:round/>
            <a:headEnd type="none" w="lg" len="lg"/>
            <a:tailEnd type="triangle" w="lg" len="lg"/>
          </a:ln>
        </p:spPr>
      </p:cxnSp>
      <p:sp>
        <p:nvSpPr>
          <p:cNvPr id="246" name="Shape 246"/>
          <p:cNvSpPr txBox="1"/>
          <p:nvPr/>
        </p:nvSpPr>
        <p:spPr>
          <a:xfrm>
            <a:off x="5366425" y="3614601"/>
            <a:ext cx="3272400" cy="1085199"/>
          </a:xfrm>
          <a:prstGeom prst="rect">
            <a:avLst/>
          </a:prstGeom>
          <a:noFill/>
          <a:ln>
            <a:noFill/>
          </a:ln>
        </p:spPr>
        <p:txBody>
          <a:bodyPr lIns="91425" tIns="91425" rIns="91425" bIns="91425" anchor="t" anchorCtr="0">
            <a:noAutofit/>
          </a:bodyPr>
          <a:lstStyle/>
          <a:p>
            <a:r>
              <a:rPr lang="en"/>
              <a:t>convolve (slide) over all spatial locations</a:t>
            </a:r>
          </a:p>
        </p:txBody>
      </p:sp>
      <p:sp>
        <p:nvSpPr>
          <p:cNvPr id="247" name="Shape 247"/>
          <p:cNvSpPr/>
          <p:nvPr/>
        </p:nvSpPr>
        <p:spPr>
          <a:xfrm>
            <a:off x="8976928" y="1587800"/>
            <a:ext cx="956400" cy="3677200"/>
          </a:xfrm>
          <a:prstGeom prst="cube">
            <a:avLst>
              <a:gd name="adj" fmla="val 90357"/>
            </a:avLst>
          </a:prstGeom>
          <a:solidFill>
            <a:srgbClr val="D9EAD3"/>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48" name="Shape 248"/>
          <p:cNvSpPr txBox="1"/>
          <p:nvPr/>
        </p:nvSpPr>
        <p:spPr>
          <a:xfrm>
            <a:off x="8573902" y="1003035"/>
            <a:ext cx="2063399" cy="725199"/>
          </a:xfrm>
          <a:prstGeom prst="rect">
            <a:avLst/>
          </a:prstGeom>
          <a:noFill/>
          <a:ln>
            <a:noFill/>
          </a:ln>
        </p:spPr>
        <p:txBody>
          <a:bodyPr lIns="91425" tIns="91425" rIns="91425" bIns="91425" anchor="t" anchorCtr="0">
            <a:noAutofit/>
          </a:bodyPr>
          <a:lstStyle/>
          <a:p>
            <a:r>
              <a:rPr lang="en" b="1"/>
              <a:t>activation maps</a:t>
            </a:r>
          </a:p>
        </p:txBody>
      </p:sp>
      <p:sp>
        <p:nvSpPr>
          <p:cNvPr id="249" name="Shape 249"/>
          <p:cNvSpPr txBox="1"/>
          <p:nvPr/>
        </p:nvSpPr>
        <p:spPr>
          <a:xfrm>
            <a:off x="8861423" y="5205772"/>
            <a:ext cx="328199" cy="412800"/>
          </a:xfrm>
          <a:prstGeom prst="rect">
            <a:avLst/>
          </a:prstGeom>
          <a:noFill/>
          <a:ln>
            <a:noFill/>
          </a:ln>
        </p:spPr>
        <p:txBody>
          <a:bodyPr lIns="91425" tIns="91425" rIns="91425" bIns="91425" anchor="t" anchorCtr="0">
            <a:noAutofit/>
          </a:bodyPr>
          <a:lstStyle/>
          <a:p>
            <a:r>
              <a:rPr lang="en"/>
              <a:t>1</a:t>
            </a:r>
          </a:p>
        </p:txBody>
      </p:sp>
      <p:sp>
        <p:nvSpPr>
          <p:cNvPr id="250" name="Shape 250"/>
          <p:cNvSpPr txBox="1"/>
          <p:nvPr/>
        </p:nvSpPr>
        <p:spPr>
          <a:xfrm>
            <a:off x="9528930" y="4598200"/>
            <a:ext cx="491700" cy="412800"/>
          </a:xfrm>
          <a:prstGeom prst="rect">
            <a:avLst/>
          </a:prstGeom>
          <a:noFill/>
          <a:ln>
            <a:noFill/>
          </a:ln>
        </p:spPr>
        <p:txBody>
          <a:bodyPr lIns="91425" tIns="91425" rIns="91425" bIns="91425" anchor="t" anchorCtr="0">
            <a:noAutofit/>
          </a:bodyPr>
          <a:lstStyle/>
          <a:p>
            <a:r>
              <a:rPr lang="en"/>
              <a:t>28</a:t>
            </a:r>
          </a:p>
        </p:txBody>
      </p:sp>
      <p:sp>
        <p:nvSpPr>
          <p:cNvPr id="251" name="Shape 251"/>
          <p:cNvSpPr txBox="1"/>
          <p:nvPr/>
        </p:nvSpPr>
        <p:spPr>
          <a:xfrm>
            <a:off x="9933330" y="2716883"/>
            <a:ext cx="491700" cy="412800"/>
          </a:xfrm>
          <a:prstGeom prst="rect">
            <a:avLst/>
          </a:prstGeom>
          <a:noFill/>
          <a:ln>
            <a:noFill/>
          </a:ln>
        </p:spPr>
        <p:txBody>
          <a:bodyPr lIns="91425" tIns="91425" rIns="91425" bIns="91425" anchor="t" anchorCtr="0">
            <a:noAutofit/>
          </a:bodyPr>
          <a:lstStyle/>
          <a:p>
            <a:r>
              <a:rPr lang="en"/>
              <a:t>28</a:t>
            </a:r>
          </a:p>
        </p:txBody>
      </p:sp>
      <p:sp>
        <p:nvSpPr>
          <p:cNvPr id="252" name="Shape 252"/>
          <p:cNvSpPr/>
          <p:nvPr/>
        </p:nvSpPr>
        <p:spPr>
          <a:xfrm>
            <a:off x="2745875" y="1587800"/>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53" name="Shape 253"/>
          <p:cNvSpPr txBox="1"/>
          <p:nvPr/>
        </p:nvSpPr>
        <p:spPr>
          <a:xfrm>
            <a:off x="5573302" y="153909"/>
            <a:ext cx="5063999" cy="376399"/>
          </a:xfrm>
          <a:prstGeom prst="rect">
            <a:avLst/>
          </a:prstGeom>
          <a:noFill/>
          <a:ln>
            <a:noFill/>
          </a:ln>
        </p:spPr>
        <p:txBody>
          <a:bodyPr lIns="91425" tIns="91425" rIns="91425" bIns="91425" anchor="t" anchorCtr="0">
            <a:noAutofit/>
          </a:bodyPr>
          <a:lstStyle/>
          <a:p>
            <a:r>
              <a:rPr lang="en" sz="2400" dirty="0"/>
              <a:t>consider a second, </a:t>
            </a:r>
            <a:r>
              <a:rPr lang="en" sz="2400" dirty="0">
                <a:solidFill>
                  <a:srgbClr val="38761D"/>
                </a:solidFill>
              </a:rPr>
              <a:t>green </a:t>
            </a:r>
            <a:r>
              <a:rPr lang="en" sz="2400" dirty="0"/>
              <a:t>filter</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58</a:t>
            </a:fld>
            <a:endParaRPr lang="en-US" dirty="0">
              <a:solidFill>
                <a:prstClr val="white"/>
              </a:solidFill>
              <a:latin typeface="Calibri"/>
            </a:endParaRPr>
          </a:p>
        </p:txBody>
      </p:sp>
    </p:spTree>
    <p:extLst>
      <p:ext uri="{BB962C8B-B14F-4D97-AF65-F5344CB8AC3E}">
        <p14:creationId xmlns:p14="http://schemas.microsoft.com/office/powerpoint/2010/main" val="3365860386"/>
      </p:ext>
    </p:extLst>
  </p:cSld>
  <p:clrMapOvr>
    <a:masterClrMapping/>
  </p:clrMapOvr>
  <p:transition spd="slow">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Shape 258"/>
          <p:cNvSpPr/>
          <p:nvPr/>
        </p:nvSpPr>
        <p:spPr>
          <a:xfrm>
            <a:off x="2745875" y="1283000"/>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59" name="Shape 259"/>
          <p:cNvSpPr/>
          <p:nvPr/>
        </p:nvSpPr>
        <p:spPr>
          <a:xfrm>
            <a:off x="7227350" y="1283000"/>
            <a:ext cx="956400" cy="3677200"/>
          </a:xfrm>
          <a:prstGeom prst="cube">
            <a:avLst>
              <a:gd name="adj" fmla="val 90357"/>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61" name="Shape 261"/>
          <p:cNvSpPr txBox="1"/>
          <p:nvPr/>
        </p:nvSpPr>
        <p:spPr>
          <a:xfrm>
            <a:off x="3358500" y="4349667"/>
            <a:ext cx="491700" cy="412800"/>
          </a:xfrm>
          <a:prstGeom prst="rect">
            <a:avLst/>
          </a:prstGeom>
          <a:noFill/>
          <a:ln>
            <a:noFill/>
          </a:ln>
        </p:spPr>
        <p:txBody>
          <a:bodyPr lIns="91425" tIns="91425" rIns="91425" bIns="91425" anchor="t" anchorCtr="0">
            <a:noAutofit/>
          </a:bodyPr>
          <a:lstStyle/>
          <a:p>
            <a:r>
              <a:rPr lang="en"/>
              <a:t>32</a:t>
            </a:r>
          </a:p>
        </p:txBody>
      </p:sp>
      <p:sp>
        <p:nvSpPr>
          <p:cNvPr id="262" name="Shape 262"/>
          <p:cNvSpPr txBox="1"/>
          <p:nvPr/>
        </p:nvSpPr>
        <p:spPr>
          <a:xfrm>
            <a:off x="3722800" y="1585435"/>
            <a:ext cx="491700" cy="376399"/>
          </a:xfrm>
          <a:prstGeom prst="rect">
            <a:avLst/>
          </a:prstGeom>
          <a:noFill/>
          <a:ln>
            <a:noFill/>
          </a:ln>
        </p:spPr>
        <p:txBody>
          <a:bodyPr lIns="91425" tIns="91425" rIns="91425" bIns="91425" anchor="t" anchorCtr="0">
            <a:noAutofit/>
          </a:bodyPr>
          <a:lstStyle/>
          <a:p>
            <a:r>
              <a:rPr lang="en"/>
              <a:t>32</a:t>
            </a:r>
          </a:p>
        </p:txBody>
      </p:sp>
      <p:sp>
        <p:nvSpPr>
          <p:cNvPr id="263" name="Shape 263"/>
          <p:cNvSpPr txBox="1"/>
          <p:nvPr/>
        </p:nvSpPr>
        <p:spPr>
          <a:xfrm>
            <a:off x="2687887" y="4871844"/>
            <a:ext cx="491700" cy="242799"/>
          </a:xfrm>
          <a:prstGeom prst="rect">
            <a:avLst/>
          </a:prstGeom>
          <a:noFill/>
          <a:ln>
            <a:noFill/>
          </a:ln>
        </p:spPr>
        <p:txBody>
          <a:bodyPr lIns="91425" tIns="91425" rIns="91425" bIns="91425" anchor="t" anchorCtr="0">
            <a:noAutofit/>
          </a:bodyPr>
          <a:lstStyle/>
          <a:p>
            <a:r>
              <a:rPr lang="en"/>
              <a:t>3</a:t>
            </a:r>
          </a:p>
        </p:txBody>
      </p:sp>
      <p:cxnSp>
        <p:nvCxnSpPr>
          <p:cNvPr id="264" name="Shape 264"/>
          <p:cNvCxnSpPr/>
          <p:nvPr/>
        </p:nvCxnSpPr>
        <p:spPr>
          <a:xfrm>
            <a:off x="4352900" y="3126000"/>
            <a:ext cx="2365800" cy="0"/>
          </a:xfrm>
          <a:prstGeom prst="straightConnector1">
            <a:avLst/>
          </a:prstGeom>
          <a:noFill/>
          <a:ln w="9525" cap="flat" cmpd="sng">
            <a:solidFill>
              <a:schemeClr val="dk2"/>
            </a:solidFill>
            <a:prstDash val="solid"/>
            <a:round/>
            <a:headEnd type="none" w="lg" len="lg"/>
            <a:tailEnd type="triangle" w="lg" len="lg"/>
          </a:ln>
        </p:spPr>
      </p:cxnSp>
      <p:sp>
        <p:nvSpPr>
          <p:cNvPr id="265" name="Shape 265"/>
          <p:cNvSpPr txBox="1"/>
          <p:nvPr/>
        </p:nvSpPr>
        <p:spPr>
          <a:xfrm>
            <a:off x="4375825" y="3106601"/>
            <a:ext cx="3272400" cy="1085199"/>
          </a:xfrm>
          <a:prstGeom prst="rect">
            <a:avLst/>
          </a:prstGeom>
          <a:noFill/>
          <a:ln>
            <a:noFill/>
          </a:ln>
        </p:spPr>
        <p:txBody>
          <a:bodyPr lIns="91425" tIns="91425" rIns="91425" bIns="91425" anchor="t" anchorCtr="0">
            <a:noAutofit/>
          </a:bodyPr>
          <a:lstStyle/>
          <a:p>
            <a:r>
              <a:rPr lang="en"/>
              <a:t>Convolution Layer</a:t>
            </a:r>
          </a:p>
        </p:txBody>
      </p:sp>
      <p:sp>
        <p:nvSpPr>
          <p:cNvPr id="266" name="Shape 266"/>
          <p:cNvSpPr/>
          <p:nvPr/>
        </p:nvSpPr>
        <p:spPr>
          <a:xfrm>
            <a:off x="7376727" y="1283000"/>
            <a:ext cx="956400" cy="3677200"/>
          </a:xfrm>
          <a:prstGeom prst="cube">
            <a:avLst>
              <a:gd name="adj" fmla="val 90357"/>
            </a:avLst>
          </a:prstGeom>
          <a:solidFill>
            <a:srgbClr val="D9EAD3"/>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67" name="Shape 267"/>
          <p:cNvSpPr txBox="1"/>
          <p:nvPr/>
        </p:nvSpPr>
        <p:spPr>
          <a:xfrm>
            <a:off x="7354702" y="698235"/>
            <a:ext cx="2063399" cy="725199"/>
          </a:xfrm>
          <a:prstGeom prst="rect">
            <a:avLst/>
          </a:prstGeom>
          <a:noFill/>
          <a:ln>
            <a:noFill/>
          </a:ln>
        </p:spPr>
        <p:txBody>
          <a:bodyPr lIns="91425" tIns="91425" rIns="91425" bIns="91425" anchor="t" anchorCtr="0">
            <a:noAutofit/>
          </a:bodyPr>
          <a:lstStyle/>
          <a:p>
            <a:r>
              <a:rPr lang="en" b="1"/>
              <a:t>activation maps</a:t>
            </a:r>
          </a:p>
        </p:txBody>
      </p:sp>
      <p:sp>
        <p:nvSpPr>
          <p:cNvPr id="268" name="Shape 268"/>
          <p:cNvSpPr txBox="1"/>
          <p:nvPr/>
        </p:nvSpPr>
        <p:spPr>
          <a:xfrm>
            <a:off x="7489823" y="4900972"/>
            <a:ext cx="328199" cy="412800"/>
          </a:xfrm>
          <a:prstGeom prst="rect">
            <a:avLst/>
          </a:prstGeom>
          <a:noFill/>
          <a:ln>
            <a:noFill/>
          </a:ln>
        </p:spPr>
        <p:txBody>
          <a:bodyPr lIns="91425" tIns="91425" rIns="91425" bIns="91425" anchor="t" anchorCtr="0">
            <a:noAutofit/>
          </a:bodyPr>
          <a:lstStyle/>
          <a:p>
            <a:r>
              <a:rPr lang="en"/>
              <a:t>6</a:t>
            </a:r>
          </a:p>
        </p:txBody>
      </p:sp>
      <p:sp>
        <p:nvSpPr>
          <p:cNvPr id="269" name="Shape 269"/>
          <p:cNvSpPr txBox="1"/>
          <p:nvPr/>
        </p:nvSpPr>
        <p:spPr>
          <a:xfrm>
            <a:off x="8545405" y="4319033"/>
            <a:ext cx="491700" cy="412800"/>
          </a:xfrm>
          <a:prstGeom prst="rect">
            <a:avLst/>
          </a:prstGeom>
          <a:noFill/>
          <a:ln>
            <a:noFill/>
          </a:ln>
        </p:spPr>
        <p:txBody>
          <a:bodyPr lIns="91425" tIns="91425" rIns="91425" bIns="91425" anchor="t" anchorCtr="0">
            <a:noAutofit/>
          </a:bodyPr>
          <a:lstStyle/>
          <a:p>
            <a:r>
              <a:rPr lang="en"/>
              <a:t>28</a:t>
            </a:r>
          </a:p>
        </p:txBody>
      </p:sp>
      <p:sp>
        <p:nvSpPr>
          <p:cNvPr id="270" name="Shape 270"/>
          <p:cNvSpPr txBox="1"/>
          <p:nvPr/>
        </p:nvSpPr>
        <p:spPr>
          <a:xfrm>
            <a:off x="9037105" y="2211949"/>
            <a:ext cx="491700" cy="412800"/>
          </a:xfrm>
          <a:prstGeom prst="rect">
            <a:avLst/>
          </a:prstGeom>
          <a:noFill/>
          <a:ln>
            <a:noFill/>
          </a:ln>
        </p:spPr>
        <p:txBody>
          <a:bodyPr lIns="91425" tIns="91425" rIns="91425" bIns="91425" anchor="t" anchorCtr="0">
            <a:noAutofit/>
          </a:bodyPr>
          <a:lstStyle/>
          <a:p>
            <a:r>
              <a:rPr lang="en"/>
              <a:t>28</a:t>
            </a:r>
          </a:p>
        </p:txBody>
      </p:sp>
      <p:sp>
        <p:nvSpPr>
          <p:cNvPr id="271" name="Shape 271"/>
          <p:cNvSpPr txBox="1"/>
          <p:nvPr/>
        </p:nvSpPr>
        <p:spPr>
          <a:xfrm>
            <a:off x="1800325" y="126633"/>
            <a:ext cx="8721000" cy="515600"/>
          </a:xfrm>
          <a:prstGeom prst="rect">
            <a:avLst/>
          </a:prstGeom>
          <a:noFill/>
          <a:ln>
            <a:noFill/>
          </a:ln>
        </p:spPr>
        <p:txBody>
          <a:bodyPr lIns="91425" tIns="91425" rIns="91425" bIns="91425" anchor="t" anchorCtr="0">
            <a:noAutofit/>
          </a:bodyPr>
          <a:lstStyle/>
          <a:p>
            <a:r>
              <a:rPr lang="en" sz="2000" dirty="0"/>
              <a:t>For example, if we had 6 5x5 filters, we’ll get 6 separate activation maps:</a:t>
            </a:r>
          </a:p>
        </p:txBody>
      </p:sp>
      <p:sp>
        <p:nvSpPr>
          <p:cNvPr id="272" name="Shape 272"/>
          <p:cNvSpPr/>
          <p:nvPr/>
        </p:nvSpPr>
        <p:spPr>
          <a:xfrm>
            <a:off x="7529127" y="1283000"/>
            <a:ext cx="956400" cy="3677200"/>
          </a:xfrm>
          <a:prstGeom prst="cube">
            <a:avLst>
              <a:gd name="adj" fmla="val 90357"/>
            </a:avLst>
          </a:prstGeom>
          <a:solidFill>
            <a:srgbClr val="F4CCCC"/>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73" name="Shape 273"/>
          <p:cNvSpPr/>
          <p:nvPr/>
        </p:nvSpPr>
        <p:spPr>
          <a:xfrm>
            <a:off x="7681527" y="1283000"/>
            <a:ext cx="956400" cy="3677200"/>
          </a:xfrm>
          <a:prstGeom prst="cube">
            <a:avLst>
              <a:gd name="adj" fmla="val 90357"/>
            </a:avLst>
          </a:prstGeom>
          <a:solidFill>
            <a:srgbClr val="FFF2CC"/>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74" name="Shape 274"/>
          <p:cNvSpPr/>
          <p:nvPr/>
        </p:nvSpPr>
        <p:spPr>
          <a:xfrm>
            <a:off x="7833927" y="1283000"/>
            <a:ext cx="956400" cy="3677200"/>
          </a:xfrm>
          <a:prstGeom prst="cube">
            <a:avLst>
              <a:gd name="adj" fmla="val 90357"/>
            </a:avLst>
          </a:prstGeom>
          <a:solidFill>
            <a:srgbClr val="D9D2E9"/>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75" name="Shape 275"/>
          <p:cNvSpPr/>
          <p:nvPr/>
        </p:nvSpPr>
        <p:spPr>
          <a:xfrm>
            <a:off x="7986327" y="1283000"/>
            <a:ext cx="956400" cy="3677200"/>
          </a:xfrm>
          <a:prstGeom prst="cube">
            <a:avLst>
              <a:gd name="adj" fmla="val 90357"/>
            </a:avLst>
          </a:prstGeom>
          <a:solidFill>
            <a:srgbClr val="FCE5CD"/>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76" name="Shape 276"/>
          <p:cNvSpPr txBox="1"/>
          <p:nvPr/>
        </p:nvSpPr>
        <p:spPr>
          <a:xfrm>
            <a:off x="2343652" y="5481015"/>
            <a:ext cx="8625899" cy="376399"/>
          </a:xfrm>
          <a:prstGeom prst="rect">
            <a:avLst/>
          </a:prstGeom>
          <a:noFill/>
          <a:ln>
            <a:noFill/>
          </a:ln>
        </p:spPr>
        <p:txBody>
          <a:bodyPr lIns="91425" tIns="91425" rIns="91425" bIns="91425" anchor="t" anchorCtr="0">
            <a:noAutofit/>
          </a:bodyPr>
          <a:lstStyle/>
          <a:p>
            <a:r>
              <a:rPr lang="en" sz="2000"/>
              <a:t>We stack these up to get a “new image” of size 28x28x6!</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59</a:t>
            </a:fld>
            <a:endParaRPr lang="en-US" dirty="0">
              <a:solidFill>
                <a:prstClr val="white"/>
              </a:solidFill>
              <a:latin typeface="Calibri"/>
            </a:endParaRPr>
          </a:p>
        </p:txBody>
      </p:sp>
    </p:spTree>
    <p:extLst>
      <p:ext uri="{BB962C8B-B14F-4D97-AF65-F5344CB8AC3E}">
        <p14:creationId xmlns:p14="http://schemas.microsoft.com/office/powerpoint/2010/main" val="3241675143"/>
      </p:ext>
    </p:extLst>
  </p:cSld>
  <p:clrMapOvr>
    <a:masterClrMapping/>
  </p:clrMapOvr>
  <p:transition spd="slow">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2" name="Shape 282"/>
          <p:cNvSpPr txBox="1"/>
          <p:nvPr/>
        </p:nvSpPr>
        <p:spPr>
          <a:xfrm>
            <a:off x="1829225" y="207235"/>
            <a:ext cx="8548200" cy="1312399"/>
          </a:xfrm>
          <a:prstGeom prst="rect">
            <a:avLst/>
          </a:prstGeom>
          <a:noFill/>
          <a:ln>
            <a:noFill/>
          </a:ln>
        </p:spPr>
        <p:txBody>
          <a:bodyPr lIns="91425" tIns="91425" rIns="91425" bIns="91425" anchor="t" anchorCtr="0">
            <a:noAutofit/>
          </a:bodyPr>
          <a:lstStyle/>
          <a:p>
            <a:r>
              <a:rPr lang="en" b="1"/>
              <a:t>Preview: </a:t>
            </a:r>
            <a:r>
              <a:rPr lang="en"/>
              <a:t>ConvNet is a sequence of Convolution Layers, interspersed with activation functions</a:t>
            </a:r>
          </a:p>
        </p:txBody>
      </p:sp>
      <p:sp>
        <p:nvSpPr>
          <p:cNvPr id="283" name="Shape 283"/>
          <p:cNvSpPr/>
          <p:nvPr/>
        </p:nvSpPr>
        <p:spPr>
          <a:xfrm>
            <a:off x="1701075" y="1501733"/>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84" name="Shape 284"/>
          <p:cNvSpPr txBox="1"/>
          <p:nvPr/>
        </p:nvSpPr>
        <p:spPr>
          <a:xfrm>
            <a:off x="2313700" y="4568400"/>
            <a:ext cx="491700" cy="412800"/>
          </a:xfrm>
          <a:prstGeom prst="rect">
            <a:avLst/>
          </a:prstGeom>
          <a:noFill/>
          <a:ln>
            <a:noFill/>
          </a:ln>
        </p:spPr>
        <p:txBody>
          <a:bodyPr lIns="91425" tIns="91425" rIns="91425" bIns="91425" anchor="t" anchorCtr="0">
            <a:noAutofit/>
          </a:bodyPr>
          <a:lstStyle/>
          <a:p>
            <a:r>
              <a:rPr lang="en"/>
              <a:t>32</a:t>
            </a:r>
          </a:p>
        </p:txBody>
      </p:sp>
      <p:sp>
        <p:nvSpPr>
          <p:cNvPr id="285" name="Shape 285"/>
          <p:cNvSpPr txBox="1"/>
          <p:nvPr/>
        </p:nvSpPr>
        <p:spPr>
          <a:xfrm>
            <a:off x="2678000" y="1804168"/>
            <a:ext cx="491700" cy="376399"/>
          </a:xfrm>
          <a:prstGeom prst="rect">
            <a:avLst/>
          </a:prstGeom>
          <a:noFill/>
          <a:ln>
            <a:noFill/>
          </a:ln>
        </p:spPr>
        <p:txBody>
          <a:bodyPr lIns="91425" tIns="91425" rIns="91425" bIns="91425" anchor="t" anchorCtr="0">
            <a:noAutofit/>
          </a:bodyPr>
          <a:lstStyle/>
          <a:p>
            <a:r>
              <a:rPr lang="en"/>
              <a:t>32</a:t>
            </a:r>
          </a:p>
        </p:txBody>
      </p:sp>
      <p:sp>
        <p:nvSpPr>
          <p:cNvPr id="286" name="Shape 286"/>
          <p:cNvSpPr txBox="1"/>
          <p:nvPr/>
        </p:nvSpPr>
        <p:spPr>
          <a:xfrm>
            <a:off x="1643087" y="5090578"/>
            <a:ext cx="491700" cy="242799"/>
          </a:xfrm>
          <a:prstGeom prst="rect">
            <a:avLst/>
          </a:prstGeom>
          <a:noFill/>
          <a:ln>
            <a:noFill/>
          </a:ln>
        </p:spPr>
        <p:txBody>
          <a:bodyPr lIns="91425" tIns="91425" rIns="91425" bIns="91425" anchor="t" anchorCtr="0">
            <a:noAutofit/>
          </a:bodyPr>
          <a:lstStyle/>
          <a:p>
            <a:r>
              <a:rPr lang="en"/>
              <a:t>3</a:t>
            </a:r>
          </a:p>
        </p:txBody>
      </p:sp>
      <p:cxnSp>
        <p:nvCxnSpPr>
          <p:cNvPr id="287" name="Shape 287"/>
          <p:cNvCxnSpPr/>
          <p:nvPr/>
        </p:nvCxnSpPr>
        <p:spPr>
          <a:xfrm>
            <a:off x="3005877" y="3206600"/>
            <a:ext cx="987599" cy="0"/>
          </a:xfrm>
          <a:prstGeom prst="straightConnector1">
            <a:avLst/>
          </a:prstGeom>
          <a:noFill/>
          <a:ln w="9525" cap="flat" cmpd="sng">
            <a:solidFill>
              <a:schemeClr val="dk2"/>
            </a:solidFill>
            <a:prstDash val="solid"/>
            <a:round/>
            <a:headEnd type="none" w="lg" len="lg"/>
            <a:tailEnd type="triangle" w="lg" len="lg"/>
          </a:ln>
        </p:spPr>
      </p:cxnSp>
      <p:sp>
        <p:nvSpPr>
          <p:cNvPr id="288" name="Shape 288"/>
          <p:cNvSpPr/>
          <p:nvPr/>
        </p:nvSpPr>
        <p:spPr>
          <a:xfrm>
            <a:off x="4215675" y="1501733"/>
            <a:ext cx="956400" cy="3677200"/>
          </a:xfrm>
          <a:prstGeom prst="cube">
            <a:avLst>
              <a:gd name="adj" fmla="val 77711"/>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89" name="Shape 289"/>
          <p:cNvSpPr txBox="1"/>
          <p:nvPr/>
        </p:nvSpPr>
        <p:spPr>
          <a:xfrm>
            <a:off x="4828300" y="4568400"/>
            <a:ext cx="491700" cy="412800"/>
          </a:xfrm>
          <a:prstGeom prst="rect">
            <a:avLst/>
          </a:prstGeom>
          <a:noFill/>
          <a:ln>
            <a:noFill/>
          </a:ln>
        </p:spPr>
        <p:txBody>
          <a:bodyPr lIns="91425" tIns="91425" rIns="91425" bIns="91425" anchor="t" anchorCtr="0">
            <a:noAutofit/>
          </a:bodyPr>
          <a:lstStyle/>
          <a:p>
            <a:r>
              <a:rPr lang="en"/>
              <a:t>28</a:t>
            </a:r>
          </a:p>
        </p:txBody>
      </p:sp>
      <p:sp>
        <p:nvSpPr>
          <p:cNvPr id="290" name="Shape 290"/>
          <p:cNvSpPr txBox="1"/>
          <p:nvPr/>
        </p:nvSpPr>
        <p:spPr>
          <a:xfrm>
            <a:off x="5192600" y="1804168"/>
            <a:ext cx="491700" cy="376399"/>
          </a:xfrm>
          <a:prstGeom prst="rect">
            <a:avLst/>
          </a:prstGeom>
          <a:noFill/>
          <a:ln>
            <a:noFill/>
          </a:ln>
        </p:spPr>
        <p:txBody>
          <a:bodyPr lIns="91425" tIns="91425" rIns="91425" bIns="91425" anchor="t" anchorCtr="0">
            <a:noAutofit/>
          </a:bodyPr>
          <a:lstStyle/>
          <a:p>
            <a:r>
              <a:rPr lang="en"/>
              <a:t>28</a:t>
            </a:r>
          </a:p>
        </p:txBody>
      </p:sp>
      <p:sp>
        <p:nvSpPr>
          <p:cNvPr id="291" name="Shape 291"/>
          <p:cNvSpPr txBox="1"/>
          <p:nvPr/>
        </p:nvSpPr>
        <p:spPr>
          <a:xfrm>
            <a:off x="4157687" y="5090578"/>
            <a:ext cx="491700" cy="242799"/>
          </a:xfrm>
          <a:prstGeom prst="rect">
            <a:avLst/>
          </a:prstGeom>
          <a:noFill/>
          <a:ln>
            <a:noFill/>
          </a:ln>
        </p:spPr>
        <p:txBody>
          <a:bodyPr lIns="91425" tIns="91425" rIns="91425" bIns="91425" anchor="t" anchorCtr="0">
            <a:noAutofit/>
          </a:bodyPr>
          <a:lstStyle/>
          <a:p>
            <a:r>
              <a:rPr lang="en"/>
              <a:t>6</a:t>
            </a:r>
          </a:p>
        </p:txBody>
      </p:sp>
      <p:sp>
        <p:nvSpPr>
          <p:cNvPr id="292" name="Shape 292"/>
          <p:cNvSpPr txBox="1"/>
          <p:nvPr/>
        </p:nvSpPr>
        <p:spPr>
          <a:xfrm>
            <a:off x="3045202" y="3225600"/>
            <a:ext cx="987599" cy="524800"/>
          </a:xfrm>
          <a:prstGeom prst="rect">
            <a:avLst/>
          </a:prstGeom>
          <a:noFill/>
          <a:ln>
            <a:noFill/>
          </a:ln>
        </p:spPr>
        <p:txBody>
          <a:bodyPr lIns="91425" tIns="91425" rIns="91425" bIns="91425" anchor="t" anchorCtr="0">
            <a:noAutofit/>
          </a:bodyPr>
          <a:lstStyle/>
          <a:p>
            <a:r>
              <a:rPr lang="en"/>
              <a:t>CONV,</a:t>
            </a:r>
          </a:p>
          <a:p>
            <a:r>
              <a:rPr lang="en"/>
              <a:t>ReLU</a:t>
            </a:r>
          </a:p>
          <a:p>
            <a:r>
              <a:rPr lang="en">
                <a:solidFill>
                  <a:srgbClr val="0000FF"/>
                </a:solidFill>
              </a:rPr>
              <a:t>e.g. 6 5x5x3 filters</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60</a:t>
            </a:fld>
            <a:endParaRPr lang="en-US" dirty="0">
              <a:solidFill>
                <a:prstClr val="white"/>
              </a:solidFill>
              <a:latin typeface="Calibri"/>
            </a:endParaRPr>
          </a:p>
        </p:txBody>
      </p:sp>
    </p:spTree>
    <p:extLst>
      <p:ext uri="{BB962C8B-B14F-4D97-AF65-F5344CB8AC3E}">
        <p14:creationId xmlns:p14="http://schemas.microsoft.com/office/powerpoint/2010/main" val="1323412792"/>
      </p:ext>
    </p:extLst>
  </p:cSld>
  <p:clrMapOvr>
    <a:masterClrMapping/>
  </p:clrMapOvr>
  <p:transition spd="slow">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8" name="Shape 298"/>
          <p:cNvSpPr txBox="1"/>
          <p:nvPr/>
        </p:nvSpPr>
        <p:spPr>
          <a:xfrm>
            <a:off x="1829225" y="207235"/>
            <a:ext cx="8548200" cy="1312399"/>
          </a:xfrm>
          <a:prstGeom prst="rect">
            <a:avLst/>
          </a:prstGeom>
          <a:noFill/>
          <a:ln>
            <a:noFill/>
          </a:ln>
        </p:spPr>
        <p:txBody>
          <a:bodyPr lIns="91425" tIns="91425" rIns="91425" bIns="91425" anchor="t" anchorCtr="0">
            <a:noAutofit/>
          </a:bodyPr>
          <a:lstStyle/>
          <a:p>
            <a:r>
              <a:rPr lang="en" b="1"/>
              <a:t>Preview: </a:t>
            </a:r>
            <a:r>
              <a:rPr lang="en"/>
              <a:t>ConvNet is a sequence of Convolutional Layers, interspersed with activation functions</a:t>
            </a:r>
          </a:p>
        </p:txBody>
      </p:sp>
      <p:sp>
        <p:nvSpPr>
          <p:cNvPr id="299" name="Shape 299"/>
          <p:cNvSpPr/>
          <p:nvPr/>
        </p:nvSpPr>
        <p:spPr>
          <a:xfrm>
            <a:off x="1701075" y="1501733"/>
            <a:ext cx="956400" cy="36772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00" name="Shape 300"/>
          <p:cNvSpPr txBox="1"/>
          <p:nvPr/>
        </p:nvSpPr>
        <p:spPr>
          <a:xfrm>
            <a:off x="2313700" y="4568400"/>
            <a:ext cx="491700" cy="412800"/>
          </a:xfrm>
          <a:prstGeom prst="rect">
            <a:avLst/>
          </a:prstGeom>
          <a:noFill/>
          <a:ln>
            <a:noFill/>
          </a:ln>
        </p:spPr>
        <p:txBody>
          <a:bodyPr lIns="91425" tIns="91425" rIns="91425" bIns="91425" anchor="t" anchorCtr="0">
            <a:noAutofit/>
          </a:bodyPr>
          <a:lstStyle/>
          <a:p>
            <a:r>
              <a:rPr lang="en"/>
              <a:t>32</a:t>
            </a:r>
          </a:p>
        </p:txBody>
      </p:sp>
      <p:sp>
        <p:nvSpPr>
          <p:cNvPr id="301" name="Shape 301"/>
          <p:cNvSpPr txBox="1"/>
          <p:nvPr/>
        </p:nvSpPr>
        <p:spPr>
          <a:xfrm>
            <a:off x="2678000" y="1804168"/>
            <a:ext cx="491700" cy="376399"/>
          </a:xfrm>
          <a:prstGeom prst="rect">
            <a:avLst/>
          </a:prstGeom>
          <a:noFill/>
          <a:ln>
            <a:noFill/>
          </a:ln>
        </p:spPr>
        <p:txBody>
          <a:bodyPr lIns="91425" tIns="91425" rIns="91425" bIns="91425" anchor="t" anchorCtr="0">
            <a:noAutofit/>
          </a:bodyPr>
          <a:lstStyle/>
          <a:p>
            <a:r>
              <a:rPr lang="en"/>
              <a:t>32</a:t>
            </a:r>
          </a:p>
        </p:txBody>
      </p:sp>
      <p:sp>
        <p:nvSpPr>
          <p:cNvPr id="302" name="Shape 302"/>
          <p:cNvSpPr txBox="1"/>
          <p:nvPr/>
        </p:nvSpPr>
        <p:spPr>
          <a:xfrm>
            <a:off x="1643087" y="5090578"/>
            <a:ext cx="491700" cy="242799"/>
          </a:xfrm>
          <a:prstGeom prst="rect">
            <a:avLst/>
          </a:prstGeom>
          <a:noFill/>
          <a:ln>
            <a:noFill/>
          </a:ln>
        </p:spPr>
        <p:txBody>
          <a:bodyPr lIns="91425" tIns="91425" rIns="91425" bIns="91425" anchor="t" anchorCtr="0">
            <a:noAutofit/>
          </a:bodyPr>
          <a:lstStyle/>
          <a:p>
            <a:r>
              <a:rPr lang="en"/>
              <a:t>3</a:t>
            </a:r>
          </a:p>
        </p:txBody>
      </p:sp>
      <p:cxnSp>
        <p:nvCxnSpPr>
          <p:cNvPr id="303" name="Shape 303"/>
          <p:cNvCxnSpPr/>
          <p:nvPr/>
        </p:nvCxnSpPr>
        <p:spPr>
          <a:xfrm>
            <a:off x="3005877" y="3206600"/>
            <a:ext cx="987599" cy="0"/>
          </a:xfrm>
          <a:prstGeom prst="straightConnector1">
            <a:avLst/>
          </a:prstGeom>
          <a:noFill/>
          <a:ln w="9525" cap="flat" cmpd="sng">
            <a:solidFill>
              <a:schemeClr val="dk2"/>
            </a:solidFill>
            <a:prstDash val="solid"/>
            <a:round/>
            <a:headEnd type="none" w="lg" len="lg"/>
            <a:tailEnd type="triangle" w="lg" len="lg"/>
          </a:ln>
        </p:spPr>
      </p:cxnSp>
      <p:sp>
        <p:nvSpPr>
          <p:cNvPr id="304" name="Shape 304"/>
          <p:cNvSpPr txBox="1"/>
          <p:nvPr/>
        </p:nvSpPr>
        <p:spPr>
          <a:xfrm>
            <a:off x="3045202" y="3225600"/>
            <a:ext cx="987599" cy="524800"/>
          </a:xfrm>
          <a:prstGeom prst="rect">
            <a:avLst/>
          </a:prstGeom>
          <a:noFill/>
          <a:ln>
            <a:noFill/>
          </a:ln>
        </p:spPr>
        <p:txBody>
          <a:bodyPr lIns="91425" tIns="91425" rIns="91425" bIns="91425" anchor="t" anchorCtr="0">
            <a:noAutofit/>
          </a:bodyPr>
          <a:lstStyle/>
          <a:p>
            <a:r>
              <a:rPr lang="en"/>
              <a:t>CONV,</a:t>
            </a:r>
          </a:p>
          <a:p>
            <a:r>
              <a:rPr lang="en"/>
              <a:t>ReLU</a:t>
            </a:r>
          </a:p>
          <a:p>
            <a:r>
              <a:rPr lang="en">
                <a:solidFill>
                  <a:srgbClr val="0000FF"/>
                </a:solidFill>
              </a:rPr>
              <a:t>e.g. 6 5x5x3 filters</a:t>
            </a:r>
          </a:p>
        </p:txBody>
      </p:sp>
      <p:sp>
        <p:nvSpPr>
          <p:cNvPr id="305" name="Shape 305"/>
          <p:cNvSpPr/>
          <p:nvPr/>
        </p:nvSpPr>
        <p:spPr>
          <a:xfrm>
            <a:off x="4215675" y="1501733"/>
            <a:ext cx="956400" cy="3677200"/>
          </a:xfrm>
          <a:prstGeom prst="cube">
            <a:avLst>
              <a:gd name="adj" fmla="val 77711"/>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06" name="Shape 306"/>
          <p:cNvSpPr txBox="1"/>
          <p:nvPr/>
        </p:nvSpPr>
        <p:spPr>
          <a:xfrm>
            <a:off x="4828300" y="4568400"/>
            <a:ext cx="491700" cy="412800"/>
          </a:xfrm>
          <a:prstGeom prst="rect">
            <a:avLst/>
          </a:prstGeom>
          <a:noFill/>
          <a:ln>
            <a:noFill/>
          </a:ln>
        </p:spPr>
        <p:txBody>
          <a:bodyPr lIns="91425" tIns="91425" rIns="91425" bIns="91425" anchor="t" anchorCtr="0">
            <a:noAutofit/>
          </a:bodyPr>
          <a:lstStyle/>
          <a:p>
            <a:r>
              <a:rPr lang="en"/>
              <a:t>28</a:t>
            </a:r>
          </a:p>
        </p:txBody>
      </p:sp>
      <p:sp>
        <p:nvSpPr>
          <p:cNvPr id="307" name="Shape 307"/>
          <p:cNvSpPr txBox="1"/>
          <p:nvPr/>
        </p:nvSpPr>
        <p:spPr>
          <a:xfrm>
            <a:off x="5192600" y="1804168"/>
            <a:ext cx="491700" cy="376399"/>
          </a:xfrm>
          <a:prstGeom prst="rect">
            <a:avLst/>
          </a:prstGeom>
          <a:noFill/>
          <a:ln>
            <a:noFill/>
          </a:ln>
        </p:spPr>
        <p:txBody>
          <a:bodyPr lIns="91425" tIns="91425" rIns="91425" bIns="91425" anchor="t" anchorCtr="0">
            <a:noAutofit/>
          </a:bodyPr>
          <a:lstStyle/>
          <a:p>
            <a:r>
              <a:rPr lang="en"/>
              <a:t>28</a:t>
            </a:r>
          </a:p>
        </p:txBody>
      </p:sp>
      <p:sp>
        <p:nvSpPr>
          <p:cNvPr id="308" name="Shape 308"/>
          <p:cNvSpPr txBox="1"/>
          <p:nvPr/>
        </p:nvSpPr>
        <p:spPr>
          <a:xfrm>
            <a:off x="4157687" y="5090578"/>
            <a:ext cx="491700" cy="242799"/>
          </a:xfrm>
          <a:prstGeom prst="rect">
            <a:avLst/>
          </a:prstGeom>
          <a:noFill/>
          <a:ln>
            <a:noFill/>
          </a:ln>
        </p:spPr>
        <p:txBody>
          <a:bodyPr lIns="91425" tIns="91425" rIns="91425" bIns="91425" anchor="t" anchorCtr="0">
            <a:noAutofit/>
          </a:bodyPr>
          <a:lstStyle/>
          <a:p>
            <a:r>
              <a:rPr lang="en"/>
              <a:t>6</a:t>
            </a:r>
          </a:p>
        </p:txBody>
      </p:sp>
      <p:cxnSp>
        <p:nvCxnSpPr>
          <p:cNvPr id="309" name="Shape 309"/>
          <p:cNvCxnSpPr/>
          <p:nvPr/>
        </p:nvCxnSpPr>
        <p:spPr>
          <a:xfrm>
            <a:off x="5749077" y="3206600"/>
            <a:ext cx="987599" cy="0"/>
          </a:xfrm>
          <a:prstGeom prst="straightConnector1">
            <a:avLst/>
          </a:prstGeom>
          <a:noFill/>
          <a:ln w="9525" cap="flat" cmpd="sng">
            <a:solidFill>
              <a:schemeClr val="dk2"/>
            </a:solidFill>
            <a:prstDash val="solid"/>
            <a:round/>
            <a:headEnd type="none" w="lg" len="lg"/>
            <a:tailEnd type="triangle" w="lg" len="lg"/>
          </a:ln>
        </p:spPr>
      </p:cxnSp>
      <p:sp>
        <p:nvSpPr>
          <p:cNvPr id="310" name="Shape 310"/>
          <p:cNvSpPr txBox="1"/>
          <p:nvPr/>
        </p:nvSpPr>
        <p:spPr>
          <a:xfrm>
            <a:off x="5788400" y="3225600"/>
            <a:ext cx="1063200" cy="524800"/>
          </a:xfrm>
          <a:prstGeom prst="rect">
            <a:avLst/>
          </a:prstGeom>
          <a:noFill/>
          <a:ln>
            <a:noFill/>
          </a:ln>
        </p:spPr>
        <p:txBody>
          <a:bodyPr lIns="91425" tIns="91425" rIns="91425" bIns="91425" anchor="t" anchorCtr="0">
            <a:noAutofit/>
          </a:bodyPr>
          <a:lstStyle/>
          <a:p>
            <a:r>
              <a:rPr lang="en"/>
              <a:t>CONV,</a:t>
            </a:r>
          </a:p>
          <a:p>
            <a:r>
              <a:rPr lang="en"/>
              <a:t>ReLU</a:t>
            </a:r>
          </a:p>
          <a:p>
            <a:r>
              <a:rPr lang="en">
                <a:solidFill>
                  <a:srgbClr val="38761D"/>
                </a:solidFill>
              </a:rPr>
              <a:t>e.g. 10 5x5x</a:t>
            </a:r>
            <a:r>
              <a:rPr lang="en" b="1">
                <a:solidFill>
                  <a:srgbClr val="38761D"/>
                </a:solidFill>
              </a:rPr>
              <a:t>6 </a:t>
            </a:r>
            <a:r>
              <a:rPr lang="en">
                <a:solidFill>
                  <a:srgbClr val="38761D"/>
                </a:solidFill>
              </a:rPr>
              <a:t>filters</a:t>
            </a:r>
          </a:p>
        </p:txBody>
      </p:sp>
      <p:sp>
        <p:nvSpPr>
          <p:cNvPr id="311" name="Shape 311"/>
          <p:cNvSpPr/>
          <p:nvPr/>
        </p:nvSpPr>
        <p:spPr>
          <a:xfrm>
            <a:off x="6958875" y="1501733"/>
            <a:ext cx="956400" cy="3677200"/>
          </a:xfrm>
          <a:prstGeom prst="cube">
            <a:avLst>
              <a:gd name="adj" fmla="val 77711"/>
            </a:avLst>
          </a:prstGeom>
          <a:solidFill>
            <a:srgbClr val="D9EAD3"/>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312" name="Shape 312"/>
          <p:cNvCxnSpPr/>
          <p:nvPr/>
        </p:nvCxnSpPr>
        <p:spPr>
          <a:xfrm>
            <a:off x="8339877" y="3206600"/>
            <a:ext cx="987599" cy="0"/>
          </a:xfrm>
          <a:prstGeom prst="straightConnector1">
            <a:avLst/>
          </a:prstGeom>
          <a:noFill/>
          <a:ln w="9525" cap="flat" cmpd="sng">
            <a:solidFill>
              <a:schemeClr val="dk2"/>
            </a:solidFill>
            <a:prstDash val="solid"/>
            <a:round/>
            <a:headEnd type="none" w="lg" len="lg"/>
            <a:tailEnd type="triangle" w="lg" len="lg"/>
          </a:ln>
        </p:spPr>
      </p:cxnSp>
      <p:sp>
        <p:nvSpPr>
          <p:cNvPr id="313" name="Shape 313"/>
          <p:cNvSpPr txBox="1"/>
          <p:nvPr/>
        </p:nvSpPr>
        <p:spPr>
          <a:xfrm>
            <a:off x="8379202" y="3225600"/>
            <a:ext cx="987599" cy="524800"/>
          </a:xfrm>
          <a:prstGeom prst="rect">
            <a:avLst/>
          </a:prstGeom>
          <a:noFill/>
          <a:ln>
            <a:noFill/>
          </a:ln>
        </p:spPr>
        <p:txBody>
          <a:bodyPr lIns="91425" tIns="91425" rIns="91425" bIns="91425" anchor="t" anchorCtr="0">
            <a:noAutofit/>
          </a:bodyPr>
          <a:lstStyle/>
          <a:p>
            <a:r>
              <a:rPr lang="en"/>
              <a:t>CONV,</a:t>
            </a:r>
          </a:p>
          <a:p>
            <a:r>
              <a:rPr lang="en"/>
              <a:t>ReLU</a:t>
            </a:r>
          </a:p>
        </p:txBody>
      </p:sp>
      <p:sp>
        <p:nvSpPr>
          <p:cNvPr id="314" name="Shape 314"/>
          <p:cNvSpPr txBox="1"/>
          <p:nvPr/>
        </p:nvSpPr>
        <p:spPr>
          <a:xfrm>
            <a:off x="9595800" y="2880200"/>
            <a:ext cx="956400" cy="472000"/>
          </a:xfrm>
          <a:prstGeom prst="rect">
            <a:avLst/>
          </a:prstGeom>
          <a:noFill/>
          <a:ln>
            <a:noFill/>
          </a:ln>
        </p:spPr>
        <p:txBody>
          <a:bodyPr lIns="91425" tIns="91425" rIns="91425" bIns="91425" anchor="t" anchorCtr="0">
            <a:noAutofit/>
          </a:bodyPr>
          <a:lstStyle/>
          <a:p>
            <a:r>
              <a:rPr lang="en" sz="2400"/>
              <a:t>….</a:t>
            </a:r>
          </a:p>
        </p:txBody>
      </p:sp>
      <p:sp>
        <p:nvSpPr>
          <p:cNvPr id="315" name="Shape 315"/>
          <p:cNvSpPr txBox="1"/>
          <p:nvPr/>
        </p:nvSpPr>
        <p:spPr>
          <a:xfrm>
            <a:off x="6824687" y="5090578"/>
            <a:ext cx="491700" cy="242799"/>
          </a:xfrm>
          <a:prstGeom prst="rect">
            <a:avLst/>
          </a:prstGeom>
          <a:noFill/>
          <a:ln>
            <a:noFill/>
          </a:ln>
        </p:spPr>
        <p:txBody>
          <a:bodyPr lIns="91425" tIns="91425" rIns="91425" bIns="91425" anchor="t" anchorCtr="0">
            <a:noAutofit/>
          </a:bodyPr>
          <a:lstStyle/>
          <a:p>
            <a:r>
              <a:rPr lang="en"/>
              <a:t>10</a:t>
            </a:r>
          </a:p>
        </p:txBody>
      </p:sp>
      <p:sp>
        <p:nvSpPr>
          <p:cNvPr id="316" name="Shape 316"/>
          <p:cNvSpPr txBox="1"/>
          <p:nvPr/>
        </p:nvSpPr>
        <p:spPr>
          <a:xfrm>
            <a:off x="7571500" y="4568400"/>
            <a:ext cx="491700" cy="412800"/>
          </a:xfrm>
          <a:prstGeom prst="rect">
            <a:avLst/>
          </a:prstGeom>
          <a:noFill/>
          <a:ln>
            <a:noFill/>
          </a:ln>
        </p:spPr>
        <p:txBody>
          <a:bodyPr lIns="91425" tIns="91425" rIns="91425" bIns="91425" anchor="t" anchorCtr="0">
            <a:noAutofit/>
          </a:bodyPr>
          <a:lstStyle/>
          <a:p>
            <a:r>
              <a:rPr lang="en"/>
              <a:t>24</a:t>
            </a:r>
          </a:p>
        </p:txBody>
      </p:sp>
      <p:sp>
        <p:nvSpPr>
          <p:cNvPr id="317" name="Shape 317"/>
          <p:cNvSpPr txBox="1"/>
          <p:nvPr/>
        </p:nvSpPr>
        <p:spPr>
          <a:xfrm>
            <a:off x="7935800" y="1804168"/>
            <a:ext cx="491700" cy="376399"/>
          </a:xfrm>
          <a:prstGeom prst="rect">
            <a:avLst/>
          </a:prstGeom>
          <a:noFill/>
          <a:ln>
            <a:noFill/>
          </a:ln>
        </p:spPr>
        <p:txBody>
          <a:bodyPr lIns="91425" tIns="91425" rIns="91425" bIns="91425" anchor="t" anchorCtr="0">
            <a:noAutofit/>
          </a:bodyPr>
          <a:lstStyle/>
          <a:p>
            <a:r>
              <a:rPr lang="en"/>
              <a:t>24</a:t>
            </a:r>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61</a:t>
            </a:fld>
            <a:endParaRPr lang="en-US" dirty="0">
              <a:solidFill>
                <a:prstClr val="white"/>
              </a:solidFill>
              <a:latin typeface="Calibri"/>
            </a:endParaRPr>
          </a:p>
        </p:txBody>
      </p:sp>
    </p:spTree>
    <p:extLst>
      <p:ext uri="{BB962C8B-B14F-4D97-AF65-F5344CB8AC3E}">
        <p14:creationId xmlns:p14="http://schemas.microsoft.com/office/powerpoint/2010/main" val="3516113194"/>
      </p:ext>
    </p:extLst>
  </p:cSld>
  <p:clrMapOvr>
    <a:masterClrMapping/>
  </p:clrMapOvr>
  <p:transition spd="slow">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36"/>
          <p:cNvSpPr/>
          <p:nvPr/>
        </p:nvSpPr>
        <p:spPr>
          <a:xfrm>
            <a:off x="3505200" y="1371600"/>
            <a:ext cx="956400" cy="3677200"/>
          </a:xfrm>
          <a:prstGeom prst="cube">
            <a:avLst>
              <a:gd name="adj" fmla="val 91130"/>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 name="Shape 136"/>
          <p:cNvSpPr/>
          <p:nvPr/>
        </p:nvSpPr>
        <p:spPr>
          <a:xfrm>
            <a:off x="2174748" y="2562500"/>
            <a:ext cx="457200" cy="1295400"/>
          </a:xfrm>
          <a:prstGeom prst="cube">
            <a:avLst>
              <a:gd name="adj" fmla="val 77711"/>
            </a:avLst>
          </a:prstGeom>
          <a:solidFill>
            <a:schemeClr val="accent1">
              <a:alpha val="51920"/>
            </a:scheme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6" name="Right Arrow 5"/>
          <p:cNvSpPr/>
          <p:nvPr/>
        </p:nvSpPr>
        <p:spPr>
          <a:xfrm>
            <a:off x="2725674" y="306270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p:cNvSpPr/>
          <p:nvPr/>
        </p:nvSpPr>
        <p:spPr>
          <a:xfrm>
            <a:off x="7239000" y="306270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8229600" y="1762400"/>
            <a:ext cx="304800" cy="2895600"/>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Shape 136"/>
          <p:cNvSpPr/>
          <p:nvPr/>
        </p:nvSpPr>
        <p:spPr>
          <a:xfrm>
            <a:off x="5635511" y="2089378"/>
            <a:ext cx="834874" cy="2032804"/>
          </a:xfrm>
          <a:prstGeom prst="cube">
            <a:avLst>
              <a:gd name="adj" fmla="val 90038"/>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12" name="Right Arrow 11"/>
          <p:cNvSpPr/>
          <p:nvPr/>
        </p:nvSpPr>
        <p:spPr>
          <a:xfrm>
            <a:off x="8783058" y="306270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9708306" y="2640277"/>
            <a:ext cx="197694" cy="1139846"/>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1828800" y="4014004"/>
            <a:ext cx="1308050" cy="369332"/>
          </a:xfrm>
          <a:prstGeom prst="rect">
            <a:avLst/>
          </a:prstGeom>
          <a:noFill/>
        </p:spPr>
        <p:txBody>
          <a:bodyPr wrap="none" rtlCol="0">
            <a:spAutoFit/>
          </a:bodyPr>
          <a:lstStyle/>
          <a:p>
            <a:r>
              <a:rPr lang="en-US" dirty="0"/>
              <a:t>Input image</a:t>
            </a:r>
          </a:p>
        </p:txBody>
      </p:sp>
      <p:sp>
        <p:nvSpPr>
          <p:cNvPr id="15" name="TextBox 14"/>
          <p:cNvSpPr txBox="1"/>
          <p:nvPr/>
        </p:nvSpPr>
        <p:spPr>
          <a:xfrm>
            <a:off x="1939988" y="5482733"/>
            <a:ext cx="1483548" cy="646331"/>
          </a:xfrm>
          <a:prstGeom prst="rect">
            <a:avLst/>
          </a:prstGeom>
          <a:noFill/>
        </p:spPr>
        <p:txBody>
          <a:bodyPr wrap="none" rtlCol="0">
            <a:spAutoFit/>
          </a:bodyPr>
          <a:lstStyle/>
          <a:p>
            <a:r>
              <a:rPr lang="en-US" dirty="0"/>
              <a:t>Convolutional</a:t>
            </a:r>
          </a:p>
          <a:p>
            <a:r>
              <a:rPr lang="en-US" dirty="0"/>
              <a:t>layer</a:t>
            </a:r>
          </a:p>
        </p:txBody>
      </p:sp>
      <p:sp>
        <p:nvSpPr>
          <p:cNvPr id="16" name="TextBox 15"/>
          <p:cNvSpPr txBox="1"/>
          <p:nvPr/>
        </p:nvSpPr>
        <p:spPr>
          <a:xfrm>
            <a:off x="7199625" y="5184725"/>
            <a:ext cx="2170466" cy="369332"/>
          </a:xfrm>
          <a:prstGeom prst="rect">
            <a:avLst/>
          </a:prstGeom>
          <a:noFill/>
        </p:spPr>
        <p:txBody>
          <a:bodyPr wrap="none" rtlCol="0">
            <a:spAutoFit/>
          </a:bodyPr>
          <a:lstStyle/>
          <a:p>
            <a:r>
              <a:rPr lang="en-US" dirty="0"/>
              <a:t>Fully connected layer</a:t>
            </a:r>
          </a:p>
        </p:txBody>
      </p:sp>
      <p:sp>
        <p:nvSpPr>
          <p:cNvPr id="17" name="TextBox 16"/>
          <p:cNvSpPr txBox="1"/>
          <p:nvPr/>
        </p:nvSpPr>
        <p:spPr>
          <a:xfrm>
            <a:off x="9111570" y="3937516"/>
            <a:ext cx="1501052" cy="369332"/>
          </a:xfrm>
          <a:prstGeom prst="rect">
            <a:avLst/>
          </a:prstGeom>
          <a:noFill/>
        </p:spPr>
        <p:txBody>
          <a:bodyPr wrap="none" rtlCol="0">
            <a:spAutoFit/>
          </a:bodyPr>
          <a:lstStyle/>
          <a:p>
            <a:r>
              <a:rPr lang="en-US" dirty="0"/>
              <a:t>Output vector</a:t>
            </a:r>
          </a:p>
        </p:txBody>
      </p:sp>
      <p:sp>
        <p:nvSpPr>
          <p:cNvPr id="18" name="Shape 106"/>
          <p:cNvSpPr txBox="1"/>
          <p:nvPr/>
        </p:nvSpPr>
        <p:spPr>
          <a:xfrm>
            <a:off x="1694825" y="-556933"/>
            <a:ext cx="8872800" cy="2312000"/>
          </a:xfrm>
          <a:prstGeom prst="rect">
            <a:avLst/>
          </a:prstGeom>
          <a:noFill/>
          <a:ln>
            <a:noFill/>
          </a:ln>
        </p:spPr>
        <p:txBody>
          <a:bodyPr lIns="91425" tIns="91425" rIns="91425" bIns="91425" anchor="t" anchorCtr="0">
            <a:noAutofit/>
          </a:bodyPr>
          <a:lstStyle/>
          <a:p>
            <a:pPr algn="ctr"/>
            <a:endParaRPr sz="4800" dirty="0">
              <a:latin typeface="Helvetica Neue"/>
              <a:ea typeface="Helvetica Neue"/>
              <a:cs typeface="Helvetica Neue"/>
              <a:sym typeface="Helvetica Neue"/>
            </a:endParaRPr>
          </a:p>
          <a:p>
            <a:pPr algn="ctr"/>
            <a:r>
              <a:rPr lang="en" sz="4800" dirty="0">
                <a:latin typeface="Helvetica Neue"/>
                <a:ea typeface="Helvetica Neue"/>
                <a:cs typeface="Helvetica Neue"/>
                <a:sym typeface="Helvetica Neue"/>
              </a:rPr>
              <a:t>Convolutional Neural Networks</a:t>
            </a:r>
          </a:p>
          <a:p>
            <a:pPr algn="ctr"/>
            <a:endParaRPr sz="4800" dirty="0">
              <a:latin typeface="Helvetica Neue"/>
              <a:ea typeface="Helvetica Neue"/>
              <a:cs typeface="Helvetica Neue"/>
              <a:sym typeface="Helvetica Neue"/>
            </a:endParaRPr>
          </a:p>
        </p:txBody>
      </p:sp>
      <p:sp>
        <p:nvSpPr>
          <p:cNvPr id="19" name="Slide Number Placeholder 18"/>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62</a:t>
            </a:fld>
            <a:endParaRPr lang="en-US" dirty="0">
              <a:solidFill>
                <a:prstClr val="white"/>
              </a:solidFill>
              <a:latin typeface="Calibri"/>
            </a:endParaRPr>
          </a:p>
        </p:txBody>
      </p:sp>
      <p:sp>
        <p:nvSpPr>
          <p:cNvPr id="20" name="Shape 136"/>
          <p:cNvSpPr/>
          <p:nvPr/>
        </p:nvSpPr>
        <p:spPr>
          <a:xfrm>
            <a:off x="3733800" y="1371600"/>
            <a:ext cx="956400" cy="3677200"/>
          </a:xfrm>
          <a:prstGeom prst="cube">
            <a:avLst>
              <a:gd name="adj" fmla="val 91130"/>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1" name="Shape 136"/>
          <p:cNvSpPr/>
          <p:nvPr/>
        </p:nvSpPr>
        <p:spPr>
          <a:xfrm>
            <a:off x="3930108" y="1371600"/>
            <a:ext cx="956400" cy="3677200"/>
          </a:xfrm>
          <a:prstGeom prst="cube">
            <a:avLst>
              <a:gd name="adj" fmla="val 91130"/>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23" name="Straight Arrow Connector 22"/>
          <p:cNvCxnSpPr>
            <a:stCxn id="15" idx="0"/>
            <a:endCxn id="2" idx="3"/>
          </p:cNvCxnSpPr>
          <p:nvPr/>
        </p:nvCxnSpPr>
        <p:spPr>
          <a:xfrm flipV="1">
            <a:off x="2681762" y="5048800"/>
            <a:ext cx="865854" cy="43393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596682" y="5482733"/>
            <a:ext cx="661400" cy="646331"/>
          </a:xfrm>
          <a:prstGeom prst="rect">
            <a:avLst/>
          </a:prstGeom>
          <a:noFill/>
        </p:spPr>
        <p:txBody>
          <a:bodyPr wrap="none" rtlCol="0">
            <a:spAutoFit/>
          </a:bodyPr>
          <a:lstStyle/>
          <a:p>
            <a:r>
              <a:rPr lang="en-US" dirty="0" err="1"/>
              <a:t>ReLU</a:t>
            </a:r>
            <a:endParaRPr lang="en-US" dirty="0"/>
          </a:p>
          <a:p>
            <a:r>
              <a:rPr lang="en-US" dirty="0"/>
              <a:t>layer</a:t>
            </a:r>
          </a:p>
        </p:txBody>
      </p:sp>
      <p:cxnSp>
        <p:nvCxnSpPr>
          <p:cNvPr id="26" name="Straight Arrow Connector 25"/>
          <p:cNvCxnSpPr/>
          <p:nvPr/>
        </p:nvCxnSpPr>
        <p:spPr>
          <a:xfrm flipV="1">
            <a:off x="3833892" y="5039640"/>
            <a:ext cx="5306" cy="44309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08464" y="5482732"/>
            <a:ext cx="878959" cy="646331"/>
          </a:xfrm>
          <a:prstGeom prst="rect">
            <a:avLst/>
          </a:prstGeom>
          <a:noFill/>
        </p:spPr>
        <p:txBody>
          <a:bodyPr wrap="none" rtlCol="0">
            <a:spAutoFit/>
          </a:bodyPr>
          <a:lstStyle/>
          <a:p>
            <a:r>
              <a:rPr lang="en-US" dirty="0"/>
              <a:t>Pooling</a:t>
            </a:r>
          </a:p>
          <a:p>
            <a:r>
              <a:rPr lang="en-US" dirty="0"/>
              <a:t>layer</a:t>
            </a:r>
          </a:p>
        </p:txBody>
      </p:sp>
      <p:cxnSp>
        <p:nvCxnSpPr>
          <p:cNvPr id="30" name="Straight Arrow Connector 29"/>
          <p:cNvCxnSpPr>
            <a:stCxn id="28" idx="0"/>
          </p:cNvCxnSpPr>
          <p:nvPr/>
        </p:nvCxnSpPr>
        <p:spPr>
          <a:xfrm flipH="1" flipV="1">
            <a:off x="4212001" y="4876801"/>
            <a:ext cx="835942" cy="60593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1" name="Shape 136"/>
          <p:cNvSpPr/>
          <p:nvPr/>
        </p:nvSpPr>
        <p:spPr>
          <a:xfrm>
            <a:off x="5862360" y="2089378"/>
            <a:ext cx="834874" cy="2032804"/>
          </a:xfrm>
          <a:prstGeom prst="cube">
            <a:avLst>
              <a:gd name="adj" fmla="val 90038"/>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2" name="Shape 136"/>
          <p:cNvSpPr/>
          <p:nvPr/>
        </p:nvSpPr>
        <p:spPr>
          <a:xfrm>
            <a:off x="6091142" y="2046298"/>
            <a:ext cx="834874" cy="2032804"/>
          </a:xfrm>
          <a:prstGeom prst="cube">
            <a:avLst>
              <a:gd name="adj" fmla="val 90038"/>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3" name="TextBox 32"/>
          <p:cNvSpPr txBox="1"/>
          <p:nvPr/>
        </p:nvSpPr>
        <p:spPr>
          <a:xfrm>
            <a:off x="4769681" y="2512228"/>
            <a:ext cx="715260" cy="1015663"/>
          </a:xfrm>
          <a:prstGeom prst="rect">
            <a:avLst/>
          </a:prstGeom>
          <a:noFill/>
        </p:spPr>
        <p:txBody>
          <a:bodyPr wrap="none" rtlCol="0">
            <a:spAutoFit/>
          </a:bodyPr>
          <a:lstStyle/>
          <a:p>
            <a:r>
              <a:rPr lang="en-US" sz="6000" dirty="0"/>
              <a:t>…</a:t>
            </a:r>
          </a:p>
        </p:txBody>
      </p:sp>
      <p:sp>
        <p:nvSpPr>
          <p:cNvPr id="4" name="Rectangle 3"/>
          <p:cNvSpPr/>
          <p:nvPr/>
        </p:nvSpPr>
        <p:spPr>
          <a:xfrm>
            <a:off x="4608463" y="5482732"/>
            <a:ext cx="1027048" cy="646331"/>
          </a:xfrm>
          <a:prstGeom prst="rect">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49508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pic>
        <p:nvPicPr>
          <p:cNvPr id="749" name="Shape 749"/>
          <p:cNvPicPr preferRelativeResize="0"/>
          <p:nvPr/>
        </p:nvPicPr>
        <p:blipFill>
          <a:blip r:embed="rId3">
            <a:alphaModFix/>
          </a:blip>
          <a:stretch>
            <a:fillRect/>
          </a:stretch>
        </p:blipFill>
        <p:spPr>
          <a:xfrm>
            <a:off x="3782533" y="2437757"/>
            <a:ext cx="3914916" cy="3783161"/>
          </a:xfrm>
          <a:prstGeom prst="rect">
            <a:avLst/>
          </a:prstGeom>
          <a:noFill/>
          <a:ln>
            <a:noFill/>
          </a:ln>
        </p:spPr>
      </p:pic>
      <p:sp>
        <p:nvSpPr>
          <p:cNvPr id="750" name="Shape 750"/>
          <p:cNvSpPr txBox="1"/>
          <p:nvPr/>
        </p:nvSpPr>
        <p:spPr>
          <a:xfrm>
            <a:off x="1690650" y="573091"/>
            <a:ext cx="8810699" cy="1663599"/>
          </a:xfrm>
          <a:prstGeom prst="rect">
            <a:avLst/>
          </a:prstGeom>
          <a:noFill/>
          <a:ln>
            <a:noFill/>
          </a:ln>
        </p:spPr>
        <p:txBody>
          <a:bodyPr lIns="91425" tIns="91425" rIns="91425" bIns="91425" anchor="t" anchorCtr="0">
            <a:noAutofit/>
          </a:bodyPr>
          <a:lstStyle/>
          <a:p>
            <a:r>
              <a:rPr lang="en" sz="3600" dirty="0"/>
              <a:t>Pooling layer</a:t>
            </a:r>
          </a:p>
          <a:p>
            <a:pPr marL="457200" indent="-342900">
              <a:buSzPct val="100000"/>
              <a:buChar char="-"/>
            </a:pPr>
            <a:r>
              <a:rPr lang="en" sz="2400" dirty="0">
                <a:solidFill>
                  <a:schemeClr val="dk1"/>
                </a:solidFill>
              </a:rPr>
              <a:t>makes the representations smaller and more manageable </a:t>
            </a:r>
          </a:p>
          <a:p>
            <a:pPr marL="457200" indent="-342900">
              <a:buSzPct val="100000"/>
              <a:buChar char="-"/>
            </a:pPr>
            <a:r>
              <a:rPr lang="en" sz="2400" dirty="0"/>
              <a:t>operates over each activation map independently:</a:t>
            </a:r>
          </a:p>
          <a:p>
            <a:endParaRPr sz="2400" dirty="0"/>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63</a:t>
            </a:fld>
            <a:endParaRPr lang="en-US" dirty="0">
              <a:solidFill>
                <a:prstClr val="white"/>
              </a:solidFill>
              <a:latin typeface="Calibri"/>
            </a:endParaRPr>
          </a:p>
        </p:txBody>
      </p:sp>
    </p:spTree>
    <p:extLst>
      <p:ext uri="{BB962C8B-B14F-4D97-AF65-F5344CB8AC3E}">
        <p14:creationId xmlns:p14="http://schemas.microsoft.com/office/powerpoint/2010/main" val="1227460985"/>
      </p:ext>
    </p:extLst>
  </p:cSld>
  <p:clrMapOvr>
    <a:masterClrMapping/>
  </p:clrMapOvr>
  <p:transition spd="slow">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graphicFrame>
        <p:nvGraphicFramePr>
          <p:cNvPr id="756" name="Shape 756"/>
          <p:cNvGraphicFramePr/>
          <p:nvPr/>
        </p:nvGraphicFramePr>
        <p:xfrm>
          <a:off x="2476500" y="1879600"/>
          <a:ext cx="2423500" cy="3231332"/>
        </p:xfrm>
        <a:graphic>
          <a:graphicData uri="http://schemas.openxmlformats.org/drawingml/2006/table">
            <a:tbl>
              <a:tblPr>
                <a:noFill/>
              </a:tblPr>
              <a:tblGrid>
                <a:gridCol w="605875">
                  <a:extLst>
                    <a:ext uri="{9D8B030D-6E8A-4147-A177-3AD203B41FA5}">
                      <a16:colId xmlns:a16="http://schemas.microsoft.com/office/drawing/2014/main" val="20000"/>
                    </a:ext>
                  </a:extLst>
                </a:gridCol>
                <a:gridCol w="605875">
                  <a:extLst>
                    <a:ext uri="{9D8B030D-6E8A-4147-A177-3AD203B41FA5}">
                      <a16:colId xmlns:a16="http://schemas.microsoft.com/office/drawing/2014/main" val="20001"/>
                    </a:ext>
                  </a:extLst>
                </a:gridCol>
                <a:gridCol w="605875">
                  <a:extLst>
                    <a:ext uri="{9D8B030D-6E8A-4147-A177-3AD203B41FA5}">
                      <a16:colId xmlns:a16="http://schemas.microsoft.com/office/drawing/2014/main" val="20002"/>
                    </a:ext>
                  </a:extLst>
                </a:gridCol>
                <a:gridCol w="605875">
                  <a:extLst>
                    <a:ext uri="{9D8B030D-6E8A-4147-A177-3AD203B41FA5}">
                      <a16:colId xmlns:a16="http://schemas.microsoft.com/office/drawing/2014/main" val="20003"/>
                    </a:ext>
                  </a:extLst>
                </a:gridCol>
              </a:tblGrid>
              <a:tr h="807833">
                <a:tc>
                  <a:txBody>
                    <a:bodyPr/>
                    <a:lstStyle/>
                    <a:p>
                      <a:pPr lvl="0" algn="ctr" rtl="0">
                        <a:spcBef>
                          <a:spcPts val="0"/>
                        </a:spcBef>
                        <a:buNone/>
                      </a:pPr>
                      <a:r>
                        <a:rPr lang="en" sz="3200"/>
                        <a:t>1</a:t>
                      </a:r>
                    </a:p>
                  </a:txBody>
                  <a:tcPr marL="91425" marR="91425" marT="121900" marB="121900">
                    <a:solidFill>
                      <a:srgbClr val="F4CCCC"/>
                    </a:solidFill>
                  </a:tcPr>
                </a:tc>
                <a:tc>
                  <a:txBody>
                    <a:bodyPr/>
                    <a:lstStyle/>
                    <a:p>
                      <a:pPr lvl="0" algn="ctr" rtl="0">
                        <a:spcBef>
                          <a:spcPts val="0"/>
                        </a:spcBef>
                        <a:buNone/>
                      </a:pPr>
                      <a:r>
                        <a:rPr lang="en" sz="3200"/>
                        <a:t>1</a:t>
                      </a:r>
                    </a:p>
                  </a:txBody>
                  <a:tcPr marL="91425" marR="91425" marT="121900" marB="121900">
                    <a:solidFill>
                      <a:srgbClr val="F4CCCC"/>
                    </a:solidFill>
                  </a:tcPr>
                </a:tc>
                <a:tc>
                  <a:txBody>
                    <a:bodyPr/>
                    <a:lstStyle/>
                    <a:p>
                      <a:pPr lvl="0" algn="ctr" rtl="0">
                        <a:spcBef>
                          <a:spcPts val="0"/>
                        </a:spcBef>
                        <a:buNone/>
                      </a:pPr>
                      <a:r>
                        <a:rPr lang="en" sz="3200"/>
                        <a:t>2</a:t>
                      </a:r>
                    </a:p>
                  </a:txBody>
                  <a:tcPr marL="91425" marR="91425" marT="121900" marB="121900">
                    <a:solidFill>
                      <a:srgbClr val="D9EAD3"/>
                    </a:solidFill>
                  </a:tcPr>
                </a:tc>
                <a:tc>
                  <a:txBody>
                    <a:bodyPr/>
                    <a:lstStyle/>
                    <a:p>
                      <a:pPr lvl="0" algn="ctr" rtl="0">
                        <a:spcBef>
                          <a:spcPts val="0"/>
                        </a:spcBef>
                        <a:buNone/>
                      </a:pPr>
                      <a:r>
                        <a:rPr lang="en" sz="3200"/>
                        <a:t>4</a:t>
                      </a:r>
                    </a:p>
                  </a:txBody>
                  <a:tcPr marL="91425" marR="91425" marT="121900" marB="121900">
                    <a:solidFill>
                      <a:srgbClr val="D9EAD3"/>
                    </a:solidFill>
                  </a:tcPr>
                </a:tc>
                <a:extLst>
                  <a:ext uri="{0D108BD9-81ED-4DB2-BD59-A6C34878D82A}">
                    <a16:rowId xmlns:a16="http://schemas.microsoft.com/office/drawing/2014/main" val="10000"/>
                  </a:ext>
                </a:extLst>
              </a:tr>
              <a:tr h="807833">
                <a:tc>
                  <a:txBody>
                    <a:bodyPr/>
                    <a:lstStyle/>
                    <a:p>
                      <a:pPr lvl="0" algn="ctr" rtl="0">
                        <a:spcBef>
                          <a:spcPts val="0"/>
                        </a:spcBef>
                        <a:buNone/>
                      </a:pPr>
                      <a:r>
                        <a:rPr lang="en" sz="3200"/>
                        <a:t>5</a:t>
                      </a:r>
                    </a:p>
                  </a:txBody>
                  <a:tcPr marL="91425" marR="91425" marT="121900" marB="121900">
                    <a:solidFill>
                      <a:srgbClr val="F4CCCC"/>
                    </a:solidFill>
                  </a:tcPr>
                </a:tc>
                <a:tc>
                  <a:txBody>
                    <a:bodyPr/>
                    <a:lstStyle/>
                    <a:p>
                      <a:pPr lvl="0" algn="ctr" rtl="0">
                        <a:spcBef>
                          <a:spcPts val="0"/>
                        </a:spcBef>
                        <a:buNone/>
                      </a:pPr>
                      <a:r>
                        <a:rPr lang="en" sz="3200"/>
                        <a:t>6</a:t>
                      </a:r>
                    </a:p>
                  </a:txBody>
                  <a:tcPr marL="91425" marR="91425" marT="121900" marB="121900">
                    <a:solidFill>
                      <a:srgbClr val="F4CCCC"/>
                    </a:solidFill>
                  </a:tcPr>
                </a:tc>
                <a:tc>
                  <a:txBody>
                    <a:bodyPr/>
                    <a:lstStyle/>
                    <a:p>
                      <a:pPr lvl="0" algn="ctr" rtl="0">
                        <a:spcBef>
                          <a:spcPts val="0"/>
                        </a:spcBef>
                        <a:buNone/>
                      </a:pPr>
                      <a:r>
                        <a:rPr lang="en" sz="3200"/>
                        <a:t>7</a:t>
                      </a:r>
                    </a:p>
                  </a:txBody>
                  <a:tcPr marL="91425" marR="91425" marT="121900" marB="121900">
                    <a:solidFill>
                      <a:srgbClr val="D9EAD3"/>
                    </a:solidFill>
                  </a:tcPr>
                </a:tc>
                <a:tc>
                  <a:txBody>
                    <a:bodyPr/>
                    <a:lstStyle/>
                    <a:p>
                      <a:pPr lvl="0" algn="ctr" rtl="0">
                        <a:spcBef>
                          <a:spcPts val="0"/>
                        </a:spcBef>
                        <a:buNone/>
                      </a:pPr>
                      <a:r>
                        <a:rPr lang="en" sz="3200"/>
                        <a:t>8</a:t>
                      </a:r>
                    </a:p>
                  </a:txBody>
                  <a:tcPr marL="91425" marR="91425" marT="121900" marB="121900">
                    <a:solidFill>
                      <a:srgbClr val="D9EAD3"/>
                    </a:solidFill>
                  </a:tcPr>
                </a:tc>
                <a:extLst>
                  <a:ext uri="{0D108BD9-81ED-4DB2-BD59-A6C34878D82A}">
                    <a16:rowId xmlns:a16="http://schemas.microsoft.com/office/drawing/2014/main" val="10001"/>
                  </a:ext>
                </a:extLst>
              </a:tr>
              <a:tr h="807833">
                <a:tc>
                  <a:txBody>
                    <a:bodyPr/>
                    <a:lstStyle/>
                    <a:p>
                      <a:pPr lvl="0" algn="ctr" rtl="0">
                        <a:spcBef>
                          <a:spcPts val="0"/>
                        </a:spcBef>
                        <a:buNone/>
                      </a:pPr>
                      <a:r>
                        <a:rPr lang="en" sz="3200"/>
                        <a:t>3</a:t>
                      </a:r>
                    </a:p>
                  </a:txBody>
                  <a:tcPr marL="91425" marR="91425" marT="121900" marB="121900">
                    <a:solidFill>
                      <a:srgbClr val="FFF2CC"/>
                    </a:solidFill>
                  </a:tcPr>
                </a:tc>
                <a:tc>
                  <a:txBody>
                    <a:bodyPr/>
                    <a:lstStyle/>
                    <a:p>
                      <a:pPr lvl="0" algn="ctr" rtl="0">
                        <a:spcBef>
                          <a:spcPts val="0"/>
                        </a:spcBef>
                        <a:buNone/>
                      </a:pPr>
                      <a:r>
                        <a:rPr lang="en" sz="3200"/>
                        <a:t>2</a:t>
                      </a:r>
                    </a:p>
                  </a:txBody>
                  <a:tcPr marL="91425" marR="91425" marT="121900" marB="121900">
                    <a:solidFill>
                      <a:srgbClr val="FFF2CC"/>
                    </a:solidFill>
                  </a:tcPr>
                </a:tc>
                <a:tc>
                  <a:txBody>
                    <a:bodyPr/>
                    <a:lstStyle/>
                    <a:p>
                      <a:pPr lvl="0" algn="ctr" rtl="0">
                        <a:spcBef>
                          <a:spcPts val="0"/>
                        </a:spcBef>
                        <a:buNone/>
                      </a:pPr>
                      <a:r>
                        <a:rPr lang="en" sz="3200"/>
                        <a:t>1</a:t>
                      </a:r>
                    </a:p>
                  </a:txBody>
                  <a:tcPr marL="91425" marR="91425" marT="121900" marB="121900">
                    <a:solidFill>
                      <a:srgbClr val="C9DAF8"/>
                    </a:solidFill>
                  </a:tcPr>
                </a:tc>
                <a:tc>
                  <a:txBody>
                    <a:bodyPr/>
                    <a:lstStyle/>
                    <a:p>
                      <a:pPr lvl="0" algn="ctr" rtl="0">
                        <a:spcBef>
                          <a:spcPts val="0"/>
                        </a:spcBef>
                        <a:buNone/>
                      </a:pPr>
                      <a:r>
                        <a:rPr lang="en" sz="3200"/>
                        <a:t>0</a:t>
                      </a:r>
                    </a:p>
                  </a:txBody>
                  <a:tcPr marL="91425" marR="91425" marT="121900" marB="121900">
                    <a:solidFill>
                      <a:srgbClr val="C9DAF8"/>
                    </a:solidFill>
                  </a:tcPr>
                </a:tc>
                <a:extLst>
                  <a:ext uri="{0D108BD9-81ED-4DB2-BD59-A6C34878D82A}">
                    <a16:rowId xmlns:a16="http://schemas.microsoft.com/office/drawing/2014/main" val="10002"/>
                  </a:ext>
                </a:extLst>
              </a:tr>
              <a:tr h="807833">
                <a:tc>
                  <a:txBody>
                    <a:bodyPr/>
                    <a:lstStyle/>
                    <a:p>
                      <a:pPr lvl="0" algn="ctr" rtl="0">
                        <a:spcBef>
                          <a:spcPts val="0"/>
                        </a:spcBef>
                        <a:buNone/>
                      </a:pPr>
                      <a:r>
                        <a:rPr lang="en" sz="3200"/>
                        <a:t>1</a:t>
                      </a:r>
                    </a:p>
                  </a:txBody>
                  <a:tcPr marL="91425" marR="91425" marT="121900" marB="121900">
                    <a:solidFill>
                      <a:srgbClr val="FFF2CC"/>
                    </a:solidFill>
                  </a:tcPr>
                </a:tc>
                <a:tc>
                  <a:txBody>
                    <a:bodyPr/>
                    <a:lstStyle/>
                    <a:p>
                      <a:pPr lvl="0" algn="ctr" rtl="0">
                        <a:spcBef>
                          <a:spcPts val="0"/>
                        </a:spcBef>
                        <a:buNone/>
                      </a:pPr>
                      <a:r>
                        <a:rPr lang="en" sz="3200"/>
                        <a:t>2</a:t>
                      </a:r>
                    </a:p>
                  </a:txBody>
                  <a:tcPr marL="91425" marR="91425" marT="121900" marB="121900">
                    <a:solidFill>
                      <a:srgbClr val="FFF2CC"/>
                    </a:solidFill>
                  </a:tcPr>
                </a:tc>
                <a:tc>
                  <a:txBody>
                    <a:bodyPr/>
                    <a:lstStyle/>
                    <a:p>
                      <a:pPr lvl="0" algn="ctr" rtl="0">
                        <a:spcBef>
                          <a:spcPts val="0"/>
                        </a:spcBef>
                        <a:buNone/>
                      </a:pPr>
                      <a:r>
                        <a:rPr lang="en" sz="3200"/>
                        <a:t>3</a:t>
                      </a:r>
                    </a:p>
                  </a:txBody>
                  <a:tcPr marL="91425" marR="91425" marT="121900" marB="121900">
                    <a:solidFill>
                      <a:srgbClr val="C9DAF8"/>
                    </a:solidFill>
                  </a:tcPr>
                </a:tc>
                <a:tc>
                  <a:txBody>
                    <a:bodyPr/>
                    <a:lstStyle/>
                    <a:p>
                      <a:pPr lvl="0" algn="ctr" rtl="0">
                        <a:spcBef>
                          <a:spcPts val="0"/>
                        </a:spcBef>
                        <a:buNone/>
                      </a:pPr>
                      <a:r>
                        <a:rPr lang="en" sz="3200"/>
                        <a:t>4</a:t>
                      </a:r>
                    </a:p>
                  </a:txBody>
                  <a:tcPr marL="91425" marR="91425" marT="121900" marB="121900">
                    <a:solidFill>
                      <a:srgbClr val="C9DAF8"/>
                    </a:solidFill>
                  </a:tcPr>
                </a:tc>
                <a:extLst>
                  <a:ext uri="{0D108BD9-81ED-4DB2-BD59-A6C34878D82A}">
                    <a16:rowId xmlns:a16="http://schemas.microsoft.com/office/drawing/2014/main" val="10003"/>
                  </a:ext>
                </a:extLst>
              </a:tr>
            </a:tbl>
          </a:graphicData>
        </a:graphic>
      </p:graphicFrame>
      <p:sp>
        <p:nvSpPr>
          <p:cNvPr id="757" name="Shape 757"/>
          <p:cNvSpPr txBox="1"/>
          <p:nvPr/>
        </p:nvSpPr>
        <p:spPr>
          <a:xfrm>
            <a:off x="2455852" y="1200168"/>
            <a:ext cx="2821843" cy="753199"/>
          </a:xfrm>
          <a:prstGeom prst="rect">
            <a:avLst/>
          </a:prstGeom>
          <a:noFill/>
          <a:ln>
            <a:noFill/>
          </a:ln>
        </p:spPr>
        <p:txBody>
          <a:bodyPr lIns="91425" tIns="91425" rIns="91425" bIns="91425" anchor="t" anchorCtr="0">
            <a:noAutofit/>
          </a:bodyPr>
          <a:lstStyle/>
          <a:p>
            <a:r>
              <a:rPr lang="en" sz="2400" dirty="0"/>
              <a:t>Single depth slice</a:t>
            </a:r>
          </a:p>
        </p:txBody>
      </p:sp>
      <p:cxnSp>
        <p:nvCxnSpPr>
          <p:cNvPr id="758" name="Shape 758"/>
          <p:cNvCxnSpPr/>
          <p:nvPr/>
        </p:nvCxnSpPr>
        <p:spPr>
          <a:xfrm rot="10800000">
            <a:off x="2166925" y="1919268"/>
            <a:ext cx="0" cy="3151999"/>
          </a:xfrm>
          <a:prstGeom prst="straightConnector1">
            <a:avLst/>
          </a:prstGeom>
          <a:noFill/>
          <a:ln w="19050" cap="flat" cmpd="sng">
            <a:solidFill>
              <a:srgbClr val="000000"/>
            </a:solidFill>
            <a:prstDash val="solid"/>
            <a:round/>
            <a:headEnd type="none" w="lg" len="lg"/>
            <a:tailEnd type="triangle" w="lg" len="lg"/>
          </a:ln>
        </p:spPr>
      </p:cxnSp>
      <p:sp>
        <p:nvSpPr>
          <p:cNvPr id="759" name="Shape 759"/>
          <p:cNvSpPr txBox="1"/>
          <p:nvPr/>
        </p:nvSpPr>
        <p:spPr>
          <a:xfrm>
            <a:off x="1801527" y="2085100"/>
            <a:ext cx="389699" cy="623600"/>
          </a:xfrm>
          <a:prstGeom prst="rect">
            <a:avLst/>
          </a:prstGeom>
          <a:noFill/>
          <a:ln>
            <a:noFill/>
          </a:ln>
        </p:spPr>
        <p:txBody>
          <a:bodyPr lIns="91425" tIns="91425" rIns="91425" bIns="91425" anchor="t" anchorCtr="0">
            <a:noAutofit/>
          </a:bodyPr>
          <a:lstStyle/>
          <a:p>
            <a:r>
              <a:rPr lang="en" sz="2400"/>
              <a:t>x</a:t>
            </a:r>
          </a:p>
        </p:txBody>
      </p:sp>
      <p:cxnSp>
        <p:nvCxnSpPr>
          <p:cNvPr id="760" name="Shape 760"/>
          <p:cNvCxnSpPr/>
          <p:nvPr/>
        </p:nvCxnSpPr>
        <p:spPr>
          <a:xfrm>
            <a:off x="2450000" y="5534233"/>
            <a:ext cx="2476500" cy="0"/>
          </a:xfrm>
          <a:prstGeom prst="straightConnector1">
            <a:avLst/>
          </a:prstGeom>
          <a:noFill/>
          <a:ln w="19050" cap="flat" cmpd="sng">
            <a:solidFill>
              <a:srgbClr val="000000"/>
            </a:solidFill>
            <a:prstDash val="solid"/>
            <a:round/>
            <a:headEnd type="none" w="lg" len="lg"/>
            <a:tailEnd type="triangle" w="lg" len="lg"/>
          </a:ln>
        </p:spPr>
      </p:cxnSp>
      <p:sp>
        <p:nvSpPr>
          <p:cNvPr id="761" name="Shape 761"/>
          <p:cNvSpPr txBox="1"/>
          <p:nvPr/>
        </p:nvSpPr>
        <p:spPr>
          <a:xfrm>
            <a:off x="4402277" y="5441368"/>
            <a:ext cx="389699" cy="489199"/>
          </a:xfrm>
          <a:prstGeom prst="rect">
            <a:avLst/>
          </a:prstGeom>
          <a:noFill/>
          <a:ln>
            <a:noFill/>
          </a:ln>
        </p:spPr>
        <p:txBody>
          <a:bodyPr lIns="91425" tIns="91425" rIns="91425" bIns="91425" anchor="t" anchorCtr="0">
            <a:noAutofit/>
          </a:bodyPr>
          <a:lstStyle/>
          <a:p>
            <a:r>
              <a:rPr lang="en" sz="2400"/>
              <a:t>y</a:t>
            </a:r>
          </a:p>
        </p:txBody>
      </p:sp>
      <p:cxnSp>
        <p:nvCxnSpPr>
          <p:cNvPr id="762" name="Shape 762"/>
          <p:cNvCxnSpPr/>
          <p:nvPr/>
        </p:nvCxnSpPr>
        <p:spPr>
          <a:xfrm>
            <a:off x="5277700" y="3495267"/>
            <a:ext cx="2032800" cy="0"/>
          </a:xfrm>
          <a:prstGeom prst="straightConnector1">
            <a:avLst/>
          </a:prstGeom>
          <a:noFill/>
          <a:ln w="19050" cap="flat" cmpd="sng">
            <a:solidFill>
              <a:srgbClr val="000000"/>
            </a:solidFill>
            <a:prstDash val="solid"/>
            <a:round/>
            <a:headEnd type="none" w="lg" len="lg"/>
            <a:tailEnd type="triangle" w="lg" len="lg"/>
          </a:ln>
        </p:spPr>
      </p:cxnSp>
      <p:sp>
        <p:nvSpPr>
          <p:cNvPr id="763" name="Shape 763"/>
          <p:cNvSpPr txBox="1"/>
          <p:nvPr/>
        </p:nvSpPr>
        <p:spPr>
          <a:xfrm>
            <a:off x="5185275" y="2384700"/>
            <a:ext cx="2675700" cy="969600"/>
          </a:xfrm>
          <a:prstGeom prst="rect">
            <a:avLst/>
          </a:prstGeom>
          <a:noFill/>
          <a:ln>
            <a:noFill/>
          </a:ln>
        </p:spPr>
        <p:txBody>
          <a:bodyPr lIns="91425" tIns="91425" rIns="91425" bIns="91425" anchor="t" anchorCtr="0">
            <a:noAutofit/>
          </a:bodyPr>
          <a:lstStyle/>
          <a:p>
            <a:r>
              <a:rPr lang="en"/>
              <a:t>max pool with 2x2 filters and stride 2</a:t>
            </a:r>
          </a:p>
        </p:txBody>
      </p:sp>
      <p:graphicFrame>
        <p:nvGraphicFramePr>
          <p:cNvPr id="764" name="Shape 764"/>
          <p:cNvGraphicFramePr/>
          <p:nvPr/>
        </p:nvGraphicFramePr>
        <p:xfrm>
          <a:off x="8146250" y="2635500"/>
          <a:ext cx="1211750" cy="1615666"/>
        </p:xfrm>
        <a:graphic>
          <a:graphicData uri="http://schemas.openxmlformats.org/drawingml/2006/table">
            <a:tbl>
              <a:tblPr>
                <a:noFill/>
              </a:tblPr>
              <a:tblGrid>
                <a:gridCol w="605875">
                  <a:extLst>
                    <a:ext uri="{9D8B030D-6E8A-4147-A177-3AD203B41FA5}">
                      <a16:colId xmlns:a16="http://schemas.microsoft.com/office/drawing/2014/main" val="20000"/>
                    </a:ext>
                  </a:extLst>
                </a:gridCol>
                <a:gridCol w="605875">
                  <a:extLst>
                    <a:ext uri="{9D8B030D-6E8A-4147-A177-3AD203B41FA5}">
                      <a16:colId xmlns:a16="http://schemas.microsoft.com/office/drawing/2014/main" val="20001"/>
                    </a:ext>
                  </a:extLst>
                </a:gridCol>
              </a:tblGrid>
              <a:tr h="807833">
                <a:tc>
                  <a:txBody>
                    <a:bodyPr/>
                    <a:lstStyle/>
                    <a:p>
                      <a:pPr lvl="0" algn="ctr" rtl="0">
                        <a:spcBef>
                          <a:spcPts val="0"/>
                        </a:spcBef>
                        <a:buNone/>
                      </a:pPr>
                      <a:r>
                        <a:rPr lang="en" sz="3200"/>
                        <a:t>6</a:t>
                      </a:r>
                    </a:p>
                  </a:txBody>
                  <a:tcPr marL="91425" marR="91425" marT="121900" marB="121900">
                    <a:solidFill>
                      <a:srgbClr val="F4CCCC"/>
                    </a:solidFill>
                  </a:tcPr>
                </a:tc>
                <a:tc>
                  <a:txBody>
                    <a:bodyPr/>
                    <a:lstStyle/>
                    <a:p>
                      <a:pPr lvl="0" algn="ctr" rtl="0">
                        <a:spcBef>
                          <a:spcPts val="0"/>
                        </a:spcBef>
                        <a:buNone/>
                      </a:pPr>
                      <a:r>
                        <a:rPr lang="en" sz="3200"/>
                        <a:t>8</a:t>
                      </a:r>
                    </a:p>
                  </a:txBody>
                  <a:tcPr marL="91425" marR="91425" marT="121900" marB="121900">
                    <a:solidFill>
                      <a:srgbClr val="D9EAD3"/>
                    </a:solidFill>
                  </a:tcPr>
                </a:tc>
                <a:extLst>
                  <a:ext uri="{0D108BD9-81ED-4DB2-BD59-A6C34878D82A}">
                    <a16:rowId xmlns:a16="http://schemas.microsoft.com/office/drawing/2014/main" val="10000"/>
                  </a:ext>
                </a:extLst>
              </a:tr>
              <a:tr h="807833">
                <a:tc>
                  <a:txBody>
                    <a:bodyPr/>
                    <a:lstStyle/>
                    <a:p>
                      <a:pPr lvl="0" algn="ctr" rtl="0">
                        <a:spcBef>
                          <a:spcPts val="0"/>
                        </a:spcBef>
                        <a:buNone/>
                      </a:pPr>
                      <a:r>
                        <a:rPr lang="en" sz="3200"/>
                        <a:t>3</a:t>
                      </a:r>
                    </a:p>
                  </a:txBody>
                  <a:tcPr marL="91425" marR="91425" marT="121900" marB="121900">
                    <a:solidFill>
                      <a:srgbClr val="FFF2CC"/>
                    </a:solidFill>
                  </a:tcPr>
                </a:tc>
                <a:tc>
                  <a:txBody>
                    <a:bodyPr/>
                    <a:lstStyle/>
                    <a:p>
                      <a:pPr lvl="0" algn="ctr" rtl="0">
                        <a:spcBef>
                          <a:spcPts val="0"/>
                        </a:spcBef>
                        <a:buNone/>
                      </a:pPr>
                      <a:r>
                        <a:rPr lang="en" sz="3200"/>
                        <a:t>4</a:t>
                      </a:r>
                    </a:p>
                  </a:txBody>
                  <a:tcPr marL="91425" marR="91425" marT="121900" marB="121900">
                    <a:solidFill>
                      <a:srgbClr val="C9DAF8"/>
                    </a:solidFill>
                  </a:tcPr>
                </a:tc>
                <a:extLst>
                  <a:ext uri="{0D108BD9-81ED-4DB2-BD59-A6C34878D82A}">
                    <a16:rowId xmlns:a16="http://schemas.microsoft.com/office/drawing/2014/main" val="10001"/>
                  </a:ext>
                </a:extLst>
              </a:tr>
            </a:tbl>
          </a:graphicData>
        </a:graphic>
      </p:graphicFrame>
      <p:sp>
        <p:nvSpPr>
          <p:cNvPr id="765" name="Shape 765"/>
          <p:cNvSpPr txBox="1"/>
          <p:nvPr/>
        </p:nvSpPr>
        <p:spPr>
          <a:xfrm>
            <a:off x="4791976" y="329683"/>
            <a:ext cx="3904283" cy="883199"/>
          </a:xfrm>
          <a:prstGeom prst="rect">
            <a:avLst/>
          </a:prstGeom>
          <a:noFill/>
          <a:ln>
            <a:noFill/>
          </a:ln>
        </p:spPr>
        <p:txBody>
          <a:bodyPr lIns="91425" tIns="91425" rIns="91425" bIns="91425" anchor="t" anchorCtr="0">
            <a:noAutofit/>
          </a:bodyPr>
          <a:lstStyle/>
          <a:p>
            <a:r>
              <a:rPr lang="en" sz="3000" dirty="0"/>
              <a:t>MAX POOLING</a:t>
            </a:r>
          </a:p>
          <a:p>
            <a:endParaRPr sz="3000" dirty="0"/>
          </a:p>
        </p:txBody>
      </p:sp>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64</a:t>
            </a:fld>
            <a:endParaRPr lang="en-US" dirty="0">
              <a:solidFill>
                <a:prstClr val="white"/>
              </a:solidFill>
              <a:latin typeface="Calibri"/>
            </a:endParaRPr>
          </a:p>
        </p:txBody>
      </p:sp>
    </p:spTree>
    <p:extLst>
      <p:ext uri="{BB962C8B-B14F-4D97-AF65-F5344CB8AC3E}">
        <p14:creationId xmlns:p14="http://schemas.microsoft.com/office/powerpoint/2010/main" val="1284555808"/>
      </p:ext>
    </p:extLst>
  </p:cSld>
  <p:clrMapOvr>
    <a:masterClrMapping/>
  </p:clrMapOvr>
  <p:transition spd="slow">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36"/>
          <p:cNvSpPr/>
          <p:nvPr/>
        </p:nvSpPr>
        <p:spPr>
          <a:xfrm>
            <a:off x="1869948" y="2638700"/>
            <a:ext cx="457200" cy="1295400"/>
          </a:xfrm>
          <a:prstGeom prst="cube">
            <a:avLst>
              <a:gd name="adj" fmla="val 77711"/>
            </a:avLst>
          </a:prstGeom>
          <a:solidFill>
            <a:schemeClr val="accent1">
              <a:alpha val="51920"/>
            </a:scheme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6" name="Right Arrow 5"/>
          <p:cNvSpPr/>
          <p:nvPr/>
        </p:nvSpPr>
        <p:spPr>
          <a:xfrm>
            <a:off x="2420874" y="313890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p:cNvSpPr/>
          <p:nvPr/>
        </p:nvSpPr>
        <p:spPr>
          <a:xfrm>
            <a:off x="6934200" y="313890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7924800" y="1838600"/>
            <a:ext cx="304800" cy="2895600"/>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ight Arrow 11"/>
          <p:cNvSpPr/>
          <p:nvPr/>
        </p:nvSpPr>
        <p:spPr>
          <a:xfrm>
            <a:off x="8382000" y="313890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9154848" y="2716477"/>
            <a:ext cx="197694" cy="1139846"/>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1524000" y="4090204"/>
            <a:ext cx="1308050" cy="369332"/>
          </a:xfrm>
          <a:prstGeom prst="rect">
            <a:avLst/>
          </a:prstGeom>
          <a:noFill/>
        </p:spPr>
        <p:txBody>
          <a:bodyPr wrap="none" rtlCol="0">
            <a:spAutoFit/>
          </a:bodyPr>
          <a:lstStyle/>
          <a:p>
            <a:r>
              <a:rPr lang="en-US" dirty="0"/>
              <a:t>Input image</a:t>
            </a:r>
          </a:p>
        </p:txBody>
      </p:sp>
      <p:sp>
        <p:nvSpPr>
          <p:cNvPr id="16" name="TextBox 15"/>
          <p:cNvSpPr txBox="1"/>
          <p:nvPr/>
        </p:nvSpPr>
        <p:spPr>
          <a:xfrm>
            <a:off x="6894825" y="5260925"/>
            <a:ext cx="2170466" cy="369332"/>
          </a:xfrm>
          <a:prstGeom prst="rect">
            <a:avLst/>
          </a:prstGeom>
          <a:noFill/>
        </p:spPr>
        <p:txBody>
          <a:bodyPr wrap="none" rtlCol="0">
            <a:spAutoFit/>
          </a:bodyPr>
          <a:lstStyle/>
          <a:p>
            <a:r>
              <a:rPr lang="en-US" dirty="0"/>
              <a:t>Fully connected layer</a:t>
            </a:r>
          </a:p>
        </p:txBody>
      </p:sp>
      <p:sp>
        <p:nvSpPr>
          <p:cNvPr id="17" name="TextBox 16"/>
          <p:cNvSpPr txBox="1"/>
          <p:nvPr/>
        </p:nvSpPr>
        <p:spPr>
          <a:xfrm>
            <a:off x="8759090" y="3960626"/>
            <a:ext cx="877163" cy="646331"/>
          </a:xfrm>
          <a:prstGeom prst="rect">
            <a:avLst/>
          </a:prstGeom>
          <a:noFill/>
        </p:spPr>
        <p:txBody>
          <a:bodyPr wrap="none" rtlCol="0">
            <a:spAutoFit/>
          </a:bodyPr>
          <a:lstStyle/>
          <a:p>
            <a:r>
              <a:rPr lang="en-US" dirty="0"/>
              <a:t>Output</a:t>
            </a:r>
          </a:p>
          <a:p>
            <a:r>
              <a:rPr lang="en-US" dirty="0"/>
              <a:t>vector</a:t>
            </a:r>
          </a:p>
        </p:txBody>
      </p:sp>
      <p:sp>
        <p:nvSpPr>
          <p:cNvPr id="18" name="Shape 106"/>
          <p:cNvSpPr txBox="1"/>
          <p:nvPr/>
        </p:nvSpPr>
        <p:spPr>
          <a:xfrm>
            <a:off x="1524001" y="-556933"/>
            <a:ext cx="9043625" cy="2312000"/>
          </a:xfrm>
          <a:prstGeom prst="rect">
            <a:avLst/>
          </a:prstGeom>
          <a:noFill/>
          <a:ln>
            <a:noFill/>
          </a:ln>
        </p:spPr>
        <p:txBody>
          <a:bodyPr lIns="91425" tIns="91425" rIns="91425" bIns="91425" anchor="t" anchorCtr="0">
            <a:noAutofit/>
          </a:bodyPr>
          <a:lstStyle/>
          <a:p>
            <a:pPr algn="ctr"/>
            <a:endParaRPr sz="4800" dirty="0">
              <a:latin typeface="Helvetica Neue"/>
              <a:ea typeface="Helvetica Neue"/>
              <a:cs typeface="Helvetica Neue"/>
              <a:sym typeface="Helvetica Neue"/>
            </a:endParaRPr>
          </a:p>
          <a:p>
            <a:pPr algn="ctr"/>
            <a:r>
              <a:rPr lang="en" sz="4800" dirty="0">
                <a:latin typeface="Helvetica Neue"/>
                <a:ea typeface="Helvetica Neue"/>
                <a:cs typeface="Helvetica Neue"/>
                <a:sym typeface="Helvetica Neue"/>
              </a:rPr>
              <a:t>Training: back-propagate errors</a:t>
            </a:r>
            <a:endParaRPr lang="en" sz="4800" dirty="0">
              <a:latin typeface="Helvetica Neue"/>
              <a:ea typeface="Helvetica Neue"/>
              <a:cs typeface="Helvetica Neue"/>
            </a:endParaRPr>
          </a:p>
          <a:p>
            <a:pPr algn="ctr"/>
            <a:endParaRPr sz="4800" dirty="0">
              <a:latin typeface="Helvetica Neue"/>
              <a:ea typeface="Helvetica Neue"/>
              <a:cs typeface="Helvetica Neue"/>
              <a:sym typeface="Helvetica Neue"/>
            </a:endParaRPr>
          </a:p>
        </p:txBody>
      </p:sp>
      <p:sp>
        <p:nvSpPr>
          <p:cNvPr id="19" name="Rectangle 18"/>
          <p:cNvSpPr/>
          <p:nvPr/>
        </p:nvSpPr>
        <p:spPr>
          <a:xfrm>
            <a:off x="10227990" y="2719525"/>
            <a:ext cx="197694" cy="1139846"/>
          </a:xfrm>
          <a:prstGeom prst="rect">
            <a:avLst/>
          </a:prstGeom>
          <a:solidFill>
            <a:srgbClr val="32FF00"/>
          </a:solidFill>
          <a:ln w="38100">
            <a:solidFill>
              <a:srgbClr val="32FF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p:cNvSpPr txBox="1"/>
          <p:nvPr/>
        </p:nvSpPr>
        <p:spPr>
          <a:xfrm>
            <a:off x="9931158" y="3960626"/>
            <a:ext cx="776495" cy="646331"/>
          </a:xfrm>
          <a:prstGeom prst="rect">
            <a:avLst/>
          </a:prstGeom>
          <a:noFill/>
        </p:spPr>
        <p:txBody>
          <a:bodyPr wrap="none" rtlCol="0">
            <a:spAutoFit/>
          </a:bodyPr>
          <a:lstStyle/>
          <a:p>
            <a:r>
              <a:rPr lang="en-US" dirty="0"/>
              <a:t>GT </a:t>
            </a:r>
          </a:p>
          <a:p>
            <a:r>
              <a:rPr lang="en-US" dirty="0"/>
              <a:t>vector</a:t>
            </a:r>
          </a:p>
        </p:txBody>
      </p:sp>
      <p:sp>
        <p:nvSpPr>
          <p:cNvPr id="4" name="Left-Right Arrow 3"/>
          <p:cNvSpPr/>
          <p:nvPr/>
        </p:nvSpPr>
        <p:spPr>
          <a:xfrm>
            <a:off x="9425514" y="3159080"/>
            <a:ext cx="746940" cy="274821"/>
          </a:xfrm>
          <a:prstGeom prst="lef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65</a:t>
            </a:fld>
            <a:endParaRPr lang="en-US" dirty="0">
              <a:solidFill>
                <a:prstClr val="white"/>
              </a:solidFill>
              <a:latin typeface="Calibri"/>
            </a:endParaRPr>
          </a:p>
        </p:txBody>
      </p:sp>
      <p:sp>
        <p:nvSpPr>
          <p:cNvPr id="21" name="Shape 136"/>
          <p:cNvSpPr/>
          <p:nvPr/>
        </p:nvSpPr>
        <p:spPr>
          <a:xfrm>
            <a:off x="3284155" y="1424899"/>
            <a:ext cx="956400" cy="3677200"/>
          </a:xfrm>
          <a:prstGeom prst="cube">
            <a:avLst>
              <a:gd name="adj" fmla="val 91130"/>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2" name="Shape 136"/>
          <p:cNvSpPr/>
          <p:nvPr/>
        </p:nvSpPr>
        <p:spPr>
          <a:xfrm>
            <a:off x="5414466" y="2142677"/>
            <a:ext cx="834874" cy="2032804"/>
          </a:xfrm>
          <a:prstGeom prst="cube">
            <a:avLst>
              <a:gd name="adj" fmla="val 90038"/>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3" name="TextBox 22"/>
          <p:cNvSpPr txBox="1"/>
          <p:nvPr/>
        </p:nvSpPr>
        <p:spPr>
          <a:xfrm>
            <a:off x="1718943" y="5536032"/>
            <a:ext cx="1483548" cy="646331"/>
          </a:xfrm>
          <a:prstGeom prst="rect">
            <a:avLst/>
          </a:prstGeom>
          <a:noFill/>
        </p:spPr>
        <p:txBody>
          <a:bodyPr wrap="none" rtlCol="0">
            <a:spAutoFit/>
          </a:bodyPr>
          <a:lstStyle/>
          <a:p>
            <a:r>
              <a:rPr lang="en-US" dirty="0"/>
              <a:t>Convolutional</a:t>
            </a:r>
          </a:p>
          <a:p>
            <a:r>
              <a:rPr lang="en-US" dirty="0"/>
              <a:t>layer</a:t>
            </a:r>
          </a:p>
        </p:txBody>
      </p:sp>
      <p:sp>
        <p:nvSpPr>
          <p:cNvPr id="24" name="Shape 136"/>
          <p:cNvSpPr/>
          <p:nvPr/>
        </p:nvSpPr>
        <p:spPr>
          <a:xfrm>
            <a:off x="3512755" y="1424899"/>
            <a:ext cx="956400" cy="3677200"/>
          </a:xfrm>
          <a:prstGeom prst="cube">
            <a:avLst>
              <a:gd name="adj" fmla="val 91130"/>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5" name="Shape 136"/>
          <p:cNvSpPr/>
          <p:nvPr/>
        </p:nvSpPr>
        <p:spPr>
          <a:xfrm>
            <a:off x="3709063" y="1424899"/>
            <a:ext cx="956400" cy="3677200"/>
          </a:xfrm>
          <a:prstGeom prst="cube">
            <a:avLst>
              <a:gd name="adj" fmla="val 91130"/>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26" name="Straight Arrow Connector 25"/>
          <p:cNvCxnSpPr>
            <a:stCxn id="23" idx="0"/>
            <a:endCxn id="21" idx="3"/>
          </p:cNvCxnSpPr>
          <p:nvPr/>
        </p:nvCxnSpPr>
        <p:spPr>
          <a:xfrm flipV="1">
            <a:off x="2460717" y="5102099"/>
            <a:ext cx="865854" cy="43393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375637" y="5536032"/>
            <a:ext cx="661400" cy="646331"/>
          </a:xfrm>
          <a:prstGeom prst="rect">
            <a:avLst/>
          </a:prstGeom>
          <a:noFill/>
        </p:spPr>
        <p:txBody>
          <a:bodyPr wrap="none" rtlCol="0">
            <a:spAutoFit/>
          </a:bodyPr>
          <a:lstStyle/>
          <a:p>
            <a:r>
              <a:rPr lang="en-US" dirty="0" err="1"/>
              <a:t>ReLU</a:t>
            </a:r>
            <a:endParaRPr lang="en-US" dirty="0"/>
          </a:p>
          <a:p>
            <a:r>
              <a:rPr lang="en-US" dirty="0"/>
              <a:t>layer</a:t>
            </a:r>
          </a:p>
        </p:txBody>
      </p:sp>
      <p:cxnSp>
        <p:nvCxnSpPr>
          <p:cNvPr id="28" name="Straight Arrow Connector 27"/>
          <p:cNvCxnSpPr/>
          <p:nvPr/>
        </p:nvCxnSpPr>
        <p:spPr>
          <a:xfrm flipV="1">
            <a:off x="3612847" y="5092939"/>
            <a:ext cx="5306" cy="44309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387419" y="5536031"/>
            <a:ext cx="878959" cy="646331"/>
          </a:xfrm>
          <a:prstGeom prst="rect">
            <a:avLst/>
          </a:prstGeom>
          <a:noFill/>
        </p:spPr>
        <p:txBody>
          <a:bodyPr wrap="none" rtlCol="0">
            <a:spAutoFit/>
          </a:bodyPr>
          <a:lstStyle/>
          <a:p>
            <a:r>
              <a:rPr lang="en-US" dirty="0"/>
              <a:t>Pooling</a:t>
            </a:r>
          </a:p>
          <a:p>
            <a:r>
              <a:rPr lang="en-US" dirty="0"/>
              <a:t>layer</a:t>
            </a:r>
          </a:p>
        </p:txBody>
      </p:sp>
      <p:cxnSp>
        <p:nvCxnSpPr>
          <p:cNvPr id="30" name="Straight Arrow Connector 29"/>
          <p:cNvCxnSpPr>
            <a:stCxn id="29" idx="0"/>
          </p:cNvCxnSpPr>
          <p:nvPr/>
        </p:nvCxnSpPr>
        <p:spPr>
          <a:xfrm flipH="1" flipV="1">
            <a:off x="3990956" y="4930100"/>
            <a:ext cx="835942" cy="60593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1" name="Shape 136"/>
          <p:cNvSpPr/>
          <p:nvPr/>
        </p:nvSpPr>
        <p:spPr>
          <a:xfrm>
            <a:off x="5641315" y="2142677"/>
            <a:ext cx="834874" cy="2032804"/>
          </a:xfrm>
          <a:prstGeom prst="cube">
            <a:avLst>
              <a:gd name="adj" fmla="val 90038"/>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2" name="Shape 136"/>
          <p:cNvSpPr/>
          <p:nvPr/>
        </p:nvSpPr>
        <p:spPr>
          <a:xfrm>
            <a:off x="5870097" y="2099597"/>
            <a:ext cx="834874" cy="2032804"/>
          </a:xfrm>
          <a:prstGeom prst="cube">
            <a:avLst>
              <a:gd name="adj" fmla="val 90038"/>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3" name="TextBox 32"/>
          <p:cNvSpPr txBox="1"/>
          <p:nvPr/>
        </p:nvSpPr>
        <p:spPr>
          <a:xfrm>
            <a:off x="4548636" y="2565527"/>
            <a:ext cx="715260" cy="1015663"/>
          </a:xfrm>
          <a:prstGeom prst="rect">
            <a:avLst/>
          </a:prstGeom>
          <a:noFill/>
        </p:spPr>
        <p:txBody>
          <a:bodyPr wrap="none" rtlCol="0">
            <a:spAutoFit/>
          </a:bodyPr>
          <a:lstStyle/>
          <a:p>
            <a:r>
              <a:rPr lang="en-US" sz="6000" dirty="0"/>
              <a:t>…</a:t>
            </a:r>
          </a:p>
        </p:txBody>
      </p:sp>
    </p:spTree>
    <p:extLst>
      <p:ext uri="{BB962C8B-B14F-4D97-AF65-F5344CB8AC3E}">
        <p14:creationId xmlns:p14="http://schemas.microsoft.com/office/powerpoint/2010/main" val="11868133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2" name="Shape 362"/>
          <p:cNvPicPr preferRelativeResize="0"/>
          <p:nvPr/>
        </p:nvPicPr>
        <p:blipFill>
          <a:blip r:embed="rId3">
            <a:alphaModFix/>
          </a:blip>
          <a:stretch>
            <a:fillRect/>
          </a:stretch>
        </p:blipFill>
        <p:spPr>
          <a:xfrm>
            <a:off x="1524002" y="325528"/>
            <a:ext cx="9143999" cy="5838559"/>
          </a:xfrm>
          <a:prstGeom prst="rect">
            <a:avLst/>
          </a:prstGeom>
          <a:noFill/>
          <a:ln>
            <a:noFill/>
          </a:ln>
        </p:spPr>
      </p:pic>
      <p:sp>
        <p:nvSpPr>
          <p:cNvPr id="2" name="Slide Number Placeholder 1"/>
          <p:cNvSpPr>
            <a:spLocks noGrp="1"/>
          </p:cNvSpPr>
          <p:nvPr>
            <p:ph type="sldNum" sz="quarter" idx="12"/>
          </p:nvPr>
        </p:nvSpPr>
        <p:spPr/>
        <p:txBody>
          <a:bodyPr/>
          <a:lstStyle/>
          <a:p>
            <a:pPr defTabSz="457200"/>
            <a:fld id="{CF7DC490-98B8-074B-BB30-37775A2447EF}" type="slidenum">
              <a:rPr lang="en-US" smtClean="0">
                <a:solidFill>
                  <a:prstClr val="white"/>
                </a:solidFill>
                <a:latin typeface="Calibri"/>
              </a:rPr>
              <a:pPr defTabSz="457200"/>
              <a:t>66</a:t>
            </a:fld>
            <a:endParaRPr lang="en-US" dirty="0">
              <a:solidFill>
                <a:prstClr val="white"/>
              </a:solidFill>
              <a:latin typeface="Calibri"/>
            </a:endParaRPr>
          </a:p>
        </p:txBody>
      </p:sp>
    </p:spTree>
    <p:extLst>
      <p:ext uri="{BB962C8B-B14F-4D97-AF65-F5344CB8AC3E}">
        <p14:creationId xmlns:p14="http://schemas.microsoft.com/office/powerpoint/2010/main" val="1050360871"/>
      </p:ext>
    </p:extLst>
  </p:cSld>
  <p:clrMapOvr>
    <a:masterClrMapping/>
  </p:clrMapOvr>
  <p:transition spd="slow">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9F9F0-7C59-4529-86B3-5D8DA784350F}"/>
              </a:ext>
            </a:extLst>
          </p:cNvPr>
          <p:cNvSpPr>
            <a:spLocks noGrp="1"/>
          </p:cNvSpPr>
          <p:nvPr>
            <p:ph type="title"/>
          </p:nvPr>
        </p:nvSpPr>
        <p:spPr/>
        <p:txBody>
          <a:bodyPr/>
          <a:lstStyle/>
          <a:p>
            <a:r>
              <a:rPr lang="en-US" dirty="0"/>
              <a:t>Supervised Learning</a:t>
            </a:r>
          </a:p>
        </p:txBody>
      </p:sp>
      <p:sp>
        <p:nvSpPr>
          <p:cNvPr id="6" name="Slide Number Placeholder 5">
            <a:extLst>
              <a:ext uri="{FF2B5EF4-FFF2-40B4-BE49-F238E27FC236}">
                <a16:creationId xmlns:a16="http://schemas.microsoft.com/office/drawing/2014/main" id="{A88D80A4-0428-4253-92C2-6D9CBB9C4F3E}"/>
              </a:ext>
            </a:extLst>
          </p:cNvPr>
          <p:cNvSpPr>
            <a:spLocks noGrp="1"/>
          </p:cNvSpPr>
          <p:nvPr>
            <p:ph type="sldNum" sz="quarter" idx="12"/>
          </p:nvPr>
        </p:nvSpPr>
        <p:spPr/>
        <p:txBody>
          <a:bodyPr/>
          <a:lstStyle/>
          <a:p>
            <a:fld id="{1B30F0CC-EBAF-4E3D-80D7-CFC82A3A738F}" type="slidenum">
              <a:rPr lang="en-US" smtClean="0"/>
              <a:pPr/>
              <a:t>67</a:t>
            </a:fld>
            <a:endParaRPr lang="en-US" dirty="0"/>
          </a:p>
        </p:txBody>
      </p:sp>
      <p:pic>
        <p:nvPicPr>
          <p:cNvPr id="16" name="Shape 1141">
            <a:extLst>
              <a:ext uri="{FF2B5EF4-FFF2-40B4-BE49-F238E27FC236}">
                <a16:creationId xmlns:a16="http://schemas.microsoft.com/office/drawing/2014/main" id="{4F81B5D3-7602-481D-8EFE-E34B6F39BBFE}"/>
              </a:ext>
            </a:extLst>
          </p:cNvPr>
          <p:cNvPicPr preferRelativeResize="0"/>
          <p:nvPr/>
        </p:nvPicPr>
        <p:blipFill>
          <a:blip r:embed="rId2">
            <a:alphaModFix/>
          </a:blip>
          <a:stretch>
            <a:fillRect/>
          </a:stretch>
        </p:blipFill>
        <p:spPr>
          <a:xfrm>
            <a:off x="5293914" y="1241040"/>
            <a:ext cx="2075200" cy="1927731"/>
          </a:xfrm>
          <a:prstGeom prst="rect">
            <a:avLst/>
          </a:prstGeom>
          <a:noFill/>
          <a:ln>
            <a:noFill/>
          </a:ln>
        </p:spPr>
      </p:pic>
      <p:sp>
        <p:nvSpPr>
          <p:cNvPr id="17" name="Right Arrow 6">
            <a:extLst>
              <a:ext uri="{FF2B5EF4-FFF2-40B4-BE49-F238E27FC236}">
                <a16:creationId xmlns:a16="http://schemas.microsoft.com/office/drawing/2014/main" id="{AD465751-789E-4487-BAB5-A2B5ECB69BA9}"/>
              </a:ext>
            </a:extLst>
          </p:cNvPr>
          <p:cNvSpPr/>
          <p:nvPr/>
        </p:nvSpPr>
        <p:spPr>
          <a:xfrm>
            <a:off x="4040651" y="1962589"/>
            <a:ext cx="978408" cy="484632"/>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ight Arrow 9">
            <a:extLst>
              <a:ext uri="{FF2B5EF4-FFF2-40B4-BE49-F238E27FC236}">
                <a16:creationId xmlns:a16="http://schemas.microsoft.com/office/drawing/2014/main" id="{71DF554B-E62B-4753-8DB4-665233FCB551}"/>
              </a:ext>
            </a:extLst>
          </p:cNvPr>
          <p:cNvSpPr/>
          <p:nvPr/>
        </p:nvSpPr>
        <p:spPr>
          <a:xfrm>
            <a:off x="7509728" y="1962589"/>
            <a:ext cx="978408" cy="484632"/>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C170398-674F-4B22-9603-5F52C933981F}"/>
              </a:ext>
            </a:extLst>
          </p:cNvPr>
          <p:cNvSpPr txBox="1"/>
          <p:nvPr/>
        </p:nvSpPr>
        <p:spPr>
          <a:xfrm>
            <a:off x="2989710" y="2718075"/>
            <a:ext cx="949940" cy="461665"/>
          </a:xfrm>
          <a:prstGeom prst="rect">
            <a:avLst/>
          </a:prstGeom>
          <a:noFill/>
        </p:spPr>
        <p:txBody>
          <a:bodyPr wrap="none" rtlCol="0">
            <a:spAutoFit/>
          </a:bodyPr>
          <a:lstStyle/>
          <a:p>
            <a:r>
              <a:rPr lang="en-US" sz="2400" dirty="0"/>
              <a:t>Image</a:t>
            </a:r>
          </a:p>
        </p:txBody>
      </p:sp>
      <p:sp>
        <p:nvSpPr>
          <p:cNvPr id="23" name="TextBox 22">
            <a:extLst>
              <a:ext uri="{FF2B5EF4-FFF2-40B4-BE49-F238E27FC236}">
                <a16:creationId xmlns:a16="http://schemas.microsoft.com/office/drawing/2014/main" id="{B1AC8B1C-5FE8-4AC7-8E71-7F55E26C49E2}"/>
              </a:ext>
            </a:extLst>
          </p:cNvPr>
          <p:cNvSpPr txBox="1"/>
          <p:nvPr/>
        </p:nvSpPr>
        <p:spPr>
          <a:xfrm>
            <a:off x="8290452" y="2718075"/>
            <a:ext cx="1667444" cy="461665"/>
          </a:xfrm>
          <a:prstGeom prst="rect">
            <a:avLst/>
          </a:prstGeom>
          <a:noFill/>
        </p:spPr>
        <p:txBody>
          <a:bodyPr wrap="none" rtlCol="0">
            <a:spAutoFit/>
          </a:bodyPr>
          <a:lstStyle/>
          <a:p>
            <a:r>
              <a:rPr lang="en-US" sz="2400" dirty="0"/>
              <a:t>Object class</a:t>
            </a:r>
          </a:p>
        </p:txBody>
      </p:sp>
      <p:pic>
        <p:nvPicPr>
          <p:cNvPr id="1028" name="Picture 4">
            <a:extLst>
              <a:ext uri="{FF2B5EF4-FFF2-40B4-BE49-F238E27FC236}">
                <a16:creationId xmlns:a16="http://schemas.microsoft.com/office/drawing/2014/main" id="{CD7AAF8E-B0BF-4C99-B5C5-511F7E261F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2006" y="2065747"/>
            <a:ext cx="457200" cy="3524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AFF962E-C981-49FA-81D5-4D9526E09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9707" y="1977736"/>
            <a:ext cx="457200" cy="5238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273C89BD-009C-48C7-A3D2-96D51D05F2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7614" y="3330423"/>
            <a:ext cx="1447800" cy="790575"/>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C47CE41E-BC4D-406F-B95D-D6C4027B672A}"/>
              </a:ext>
            </a:extLst>
          </p:cNvPr>
          <p:cNvGrpSpPr/>
          <p:nvPr/>
        </p:nvGrpSpPr>
        <p:grpSpPr>
          <a:xfrm>
            <a:off x="3581400" y="4313766"/>
            <a:ext cx="5250873" cy="1831832"/>
            <a:chOff x="3581400" y="4391823"/>
            <a:chExt cx="5250873" cy="1831832"/>
          </a:xfrm>
        </p:grpSpPr>
        <p:pic>
          <p:nvPicPr>
            <p:cNvPr id="1026" name="Picture 2">
              <a:extLst>
                <a:ext uri="{FF2B5EF4-FFF2-40B4-BE49-F238E27FC236}">
                  <a16:creationId xmlns:a16="http://schemas.microsoft.com/office/drawing/2014/main" id="{33760DF1-B01C-4451-9532-58D0477740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4891" y="4391823"/>
              <a:ext cx="3297382" cy="83757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C6EDB20-81D7-45A1-8ADF-665172F347EA}"/>
                </a:ext>
              </a:extLst>
            </p:cNvPr>
            <p:cNvSpPr txBox="1"/>
            <p:nvPr/>
          </p:nvSpPr>
          <p:spPr>
            <a:xfrm>
              <a:off x="5246087" y="5761990"/>
              <a:ext cx="849913" cy="461665"/>
            </a:xfrm>
            <a:prstGeom prst="rect">
              <a:avLst/>
            </a:prstGeom>
            <a:noFill/>
          </p:spPr>
          <p:txBody>
            <a:bodyPr wrap="none" rtlCol="0">
              <a:spAutoFit/>
            </a:bodyPr>
            <a:lstStyle/>
            <a:p>
              <a:r>
                <a:rPr lang="en-US" sz="2400" dirty="0"/>
                <a:t>Input</a:t>
              </a:r>
            </a:p>
          </p:txBody>
        </p:sp>
        <p:cxnSp>
          <p:nvCxnSpPr>
            <p:cNvPr id="9" name="Straight Arrow Connector 8">
              <a:extLst>
                <a:ext uri="{FF2B5EF4-FFF2-40B4-BE49-F238E27FC236}">
                  <a16:creationId xmlns:a16="http://schemas.microsoft.com/office/drawing/2014/main" id="{177D7E0C-C7AA-4F7D-A4AB-E0232338CA81}"/>
                </a:ext>
              </a:extLst>
            </p:cNvPr>
            <p:cNvCxnSpPr>
              <a:cxnSpLocks/>
              <a:stCxn id="7" idx="0"/>
            </p:cNvCxnSpPr>
            <p:nvPr/>
          </p:nvCxnSpPr>
          <p:spPr>
            <a:xfrm flipV="1">
              <a:off x="5671044" y="5273997"/>
              <a:ext cx="358485" cy="48799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2DD0A94-B5FC-408E-B0AD-290C2268F692}"/>
                </a:ext>
              </a:extLst>
            </p:cNvPr>
            <p:cNvSpPr txBox="1"/>
            <p:nvPr/>
          </p:nvSpPr>
          <p:spPr>
            <a:xfrm>
              <a:off x="6891330" y="5761990"/>
              <a:ext cx="1079142" cy="461665"/>
            </a:xfrm>
            <a:prstGeom prst="rect">
              <a:avLst/>
            </a:prstGeom>
            <a:noFill/>
          </p:spPr>
          <p:txBody>
            <a:bodyPr wrap="none" rtlCol="0">
              <a:spAutoFit/>
            </a:bodyPr>
            <a:lstStyle/>
            <a:p>
              <a:r>
                <a:rPr lang="en-US" sz="2400" dirty="0"/>
                <a:t>Output</a:t>
              </a:r>
            </a:p>
          </p:txBody>
        </p:sp>
        <p:cxnSp>
          <p:nvCxnSpPr>
            <p:cNvPr id="13" name="Straight Arrow Connector 12">
              <a:extLst>
                <a:ext uri="{FF2B5EF4-FFF2-40B4-BE49-F238E27FC236}">
                  <a16:creationId xmlns:a16="http://schemas.microsoft.com/office/drawing/2014/main" id="{759CC939-F70A-4CB9-B35B-D3A836B6D374}"/>
                </a:ext>
              </a:extLst>
            </p:cNvPr>
            <p:cNvCxnSpPr>
              <a:cxnSpLocks/>
              <a:stCxn id="12" idx="0"/>
              <a:endCxn id="1026" idx="2"/>
            </p:cNvCxnSpPr>
            <p:nvPr/>
          </p:nvCxnSpPr>
          <p:spPr>
            <a:xfrm flipH="1" flipV="1">
              <a:off x="7183582" y="5229393"/>
              <a:ext cx="247319" cy="53259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07C1971-B6D8-4E15-A1DD-D0B301334962}"/>
                </a:ext>
              </a:extLst>
            </p:cNvPr>
            <p:cNvSpPr txBox="1"/>
            <p:nvPr/>
          </p:nvSpPr>
          <p:spPr>
            <a:xfrm>
              <a:off x="3581400" y="4661670"/>
              <a:ext cx="1822935" cy="461665"/>
            </a:xfrm>
            <a:prstGeom prst="rect">
              <a:avLst/>
            </a:prstGeom>
            <a:noFill/>
          </p:spPr>
          <p:txBody>
            <a:bodyPr wrap="none" rtlCol="0">
              <a:spAutoFit/>
            </a:bodyPr>
            <a:lstStyle/>
            <a:p>
              <a:r>
                <a:rPr lang="en-US" sz="2400" dirty="0"/>
                <a:t>Training Data</a:t>
              </a:r>
            </a:p>
          </p:txBody>
        </p:sp>
      </p:grpSp>
    </p:spTree>
    <p:extLst>
      <p:ext uri="{BB962C8B-B14F-4D97-AF65-F5344CB8AC3E}">
        <p14:creationId xmlns:p14="http://schemas.microsoft.com/office/powerpoint/2010/main" val="1908010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7463F-B16A-4FF2-B7F4-6E7E1E550725}"/>
              </a:ext>
            </a:extLst>
          </p:cNvPr>
          <p:cNvSpPr>
            <a:spLocks noGrp="1"/>
          </p:cNvSpPr>
          <p:nvPr>
            <p:ph type="title"/>
          </p:nvPr>
        </p:nvSpPr>
        <p:spPr/>
        <p:txBody>
          <a:bodyPr/>
          <a:lstStyle/>
          <a:p>
            <a:r>
              <a:rPr lang="en-US" dirty="0"/>
              <a:t>Convolutional Neural Networks</a:t>
            </a:r>
          </a:p>
        </p:txBody>
      </p:sp>
      <p:sp>
        <p:nvSpPr>
          <p:cNvPr id="6" name="Slide Number Placeholder 5">
            <a:extLst>
              <a:ext uri="{FF2B5EF4-FFF2-40B4-BE49-F238E27FC236}">
                <a16:creationId xmlns:a16="http://schemas.microsoft.com/office/drawing/2014/main" id="{176A4BBB-A641-454F-B1C5-B5ED73E024E7}"/>
              </a:ext>
            </a:extLst>
          </p:cNvPr>
          <p:cNvSpPr>
            <a:spLocks noGrp="1"/>
          </p:cNvSpPr>
          <p:nvPr>
            <p:ph type="sldNum" sz="quarter" idx="12"/>
          </p:nvPr>
        </p:nvSpPr>
        <p:spPr/>
        <p:txBody>
          <a:bodyPr/>
          <a:lstStyle/>
          <a:p>
            <a:fld id="{1B30F0CC-EBAF-4E3D-80D7-CFC82A3A738F}" type="slidenum">
              <a:rPr lang="en-US" smtClean="0"/>
              <a:pPr/>
              <a:t>68</a:t>
            </a:fld>
            <a:endParaRPr lang="en-US" dirty="0"/>
          </a:p>
        </p:txBody>
      </p:sp>
      <p:sp>
        <p:nvSpPr>
          <p:cNvPr id="7" name="Shape 136">
            <a:extLst>
              <a:ext uri="{FF2B5EF4-FFF2-40B4-BE49-F238E27FC236}">
                <a16:creationId xmlns:a16="http://schemas.microsoft.com/office/drawing/2014/main" id="{F80B89E1-16D1-4E84-AC88-7971588B219A}"/>
              </a:ext>
            </a:extLst>
          </p:cNvPr>
          <p:cNvSpPr/>
          <p:nvPr/>
        </p:nvSpPr>
        <p:spPr>
          <a:xfrm>
            <a:off x="3832485" y="1184223"/>
            <a:ext cx="956400" cy="3677200"/>
          </a:xfrm>
          <a:prstGeom prst="cube">
            <a:avLst>
              <a:gd name="adj" fmla="val 91130"/>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136">
            <a:extLst>
              <a:ext uri="{FF2B5EF4-FFF2-40B4-BE49-F238E27FC236}">
                <a16:creationId xmlns:a16="http://schemas.microsoft.com/office/drawing/2014/main" id="{0BEC3E36-23BC-4A80-9606-BA02666D00BF}"/>
              </a:ext>
            </a:extLst>
          </p:cNvPr>
          <p:cNvSpPr/>
          <p:nvPr/>
        </p:nvSpPr>
        <p:spPr>
          <a:xfrm>
            <a:off x="2502033" y="2375123"/>
            <a:ext cx="457200" cy="1295400"/>
          </a:xfrm>
          <a:prstGeom prst="cube">
            <a:avLst>
              <a:gd name="adj" fmla="val 77711"/>
            </a:avLst>
          </a:prstGeom>
          <a:solidFill>
            <a:schemeClr val="accent1">
              <a:alpha val="51920"/>
            </a:scheme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Right Arrow 5">
            <a:extLst>
              <a:ext uri="{FF2B5EF4-FFF2-40B4-BE49-F238E27FC236}">
                <a16:creationId xmlns:a16="http://schemas.microsoft.com/office/drawing/2014/main" id="{68FFCADC-F13B-49B3-AB73-3ABC40319D0C}"/>
              </a:ext>
            </a:extLst>
          </p:cNvPr>
          <p:cNvSpPr/>
          <p:nvPr/>
        </p:nvSpPr>
        <p:spPr>
          <a:xfrm>
            <a:off x="3052959" y="2875323"/>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ight Arrow 7">
            <a:extLst>
              <a:ext uri="{FF2B5EF4-FFF2-40B4-BE49-F238E27FC236}">
                <a16:creationId xmlns:a16="http://schemas.microsoft.com/office/drawing/2014/main" id="{A75A2578-83E5-4AE9-9CFD-B4AA28082DA9}"/>
              </a:ext>
            </a:extLst>
          </p:cNvPr>
          <p:cNvSpPr/>
          <p:nvPr/>
        </p:nvSpPr>
        <p:spPr>
          <a:xfrm>
            <a:off x="7566285" y="2875323"/>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1B60C33-9FF4-4083-8515-029AA34F4DB4}"/>
              </a:ext>
            </a:extLst>
          </p:cNvPr>
          <p:cNvSpPr/>
          <p:nvPr/>
        </p:nvSpPr>
        <p:spPr>
          <a:xfrm>
            <a:off x="8556885" y="1575023"/>
            <a:ext cx="304800" cy="2895600"/>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Shape 136">
            <a:extLst>
              <a:ext uri="{FF2B5EF4-FFF2-40B4-BE49-F238E27FC236}">
                <a16:creationId xmlns:a16="http://schemas.microsoft.com/office/drawing/2014/main" id="{1B68EED3-D094-4FE1-8B75-E6C2EB822FBD}"/>
              </a:ext>
            </a:extLst>
          </p:cNvPr>
          <p:cNvSpPr/>
          <p:nvPr/>
        </p:nvSpPr>
        <p:spPr>
          <a:xfrm>
            <a:off x="5962796" y="1902001"/>
            <a:ext cx="834874" cy="2032804"/>
          </a:xfrm>
          <a:prstGeom prst="cube">
            <a:avLst>
              <a:gd name="adj" fmla="val 90038"/>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3" name="Right Arrow 11">
            <a:extLst>
              <a:ext uri="{FF2B5EF4-FFF2-40B4-BE49-F238E27FC236}">
                <a16:creationId xmlns:a16="http://schemas.microsoft.com/office/drawing/2014/main" id="{13D2293E-0B70-416D-B79B-18AE47CB3729}"/>
              </a:ext>
            </a:extLst>
          </p:cNvPr>
          <p:cNvSpPr/>
          <p:nvPr/>
        </p:nvSpPr>
        <p:spPr>
          <a:xfrm>
            <a:off x="9110343" y="2875323"/>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050398-A411-4BA6-96C3-B13C3983C9EB}"/>
              </a:ext>
            </a:extLst>
          </p:cNvPr>
          <p:cNvSpPr/>
          <p:nvPr/>
        </p:nvSpPr>
        <p:spPr>
          <a:xfrm>
            <a:off x="10035591" y="2452900"/>
            <a:ext cx="197694" cy="1139846"/>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97A8251-87E9-4F3A-90FB-B18769DD4AD6}"/>
              </a:ext>
            </a:extLst>
          </p:cNvPr>
          <p:cNvSpPr txBox="1"/>
          <p:nvPr/>
        </p:nvSpPr>
        <p:spPr>
          <a:xfrm>
            <a:off x="2156085" y="3826627"/>
            <a:ext cx="1390124" cy="369332"/>
          </a:xfrm>
          <a:prstGeom prst="rect">
            <a:avLst/>
          </a:prstGeom>
          <a:noFill/>
        </p:spPr>
        <p:txBody>
          <a:bodyPr wrap="none" rtlCol="0">
            <a:spAutoFit/>
          </a:bodyPr>
          <a:lstStyle/>
          <a:p>
            <a:r>
              <a:rPr lang="en-US" dirty="0"/>
              <a:t>Input image</a:t>
            </a:r>
          </a:p>
        </p:txBody>
      </p:sp>
      <p:sp>
        <p:nvSpPr>
          <p:cNvPr id="16" name="TextBox 15">
            <a:extLst>
              <a:ext uri="{FF2B5EF4-FFF2-40B4-BE49-F238E27FC236}">
                <a16:creationId xmlns:a16="http://schemas.microsoft.com/office/drawing/2014/main" id="{4215C6ED-C64F-419B-B141-D611583C7B5F}"/>
              </a:ext>
            </a:extLst>
          </p:cNvPr>
          <p:cNvSpPr txBox="1"/>
          <p:nvPr/>
        </p:nvSpPr>
        <p:spPr>
          <a:xfrm>
            <a:off x="2267273" y="5295355"/>
            <a:ext cx="1582484" cy="646331"/>
          </a:xfrm>
          <a:prstGeom prst="rect">
            <a:avLst/>
          </a:prstGeom>
          <a:noFill/>
        </p:spPr>
        <p:txBody>
          <a:bodyPr wrap="none" rtlCol="0">
            <a:spAutoFit/>
          </a:bodyPr>
          <a:lstStyle/>
          <a:p>
            <a:r>
              <a:rPr lang="en-US" dirty="0"/>
              <a:t>Convolutional</a:t>
            </a:r>
          </a:p>
          <a:p>
            <a:r>
              <a:rPr lang="en-US" dirty="0"/>
              <a:t>layer</a:t>
            </a:r>
          </a:p>
        </p:txBody>
      </p:sp>
      <p:sp>
        <p:nvSpPr>
          <p:cNvPr id="17" name="TextBox 16">
            <a:extLst>
              <a:ext uri="{FF2B5EF4-FFF2-40B4-BE49-F238E27FC236}">
                <a16:creationId xmlns:a16="http://schemas.microsoft.com/office/drawing/2014/main" id="{70528BCF-F7E1-475A-8F01-44A61802D48F}"/>
              </a:ext>
            </a:extLst>
          </p:cNvPr>
          <p:cNvSpPr txBox="1"/>
          <p:nvPr/>
        </p:nvSpPr>
        <p:spPr>
          <a:xfrm>
            <a:off x="7526910" y="4997348"/>
            <a:ext cx="2364750" cy="369332"/>
          </a:xfrm>
          <a:prstGeom prst="rect">
            <a:avLst/>
          </a:prstGeom>
          <a:noFill/>
        </p:spPr>
        <p:txBody>
          <a:bodyPr wrap="none" rtlCol="0">
            <a:spAutoFit/>
          </a:bodyPr>
          <a:lstStyle/>
          <a:p>
            <a:r>
              <a:rPr lang="en-US" dirty="0"/>
              <a:t>Fully connected layer</a:t>
            </a:r>
          </a:p>
        </p:txBody>
      </p:sp>
      <p:sp>
        <p:nvSpPr>
          <p:cNvPr id="18" name="TextBox 17">
            <a:extLst>
              <a:ext uri="{FF2B5EF4-FFF2-40B4-BE49-F238E27FC236}">
                <a16:creationId xmlns:a16="http://schemas.microsoft.com/office/drawing/2014/main" id="{3B9335CD-7259-4B93-9638-7E2002FF3B9C}"/>
              </a:ext>
            </a:extLst>
          </p:cNvPr>
          <p:cNvSpPr txBox="1"/>
          <p:nvPr/>
        </p:nvSpPr>
        <p:spPr>
          <a:xfrm>
            <a:off x="9273225" y="3750139"/>
            <a:ext cx="1569660" cy="369332"/>
          </a:xfrm>
          <a:prstGeom prst="rect">
            <a:avLst/>
          </a:prstGeom>
          <a:noFill/>
        </p:spPr>
        <p:txBody>
          <a:bodyPr wrap="none" rtlCol="0">
            <a:spAutoFit/>
          </a:bodyPr>
          <a:lstStyle/>
          <a:p>
            <a:r>
              <a:rPr lang="en-US" dirty="0"/>
              <a:t>Output vector</a:t>
            </a:r>
          </a:p>
        </p:txBody>
      </p:sp>
      <p:sp>
        <p:nvSpPr>
          <p:cNvPr id="19" name="Shape 136">
            <a:extLst>
              <a:ext uri="{FF2B5EF4-FFF2-40B4-BE49-F238E27FC236}">
                <a16:creationId xmlns:a16="http://schemas.microsoft.com/office/drawing/2014/main" id="{046E3A64-5132-4503-B409-4F11476D7472}"/>
              </a:ext>
            </a:extLst>
          </p:cNvPr>
          <p:cNvSpPr/>
          <p:nvPr/>
        </p:nvSpPr>
        <p:spPr>
          <a:xfrm>
            <a:off x="4061085" y="1184223"/>
            <a:ext cx="956400" cy="3677200"/>
          </a:xfrm>
          <a:prstGeom prst="cube">
            <a:avLst>
              <a:gd name="adj" fmla="val 91130"/>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0" name="Shape 136">
            <a:extLst>
              <a:ext uri="{FF2B5EF4-FFF2-40B4-BE49-F238E27FC236}">
                <a16:creationId xmlns:a16="http://schemas.microsoft.com/office/drawing/2014/main" id="{EE7F901D-6CCC-4D51-94FA-7363E2E20A8E}"/>
              </a:ext>
            </a:extLst>
          </p:cNvPr>
          <p:cNvSpPr/>
          <p:nvPr/>
        </p:nvSpPr>
        <p:spPr>
          <a:xfrm>
            <a:off x="4257393" y="1184223"/>
            <a:ext cx="956400" cy="3677200"/>
          </a:xfrm>
          <a:prstGeom prst="cube">
            <a:avLst>
              <a:gd name="adj" fmla="val 91130"/>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cxnSp>
        <p:nvCxnSpPr>
          <p:cNvPr id="21" name="Straight Arrow Connector 20">
            <a:extLst>
              <a:ext uri="{FF2B5EF4-FFF2-40B4-BE49-F238E27FC236}">
                <a16:creationId xmlns:a16="http://schemas.microsoft.com/office/drawing/2014/main" id="{A008B4F5-D769-4AC3-9C56-E1B46E38E97E}"/>
              </a:ext>
            </a:extLst>
          </p:cNvPr>
          <p:cNvCxnSpPr>
            <a:stCxn id="16" idx="0"/>
            <a:endCxn id="7" idx="3"/>
          </p:cNvCxnSpPr>
          <p:nvPr/>
        </p:nvCxnSpPr>
        <p:spPr>
          <a:xfrm flipV="1">
            <a:off x="3058515" y="4861423"/>
            <a:ext cx="816386" cy="43393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CC2D1BA-C25E-456A-B46B-12CA3FDF6EFC}"/>
              </a:ext>
            </a:extLst>
          </p:cNvPr>
          <p:cNvSpPr txBox="1"/>
          <p:nvPr/>
        </p:nvSpPr>
        <p:spPr>
          <a:xfrm>
            <a:off x="3923967" y="5295355"/>
            <a:ext cx="774571" cy="646331"/>
          </a:xfrm>
          <a:prstGeom prst="rect">
            <a:avLst/>
          </a:prstGeom>
          <a:noFill/>
        </p:spPr>
        <p:txBody>
          <a:bodyPr wrap="none" rtlCol="0">
            <a:spAutoFit/>
          </a:bodyPr>
          <a:lstStyle/>
          <a:p>
            <a:r>
              <a:rPr lang="en-US" dirty="0" err="1"/>
              <a:t>ReLU</a:t>
            </a:r>
            <a:endParaRPr lang="en-US" dirty="0"/>
          </a:p>
          <a:p>
            <a:r>
              <a:rPr lang="en-US" dirty="0"/>
              <a:t>layer</a:t>
            </a:r>
          </a:p>
        </p:txBody>
      </p:sp>
      <p:cxnSp>
        <p:nvCxnSpPr>
          <p:cNvPr id="23" name="Straight Arrow Connector 22">
            <a:extLst>
              <a:ext uri="{FF2B5EF4-FFF2-40B4-BE49-F238E27FC236}">
                <a16:creationId xmlns:a16="http://schemas.microsoft.com/office/drawing/2014/main" id="{AB532B89-DF96-4808-86D4-C4076D527A1A}"/>
              </a:ext>
            </a:extLst>
          </p:cNvPr>
          <p:cNvCxnSpPr/>
          <p:nvPr/>
        </p:nvCxnSpPr>
        <p:spPr>
          <a:xfrm flipV="1">
            <a:off x="4161177" y="4852263"/>
            <a:ext cx="5306" cy="44309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9C7015A-62C4-4C5A-9239-D4BFC636653F}"/>
              </a:ext>
            </a:extLst>
          </p:cNvPr>
          <p:cNvSpPr txBox="1"/>
          <p:nvPr/>
        </p:nvSpPr>
        <p:spPr>
          <a:xfrm>
            <a:off x="4935748" y="5295354"/>
            <a:ext cx="954107" cy="646331"/>
          </a:xfrm>
          <a:prstGeom prst="rect">
            <a:avLst/>
          </a:prstGeom>
          <a:noFill/>
        </p:spPr>
        <p:txBody>
          <a:bodyPr wrap="none" rtlCol="0">
            <a:spAutoFit/>
          </a:bodyPr>
          <a:lstStyle/>
          <a:p>
            <a:r>
              <a:rPr lang="en-US" dirty="0"/>
              <a:t>Pooling</a:t>
            </a:r>
          </a:p>
          <a:p>
            <a:r>
              <a:rPr lang="en-US" dirty="0"/>
              <a:t>layer</a:t>
            </a:r>
          </a:p>
        </p:txBody>
      </p:sp>
      <p:cxnSp>
        <p:nvCxnSpPr>
          <p:cNvPr id="25" name="Straight Arrow Connector 24">
            <a:extLst>
              <a:ext uri="{FF2B5EF4-FFF2-40B4-BE49-F238E27FC236}">
                <a16:creationId xmlns:a16="http://schemas.microsoft.com/office/drawing/2014/main" id="{BBC8C9CC-087B-47D3-A729-B0956D39C2BE}"/>
              </a:ext>
            </a:extLst>
          </p:cNvPr>
          <p:cNvCxnSpPr>
            <a:stCxn id="24" idx="0"/>
          </p:cNvCxnSpPr>
          <p:nvPr/>
        </p:nvCxnSpPr>
        <p:spPr>
          <a:xfrm flipH="1" flipV="1">
            <a:off x="4539285" y="4689423"/>
            <a:ext cx="873517" cy="60593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6" name="Shape 136">
            <a:extLst>
              <a:ext uri="{FF2B5EF4-FFF2-40B4-BE49-F238E27FC236}">
                <a16:creationId xmlns:a16="http://schemas.microsoft.com/office/drawing/2014/main" id="{F6158E77-7F8F-42B1-A6D5-8EC9A4C07FBC}"/>
              </a:ext>
            </a:extLst>
          </p:cNvPr>
          <p:cNvSpPr/>
          <p:nvPr/>
        </p:nvSpPr>
        <p:spPr>
          <a:xfrm>
            <a:off x="6189645" y="1902001"/>
            <a:ext cx="834874" cy="2032804"/>
          </a:xfrm>
          <a:prstGeom prst="cube">
            <a:avLst>
              <a:gd name="adj" fmla="val 90038"/>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7" name="Shape 136">
            <a:extLst>
              <a:ext uri="{FF2B5EF4-FFF2-40B4-BE49-F238E27FC236}">
                <a16:creationId xmlns:a16="http://schemas.microsoft.com/office/drawing/2014/main" id="{7A159E68-EE53-4C05-AC81-DEA4C3D8CEE7}"/>
              </a:ext>
            </a:extLst>
          </p:cNvPr>
          <p:cNvSpPr/>
          <p:nvPr/>
        </p:nvSpPr>
        <p:spPr>
          <a:xfrm>
            <a:off x="6418427" y="1858921"/>
            <a:ext cx="834874" cy="2032804"/>
          </a:xfrm>
          <a:prstGeom prst="cube">
            <a:avLst>
              <a:gd name="adj" fmla="val 90038"/>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8" name="TextBox 27">
            <a:extLst>
              <a:ext uri="{FF2B5EF4-FFF2-40B4-BE49-F238E27FC236}">
                <a16:creationId xmlns:a16="http://schemas.microsoft.com/office/drawing/2014/main" id="{1D9A7D42-5139-4998-A385-4CB681DE1F90}"/>
              </a:ext>
            </a:extLst>
          </p:cNvPr>
          <p:cNvSpPr txBox="1"/>
          <p:nvPr/>
        </p:nvSpPr>
        <p:spPr>
          <a:xfrm>
            <a:off x="5096966" y="2324850"/>
            <a:ext cx="954107" cy="1015663"/>
          </a:xfrm>
          <a:prstGeom prst="rect">
            <a:avLst/>
          </a:prstGeom>
          <a:noFill/>
        </p:spPr>
        <p:txBody>
          <a:bodyPr wrap="none" rtlCol="0">
            <a:spAutoFit/>
          </a:bodyPr>
          <a:lstStyle/>
          <a:p>
            <a:r>
              <a:rPr lang="en-US" sz="6000" dirty="0"/>
              <a:t>…</a:t>
            </a:r>
          </a:p>
        </p:txBody>
      </p:sp>
      <p:sp>
        <p:nvSpPr>
          <p:cNvPr id="29" name="TextBox 28">
            <a:extLst>
              <a:ext uri="{FF2B5EF4-FFF2-40B4-BE49-F238E27FC236}">
                <a16:creationId xmlns:a16="http://schemas.microsoft.com/office/drawing/2014/main" id="{81A3FCC3-C5F0-4F74-9C64-768939D51DBA}"/>
              </a:ext>
            </a:extLst>
          </p:cNvPr>
          <p:cNvSpPr txBox="1"/>
          <p:nvPr/>
        </p:nvSpPr>
        <p:spPr>
          <a:xfrm>
            <a:off x="1822075" y="5800702"/>
            <a:ext cx="2339102" cy="369332"/>
          </a:xfrm>
          <a:prstGeom prst="rect">
            <a:avLst/>
          </a:prstGeom>
          <a:noFill/>
        </p:spPr>
        <p:txBody>
          <a:bodyPr wrap="none" rtlCol="0">
            <a:spAutoFit/>
          </a:bodyPr>
          <a:lstStyle/>
          <a:p>
            <a:r>
              <a:rPr lang="en-US" dirty="0"/>
              <a:t>(translation invariant)</a:t>
            </a:r>
          </a:p>
        </p:txBody>
      </p:sp>
    </p:spTree>
    <p:extLst>
      <p:ext uri="{BB962C8B-B14F-4D97-AF65-F5344CB8AC3E}">
        <p14:creationId xmlns:p14="http://schemas.microsoft.com/office/powerpoint/2010/main" val="9737638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E7072-D51B-4A84-B7AC-9EF125A092C2}"/>
              </a:ext>
            </a:extLst>
          </p:cNvPr>
          <p:cNvSpPr>
            <a:spLocks noGrp="1"/>
          </p:cNvSpPr>
          <p:nvPr>
            <p:ph type="title"/>
          </p:nvPr>
        </p:nvSpPr>
        <p:spPr/>
        <p:txBody>
          <a:bodyPr/>
          <a:lstStyle/>
          <a:p>
            <a:r>
              <a:rPr lang="en-US" dirty="0"/>
              <a:t>Image Classification</a:t>
            </a:r>
          </a:p>
        </p:txBody>
      </p:sp>
      <p:sp>
        <p:nvSpPr>
          <p:cNvPr id="3" name="Content Placeholder 2">
            <a:extLst>
              <a:ext uri="{FF2B5EF4-FFF2-40B4-BE49-F238E27FC236}">
                <a16:creationId xmlns:a16="http://schemas.microsoft.com/office/drawing/2014/main" id="{D63163BB-59BB-4CE3-8FA8-AC97299FE814}"/>
              </a:ext>
            </a:extLst>
          </p:cNvPr>
          <p:cNvSpPr>
            <a:spLocks noGrp="1"/>
          </p:cNvSpPr>
          <p:nvPr>
            <p:ph idx="1"/>
          </p:nvPr>
        </p:nvSpPr>
        <p:spPr/>
        <p:txBody>
          <a:bodyPr/>
          <a:lstStyle/>
          <a:p>
            <a:r>
              <a:rPr lang="en-US" dirty="0"/>
              <a:t>ImageNet dataset</a:t>
            </a:r>
          </a:p>
          <a:p>
            <a:pPr lvl="1"/>
            <a:r>
              <a:rPr lang="en-US" b="0" i="0" dirty="0">
                <a:solidFill>
                  <a:srgbClr val="333333"/>
                </a:solidFill>
                <a:effectLst/>
                <a:latin typeface="Helvetica" panose="020B0604020202020204" pitchFamily="34" charset="0"/>
              </a:rPr>
              <a:t>Training: 1.2 million images</a:t>
            </a:r>
            <a:r>
              <a:rPr lang="en-US" dirty="0">
                <a:solidFill>
                  <a:srgbClr val="333333"/>
                </a:solidFill>
                <a:latin typeface="Helvetica" panose="020B0604020202020204" pitchFamily="34" charset="0"/>
              </a:rPr>
              <a:t> </a:t>
            </a:r>
          </a:p>
          <a:p>
            <a:pPr lvl="1"/>
            <a:r>
              <a:rPr lang="en-US" dirty="0">
                <a:solidFill>
                  <a:srgbClr val="333333"/>
                </a:solidFill>
                <a:latin typeface="Helvetica" panose="020B0604020202020204" pitchFamily="34" charset="0"/>
              </a:rPr>
              <a:t>Testing and validation: </a:t>
            </a:r>
            <a:r>
              <a:rPr lang="en-US" b="0" i="0" dirty="0">
                <a:solidFill>
                  <a:srgbClr val="333333"/>
                </a:solidFill>
                <a:effectLst/>
                <a:latin typeface="Helvetica" panose="020B0604020202020204" pitchFamily="34" charset="0"/>
              </a:rPr>
              <a:t>150,000 images</a:t>
            </a:r>
          </a:p>
          <a:p>
            <a:pPr lvl="1"/>
            <a:r>
              <a:rPr lang="en-US" dirty="0">
                <a:solidFill>
                  <a:srgbClr val="333333"/>
                </a:solidFill>
                <a:latin typeface="Helvetica" panose="020B0604020202020204" pitchFamily="34" charset="0"/>
              </a:rPr>
              <a:t>1000 categories</a:t>
            </a:r>
            <a:endParaRPr lang="en-US" dirty="0"/>
          </a:p>
        </p:txBody>
      </p:sp>
      <p:sp>
        <p:nvSpPr>
          <p:cNvPr id="6" name="Slide Number Placeholder 5">
            <a:extLst>
              <a:ext uri="{FF2B5EF4-FFF2-40B4-BE49-F238E27FC236}">
                <a16:creationId xmlns:a16="http://schemas.microsoft.com/office/drawing/2014/main" id="{0E447C42-9314-411E-A20A-70F1C05BB795}"/>
              </a:ext>
            </a:extLst>
          </p:cNvPr>
          <p:cNvSpPr>
            <a:spLocks noGrp="1"/>
          </p:cNvSpPr>
          <p:nvPr>
            <p:ph type="sldNum" sz="quarter" idx="12"/>
          </p:nvPr>
        </p:nvSpPr>
        <p:spPr/>
        <p:txBody>
          <a:bodyPr/>
          <a:lstStyle/>
          <a:p>
            <a:fld id="{1B30F0CC-EBAF-4E3D-80D7-CFC82A3A738F}" type="slidenum">
              <a:rPr lang="en-US" smtClean="0"/>
              <a:pPr/>
              <a:t>69</a:t>
            </a:fld>
            <a:endParaRPr lang="en-US" dirty="0"/>
          </a:p>
        </p:txBody>
      </p:sp>
      <p:sp>
        <p:nvSpPr>
          <p:cNvPr id="8" name="TextBox 7">
            <a:extLst>
              <a:ext uri="{FF2B5EF4-FFF2-40B4-BE49-F238E27FC236}">
                <a16:creationId xmlns:a16="http://schemas.microsoft.com/office/drawing/2014/main" id="{25885A1B-0326-4242-836A-D7252E4C910A}"/>
              </a:ext>
            </a:extLst>
          </p:cNvPr>
          <p:cNvSpPr txBox="1"/>
          <p:nvPr/>
        </p:nvSpPr>
        <p:spPr>
          <a:xfrm>
            <a:off x="991466" y="5678663"/>
            <a:ext cx="6094268" cy="369332"/>
          </a:xfrm>
          <a:prstGeom prst="rect">
            <a:avLst/>
          </a:prstGeom>
          <a:noFill/>
        </p:spPr>
        <p:txBody>
          <a:bodyPr wrap="square">
            <a:spAutoFit/>
          </a:bodyPr>
          <a:lstStyle/>
          <a:p>
            <a:r>
              <a:rPr lang="en-US" dirty="0">
                <a:hlinkClick r:id="rId3"/>
              </a:rPr>
              <a:t>https://image-net.org/challenges/LSVRC/2012/index.php</a:t>
            </a:r>
            <a:endParaRPr lang="en-US" dirty="0"/>
          </a:p>
        </p:txBody>
      </p:sp>
      <p:pic>
        <p:nvPicPr>
          <p:cNvPr id="10" name="Picture 9">
            <a:extLst>
              <a:ext uri="{FF2B5EF4-FFF2-40B4-BE49-F238E27FC236}">
                <a16:creationId xmlns:a16="http://schemas.microsoft.com/office/drawing/2014/main" id="{1362E64D-80B7-4F4E-8FF8-ADF8C80E8A03}"/>
              </a:ext>
            </a:extLst>
          </p:cNvPr>
          <p:cNvPicPr>
            <a:picLocks noChangeAspect="1"/>
          </p:cNvPicPr>
          <p:nvPr/>
        </p:nvPicPr>
        <p:blipFill rotWithShape="1">
          <a:blip r:embed="rId4"/>
          <a:srcRect b="47641"/>
          <a:stretch/>
        </p:blipFill>
        <p:spPr>
          <a:xfrm>
            <a:off x="513506" y="3260000"/>
            <a:ext cx="6421560" cy="2336380"/>
          </a:xfrm>
          <a:prstGeom prst="rect">
            <a:avLst/>
          </a:prstGeom>
        </p:spPr>
      </p:pic>
      <p:pic>
        <p:nvPicPr>
          <p:cNvPr id="12" name="Picture 11" descr="A picture containing shop, sale&#10;&#10;Description automatically generated">
            <a:extLst>
              <a:ext uri="{FF2B5EF4-FFF2-40B4-BE49-F238E27FC236}">
                <a16:creationId xmlns:a16="http://schemas.microsoft.com/office/drawing/2014/main" id="{1F3C32C1-BC73-46A8-A2FB-704D4026CA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5734" y="1303184"/>
            <a:ext cx="4418734" cy="4418734"/>
          </a:xfrm>
          <a:prstGeom prst="rect">
            <a:avLst/>
          </a:prstGeom>
        </p:spPr>
      </p:pic>
    </p:spTree>
    <p:extLst>
      <p:ext uri="{BB962C8B-B14F-4D97-AF65-F5344CB8AC3E}">
        <p14:creationId xmlns:p14="http://schemas.microsoft.com/office/powerpoint/2010/main" val="197454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5E118-4390-49AD-9BA3-88210535AFD4}"/>
              </a:ext>
            </a:extLst>
          </p:cNvPr>
          <p:cNvSpPr>
            <a:spLocks noGrp="1"/>
          </p:cNvSpPr>
          <p:nvPr>
            <p:ph type="title"/>
          </p:nvPr>
        </p:nvSpPr>
        <p:spPr/>
        <p:txBody>
          <a:bodyPr/>
          <a:lstStyle/>
          <a:p>
            <a:r>
              <a:rPr lang="en-US" dirty="0"/>
              <a:t>Image Classification</a:t>
            </a:r>
          </a:p>
        </p:txBody>
      </p:sp>
      <p:sp>
        <p:nvSpPr>
          <p:cNvPr id="6" name="Slide Number Placeholder 5">
            <a:extLst>
              <a:ext uri="{FF2B5EF4-FFF2-40B4-BE49-F238E27FC236}">
                <a16:creationId xmlns:a16="http://schemas.microsoft.com/office/drawing/2014/main" id="{D8CEF9E7-8628-480C-AD48-2D0D9EBF2D30}"/>
              </a:ext>
            </a:extLst>
          </p:cNvPr>
          <p:cNvSpPr>
            <a:spLocks noGrp="1"/>
          </p:cNvSpPr>
          <p:nvPr>
            <p:ph type="sldNum" sz="quarter" idx="12"/>
          </p:nvPr>
        </p:nvSpPr>
        <p:spPr/>
        <p:txBody>
          <a:bodyPr/>
          <a:lstStyle/>
          <a:p>
            <a:fld id="{1B30F0CC-EBAF-4E3D-80D7-CFC82A3A738F}" type="slidenum">
              <a:rPr lang="en-US" smtClean="0"/>
              <a:pPr/>
              <a:t>70</a:t>
            </a:fld>
            <a:endParaRPr lang="en-US" dirty="0"/>
          </a:p>
        </p:txBody>
      </p:sp>
      <p:grpSp>
        <p:nvGrpSpPr>
          <p:cNvPr id="7" name="Group 6">
            <a:extLst>
              <a:ext uri="{FF2B5EF4-FFF2-40B4-BE49-F238E27FC236}">
                <a16:creationId xmlns:a16="http://schemas.microsoft.com/office/drawing/2014/main" id="{9C618309-4D10-4976-8A20-65F2F577AB9A}"/>
              </a:ext>
            </a:extLst>
          </p:cNvPr>
          <p:cNvGrpSpPr/>
          <p:nvPr/>
        </p:nvGrpSpPr>
        <p:grpSpPr>
          <a:xfrm>
            <a:off x="2938458" y="1636162"/>
            <a:ext cx="3965241" cy="3995443"/>
            <a:chOff x="8000299" y="1533056"/>
            <a:chExt cx="3965241" cy="3995443"/>
          </a:xfrm>
        </p:grpSpPr>
        <p:pic>
          <p:nvPicPr>
            <p:cNvPr id="8" name="Picture 7" descr="Diagram&#10;&#10;Description automatically generated">
              <a:extLst>
                <a:ext uri="{FF2B5EF4-FFF2-40B4-BE49-F238E27FC236}">
                  <a16:creationId xmlns:a16="http://schemas.microsoft.com/office/drawing/2014/main" id="{7FB24194-41C8-4DF6-A151-E7C24BF56A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7196" y="2063289"/>
              <a:ext cx="2856834" cy="3064295"/>
            </a:xfrm>
            <a:prstGeom prst="rect">
              <a:avLst/>
            </a:prstGeom>
          </p:spPr>
        </p:pic>
        <p:pic>
          <p:nvPicPr>
            <p:cNvPr id="9" name="Picture 4">
              <a:extLst>
                <a:ext uri="{FF2B5EF4-FFF2-40B4-BE49-F238E27FC236}">
                  <a16:creationId xmlns:a16="http://schemas.microsoft.com/office/drawing/2014/main" id="{47E89E88-A94F-40B6-BEC2-830D0AE5E1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0299" y="5215314"/>
              <a:ext cx="1309086" cy="24355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875A9EF5-1EFF-4D1A-9E3D-E214884214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56396" y="5143942"/>
              <a:ext cx="1709144" cy="38455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a:extLst>
                <a:ext uri="{FF2B5EF4-FFF2-40B4-BE49-F238E27FC236}">
                  <a16:creationId xmlns:a16="http://schemas.microsoft.com/office/drawing/2014/main" id="{D26B8C9C-453A-41BE-82AF-BAC0976DAB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3719" y="1533056"/>
              <a:ext cx="2290567" cy="364547"/>
            </a:xfrm>
            <a:prstGeom prst="rect">
              <a:avLst/>
            </a:prstGeom>
            <a:noFill/>
            <a:extLst>
              <a:ext uri="{909E8E84-426E-40DD-AFC4-6F175D3DCCD1}">
                <a14:hiddenFill xmlns:a14="http://schemas.microsoft.com/office/drawing/2010/main">
                  <a:solidFill>
                    <a:srgbClr val="FFFFFF"/>
                  </a:solidFill>
                </a14:hiddenFill>
              </a:ext>
            </a:extLst>
          </p:spPr>
        </p:pic>
      </p:grpSp>
      <p:pic>
        <p:nvPicPr>
          <p:cNvPr id="13" name="Picture 2" descr="http://r.ddmcdn.com/s_f/o_1/cx_633/cy_0/cw_1725/ch_1725/w_720/APL/uploads/2014/11/too-cute-doggone-it-video-playlist.jpg">
            <a:extLst>
              <a:ext uri="{FF2B5EF4-FFF2-40B4-BE49-F238E27FC236}">
                <a16:creationId xmlns:a16="http://schemas.microsoft.com/office/drawing/2014/main" id="{1C41AD3D-13DC-4180-80D1-EDA4D00226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9765" y="2877660"/>
            <a:ext cx="16002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ECB5C046-FB76-4589-90E3-995E49AC80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5630" y="4658942"/>
            <a:ext cx="2248470" cy="26778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C4F5B484-A525-4172-B0B9-8CF8E0DDDC27}"/>
              </a:ext>
            </a:extLst>
          </p:cNvPr>
          <p:cNvSpPr txBox="1"/>
          <p:nvPr/>
        </p:nvSpPr>
        <p:spPr>
          <a:xfrm>
            <a:off x="3082587" y="5739698"/>
            <a:ext cx="1020828" cy="369332"/>
          </a:xfrm>
          <a:prstGeom prst="rect">
            <a:avLst/>
          </a:prstGeom>
          <a:noFill/>
        </p:spPr>
        <p:txBody>
          <a:bodyPr wrap="square">
            <a:spAutoFit/>
          </a:bodyPr>
          <a:lstStyle/>
          <a:p>
            <a:r>
              <a:rPr lang="en-US" b="0" i="0" dirty="0">
                <a:solidFill>
                  <a:srgbClr val="202124"/>
                </a:solidFill>
                <a:effectLst/>
                <a:latin typeface="Roboto" panose="02000000000000000000" pitchFamily="2" charset="0"/>
              </a:rPr>
              <a:t>150528</a:t>
            </a:r>
            <a:endParaRPr lang="en-US" dirty="0"/>
          </a:p>
        </p:txBody>
      </p:sp>
      <p:sp>
        <p:nvSpPr>
          <p:cNvPr id="18" name="TextBox 17">
            <a:extLst>
              <a:ext uri="{FF2B5EF4-FFF2-40B4-BE49-F238E27FC236}">
                <a16:creationId xmlns:a16="http://schemas.microsoft.com/office/drawing/2014/main" id="{4419C8B9-1D98-41BB-BFB9-A37F715B7D3E}"/>
              </a:ext>
            </a:extLst>
          </p:cNvPr>
          <p:cNvSpPr txBox="1"/>
          <p:nvPr/>
        </p:nvSpPr>
        <p:spPr>
          <a:xfrm>
            <a:off x="5443707" y="5716103"/>
            <a:ext cx="1020828" cy="369332"/>
          </a:xfrm>
          <a:prstGeom prst="rect">
            <a:avLst/>
          </a:prstGeom>
          <a:noFill/>
        </p:spPr>
        <p:txBody>
          <a:bodyPr wrap="square">
            <a:spAutoFit/>
          </a:bodyPr>
          <a:lstStyle/>
          <a:p>
            <a:r>
              <a:rPr lang="en-US" b="0" i="0" dirty="0">
                <a:solidFill>
                  <a:srgbClr val="202124"/>
                </a:solidFill>
                <a:effectLst/>
                <a:latin typeface="Roboto" panose="02000000000000000000" pitchFamily="2" charset="0"/>
              </a:rPr>
              <a:t>1000</a:t>
            </a:r>
            <a:endParaRPr lang="en-US" dirty="0"/>
          </a:p>
        </p:txBody>
      </p:sp>
      <p:pic>
        <p:nvPicPr>
          <p:cNvPr id="2052" name="Picture 4">
            <a:extLst>
              <a:ext uri="{FF2B5EF4-FFF2-40B4-BE49-F238E27FC236}">
                <a16:creationId xmlns:a16="http://schemas.microsoft.com/office/drawing/2014/main" id="{D615A41F-54D6-48A0-9140-2B78E064AB5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45343" y="1363683"/>
            <a:ext cx="2857500" cy="71437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44EA3634-8E7A-4D78-9DEE-ECBBF3C90F90}"/>
              </a:ext>
            </a:extLst>
          </p:cNvPr>
          <p:cNvSpPr txBox="1"/>
          <p:nvPr/>
        </p:nvSpPr>
        <p:spPr>
          <a:xfrm>
            <a:off x="8226229" y="3732131"/>
            <a:ext cx="2321789" cy="461665"/>
          </a:xfrm>
          <a:prstGeom prst="rect">
            <a:avLst/>
          </a:prstGeom>
          <a:noFill/>
        </p:spPr>
        <p:txBody>
          <a:bodyPr wrap="none" rtlCol="0">
            <a:spAutoFit/>
          </a:bodyPr>
          <a:lstStyle/>
          <a:p>
            <a:r>
              <a:rPr lang="en-US" sz="2400" dirty="0" err="1"/>
              <a:t>Softmax</a:t>
            </a:r>
            <a:r>
              <a:rPr lang="en-US" sz="2400" dirty="0"/>
              <a:t> function</a:t>
            </a:r>
          </a:p>
        </p:txBody>
      </p:sp>
      <p:pic>
        <p:nvPicPr>
          <p:cNvPr id="2054" name="Picture 6">
            <a:extLst>
              <a:ext uri="{FF2B5EF4-FFF2-40B4-BE49-F238E27FC236}">
                <a16:creationId xmlns:a16="http://schemas.microsoft.com/office/drawing/2014/main" id="{9354001A-7DDF-404D-A075-FE5E4E336A7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90661" y="4275688"/>
            <a:ext cx="3621574" cy="128628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32CF7ED1-B999-44F6-BE83-09E0DB84FD6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40705" y="2653011"/>
            <a:ext cx="1106722" cy="59263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6EB9D210-58AE-4417-AB4C-87F34396A90A}"/>
              </a:ext>
            </a:extLst>
          </p:cNvPr>
          <p:cNvSpPr txBox="1"/>
          <p:nvPr/>
        </p:nvSpPr>
        <p:spPr>
          <a:xfrm>
            <a:off x="8772517" y="2742053"/>
            <a:ext cx="3052054" cy="461665"/>
          </a:xfrm>
          <a:prstGeom prst="rect">
            <a:avLst/>
          </a:prstGeom>
          <a:noFill/>
        </p:spPr>
        <p:txBody>
          <a:bodyPr wrap="none" rtlCol="0">
            <a:spAutoFit/>
          </a:bodyPr>
          <a:lstStyle/>
          <a:p>
            <a:r>
              <a:rPr lang="en-US" sz="2400" dirty="0"/>
              <a:t>Probability distribution</a:t>
            </a:r>
          </a:p>
        </p:txBody>
      </p:sp>
      <p:sp>
        <p:nvSpPr>
          <p:cNvPr id="3" name="TextBox 2">
            <a:extLst>
              <a:ext uri="{FF2B5EF4-FFF2-40B4-BE49-F238E27FC236}">
                <a16:creationId xmlns:a16="http://schemas.microsoft.com/office/drawing/2014/main" id="{5F1AE1DA-D0AB-430F-B19C-B36745BD5794}"/>
              </a:ext>
            </a:extLst>
          </p:cNvPr>
          <p:cNvSpPr txBox="1"/>
          <p:nvPr/>
        </p:nvSpPr>
        <p:spPr>
          <a:xfrm>
            <a:off x="508794" y="1587300"/>
            <a:ext cx="2520933" cy="830997"/>
          </a:xfrm>
          <a:prstGeom prst="rect">
            <a:avLst/>
          </a:prstGeom>
          <a:noFill/>
        </p:spPr>
        <p:txBody>
          <a:bodyPr wrap="square" rtlCol="0">
            <a:spAutoFit/>
          </a:bodyPr>
          <a:lstStyle/>
          <a:p>
            <a:r>
              <a:rPr lang="en-US" sz="2400" dirty="0"/>
              <a:t>Let’s consider only using one FC layer</a:t>
            </a:r>
          </a:p>
        </p:txBody>
      </p:sp>
    </p:spTree>
    <p:extLst>
      <p:ext uri="{BB962C8B-B14F-4D97-AF65-F5344CB8AC3E}">
        <p14:creationId xmlns:p14="http://schemas.microsoft.com/office/powerpoint/2010/main" val="84834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0191F-5D40-487E-9EEA-44B922EDB342}"/>
              </a:ext>
            </a:extLst>
          </p:cNvPr>
          <p:cNvSpPr>
            <a:spLocks noGrp="1"/>
          </p:cNvSpPr>
          <p:nvPr>
            <p:ph type="title"/>
          </p:nvPr>
        </p:nvSpPr>
        <p:spPr/>
        <p:txBody>
          <a:bodyPr/>
          <a:lstStyle/>
          <a:p>
            <a:r>
              <a:rPr lang="en-US" dirty="0"/>
              <a:t>Image Classification</a:t>
            </a:r>
          </a:p>
        </p:txBody>
      </p:sp>
      <p:sp>
        <p:nvSpPr>
          <p:cNvPr id="3" name="Content Placeholder 2">
            <a:extLst>
              <a:ext uri="{FF2B5EF4-FFF2-40B4-BE49-F238E27FC236}">
                <a16:creationId xmlns:a16="http://schemas.microsoft.com/office/drawing/2014/main" id="{309FC7E6-4E7E-4866-AC47-F857B3537FD4}"/>
              </a:ext>
            </a:extLst>
          </p:cNvPr>
          <p:cNvSpPr>
            <a:spLocks noGrp="1"/>
          </p:cNvSpPr>
          <p:nvPr>
            <p:ph idx="1"/>
          </p:nvPr>
        </p:nvSpPr>
        <p:spPr/>
        <p:txBody>
          <a:bodyPr/>
          <a:lstStyle/>
          <a:p>
            <a:r>
              <a:rPr lang="en-US" dirty="0"/>
              <a:t>Training data</a:t>
            </a:r>
          </a:p>
          <a:p>
            <a:endParaRPr lang="en-US" dirty="0"/>
          </a:p>
          <a:p>
            <a:endParaRPr lang="en-US" dirty="0"/>
          </a:p>
          <a:p>
            <a:endParaRPr lang="en-US" dirty="0"/>
          </a:p>
          <a:p>
            <a:r>
              <a:rPr lang="en-US" dirty="0"/>
              <a:t>One-hot vector: if an object in k-</a:t>
            </a:r>
            <a:r>
              <a:rPr lang="en-US" dirty="0" err="1"/>
              <a:t>th</a:t>
            </a:r>
            <a:r>
              <a:rPr lang="en-US" dirty="0"/>
              <a:t> class exists in the image, its label will be encoded as [0, 0, 0, …, 1, …, 0, 0, 0], where only k-</a:t>
            </a:r>
            <a:r>
              <a:rPr lang="en-US" dirty="0" err="1"/>
              <a:t>th</a:t>
            </a:r>
            <a:r>
              <a:rPr lang="en-US" dirty="0"/>
              <a:t> element in the vector is 1</a:t>
            </a:r>
          </a:p>
          <a:p>
            <a:endParaRPr lang="en-US" dirty="0"/>
          </a:p>
        </p:txBody>
      </p:sp>
      <p:sp>
        <p:nvSpPr>
          <p:cNvPr id="6" name="Slide Number Placeholder 5">
            <a:extLst>
              <a:ext uri="{FF2B5EF4-FFF2-40B4-BE49-F238E27FC236}">
                <a16:creationId xmlns:a16="http://schemas.microsoft.com/office/drawing/2014/main" id="{621754FA-F218-4644-8B6C-FB9D7F2EF515}"/>
              </a:ext>
            </a:extLst>
          </p:cNvPr>
          <p:cNvSpPr>
            <a:spLocks noGrp="1"/>
          </p:cNvSpPr>
          <p:nvPr>
            <p:ph type="sldNum" sz="quarter" idx="12"/>
          </p:nvPr>
        </p:nvSpPr>
        <p:spPr/>
        <p:txBody>
          <a:bodyPr/>
          <a:lstStyle/>
          <a:p>
            <a:fld id="{1B30F0CC-EBAF-4E3D-80D7-CFC82A3A738F}" type="slidenum">
              <a:rPr lang="en-US" smtClean="0"/>
              <a:pPr/>
              <a:t>71</a:t>
            </a:fld>
            <a:endParaRPr lang="en-US" dirty="0"/>
          </a:p>
        </p:txBody>
      </p:sp>
      <p:pic>
        <p:nvPicPr>
          <p:cNvPr id="7" name="Picture 2">
            <a:extLst>
              <a:ext uri="{FF2B5EF4-FFF2-40B4-BE49-F238E27FC236}">
                <a16:creationId xmlns:a16="http://schemas.microsoft.com/office/drawing/2014/main" id="{F04C56F0-9369-4819-BA2D-94A76738D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237" y="1303184"/>
            <a:ext cx="2871354" cy="72935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DB3A36A-1952-4B09-915E-D6B3092E0CB7}"/>
              </a:ext>
            </a:extLst>
          </p:cNvPr>
          <p:cNvSpPr txBox="1"/>
          <p:nvPr/>
        </p:nvSpPr>
        <p:spPr>
          <a:xfrm>
            <a:off x="3188687" y="2628747"/>
            <a:ext cx="949940" cy="461665"/>
          </a:xfrm>
          <a:prstGeom prst="rect">
            <a:avLst/>
          </a:prstGeom>
          <a:noFill/>
        </p:spPr>
        <p:txBody>
          <a:bodyPr wrap="none" rtlCol="0">
            <a:spAutoFit/>
          </a:bodyPr>
          <a:lstStyle/>
          <a:p>
            <a:r>
              <a:rPr lang="en-US" sz="2400" dirty="0"/>
              <a:t>Image</a:t>
            </a:r>
          </a:p>
        </p:txBody>
      </p:sp>
      <p:cxnSp>
        <p:nvCxnSpPr>
          <p:cNvPr id="9" name="Straight Arrow Connector 8">
            <a:extLst>
              <a:ext uri="{FF2B5EF4-FFF2-40B4-BE49-F238E27FC236}">
                <a16:creationId xmlns:a16="http://schemas.microsoft.com/office/drawing/2014/main" id="{39B78C6A-6E1E-4464-9966-F67861238DEB}"/>
              </a:ext>
            </a:extLst>
          </p:cNvPr>
          <p:cNvCxnSpPr>
            <a:cxnSpLocks/>
            <a:stCxn id="8" idx="0"/>
          </p:cNvCxnSpPr>
          <p:nvPr/>
        </p:nvCxnSpPr>
        <p:spPr>
          <a:xfrm flipV="1">
            <a:off x="3663657" y="2140754"/>
            <a:ext cx="308472" cy="48799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4120ED9-DE8C-4097-86AD-837D9699ADF7}"/>
              </a:ext>
            </a:extLst>
          </p:cNvPr>
          <p:cNvSpPr txBox="1"/>
          <p:nvPr/>
        </p:nvSpPr>
        <p:spPr>
          <a:xfrm>
            <a:off x="4833930" y="2628747"/>
            <a:ext cx="788999" cy="461665"/>
          </a:xfrm>
          <a:prstGeom prst="rect">
            <a:avLst/>
          </a:prstGeom>
          <a:noFill/>
        </p:spPr>
        <p:txBody>
          <a:bodyPr wrap="none" rtlCol="0">
            <a:spAutoFit/>
          </a:bodyPr>
          <a:lstStyle/>
          <a:p>
            <a:r>
              <a:rPr lang="en-US" sz="2400" dirty="0"/>
              <a:t>label</a:t>
            </a:r>
          </a:p>
        </p:txBody>
      </p:sp>
      <p:cxnSp>
        <p:nvCxnSpPr>
          <p:cNvPr id="11" name="Straight Arrow Connector 10">
            <a:extLst>
              <a:ext uri="{FF2B5EF4-FFF2-40B4-BE49-F238E27FC236}">
                <a16:creationId xmlns:a16="http://schemas.microsoft.com/office/drawing/2014/main" id="{B4F65824-4793-4A3A-9C5A-EEED6B0163EA}"/>
              </a:ext>
            </a:extLst>
          </p:cNvPr>
          <p:cNvCxnSpPr>
            <a:cxnSpLocks/>
            <a:stCxn id="10" idx="0"/>
          </p:cNvCxnSpPr>
          <p:nvPr/>
        </p:nvCxnSpPr>
        <p:spPr>
          <a:xfrm flipH="1" flipV="1">
            <a:off x="4833930" y="2140754"/>
            <a:ext cx="394500" cy="48799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076" name="Picture 4">
            <a:extLst>
              <a:ext uri="{FF2B5EF4-FFF2-40B4-BE49-F238E27FC236}">
                <a16:creationId xmlns:a16="http://schemas.microsoft.com/office/drawing/2014/main" id="{0509C4F0-5E46-403B-9EDF-B1DAD174AE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7893" y="4865012"/>
            <a:ext cx="5439132" cy="53941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9BE0FA6A-57BB-4B4E-B03C-01D63A3BD244}"/>
              </a:ext>
            </a:extLst>
          </p:cNvPr>
          <p:cNvSpPr txBox="1"/>
          <p:nvPr/>
        </p:nvSpPr>
        <p:spPr>
          <a:xfrm>
            <a:off x="5818357" y="5629235"/>
            <a:ext cx="3264035" cy="830997"/>
          </a:xfrm>
          <a:prstGeom prst="rect">
            <a:avLst/>
          </a:prstGeom>
          <a:noFill/>
        </p:spPr>
        <p:txBody>
          <a:bodyPr wrap="none" rtlCol="0">
            <a:spAutoFit/>
          </a:bodyPr>
          <a:lstStyle/>
          <a:p>
            <a:r>
              <a:rPr lang="en-US" sz="2400" dirty="0"/>
              <a:t>Ground truth category</a:t>
            </a:r>
          </a:p>
          <a:p>
            <a:endParaRPr lang="en-US" sz="2400" dirty="0"/>
          </a:p>
        </p:txBody>
      </p:sp>
      <p:cxnSp>
        <p:nvCxnSpPr>
          <p:cNvPr id="16" name="Straight Arrow Connector 15">
            <a:extLst>
              <a:ext uri="{FF2B5EF4-FFF2-40B4-BE49-F238E27FC236}">
                <a16:creationId xmlns:a16="http://schemas.microsoft.com/office/drawing/2014/main" id="{9EE68A6D-8522-4012-941F-80D2C9FFD68B}"/>
              </a:ext>
            </a:extLst>
          </p:cNvPr>
          <p:cNvCxnSpPr>
            <a:cxnSpLocks/>
          </p:cNvCxnSpPr>
          <p:nvPr/>
        </p:nvCxnSpPr>
        <p:spPr>
          <a:xfrm flipH="1" flipV="1">
            <a:off x="7276898" y="5263240"/>
            <a:ext cx="197138" cy="4496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02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66963-4B2C-44E3-B683-16CAEEBCBCD0}"/>
              </a:ext>
            </a:extLst>
          </p:cNvPr>
          <p:cNvSpPr>
            <a:spLocks noGrp="1"/>
          </p:cNvSpPr>
          <p:nvPr>
            <p:ph type="title"/>
          </p:nvPr>
        </p:nvSpPr>
        <p:spPr/>
        <p:txBody>
          <a:bodyPr/>
          <a:lstStyle/>
          <a:p>
            <a:r>
              <a:rPr lang="en-US" dirty="0"/>
              <a:t>Image Classification</a:t>
            </a:r>
          </a:p>
        </p:txBody>
      </p:sp>
      <p:sp>
        <p:nvSpPr>
          <p:cNvPr id="6" name="Slide Number Placeholder 5">
            <a:extLst>
              <a:ext uri="{FF2B5EF4-FFF2-40B4-BE49-F238E27FC236}">
                <a16:creationId xmlns:a16="http://schemas.microsoft.com/office/drawing/2014/main" id="{83B75C70-B79E-4D59-A502-6E43A22000CF}"/>
              </a:ext>
            </a:extLst>
          </p:cNvPr>
          <p:cNvSpPr>
            <a:spLocks noGrp="1"/>
          </p:cNvSpPr>
          <p:nvPr>
            <p:ph type="sldNum" sz="quarter" idx="12"/>
          </p:nvPr>
        </p:nvSpPr>
        <p:spPr/>
        <p:txBody>
          <a:bodyPr/>
          <a:lstStyle/>
          <a:p>
            <a:fld id="{1B30F0CC-EBAF-4E3D-80D7-CFC82A3A738F}" type="slidenum">
              <a:rPr lang="en-US" smtClean="0"/>
              <a:pPr/>
              <a:t>72</a:t>
            </a:fld>
            <a:endParaRPr lang="en-US" dirty="0"/>
          </a:p>
        </p:txBody>
      </p:sp>
      <p:grpSp>
        <p:nvGrpSpPr>
          <p:cNvPr id="7" name="Group 6">
            <a:extLst>
              <a:ext uri="{FF2B5EF4-FFF2-40B4-BE49-F238E27FC236}">
                <a16:creationId xmlns:a16="http://schemas.microsoft.com/office/drawing/2014/main" id="{A3164CD9-1030-4316-B5E7-72D5F02B2B73}"/>
              </a:ext>
            </a:extLst>
          </p:cNvPr>
          <p:cNvGrpSpPr/>
          <p:nvPr/>
        </p:nvGrpSpPr>
        <p:grpSpPr>
          <a:xfrm>
            <a:off x="2730640" y="1542644"/>
            <a:ext cx="3965241" cy="3995443"/>
            <a:chOff x="8000299" y="1533056"/>
            <a:chExt cx="3965241" cy="3995443"/>
          </a:xfrm>
        </p:grpSpPr>
        <p:pic>
          <p:nvPicPr>
            <p:cNvPr id="8" name="Picture 7" descr="Diagram&#10;&#10;Description automatically generated">
              <a:extLst>
                <a:ext uri="{FF2B5EF4-FFF2-40B4-BE49-F238E27FC236}">
                  <a16:creationId xmlns:a16="http://schemas.microsoft.com/office/drawing/2014/main" id="{68D23A84-9887-4AA7-B2B6-FD2DCCAF5F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7196" y="2063289"/>
              <a:ext cx="2856834" cy="3064295"/>
            </a:xfrm>
            <a:prstGeom prst="rect">
              <a:avLst/>
            </a:prstGeom>
          </p:spPr>
        </p:pic>
        <p:pic>
          <p:nvPicPr>
            <p:cNvPr id="9" name="Picture 4">
              <a:extLst>
                <a:ext uri="{FF2B5EF4-FFF2-40B4-BE49-F238E27FC236}">
                  <a16:creationId xmlns:a16="http://schemas.microsoft.com/office/drawing/2014/main" id="{67A88CAB-FFA3-4E10-B80D-AA4BB53D97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0299" y="5215314"/>
              <a:ext cx="1309086" cy="24355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59BA20E7-3E30-4454-BD13-DA9F32C273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56396" y="5143942"/>
              <a:ext cx="1709144" cy="38455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a:extLst>
                <a:ext uri="{FF2B5EF4-FFF2-40B4-BE49-F238E27FC236}">
                  <a16:creationId xmlns:a16="http://schemas.microsoft.com/office/drawing/2014/main" id="{1EF7E096-C167-4FF6-9AB8-6717057F2D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3719" y="1533056"/>
              <a:ext cx="2290567" cy="364547"/>
            </a:xfrm>
            <a:prstGeom prst="rect">
              <a:avLst/>
            </a:prstGeom>
            <a:noFill/>
            <a:extLst>
              <a:ext uri="{909E8E84-426E-40DD-AFC4-6F175D3DCCD1}">
                <a14:hiddenFill xmlns:a14="http://schemas.microsoft.com/office/drawing/2010/main">
                  <a:solidFill>
                    <a:srgbClr val="FFFFFF"/>
                  </a:solidFill>
                </a14:hiddenFill>
              </a:ext>
            </a:extLst>
          </p:spPr>
        </p:pic>
      </p:grpSp>
      <p:pic>
        <p:nvPicPr>
          <p:cNvPr id="12" name="Picture 2" descr="http://r.ddmcdn.com/s_f/o_1/cx_633/cy_0/cw_1725/ch_1725/w_720/APL/uploads/2014/11/too-cute-doggone-it-video-playlist.jpg">
            <a:extLst>
              <a:ext uri="{FF2B5EF4-FFF2-40B4-BE49-F238E27FC236}">
                <a16:creationId xmlns:a16="http://schemas.microsoft.com/office/drawing/2014/main" id="{99C025A6-F2DE-4245-B189-551F1DAA691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1947" y="2784142"/>
            <a:ext cx="16002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28EE120D-41F1-4F59-98BF-B63AF7073AA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7812" y="4565424"/>
            <a:ext cx="2248470" cy="267785"/>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4B95D67B-11F3-41A1-8B36-F1ABF298EB11}"/>
              </a:ext>
            </a:extLst>
          </p:cNvPr>
          <p:cNvGrpSpPr/>
          <p:nvPr/>
        </p:nvGrpSpPr>
        <p:grpSpPr>
          <a:xfrm>
            <a:off x="7611229" y="3906982"/>
            <a:ext cx="3908824" cy="2262928"/>
            <a:chOff x="7631824" y="4066052"/>
            <a:chExt cx="3908824" cy="2262928"/>
          </a:xfrm>
        </p:grpSpPr>
        <p:cxnSp>
          <p:nvCxnSpPr>
            <p:cNvPr id="31" name="Straight Arrow Connector 30">
              <a:extLst>
                <a:ext uri="{FF2B5EF4-FFF2-40B4-BE49-F238E27FC236}">
                  <a16:creationId xmlns:a16="http://schemas.microsoft.com/office/drawing/2014/main" id="{68F0BD02-CFC0-4609-A62A-E332AB94E14C}"/>
                </a:ext>
              </a:extLst>
            </p:cNvPr>
            <p:cNvCxnSpPr/>
            <p:nvPr/>
          </p:nvCxnSpPr>
          <p:spPr>
            <a:xfrm>
              <a:off x="8068266" y="5796380"/>
              <a:ext cx="31380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161DD00-3FA5-4C58-9696-EA0B1E568B47}"/>
                </a:ext>
              </a:extLst>
            </p:cNvPr>
            <p:cNvCxnSpPr>
              <a:cxnSpLocks/>
            </p:cNvCxnSpPr>
            <p:nvPr/>
          </p:nvCxnSpPr>
          <p:spPr>
            <a:xfrm flipV="1">
              <a:off x="8210275" y="4113053"/>
              <a:ext cx="0" cy="18386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67B7455-40DE-4792-8114-98844969CD9C}"/>
                </a:ext>
              </a:extLst>
            </p:cNvPr>
            <p:cNvSpPr txBox="1"/>
            <p:nvPr/>
          </p:nvSpPr>
          <p:spPr>
            <a:xfrm>
              <a:off x="8210275" y="5959648"/>
              <a:ext cx="301686" cy="369332"/>
            </a:xfrm>
            <a:prstGeom prst="rect">
              <a:avLst/>
            </a:prstGeom>
            <a:noFill/>
          </p:spPr>
          <p:txBody>
            <a:bodyPr wrap="none" rtlCol="0">
              <a:spAutoFit/>
            </a:bodyPr>
            <a:lstStyle/>
            <a:p>
              <a:r>
                <a:rPr lang="en-US" dirty="0"/>
                <a:t>0</a:t>
              </a:r>
            </a:p>
          </p:txBody>
        </p:sp>
        <p:sp>
          <p:nvSpPr>
            <p:cNvPr id="34" name="TextBox 33">
              <a:extLst>
                <a:ext uri="{FF2B5EF4-FFF2-40B4-BE49-F238E27FC236}">
                  <a16:creationId xmlns:a16="http://schemas.microsoft.com/office/drawing/2014/main" id="{B7F64DC3-6BE3-45B6-9D3A-4EDF42C73307}"/>
                </a:ext>
              </a:extLst>
            </p:cNvPr>
            <p:cNvSpPr txBox="1"/>
            <p:nvPr/>
          </p:nvSpPr>
          <p:spPr>
            <a:xfrm>
              <a:off x="8516632" y="5959648"/>
              <a:ext cx="301686" cy="369332"/>
            </a:xfrm>
            <a:prstGeom prst="rect">
              <a:avLst/>
            </a:prstGeom>
            <a:noFill/>
          </p:spPr>
          <p:txBody>
            <a:bodyPr wrap="none" rtlCol="0">
              <a:spAutoFit/>
            </a:bodyPr>
            <a:lstStyle/>
            <a:p>
              <a:r>
                <a:rPr lang="en-US" dirty="0"/>
                <a:t>1</a:t>
              </a:r>
            </a:p>
          </p:txBody>
        </p:sp>
        <p:sp>
          <p:nvSpPr>
            <p:cNvPr id="35" name="TextBox 34">
              <a:extLst>
                <a:ext uri="{FF2B5EF4-FFF2-40B4-BE49-F238E27FC236}">
                  <a16:creationId xmlns:a16="http://schemas.microsoft.com/office/drawing/2014/main" id="{E4EDC0CC-59D1-431C-A9D8-2DF1ECCCB8C1}"/>
                </a:ext>
              </a:extLst>
            </p:cNvPr>
            <p:cNvSpPr txBox="1"/>
            <p:nvPr/>
          </p:nvSpPr>
          <p:spPr>
            <a:xfrm>
              <a:off x="10765661" y="5959648"/>
              <a:ext cx="556563" cy="369332"/>
            </a:xfrm>
            <a:prstGeom prst="rect">
              <a:avLst/>
            </a:prstGeom>
            <a:noFill/>
          </p:spPr>
          <p:txBody>
            <a:bodyPr wrap="none" rtlCol="0">
              <a:spAutoFit/>
            </a:bodyPr>
            <a:lstStyle/>
            <a:p>
              <a:r>
                <a:rPr lang="en-US" dirty="0"/>
                <a:t>m-1</a:t>
              </a:r>
            </a:p>
          </p:txBody>
        </p:sp>
        <p:sp>
          <p:nvSpPr>
            <p:cNvPr id="39" name="Rectangle 38">
              <a:extLst>
                <a:ext uri="{FF2B5EF4-FFF2-40B4-BE49-F238E27FC236}">
                  <a16:creationId xmlns:a16="http://schemas.microsoft.com/office/drawing/2014/main" id="{3DE99D44-338E-4A0C-92DE-A16228929926}"/>
                </a:ext>
              </a:extLst>
            </p:cNvPr>
            <p:cNvSpPr/>
            <p:nvPr/>
          </p:nvSpPr>
          <p:spPr>
            <a:xfrm>
              <a:off x="9153083" y="4368408"/>
              <a:ext cx="165901" cy="141212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2B551768-F807-422B-82AA-9C81282FAB4F}"/>
                </a:ext>
              </a:extLst>
            </p:cNvPr>
            <p:cNvSpPr txBox="1"/>
            <p:nvPr/>
          </p:nvSpPr>
          <p:spPr>
            <a:xfrm>
              <a:off x="9450277" y="5032390"/>
              <a:ext cx="503664" cy="646331"/>
            </a:xfrm>
            <a:prstGeom prst="rect">
              <a:avLst/>
            </a:prstGeom>
            <a:noFill/>
          </p:spPr>
          <p:txBody>
            <a:bodyPr wrap="none" rtlCol="0">
              <a:spAutoFit/>
            </a:bodyPr>
            <a:lstStyle/>
            <a:p>
              <a:r>
                <a:rPr lang="en-US" sz="3600" dirty="0"/>
                <a:t>…</a:t>
              </a:r>
            </a:p>
          </p:txBody>
        </p:sp>
        <p:sp>
          <p:nvSpPr>
            <p:cNvPr id="44" name="TextBox 43">
              <a:extLst>
                <a:ext uri="{FF2B5EF4-FFF2-40B4-BE49-F238E27FC236}">
                  <a16:creationId xmlns:a16="http://schemas.microsoft.com/office/drawing/2014/main" id="{A24A5C39-872F-4502-93B9-81C63D0595D5}"/>
                </a:ext>
              </a:extLst>
            </p:cNvPr>
            <p:cNvSpPr txBox="1"/>
            <p:nvPr/>
          </p:nvSpPr>
          <p:spPr>
            <a:xfrm>
              <a:off x="8456306" y="5031551"/>
              <a:ext cx="503664" cy="646331"/>
            </a:xfrm>
            <a:prstGeom prst="rect">
              <a:avLst/>
            </a:prstGeom>
            <a:noFill/>
          </p:spPr>
          <p:txBody>
            <a:bodyPr wrap="none" rtlCol="0">
              <a:spAutoFit/>
            </a:bodyPr>
            <a:lstStyle/>
            <a:p>
              <a:r>
                <a:rPr lang="en-US" sz="3600" dirty="0"/>
                <a:t>…</a:t>
              </a:r>
            </a:p>
          </p:txBody>
        </p:sp>
        <p:sp>
          <p:nvSpPr>
            <p:cNvPr id="45" name="TextBox 44">
              <a:extLst>
                <a:ext uri="{FF2B5EF4-FFF2-40B4-BE49-F238E27FC236}">
                  <a16:creationId xmlns:a16="http://schemas.microsoft.com/office/drawing/2014/main" id="{F2CCFD8A-229D-425F-82E3-5B3B1794C214}"/>
                </a:ext>
              </a:extLst>
            </p:cNvPr>
            <p:cNvSpPr txBox="1"/>
            <p:nvPr/>
          </p:nvSpPr>
          <p:spPr>
            <a:xfrm>
              <a:off x="9706620" y="4066052"/>
              <a:ext cx="1834028" cy="461665"/>
            </a:xfrm>
            <a:prstGeom prst="rect">
              <a:avLst/>
            </a:prstGeom>
            <a:noFill/>
          </p:spPr>
          <p:txBody>
            <a:bodyPr wrap="none" rtlCol="0">
              <a:spAutoFit/>
            </a:bodyPr>
            <a:lstStyle/>
            <a:p>
              <a:r>
                <a:rPr lang="en-US" sz="2400" dirty="0"/>
                <a:t>Ground truth</a:t>
              </a:r>
            </a:p>
          </p:txBody>
        </p:sp>
        <p:sp>
          <p:nvSpPr>
            <p:cNvPr id="46" name="TextBox 45">
              <a:extLst>
                <a:ext uri="{FF2B5EF4-FFF2-40B4-BE49-F238E27FC236}">
                  <a16:creationId xmlns:a16="http://schemas.microsoft.com/office/drawing/2014/main" id="{3E97287C-CEA2-4CF4-918F-D079A18AE6E4}"/>
                </a:ext>
              </a:extLst>
            </p:cNvPr>
            <p:cNvSpPr txBox="1"/>
            <p:nvPr/>
          </p:nvSpPr>
          <p:spPr>
            <a:xfrm>
              <a:off x="7631824" y="4199676"/>
              <a:ext cx="301686" cy="369332"/>
            </a:xfrm>
            <a:prstGeom prst="rect">
              <a:avLst/>
            </a:prstGeom>
            <a:noFill/>
          </p:spPr>
          <p:txBody>
            <a:bodyPr wrap="none" rtlCol="0">
              <a:spAutoFit/>
            </a:bodyPr>
            <a:lstStyle/>
            <a:p>
              <a:r>
                <a:rPr lang="en-US" dirty="0"/>
                <a:t>1</a:t>
              </a:r>
            </a:p>
          </p:txBody>
        </p:sp>
      </p:grpSp>
      <p:grpSp>
        <p:nvGrpSpPr>
          <p:cNvPr id="3" name="Group 2">
            <a:extLst>
              <a:ext uri="{FF2B5EF4-FFF2-40B4-BE49-F238E27FC236}">
                <a16:creationId xmlns:a16="http://schemas.microsoft.com/office/drawing/2014/main" id="{55EFF874-995B-45D9-806F-73360AEB3416}"/>
              </a:ext>
            </a:extLst>
          </p:cNvPr>
          <p:cNvGrpSpPr/>
          <p:nvPr/>
        </p:nvGrpSpPr>
        <p:grpSpPr>
          <a:xfrm>
            <a:off x="7729056" y="810083"/>
            <a:ext cx="3536293" cy="2673535"/>
            <a:chOff x="7729056" y="810083"/>
            <a:chExt cx="3536293" cy="2673535"/>
          </a:xfrm>
        </p:grpSpPr>
        <p:pic>
          <p:nvPicPr>
            <p:cNvPr id="14" name="Picture 8">
              <a:extLst>
                <a:ext uri="{FF2B5EF4-FFF2-40B4-BE49-F238E27FC236}">
                  <a16:creationId xmlns:a16="http://schemas.microsoft.com/office/drawing/2014/main" id="{C6459081-934E-45DD-935D-17D5AC9D74C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98193" y="810083"/>
              <a:ext cx="949813" cy="5086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B2907F91-C11C-44E5-94D9-AF912BE24D26}"/>
                </a:ext>
              </a:extLst>
            </p:cNvPr>
            <p:cNvCxnSpPr/>
            <p:nvPr/>
          </p:nvCxnSpPr>
          <p:spPr>
            <a:xfrm>
              <a:off x="8011391" y="2951018"/>
              <a:ext cx="31380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B0AFF26-0E99-48F6-AF3C-0CB6676394A9}"/>
                </a:ext>
              </a:extLst>
            </p:cNvPr>
            <p:cNvCxnSpPr>
              <a:cxnSpLocks/>
            </p:cNvCxnSpPr>
            <p:nvPr/>
          </p:nvCxnSpPr>
          <p:spPr>
            <a:xfrm flipV="1">
              <a:off x="8153400" y="1267691"/>
              <a:ext cx="0" cy="18386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0DA9D44-3AE9-4D39-AC7D-7F045F264777}"/>
                </a:ext>
              </a:extLst>
            </p:cNvPr>
            <p:cNvSpPr txBox="1"/>
            <p:nvPr/>
          </p:nvSpPr>
          <p:spPr>
            <a:xfrm>
              <a:off x="8153400" y="3114286"/>
              <a:ext cx="301686" cy="369332"/>
            </a:xfrm>
            <a:prstGeom prst="rect">
              <a:avLst/>
            </a:prstGeom>
            <a:noFill/>
          </p:spPr>
          <p:txBody>
            <a:bodyPr wrap="none" rtlCol="0">
              <a:spAutoFit/>
            </a:bodyPr>
            <a:lstStyle/>
            <a:p>
              <a:r>
                <a:rPr lang="en-US" dirty="0"/>
                <a:t>0</a:t>
              </a:r>
            </a:p>
          </p:txBody>
        </p:sp>
        <p:sp>
          <p:nvSpPr>
            <p:cNvPr id="21" name="TextBox 20">
              <a:extLst>
                <a:ext uri="{FF2B5EF4-FFF2-40B4-BE49-F238E27FC236}">
                  <a16:creationId xmlns:a16="http://schemas.microsoft.com/office/drawing/2014/main" id="{C9175B86-A72D-4CB1-ABFF-A7606429D3BE}"/>
                </a:ext>
              </a:extLst>
            </p:cNvPr>
            <p:cNvSpPr txBox="1"/>
            <p:nvPr/>
          </p:nvSpPr>
          <p:spPr>
            <a:xfrm>
              <a:off x="8459757" y="3114286"/>
              <a:ext cx="301686" cy="369332"/>
            </a:xfrm>
            <a:prstGeom prst="rect">
              <a:avLst/>
            </a:prstGeom>
            <a:noFill/>
          </p:spPr>
          <p:txBody>
            <a:bodyPr wrap="none" rtlCol="0">
              <a:spAutoFit/>
            </a:bodyPr>
            <a:lstStyle/>
            <a:p>
              <a:r>
                <a:rPr lang="en-US" dirty="0"/>
                <a:t>1</a:t>
              </a:r>
            </a:p>
          </p:txBody>
        </p:sp>
        <p:sp>
          <p:nvSpPr>
            <p:cNvPr id="22" name="TextBox 21">
              <a:extLst>
                <a:ext uri="{FF2B5EF4-FFF2-40B4-BE49-F238E27FC236}">
                  <a16:creationId xmlns:a16="http://schemas.microsoft.com/office/drawing/2014/main" id="{D28D9E18-39AC-4073-9B2A-684AD15293D4}"/>
                </a:ext>
              </a:extLst>
            </p:cNvPr>
            <p:cNvSpPr txBox="1"/>
            <p:nvPr/>
          </p:nvSpPr>
          <p:spPr>
            <a:xfrm>
              <a:off x="10708786" y="3114286"/>
              <a:ext cx="556563" cy="369332"/>
            </a:xfrm>
            <a:prstGeom prst="rect">
              <a:avLst/>
            </a:prstGeom>
            <a:noFill/>
          </p:spPr>
          <p:txBody>
            <a:bodyPr wrap="none" rtlCol="0">
              <a:spAutoFit/>
            </a:bodyPr>
            <a:lstStyle/>
            <a:p>
              <a:r>
                <a:rPr lang="en-US" dirty="0"/>
                <a:t>m-1</a:t>
              </a:r>
            </a:p>
          </p:txBody>
        </p:sp>
        <p:sp>
          <p:nvSpPr>
            <p:cNvPr id="23" name="Rectangle 22">
              <a:extLst>
                <a:ext uri="{FF2B5EF4-FFF2-40B4-BE49-F238E27FC236}">
                  <a16:creationId xmlns:a16="http://schemas.microsoft.com/office/drawing/2014/main" id="{2E9783F6-7CBB-4200-B0B7-73EC6E24A0A4}"/>
                </a:ext>
              </a:extLst>
            </p:cNvPr>
            <p:cNvSpPr/>
            <p:nvPr/>
          </p:nvSpPr>
          <p:spPr>
            <a:xfrm>
              <a:off x="8209768" y="2275613"/>
              <a:ext cx="163834" cy="66748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29E8E98-7C50-43A8-9550-5586CAD487EF}"/>
                </a:ext>
              </a:extLst>
            </p:cNvPr>
            <p:cNvSpPr/>
            <p:nvPr/>
          </p:nvSpPr>
          <p:spPr>
            <a:xfrm>
              <a:off x="8488165" y="2535383"/>
              <a:ext cx="122435" cy="3997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23CA998-448B-44F2-B194-64C61EB02898}"/>
                </a:ext>
              </a:extLst>
            </p:cNvPr>
            <p:cNvSpPr/>
            <p:nvPr/>
          </p:nvSpPr>
          <p:spPr>
            <a:xfrm>
              <a:off x="8761444" y="2187028"/>
              <a:ext cx="163834" cy="7481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71F5A17-425D-4556-87DF-B5FDCD2C1785}"/>
                </a:ext>
              </a:extLst>
            </p:cNvPr>
            <p:cNvSpPr/>
            <p:nvPr/>
          </p:nvSpPr>
          <p:spPr>
            <a:xfrm>
              <a:off x="9096209" y="1878662"/>
              <a:ext cx="147556" cy="105651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EE62BFC-A5C0-4400-B98B-98A53AC1ECCE}"/>
                </a:ext>
              </a:extLst>
            </p:cNvPr>
            <p:cNvSpPr/>
            <p:nvPr/>
          </p:nvSpPr>
          <p:spPr>
            <a:xfrm>
              <a:off x="10121965" y="2275613"/>
              <a:ext cx="147557" cy="65956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21378BB-FE05-4E51-8783-0DEE68AF657F}"/>
                </a:ext>
              </a:extLst>
            </p:cNvPr>
            <p:cNvSpPr/>
            <p:nvPr/>
          </p:nvSpPr>
          <p:spPr>
            <a:xfrm>
              <a:off x="10402430" y="2535383"/>
              <a:ext cx="165901" cy="40771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FA17B1A-C497-4A35-BEB0-96947F8D5778}"/>
                </a:ext>
              </a:extLst>
            </p:cNvPr>
            <p:cNvSpPr/>
            <p:nvPr/>
          </p:nvSpPr>
          <p:spPr>
            <a:xfrm>
              <a:off x="10717969" y="2779831"/>
              <a:ext cx="165901" cy="15225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AAEEBE2-121A-4A0A-B5D5-DE16AA76C76D}"/>
                </a:ext>
              </a:extLst>
            </p:cNvPr>
            <p:cNvSpPr txBox="1"/>
            <p:nvPr/>
          </p:nvSpPr>
          <p:spPr>
            <a:xfrm>
              <a:off x="9393402" y="2187028"/>
              <a:ext cx="503664" cy="646331"/>
            </a:xfrm>
            <a:prstGeom prst="rect">
              <a:avLst/>
            </a:prstGeom>
            <a:noFill/>
          </p:spPr>
          <p:txBody>
            <a:bodyPr wrap="none" rtlCol="0">
              <a:spAutoFit/>
            </a:bodyPr>
            <a:lstStyle/>
            <a:p>
              <a:r>
                <a:rPr lang="en-US" sz="3600" dirty="0"/>
                <a:t>…</a:t>
              </a:r>
            </a:p>
          </p:txBody>
        </p:sp>
        <p:sp>
          <p:nvSpPr>
            <p:cNvPr id="47" name="TextBox 46">
              <a:extLst>
                <a:ext uri="{FF2B5EF4-FFF2-40B4-BE49-F238E27FC236}">
                  <a16:creationId xmlns:a16="http://schemas.microsoft.com/office/drawing/2014/main" id="{3C13CD2C-E1D6-480E-8374-9ADCA0EEC24B}"/>
                </a:ext>
              </a:extLst>
            </p:cNvPr>
            <p:cNvSpPr txBox="1"/>
            <p:nvPr/>
          </p:nvSpPr>
          <p:spPr>
            <a:xfrm>
              <a:off x="7729056" y="1264420"/>
              <a:ext cx="301686" cy="369332"/>
            </a:xfrm>
            <a:prstGeom prst="rect">
              <a:avLst/>
            </a:prstGeom>
            <a:noFill/>
          </p:spPr>
          <p:txBody>
            <a:bodyPr wrap="none" rtlCol="0">
              <a:spAutoFit/>
            </a:bodyPr>
            <a:lstStyle/>
            <a:p>
              <a:r>
                <a:rPr lang="en-US" dirty="0"/>
                <a:t>1</a:t>
              </a:r>
            </a:p>
          </p:txBody>
        </p:sp>
      </p:grpSp>
      <p:sp>
        <p:nvSpPr>
          <p:cNvPr id="48" name="Arrow: Down 47">
            <a:extLst>
              <a:ext uri="{FF2B5EF4-FFF2-40B4-BE49-F238E27FC236}">
                <a16:creationId xmlns:a16="http://schemas.microsoft.com/office/drawing/2014/main" id="{3F7E4DF1-8C01-40C0-85B0-3444C1A6728F}"/>
              </a:ext>
            </a:extLst>
          </p:cNvPr>
          <p:cNvSpPr/>
          <p:nvPr/>
        </p:nvSpPr>
        <p:spPr>
          <a:xfrm>
            <a:off x="9494391" y="3315198"/>
            <a:ext cx="301686" cy="68903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4">
            <a:extLst>
              <a:ext uri="{FF2B5EF4-FFF2-40B4-BE49-F238E27FC236}">
                <a16:creationId xmlns:a16="http://schemas.microsoft.com/office/drawing/2014/main" id="{4351966D-25D9-4597-97D2-857B3E17E44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67031" y="5592103"/>
            <a:ext cx="2017846" cy="50446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B3FD446C-827E-443B-ADEA-C28D3D41F0B8}"/>
              </a:ext>
            </a:extLst>
          </p:cNvPr>
          <p:cNvSpPr txBox="1"/>
          <p:nvPr/>
        </p:nvSpPr>
        <p:spPr>
          <a:xfrm>
            <a:off x="9835717" y="3480406"/>
            <a:ext cx="1999330" cy="369332"/>
          </a:xfrm>
          <a:prstGeom prst="rect">
            <a:avLst/>
          </a:prstGeom>
          <a:noFill/>
        </p:spPr>
        <p:txBody>
          <a:bodyPr wrap="none" rtlCol="0">
            <a:spAutoFit/>
          </a:bodyPr>
          <a:lstStyle/>
          <a:p>
            <a:r>
              <a:rPr lang="en-US" dirty="0">
                <a:solidFill>
                  <a:srgbClr val="FF0000"/>
                </a:solidFill>
              </a:rPr>
              <a:t>The goal of training</a:t>
            </a:r>
          </a:p>
        </p:txBody>
      </p:sp>
    </p:spTree>
    <p:extLst>
      <p:ext uri="{BB962C8B-B14F-4D97-AF65-F5344CB8AC3E}">
        <p14:creationId xmlns:p14="http://schemas.microsoft.com/office/powerpoint/2010/main" val="244113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1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2353-FFA5-4CEC-997B-AA0BD9D15B64}"/>
              </a:ext>
            </a:extLst>
          </p:cNvPr>
          <p:cNvSpPr>
            <a:spLocks noGrp="1"/>
          </p:cNvSpPr>
          <p:nvPr>
            <p:ph type="title"/>
          </p:nvPr>
        </p:nvSpPr>
        <p:spPr/>
        <p:txBody>
          <a:bodyPr/>
          <a:lstStyle/>
          <a:p>
            <a:r>
              <a:rPr lang="en-US" dirty="0"/>
              <a:t>Image Classification</a:t>
            </a:r>
          </a:p>
        </p:txBody>
      </p:sp>
      <p:sp>
        <p:nvSpPr>
          <p:cNvPr id="3" name="Content Placeholder 2">
            <a:extLst>
              <a:ext uri="{FF2B5EF4-FFF2-40B4-BE49-F238E27FC236}">
                <a16:creationId xmlns:a16="http://schemas.microsoft.com/office/drawing/2014/main" id="{CF793853-C2C6-4072-979E-9903EB966345}"/>
              </a:ext>
            </a:extLst>
          </p:cNvPr>
          <p:cNvSpPr>
            <a:spLocks noGrp="1"/>
          </p:cNvSpPr>
          <p:nvPr>
            <p:ph idx="1"/>
          </p:nvPr>
        </p:nvSpPr>
        <p:spPr/>
        <p:txBody>
          <a:bodyPr/>
          <a:lstStyle/>
          <a:p>
            <a:r>
              <a:rPr lang="en-US" dirty="0"/>
              <a:t>Cross entropy loss function</a:t>
            </a:r>
          </a:p>
        </p:txBody>
      </p:sp>
      <p:sp>
        <p:nvSpPr>
          <p:cNvPr id="6" name="Slide Number Placeholder 5">
            <a:extLst>
              <a:ext uri="{FF2B5EF4-FFF2-40B4-BE49-F238E27FC236}">
                <a16:creationId xmlns:a16="http://schemas.microsoft.com/office/drawing/2014/main" id="{66B1D4F6-AEBE-462B-ABA7-18641226F5E5}"/>
              </a:ext>
            </a:extLst>
          </p:cNvPr>
          <p:cNvSpPr>
            <a:spLocks noGrp="1"/>
          </p:cNvSpPr>
          <p:nvPr>
            <p:ph type="sldNum" sz="quarter" idx="12"/>
          </p:nvPr>
        </p:nvSpPr>
        <p:spPr/>
        <p:txBody>
          <a:bodyPr/>
          <a:lstStyle/>
          <a:p>
            <a:fld id="{1B30F0CC-EBAF-4E3D-80D7-CFC82A3A738F}" type="slidenum">
              <a:rPr lang="en-US" smtClean="0"/>
              <a:pPr/>
              <a:t>73</a:t>
            </a:fld>
            <a:endParaRPr lang="en-US" dirty="0"/>
          </a:p>
        </p:txBody>
      </p:sp>
      <p:pic>
        <p:nvPicPr>
          <p:cNvPr id="7" name="Picture 8">
            <a:extLst>
              <a:ext uri="{FF2B5EF4-FFF2-40B4-BE49-F238E27FC236}">
                <a16:creationId xmlns:a16="http://schemas.microsoft.com/office/drawing/2014/main" id="{3994775E-582E-44D9-B997-CF444C2F8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8193" y="810083"/>
            <a:ext cx="949813" cy="50861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3F73E19E-A602-400D-BCB7-6CD8F1198E0A}"/>
              </a:ext>
            </a:extLst>
          </p:cNvPr>
          <p:cNvCxnSpPr/>
          <p:nvPr/>
        </p:nvCxnSpPr>
        <p:spPr>
          <a:xfrm>
            <a:off x="8011391" y="2951018"/>
            <a:ext cx="31380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80AD224-9166-4AFE-A770-1732DF443A81}"/>
              </a:ext>
            </a:extLst>
          </p:cNvPr>
          <p:cNvCxnSpPr>
            <a:cxnSpLocks/>
          </p:cNvCxnSpPr>
          <p:nvPr/>
        </p:nvCxnSpPr>
        <p:spPr>
          <a:xfrm flipV="1">
            <a:off x="8153400" y="1267691"/>
            <a:ext cx="0" cy="18386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12824E8-6FB7-4C2F-A372-2FABEDFD318C}"/>
              </a:ext>
            </a:extLst>
          </p:cNvPr>
          <p:cNvSpPr txBox="1"/>
          <p:nvPr/>
        </p:nvSpPr>
        <p:spPr>
          <a:xfrm>
            <a:off x="8153400" y="3114286"/>
            <a:ext cx="301686" cy="369332"/>
          </a:xfrm>
          <a:prstGeom prst="rect">
            <a:avLst/>
          </a:prstGeom>
          <a:noFill/>
        </p:spPr>
        <p:txBody>
          <a:bodyPr wrap="none" rtlCol="0">
            <a:spAutoFit/>
          </a:bodyPr>
          <a:lstStyle/>
          <a:p>
            <a:r>
              <a:rPr lang="en-US" dirty="0"/>
              <a:t>0</a:t>
            </a:r>
          </a:p>
        </p:txBody>
      </p:sp>
      <p:sp>
        <p:nvSpPr>
          <p:cNvPr id="11" name="TextBox 10">
            <a:extLst>
              <a:ext uri="{FF2B5EF4-FFF2-40B4-BE49-F238E27FC236}">
                <a16:creationId xmlns:a16="http://schemas.microsoft.com/office/drawing/2014/main" id="{67A612C8-8806-475F-A977-B9BA6499DCDB}"/>
              </a:ext>
            </a:extLst>
          </p:cNvPr>
          <p:cNvSpPr txBox="1"/>
          <p:nvPr/>
        </p:nvSpPr>
        <p:spPr>
          <a:xfrm>
            <a:off x="8459757" y="3114286"/>
            <a:ext cx="301686" cy="369332"/>
          </a:xfrm>
          <a:prstGeom prst="rect">
            <a:avLst/>
          </a:prstGeom>
          <a:noFill/>
        </p:spPr>
        <p:txBody>
          <a:bodyPr wrap="none" rtlCol="0">
            <a:spAutoFit/>
          </a:bodyPr>
          <a:lstStyle/>
          <a:p>
            <a:r>
              <a:rPr lang="en-US" dirty="0"/>
              <a:t>1</a:t>
            </a:r>
          </a:p>
        </p:txBody>
      </p:sp>
      <p:sp>
        <p:nvSpPr>
          <p:cNvPr id="12" name="TextBox 11">
            <a:extLst>
              <a:ext uri="{FF2B5EF4-FFF2-40B4-BE49-F238E27FC236}">
                <a16:creationId xmlns:a16="http://schemas.microsoft.com/office/drawing/2014/main" id="{1D81A382-EFF1-41F1-86BC-E104D0601B0B}"/>
              </a:ext>
            </a:extLst>
          </p:cNvPr>
          <p:cNvSpPr txBox="1"/>
          <p:nvPr/>
        </p:nvSpPr>
        <p:spPr>
          <a:xfrm>
            <a:off x="10708786" y="3114286"/>
            <a:ext cx="556563" cy="369332"/>
          </a:xfrm>
          <a:prstGeom prst="rect">
            <a:avLst/>
          </a:prstGeom>
          <a:noFill/>
        </p:spPr>
        <p:txBody>
          <a:bodyPr wrap="none" rtlCol="0">
            <a:spAutoFit/>
          </a:bodyPr>
          <a:lstStyle/>
          <a:p>
            <a:r>
              <a:rPr lang="en-US" dirty="0"/>
              <a:t>m-1</a:t>
            </a:r>
          </a:p>
        </p:txBody>
      </p:sp>
      <p:sp>
        <p:nvSpPr>
          <p:cNvPr id="13" name="Rectangle 12">
            <a:extLst>
              <a:ext uri="{FF2B5EF4-FFF2-40B4-BE49-F238E27FC236}">
                <a16:creationId xmlns:a16="http://schemas.microsoft.com/office/drawing/2014/main" id="{134AFF9D-7D59-45C1-A3FB-6CDD72240520}"/>
              </a:ext>
            </a:extLst>
          </p:cNvPr>
          <p:cNvSpPr/>
          <p:nvPr/>
        </p:nvSpPr>
        <p:spPr>
          <a:xfrm>
            <a:off x="8209768" y="2275613"/>
            <a:ext cx="163834" cy="66748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016E0B8-3A98-4E8F-A9CF-524A4F573D52}"/>
              </a:ext>
            </a:extLst>
          </p:cNvPr>
          <p:cNvSpPr/>
          <p:nvPr/>
        </p:nvSpPr>
        <p:spPr>
          <a:xfrm>
            <a:off x="8488165" y="2535383"/>
            <a:ext cx="122435" cy="3997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FB4E9DE-8E4B-43D1-AC06-9D93ACFEC563}"/>
              </a:ext>
            </a:extLst>
          </p:cNvPr>
          <p:cNvSpPr/>
          <p:nvPr/>
        </p:nvSpPr>
        <p:spPr>
          <a:xfrm>
            <a:off x="8761444" y="2187028"/>
            <a:ext cx="163834" cy="7481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B721D4-88D2-4749-AA96-B2901D21424C}"/>
              </a:ext>
            </a:extLst>
          </p:cNvPr>
          <p:cNvSpPr/>
          <p:nvPr/>
        </p:nvSpPr>
        <p:spPr>
          <a:xfrm>
            <a:off x="9096209" y="1878662"/>
            <a:ext cx="147556" cy="105651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753B0EF-2D26-4633-A8F2-0A642504A2DD}"/>
              </a:ext>
            </a:extLst>
          </p:cNvPr>
          <p:cNvSpPr/>
          <p:nvPr/>
        </p:nvSpPr>
        <p:spPr>
          <a:xfrm>
            <a:off x="10121965" y="2275613"/>
            <a:ext cx="147557" cy="65956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234FB90-705B-4798-A4DF-46191C850129}"/>
              </a:ext>
            </a:extLst>
          </p:cNvPr>
          <p:cNvSpPr/>
          <p:nvPr/>
        </p:nvSpPr>
        <p:spPr>
          <a:xfrm>
            <a:off x="10402430" y="2535383"/>
            <a:ext cx="165901" cy="40771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B2A14A1-3485-4D51-9435-C4308C58F92B}"/>
              </a:ext>
            </a:extLst>
          </p:cNvPr>
          <p:cNvSpPr/>
          <p:nvPr/>
        </p:nvSpPr>
        <p:spPr>
          <a:xfrm>
            <a:off x="10717969" y="2779831"/>
            <a:ext cx="165901" cy="15225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A12BEED-423E-44DA-BA85-2FF89BC0D391}"/>
              </a:ext>
            </a:extLst>
          </p:cNvPr>
          <p:cNvSpPr txBox="1"/>
          <p:nvPr/>
        </p:nvSpPr>
        <p:spPr>
          <a:xfrm>
            <a:off x="9393402" y="2187028"/>
            <a:ext cx="503664" cy="646331"/>
          </a:xfrm>
          <a:prstGeom prst="rect">
            <a:avLst/>
          </a:prstGeom>
          <a:noFill/>
        </p:spPr>
        <p:txBody>
          <a:bodyPr wrap="none" rtlCol="0">
            <a:spAutoFit/>
          </a:bodyPr>
          <a:lstStyle/>
          <a:p>
            <a:r>
              <a:rPr lang="en-US" sz="3600" dirty="0"/>
              <a:t>…</a:t>
            </a:r>
          </a:p>
        </p:txBody>
      </p:sp>
      <p:cxnSp>
        <p:nvCxnSpPr>
          <p:cNvPr id="21" name="Straight Arrow Connector 20">
            <a:extLst>
              <a:ext uri="{FF2B5EF4-FFF2-40B4-BE49-F238E27FC236}">
                <a16:creationId xmlns:a16="http://schemas.microsoft.com/office/drawing/2014/main" id="{B7FA1A3E-B1F5-4CB5-91E5-B8E11E0E7990}"/>
              </a:ext>
            </a:extLst>
          </p:cNvPr>
          <p:cNvCxnSpPr/>
          <p:nvPr/>
        </p:nvCxnSpPr>
        <p:spPr>
          <a:xfrm>
            <a:off x="8068266" y="5617962"/>
            <a:ext cx="31380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5D48A8-E916-4C7A-9AE2-9A058CE30944}"/>
              </a:ext>
            </a:extLst>
          </p:cNvPr>
          <p:cNvCxnSpPr>
            <a:cxnSpLocks/>
          </p:cNvCxnSpPr>
          <p:nvPr/>
        </p:nvCxnSpPr>
        <p:spPr>
          <a:xfrm flipV="1">
            <a:off x="8210275" y="3934635"/>
            <a:ext cx="0" cy="18386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929172E-932C-499E-B349-3F55B0A2C110}"/>
              </a:ext>
            </a:extLst>
          </p:cNvPr>
          <p:cNvSpPr txBox="1"/>
          <p:nvPr/>
        </p:nvSpPr>
        <p:spPr>
          <a:xfrm>
            <a:off x="8210275" y="5781230"/>
            <a:ext cx="301686" cy="369332"/>
          </a:xfrm>
          <a:prstGeom prst="rect">
            <a:avLst/>
          </a:prstGeom>
          <a:noFill/>
        </p:spPr>
        <p:txBody>
          <a:bodyPr wrap="none" rtlCol="0">
            <a:spAutoFit/>
          </a:bodyPr>
          <a:lstStyle/>
          <a:p>
            <a:r>
              <a:rPr lang="en-US" dirty="0"/>
              <a:t>0</a:t>
            </a:r>
          </a:p>
        </p:txBody>
      </p:sp>
      <p:sp>
        <p:nvSpPr>
          <p:cNvPr id="24" name="TextBox 23">
            <a:extLst>
              <a:ext uri="{FF2B5EF4-FFF2-40B4-BE49-F238E27FC236}">
                <a16:creationId xmlns:a16="http://schemas.microsoft.com/office/drawing/2014/main" id="{27D76D5E-039F-462C-B751-C9250BDC4C06}"/>
              </a:ext>
            </a:extLst>
          </p:cNvPr>
          <p:cNvSpPr txBox="1"/>
          <p:nvPr/>
        </p:nvSpPr>
        <p:spPr>
          <a:xfrm>
            <a:off x="8516632" y="5781230"/>
            <a:ext cx="301686" cy="369332"/>
          </a:xfrm>
          <a:prstGeom prst="rect">
            <a:avLst/>
          </a:prstGeom>
          <a:noFill/>
        </p:spPr>
        <p:txBody>
          <a:bodyPr wrap="none" rtlCol="0">
            <a:spAutoFit/>
          </a:bodyPr>
          <a:lstStyle/>
          <a:p>
            <a:r>
              <a:rPr lang="en-US" dirty="0"/>
              <a:t>1</a:t>
            </a:r>
          </a:p>
        </p:txBody>
      </p:sp>
      <p:sp>
        <p:nvSpPr>
          <p:cNvPr id="25" name="TextBox 24">
            <a:extLst>
              <a:ext uri="{FF2B5EF4-FFF2-40B4-BE49-F238E27FC236}">
                <a16:creationId xmlns:a16="http://schemas.microsoft.com/office/drawing/2014/main" id="{2905D7FB-FAF0-4880-9F51-5A9B4F068D16}"/>
              </a:ext>
            </a:extLst>
          </p:cNvPr>
          <p:cNvSpPr txBox="1"/>
          <p:nvPr/>
        </p:nvSpPr>
        <p:spPr>
          <a:xfrm>
            <a:off x="10765661" y="5781230"/>
            <a:ext cx="556563" cy="369332"/>
          </a:xfrm>
          <a:prstGeom prst="rect">
            <a:avLst/>
          </a:prstGeom>
          <a:noFill/>
        </p:spPr>
        <p:txBody>
          <a:bodyPr wrap="none" rtlCol="0">
            <a:spAutoFit/>
          </a:bodyPr>
          <a:lstStyle/>
          <a:p>
            <a:r>
              <a:rPr lang="en-US" dirty="0"/>
              <a:t>m-1</a:t>
            </a:r>
          </a:p>
        </p:txBody>
      </p:sp>
      <p:sp>
        <p:nvSpPr>
          <p:cNvPr id="26" name="Rectangle 25">
            <a:extLst>
              <a:ext uri="{FF2B5EF4-FFF2-40B4-BE49-F238E27FC236}">
                <a16:creationId xmlns:a16="http://schemas.microsoft.com/office/drawing/2014/main" id="{6A0DB74C-D0FC-47C1-9106-EE02C821A9BC}"/>
              </a:ext>
            </a:extLst>
          </p:cNvPr>
          <p:cNvSpPr/>
          <p:nvPr/>
        </p:nvSpPr>
        <p:spPr>
          <a:xfrm>
            <a:off x="9121910" y="4189990"/>
            <a:ext cx="165901" cy="141212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5D60A35-D8B6-40E0-9935-C331E2AF4CD9}"/>
              </a:ext>
            </a:extLst>
          </p:cNvPr>
          <p:cNvSpPr txBox="1"/>
          <p:nvPr/>
        </p:nvSpPr>
        <p:spPr>
          <a:xfrm>
            <a:off x="9450277" y="4853972"/>
            <a:ext cx="503664" cy="646331"/>
          </a:xfrm>
          <a:prstGeom prst="rect">
            <a:avLst/>
          </a:prstGeom>
          <a:noFill/>
        </p:spPr>
        <p:txBody>
          <a:bodyPr wrap="none" rtlCol="0">
            <a:spAutoFit/>
          </a:bodyPr>
          <a:lstStyle/>
          <a:p>
            <a:r>
              <a:rPr lang="en-US" sz="3600" dirty="0"/>
              <a:t>…</a:t>
            </a:r>
          </a:p>
        </p:txBody>
      </p:sp>
      <p:sp>
        <p:nvSpPr>
          <p:cNvPr id="28" name="TextBox 27">
            <a:extLst>
              <a:ext uri="{FF2B5EF4-FFF2-40B4-BE49-F238E27FC236}">
                <a16:creationId xmlns:a16="http://schemas.microsoft.com/office/drawing/2014/main" id="{7B67D456-4BD8-4CC0-AFCC-8EE5136AA98E}"/>
              </a:ext>
            </a:extLst>
          </p:cNvPr>
          <p:cNvSpPr txBox="1"/>
          <p:nvPr/>
        </p:nvSpPr>
        <p:spPr>
          <a:xfrm>
            <a:off x="8446378" y="4776997"/>
            <a:ext cx="503664" cy="646331"/>
          </a:xfrm>
          <a:prstGeom prst="rect">
            <a:avLst/>
          </a:prstGeom>
          <a:noFill/>
        </p:spPr>
        <p:txBody>
          <a:bodyPr wrap="none" rtlCol="0">
            <a:spAutoFit/>
          </a:bodyPr>
          <a:lstStyle/>
          <a:p>
            <a:r>
              <a:rPr lang="en-US" sz="3600" dirty="0"/>
              <a:t>…</a:t>
            </a:r>
          </a:p>
        </p:txBody>
      </p:sp>
      <p:sp>
        <p:nvSpPr>
          <p:cNvPr id="29" name="TextBox 28">
            <a:extLst>
              <a:ext uri="{FF2B5EF4-FFF2-40B4-BE49-F238E27FC236}">
                <a16:creationId xmlns:a16="http://schemas.microsoft.com/office/drawing/2014/main" id="{73F8A085-C679-4D77-8727-D519E391816E}"/>
              </a:ext>
            </a:extLst>
          </p:cNvPr>
          <p:cNvSpPr txBox="1"/>
          <p:nvPr/>
        </p:nvSpPr>
        <p:spPr>
          <a:xfrm>
            <a:off x="9706620" y="3887634"/>
            <a:ext cx="1834028" cy="461665"/>
          </a:xfrm>
          <a:prstGeom prst="rect">
            <a:avLst/>
          </a:prstGeom>
          <a:noFill/>
        </p:spPr>
        <p:txBody>
          <a:bodyPr wrap="none" rtlCol="0">
            <a:spAutoFit/>
          </a:bodyPr>
          <a:lstStyle/>
          <a:p>
            <a:r>
              <a:rPr lang="en-US" sz="2400" dirty="0"/>
              <a:t>Ground truth</a:t>
            </a:r>
          </a:p>
        </p:txBody>
      </p:sp>
      <p:sp>
        <p:nvSpPr>
          <p:cNvPr id="30" name="TextBox 29">
            <a:extLst>
              <a:ext uri="{FF2B5EF4-FFF2-40B4-BE49-F238E27FC236}">
                <a16:creationId xmlns:a16="http://schemas.microsoft.com/office/drawing/2014/main" id="{98F6FCF0-DBEC-4B07-A809-0BC5EAA3A96B}"/>
              </a:ext>
            </a:extLst>
          </p:cNvPr>
          <p:cNvSpPr txBox="1"/>
          <p:nvPr/>
        </p:nvSpPr>
        <p:spPr>
          <a:xfrm>
            <a:off x="7631824" y="4021258"/>
            <a:ext cx="301686" cy="369332"/>
          </a:xfrm>
          <a:prstGeom prst="rect">
            <a:avLst/>
          </a:prstGeom>
          <a:noFill/>
        </p:spPr>
        <p:txBody>
          <a:bodyPr wrap="none" rtlCol="0">
            <a:spAutoFit/>
          </a:bodyPr>
          <a:lstStyle/>
          <a:p>
            <a:r>
              <a:rPr lang="en-US" dirty="0"/>
              <a:t>1</a:t>
            </a:r>
          </a:p>
        </p:txBody>
      </p:sp>
      <p:sp>
        <p:nvSpPr>
          <p:cNvPr id="31" name="TextBox 30">
            <a:extLst>
              <a:ext uri="{FF2B5EF4-FFF2-40B4-BE49-F238E27FC236}">
                <a16:creationId xmlns:a16="http://schemas.microsoft.com/office/drawing/2014/main" id="{6626BBD0-7587-44A7-A280-CD1E1C1FD2B6}"/>
              </a:ext>
            </a:extLst>
          </p:cNvPr>
          <p:cNvSpPr txBox="1"/>
          <p:nvPr/>
        </p:nvSpPr>
        <p:spPr>
          <a:xfrm>
            <a:off x="7729056" y="1264420"/>
            <a:ext cx="301686" cy="369332"/>
          </a:xfrm>
          <a:prstGeom prst="rect">
            <a:avLst/>
          </a:prstGeom>
          <a:noFill/>
        </p:spPr>
        <p:txBody>
          <a:bodyPr wrap="none" rtlCol="0">
            <a:spAutoFit/>
          </a:bodyPr>
          <a:lstStyle/>
          <a:p>
            <a:r>
              <a:rPr lang="en-US" dirty="0"/>
              <a:t>1</a:t>
            </a:r>
          </a:p>
        </p:txBody>
      </p:sp>
      <p:sp>
        <p:nvSpPr>
          <p:cNvPr id="32" name="Arrow: Down 31">
            <a:extLst>
              <a:ext uri="{FF2B5EF4-FFF2-40B4-BE49-F238E27FC236}">
                <a16:creationId xmlns:a16="http://schemas.microsoft.com/office/drawing/2014/main" id="{A7EC5638-00CD-4A69-A1C2-5E818362BAA6}"/>
              </a:ext>
            </a:extLst>
          </p:cNvPr>
          <p:cNvSpPr/>
          <p:nvPr/>
        </p:nvSpPr>
        <p:spPr>
          <a:xfrm>
            <a:off x="9486450" y="3306872"/>
            <a:ext cx="301686" cy="68903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6F3A717-3E71-40FB-9995-098029D7F656}"/>
              </a:ext>
            </a:extLst>
          </p:cNvPr>
          <p:cNvSpPr txBox="1"/>
          <p:nvPr/>
        </p:nvSpPr>
        <p:spPr>
          <a:xfrm>
            <a:off x="1004837" y="2051399"/>
            <a:ext cx="4088170" cy="646331"/>
          </a:xfrm>
          <a:prstGeom prst="rect">
            <a:avLst/>
          </a:prstGeom>
          <a:noFill/>
        </p:spPr>
        <p:txBody>
          <a:bodyPr wrap="none" rtlCol="0">
            <a:spAutoFit/>
          </a:bodyPr>
          <a:lstStyle/>
          <a:p>
            <a:r>
              <a:rPr lang="en-US" dirty="0"/>
              <a:t>Cross entropy between two distributions</a:t>
            </a:r>
          </a:p>
          <a:p>
            <a:r>
              <a:rPr lang="en-US" dirty="0"/>
              <a:t>(measure distance between distributions)</a:t>
            </a:r>
          </a:p>
        </p:txBody>
      </p:sp>
      <p:pic>
        <p:nvPicPr>
          <p:cNvPr id="35" name="Picture 34">
            <a:extLst>
              <a:ext uri="{FF2B5EF4-FFF2-40B4-BE49-F238E27FC236}">
                <a16:creationId xmlns:a16="http://schemas.microsoft.com/office/drawing/2014/main" id="{919F7469-ECDD-4AA5-BA95-53BD28060A59}"/>
              </a:ext>
            </a:extLst>
          </p:cNvPr>
          <p:cNvPicPr>
            <a:picLocks noChangeAspect="1"/>
          </p:cNvPicPr>
          <p:nvPr/>
        </p:nvPicPr>
        <p:blipFill>
          <a:blip r:embed="rId4"/>
          <a:stretch>
            <a:fillRect/>
          </a:stretch>
        </p:blipFill>
        <p:spPr>
          <a:xfrm>
            <a:off x="1061697" y="2872206"/>
            <a:ext cx="2256446" cy="468319"/>
          </a:xfrm>
          <a:prstGeom prst="rect">
            <a:avLst/>
          </a:prstGeom>
        </p:spPr>
      </p:pic>
      <p:pic>
        <p:nvPicPr>
          <p:cNvPr id="37" name="Picture 36">
            <a:extLst>
              <a:ext uri="{FF2B5EF4-FFF2-40B4-BE49-F238E27FC236}">
                <a16:creationId xmlns:a16="http://schemas.microsoft.com/office/drawing/2014/main" id="{D7A2277E-9367-45DB-AF3E-1637609DAF4A}"/>
              </a:ext>
            </a:extLst>
          </p:cNvPr>
          <p:cNvPicPr>
            <a:picLocks noChangeAspect="1"/>
          </p:cNvPicPr>
          <p:nvPr/>
        </p:nvPicPr>
        <p:blipFill>
          <a:blip r:embed="rId5"/>
          <a:stretch>
            <a:fillRect/>
          </a:stretch>
        </p:blipFill>
        <p:spPr>
          <a:xfrm>
            <a:off x="1061697" y="3483206"/>
            <a:ext cx="2819400" cy="609600"/>
          </a:xfrm>
          <a:prstGeom prst="rect">
            <a:avLst/>
          </a:prstGeom>
        </p:spPr>
      </p:pic>
      <p:pic>
        <p:nvPicPr>
          <p:cNvPr id="4098" name="Picture 2">
            <a:extLst>
              <a:ext uri="{FF2B5EF4-FFF2-40B4-BE49-F238E27FC236}">
                <a16:creationId xmlns:a16="http://schemas.microsoft.com/office/drawing/2014/main" id="{4E36E2E0-8CA5-4199-A7C9-973E6EC0A1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6409" y="4511823"/>
            <a:ext cx="4864053" cy="132556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5A5AE795-2907-4F4D-9C03-12D7C732A5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40648" y="3920807"/>
            <a:ext cx="222816" cy="395318"/>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F1F2728E-EEA8-4127-BC6D-5AC33818295B}"/>
              </a:ext>
            </a:extLst>
          </p:cNvPr>
          <p:cNvSpPr/>
          <p:nvPr/>
        </p:nvSpPr>
        <p:spPr>
          <a:xfrm>
            <a:off x="9016871" y="1698765"/>
            <a:ext cx="344956" cy="40605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872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text, clipart&#10;&#10;Description automatically generated">
            <a:extLst>
              <a:ext uri="{FF2B5EF4-FFF2-40B4-BE49-F238E27FC236}">
                <a16:creationId xmlns:a16="http://schemas.microsoft.com/office/drawing/2014/main" id="{9AC5B522-718B-F2D0-E355-282BE9548BB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34000" y="3367088"/>
            <a:ext cx="1524000" cy="787400"/>
          </a:xfrm>
        </p:spPr>
      </p:pic>
      <p:sp>
        <p:nvSpPr>
          <p:cNvPr id="4" name="Slide Number Placeholder 3">
            <a:extLst>
              <a:ext uri="{FF2B5EF4-FFF2-40B4-BE49-F238E27FC236}">
                <a16:creationId xmlns:a16="http://schemas.microsoft.com/office/drawing/2014/main" id="{1EF460F2-E7C2-49F5-AE78-8D8E75358D1B}"/>
              </a:ext>
            </a:extLst>
          </p:cNvPr>
          <p:cNvSpPr>
            <a:spLocks noGrp="1"/>
          </p:cNvSpPr>
          <p:nvPr>
            <p:ph type="sldNum" sz="quarter" idx="12"/>
          </p:nvPr>
        </p:nvSpPr>
        <p:spPr/>
        <p:txBody>
          <a:bodyPr/>
          <a:lstStyle/>
          <a:p>
            <a:fld id="{C68DACDF-E1A9-A04C-A5FF-FC2443684BF5}" type="slidenum">
              <a:rPr lang="en-US" smtClean="0"/>
              <a:pPr/>
              <a:t>74</a:t>
            </a:fld>
            <a:endParaRPr lang="en-US" dirty="0"/>
          </a:p>
        </p:txBody>
      </p:sp>
      <p:pic>
        <p:nvPicPr>
          <p:cNvPr id="1026" name="Picture 2" descr="Softmax computation">
            <a:extLst>
              <a:ext uri="{FF2B5EF4-FFF2-40B4-BE49-F238E27FC236}">
                <a16:creationId xmlns:a16="http://schemas.microsoft.com/office/drawing/2014/main" id="{2941E039-6CB9-3148-7E27-5BEB2AF63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61369"/>
            <a:ext cx="12192000" cy="517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931284F-1176-67EC-A18B-79BB727DEDA3}"/>
              </a:ext>
            </a:extLst>
          </p:cNvPr>
          <p:cNvSpPr txBox="1"/>
          <p:nvPr/>
        </p:nvSpPr>
        <p:spPr>
          <a:xfrm>
            <a:off x="1490547" y="5838206"/>
            <a:ext cx="9863253" cy="369332"/>
          </a:xfrm>
          <a:prstGeom prst="rect">
            <a:avLst/>
          </a:prstGeom>
          <a:noFill/>
        </p:spPr>
        <p:txBody>
          <a:bodyPr wrap="square">
            <a:spAutoFit/>
          </a:bodyPr>
          <a:lstStyle/>
          <a:p>
            <a:r>
              <a:rPr lang="en-US" dirty="0">
                <a:solidFill>
                  <a:schemeClr val="bg2">
                    <a:lumMod val="75000"/>
                  </a:schemeClr>
                </a:solidFill>
              </a:rPr>
              <a:t>https://ljvmiranda921.github.io/notebook/2017/08/13/</a:t>
            </a:r>
            <a:r>
              <a:rPr lang="en-US" dirty="0" err="1">
                <a:solidFill>
                  <a:schemeClr val="bg2">
                    <a:lumMod val="75000"/>
                  </a:schemeClr>
                </a:solidFill>
              </a:rPr>
              <a:t>softmax</a:t>
            </a:r>
            <a:r>
              <a:rPr lang="en-US" dirty="0">
                <a:solidFill>
                  <a:schemeClr val="bg2">
                    <a:lumMod val="75000"/>
                  </a:schemeClr>
                </a:solidFill>
              </a:rPr>
              <a:t>-and-the-negative-log-likelihood/</a:t>
            </a:r>
          </a:p>
        </p:txBody>
      </p:sp>
      <p:pic>
        <p:nvPicPr>
          <p:cNvPr id="10" name="Picture 9" descr="A picture containing text, clipart&#10;&#10;Description automatically generated">
            <a:extLst>
              <a:ext uri="{FF2B5EF4-FFF2-40B4-BE49-F238E27FC236}">
                <a16:creationId xmlns:a16="http://schemas.microsoft.com/office/drawing/2014/main" id="{AE5CAB4B-7CF9-77AD-D49F-CDE87FD59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9520" y="661369"/>
            <a:ext cx="1161101" cy="599902"/>
          </a:xfrm>
          <a:prstGeom prst="rect">
            <a:avLst/>
          </a:prstGeom>
        </p:spPr>
      </p:pic>
    </p:spTree>
    <p:extLst>
      <p:ext uri="{BB962C8B-B14F-4D97-AF65-F5344CB8AC3E}">
        <p14:creationId xmlns:p14="http://schemas.microsoft.com/office/powerpoint/2010/main" val="41737070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0E883-203F-4FAE-90C4-143D74388C05}"/>
              </a:ext>
            </a:extLst>
          </p:cNvPr>
          <p:cNvSpPr>
            <a:spLocks noGrp="1"/>
          </p:cNvSpPr>
          <p:nvPr>
            <p:ph type="title"/>
          </p:nvPr>
        </p:nvSpPr>
        <p:spPr/>
        <p:txBody>
          <a:bodyPr/>
          <a:lstStyle/>
          <a:p>
            <a:r>
              <a:rPr lang="en-US" dirty="0"/>
              <a:t>Training</a:t>
            </a:r>
          </a:p>
        </p:txBody>
      </p:sp>
      <p:sp>
        <p:nvSpPr>
          <p:cNvPr id="3" name="Content Placeholder 2">
            <a:extLst>
              <a:ext uri="{FF2B5EF4-FFF2-40B4-BE49-F238E27FC236}">
                <a16:creationId xmlns:a16="http://schemas.microsoft.com/office/drawing/2014/main" id="{ECC7422F-FC7D-40BF-A7C4-B8469430269E}"/>
              </a:ext>
            </a:extLst>
          </p:cNvPr>
          <p:cNvSpPr>
            <a:spLocks noGrp="1"/>
          </p:cNvSpPr>
          <p:nvPr>
            <p:ph idx="1"/>
          </p:nvPr>
        </p:nvSpPr>
        <p:spPr/>
        <p:txBody>
          <a:bodyPr/>
          <a:lstStyle/>
          <a:p>
            <a:r>
              <a:rPr lang="en-US" dirty="0"/>
              <a:t>Cross entropy loss function</a:t>
            </a:r>
          </a:p>
          <a:p>
            <a:endParaRPr lang="en-US" dirty="0"/>
          </a:p>
        </p:txBody>
      </p:sp>
      <p:sp>
        <p:nvSpPr>
          <p:cNvPr id="6" name="Slide Number Placeholder 5">
            <a:extLst>
              <a:ext uri="{FF2B5EF4-FFF2-40B4-BE49-F238E27FC236}">
                <a16:creationId xmlns:a16="http://schemas.microsoft.com/office/drawing/2014/main" id="{5DB59C39-E2AC-473E-98BE-643A11553334}"/>
              </a:ext>
            </a:extLst>
          </p:cNvPr>
          <p:cNvSpPr>
            <a:spLocks noGrp="1"/>
          </p:cNvSpPr>
          <p:nvPr>
            <p:ph type="sldNum" sz="quarter" idx="12"/>
          </p:nvPr>
        </p:nvSpPr>
        <p:spPr/>
        <p:txBody>
          <a:bodyPr/>
          <a:lstStyle/>
          <a:p>
            <a:fld id="{1B30F0CC-EBAF-4E3D-80D7-CFC82A3A738F}" type="slidenum">
              <a:rPr lang="en-US" smtClean="0"/>
              <a:pPr/>
              <a:t>75</a:t>
            </a:fld>
            <a:endParaRPr lang="en-US" dirty="0"/>
          </a:p>
        </p:txBody>
      </p:sp>
      <p:pic>
        <p:nvPicPr>
          <p:cNvPr id="7" name="Picture 2">
            <a:extLst>
              <a:ext uri="{FF2B5EF4-FFF2-40B4-BE49-F238E27FC236}">
                <a16:creationId xmlns:a16="http://schemas.microsoft.com/office/drawing/2014/main" id="{366A10FE-67FA-4425-AFCF-24554DD18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228" y="2103436"/>
            <a:ext cx="4864053" cy="13255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31E14A5C-793E-43DB-94D3-BED3DFD4F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1200" y="1411430"/>
            <a:ext cx="2050474" cy="51261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A07A0E0B-5EAA-4B90-B5A0-C65F49A2BB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3578" y="2103436"/>
            <a:ext cx="3182387" cy="113029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26D4593-ACF7-4A5B-B572-C4E467D5204F}"/>
              </a:ext>
            </a:extLst>
          </p:cNvPr>
          <p:cNvSpPr txBox="1"/>
          <p:nvPr/>
        </p:nvSpPr>
        <p:spPr>
          <a:xfrm>
            <a:off x="915637" y="2513923"/>
            <a:ext cx="1145506" cy="400110"/>
          </a:xfrm>
          <a:prstGeom prst="rect">
            <a:avLst/>
          </a:prstGeom>
          <a:noFill/>
        </p:spPr>
        <p:txBody>
          <a:bodyPr wrap="none" rtlCol="0">
            <a:spAutoFit/>
          </a:bodyPr>
          <a:lstStyle/>
          <a:p>
            <a:r>
              <a:rPr lang="en-US" sz="2000" dirty="0">
                <a:solidFill>
                  <a:srgbClr val="FF0000"/>
                </a:solidFill>
              </a:rPr>
              <a:t>Minimize</a:t>
            </a:r>
          </a:p>
        </p:txBody>
      </p:sp>
      <p:sp>
        <p:nvSpPr>
          <p:cNvPr id="11" name="TextBox 10">
            <a:extLst>
              <a:ext uri="{FF2B5EF4-FFF2-40B4-BE49-F238E27FC236}">
                <a16:creationId xmlns:a16="http://schemas.microsoft.com/office/drawing/2014/main" id="{58648B53-FB2E-49E3-AD15-1126704F9228}"/>
              </a:ext>
            </a:extLst>
          </p:cNvPr>
          <p:cNvSpPr txBox="1"/>
          <p:nvPr/>
        </p:nvSpPr>
        <p:spPr>
          <a:xfrm>
            <a:off x="915637" y="3266399"/>
            <a:ext cx="3331400" cy="400110"/>
          </a:xfrm>
          <a:prstGeom prst="rect">
            <a:avLst/>
          </a:prstGeom>
          <a:noFill/>
        </p:spPr>
        <p:txBody>
          <a:bodyPr wrap="square" rtlCol="0">
            <a:spAutoFit/>
          </a:bodyPr>
          <a:lstStyle/>
          <a:p>
            <a:r>
              <a:rPr lang="en-US" sz="2000" dirty="0">
                <a:solidFill>
                  <a:srgbClr val="FF0000"/>
                </a:solidFill>
              </a:rPr>
              <a:t>With respect to weights W</a:t>
            </a:r>
          </a:p>
        </p:txBody>
      </p:sp>
      <p:pic>
        <p:nvPicPr>
          <p:cNvPr id="19" name="Picture 18" descr="Diagram&#10;&#10;Description automatically generated">
            <a:extLst>
              <a:ext uri="{FF2B5EF4-FFF2-40B4-BE49-F238E27FC236}">
                <a16:creationId xmlns:a16="http://schemas.microsoft.com/office/drawing/2014/main" id="{BB9E8C21-8DDC-4DF2-AE2A-45C4D02A13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26883" y="4064193"/>
            <a:ext cx="1863771" cy="1999117"/>
          </a:xfrm>
          <a:prstGeom prst="rect">
            <a:avLst/>
          </a:prstGeom>
        </p:spPr>
      </p:pic>
      <p:pic>
        <p:nvPicPr>
          <p:cNvPr id="6146" name="Picture 2">
            <a:extLst>
              <a:ext uri="{FF2B5EF4-FFF2-40B4-BE49-F238E27FC236}">
                <a16:creationId xmlns:a16="http://schemas.microsoft.com/office/drawing/2014/main" id="{2E27CE8F-502D-485C-992A-069A420A53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7228" y="4911641"/>
            <a:ext cx="457200" cy="35242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1EB831D-0323-4CDC-AE71-49F47F6D0F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6661" y="4845524"/>
            <a:ext cx="392084" cy="44926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26AF2A20-24E5-4A79-B7C6-962AAD28C5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0390" y="3654019"/>
            <a:ext cx="519762" cy="375731"/>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Arrow Connector 20">
            <a:extLst>
              <a:ext uri="{FF2B5EF4-FFF2-40B4-BE49-F238E27FC236}">
                <a16:creationId xmlns:a16="http://schemas.microsoft.com/office/drawing/2014/main" id="{F15869B8-72F7-4737-A792-C325F3FE8433}"/>
              </a:ext>
            </a:extLst>
          </p:cNvPr>
          <p:cNvCxnSpPr>
            <a:cxnSpLocks/>
          </p:cNvCxnSpPr>
          <p:nvPr/>
        </p:nvCxnSpPr>
        <p:spPr>
          <a:xfrm flipV="1">
            <a:off x="5518636" y="5072886"/>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8">
            <a:extLst>
              <a:ext uri="{FF2B5EF4-FFF2-40B4-BE49-F238E27FC236}">
                <a16:creationId xmlns:a16="http://schemas.microsoft.com/office/drawing/2014/main" id="{3C6BEA5D-95F4-484A-ABAD-C78C024D9A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97768" y="4789663"/>
            <a:ext cx="1106722" cy="592632"/>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Arrow Connector 25">
            <a:extLst>
              <a:ext uri="{FF2B5EF4-FFF2-40B4-BE49-F238E27FC236}">
                <a16:creationId xmlns:a16="http://schemas.microsoft.com/office/drawing/2014/main" id="{F9C9A941-1B43-4213-B8B5-AB3302933331}"/>
              </a:ext>
            </a:extLst>
          </p:cNvPr>
          <p:cNvCxnSpPr>
            <a:cxnSpLocks/>
          </p:cNvCxnSpPr>
          <p:nvPr/>
        </p:nvCxnSpPr>
        <p:spPr>
          <a:xfrm flipV="1">
            <a:off x="7650840" y="5085979"/>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152" name="Picture 8">
            <a:extLst>
              <a:ext uri="{FF2B5EF4-FFF2-40B4-BE49-F238E27FC236}">
                <a16:creationId xmlns:a16="http://schemas.microsoft.com/office/drawing/2014/main" id="{F38DEF6B-F8D3-47AD-AF56-D06A569405F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57811" y="4810846"/>
            <a:ext cx="1229246" cy="56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439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5F476-BE34-47E4-A715-02D6F3A867CA}"/>
              </a:ext>
            </a:extLst>
          </p:cNvPr>
          <p:cNvSpPr>
            <a:spLocks noGrp="1"/>
          </p:cNvSpPr>
          <p:nvPr>
            <p:ph type="title"/>
          </p:nvPr>
        </p:nvSpPr>
        <p:spPr/>
        <p:txBody>
          <a:bodyPr/>
          <a:lstStyle/>
          <a:p>
            <a:r>
              <a:rPr lang="en-US" dirty="0"/>
              <a:t>Training</a:t>
            </a:r>
          </a:p>
        </p:txBody>
      </p:sp>
      <p:sp>
        <p:nvSpPr>
          <p:cNvPr id="3" name="Content Placeholder 2">
            <a:extLst>
              <a:ext uri="{FF2B5EF4-FFF2-40B4-BE49-F238E27FC236}">
                <a16:creationId xmlns:a16="http://schemas.microsoft.com/office/drawing/2014/main" id="{5A1D2BFE-6557-4B9C-B0BF-BD363B18B79E}"/>
              </a:ext>
            </a:extLst>
          </p:cNvPr>
          <p:cNvSpPr>
            <a:spLocks noGrp="1"/>
          </p:cNvSpPr>
          <p:nvPr>
            <p:ph idx="1"/>
          </p:nvPr>
        </p:nvSpPr>
        <p:spPr/>
        <p:txBody>
          <a:bodyPr/>
          <a:lstStyle/>
          <a:p>
            <a:r>
              <a:rPr lang="en-US" dirty="0"/>
              <a:t>Gradient descent</a:t>
            </a:r>
          </a:p>
          <a:p>
            <a:endParaRPr lang="en-US" dirty="0"/>
          </a:p>
          <a:p>
            <a:pPr marL="0" indent="0">
              <a:buNone/>
            </a:pPr>
            <a:endParaRPr lang="en-US" dirty="0"/>
          </a:p>
          <a:p>
            <a:r>
              <a:rPr lang="en-US" dirty="0"/>
              <a:t>Chain rule</a:t>
            </a:r>
          </a:p>
        </p:txBody>
      </p:sp>
      <p:sp>
        <p:nvSpPr>
          <p:cNvPr id="6" name="Slide Number Placeholder 5">
            <a:extLst>
              <a:ext uri="{FF2B5EF4-FFF2-40B4-BE49-F238E27FC236}">
                <a16:creationId xmlns:a16="http://schemas.microsoft.com/office/drawing/2014/main" id="{DA658030-685B-4605-BC6F-1467FAB6EFB1}"/>
              </a:ext>
            </a:extLst>
          </p:cNvPr>
          <p:cNvSpPr>
            <a:spLocks noGrp="1"/>
          </p:cNvSpPr>
          <p:nvPr>
            <p:ph type="sldNum" sz="quarter" idx="12"/>
          </p:nvPr>
        </p:nvSpPr>
        <p:spPr/>
        <p:txBody>
          <a:bodyPr/>
          <a:lstStyle/>
          <a:p>
            <a:fld id="{1B30F0CC-EBAF-4E3D-80D7-CFC82A3A738F}" type="slidenum">
              <a:rPr lang="en-US" smtClean="0"/>
              <a:pPr/>
              <a:t>76</a:t>
            </a:fld>
            <a:endParaRPr lang="en-US" dirty="0"/>
          </a:p>
        </p:txBody>
      </p:sp>
      <p:pic>
        <p:nvPicPr>
          <p:cNvPr id="7" name="Picture 10">
            <a:extLst>
              <a:ext uri="{FF2B5EF4-FFF2-40B4-BE49-F238E27FC236}">
                <a16:creationId xmlns:a16="http://schemas.microsoft.com/office/drawing/2014/main" id="{CFE0BB9E-FCA3-457A-968F-D3071B044D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3274" y="1163401"/>
            <a:ext cx="3970844" cy="11524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24D00C4-BF54-4BA8-B604-D62E7EBA6C8B}"/>
              </a:ext>
            </a:extLst>
          </p:cNvPr>
          <p:cNvSpPr txBox="1"/>
          <p:nvPr/>
        </p:nvSpPr>
        <p:spPr>
          <a:xfrm>
            <a:off x="6635514" y="2430785"/>
            <a:ext cx="1420838" cy="369332"/>
          </a:xfrm>
          <a:prstGeom prst="rect">
            <a:avLst/>
          </a:prstGeom>
          <a:noFill/>
        </p:spPr>
        <p:txBody>
          <a:bodyPr wrap="none" rtlCol="0">
            <a:spAutoFit/>
          </a:bodyPr>
          <a:lstStyle/>
          <a:p>
            <a:r>
              <a:rPr lang="en-US" dirty="0"/>
              <a:t>Learning rate</a:t>
            </a:r>
          </a:p>
        </p:txBody>
      </p:sp>
      <p:cxnSp>
        <p:nvCxnSpPr>
          <p:cNvPr id="9" name="Straight Arrow Connector 8">
            <a:extLst>
              <a:ext uri="{FF2B5EF4-FFF2-40B4-BE49-F238E27FC236}">
                <a16:creationId xmlns:a16="http://schemas.microsoft.com/office/drawing/2014/main" id="{A04E41A2-8D30-4B59-891B-4DAAA20E541E}"/>
              </a:ext>
            </a:extLst>
          </p:cNvPr>
          <p:cNvCxnSpPr>
            <a:cxnSpLocks/>
            <a:stCxn id="8" idx="0"/>
          </p:cNvCxnSpPr>
          <p:nvPr/>
        </p:nvCxnSpPr>
        <p:spPr>
          <a:xfrm flipV="1">
            <a:off x="7345933" y="2046541"/>
            <a:ext cx="145870" cy="3842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B22C84AC-CEF4-40CC-82E2-F0ACA31C1CE9}"/>
              </a:ext>
            </a:extLst>
          </p:cNvPr>
          <p:cNvGrpSpPr/>
          <p:nvPr/>
        </p:nvGrpSpPr>
        <p:grpSpPr>
          <a:xfrm>
            <a:off x="2733870" y="4170205"/>
            <a:ext cx="6098404" cy="1992161"/>
            <a:chOff x="2497059" y="3132466"/>
            <a:chExt cx="7269829" cy="2409291"/>
          </a:xfrm>
        </p:grpSpPr>
        <p:pic>
          <p:nvPicPr>
            <p:cNvPr id="10" name="Picture 9" descr="Diagram&#10;&#10;Description automatically generated">
              <a:extLst>
                <a:ext uri="{FF2B5EF4-FFF2-40B4-BE49-F238E27FC236}">
                  <a16:creationId xmlns:a16="http://schemas.microsoft.com/office/drawing/2014/main" id="{12714C2C-856B-491F-94CC-967B7596FA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6714" y="3542640"/>
              <a:ext cx="1863771" cy="1999117"/>
            </a:xfrm>
            <a:prstGeom prst="rect">
              <a:avLst/>
            </a:prstGeom>
          </p:spPr>
        </p:pic>
        <p:pic>
          <p:nvPicPr>
            <p:cNvPr id="11" name="Picture 2">
              <a:extLst>
                <a:ext uri="{FF2B5EF4-FFF2-40B4-BE49-F238E27FC236}">
                  <a16:creationId xmlns:a16="http://schemas.microsoft.com/office/drawing/2014/main" id="{FEA3D533-B4D6-4196-9B84-C3C6561937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7059" y="4390088"/>
              <a:ext cx="457200" cy="35242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180BF033-912B-4AE9-BDFC-F48C82DAC7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6492" y="4323971"/>
              <a:ext cx="392084" cy="44926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a:extLst>
                <a:ext uri="{FF2B5EF4-FFF2-40B4-BE49-F238E27FC236}">
                  <a16:creationId xmlns:a16="http://schemas.microsoft.com/office/drawing/2014/main" id="{8F7DD2E8-599E-410D-9A4B-8578D04B73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221" y="3132466"/>
              <a:ext cx="519762" cy="375731"/>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6A054EE2-0CBF-48CA-B5B8-BFAD97DFEA0E}"/>
                </a:ext>
              </a:extLst>
            </p:cNvPr>
            <p:cNvCxnSpPr>
              <a:cxnSpLocks/>
            </p:cNvCxnSpPr>
            <p:nvPr/>
          </p:nvCxnSpPr>
          <p:spPr>
            <a:xfrm flipV="1">
              <a:off x="5698467" y="4551333"/>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8">
              <a:extLst>
                <a:ext uri="{FF2B5EF4-FFF2-40B4-BE49-F238E27FC236}">
                  <a16:creationId xmlns:a16="http://schemas.microsoft.com/office/drawing/2014/main" id="{5F9F6A55-91E1-4299-8B6B-D0ACC84B40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7599" y="4268110"/>
              <a:ext cx="1106722" cy="592632"/>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5C690243-6E81-4268-A4A5-0EC8C626DFDA}"/>
                </a:ext>
              </a:extLst>
            </p:cNvPr>
            <p:cNvCxnSpPr>
              <a:cxnSpLocks/>
            </p:cNvCxnSpPr>
            <p:nvPr/>
          </p:nvCxnSpPr>
          <p:spPr>
            <a:xfrm flipV="1">
              <a:off x="7830671" y="4564426"/>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8">
              <a:extLst>
                <a:ext uri="{FF2B5EF4-FFF2-40B4-BE49-F238E27FC236}">
                  <a16:creationId xmlns:a16="http://schemas.microsoft.com/office/drawing/2014/main" id="{CD9105AF-8E57-446D-9B39-7580A26A87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37642" y="4289293"/>
              <a:ext cx="1229246" cy="56307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2">
            <a:extLst>
              <a:ext uri="{FF2B5EF4-FFF2-40B4-BE49-F238E27FC236}">
                <a16:creationId xmlns:a16="http://schemas.microsoft.com/office/drawing/2014/main" id="{037174C3-3EC4-404E-B779-F08E5C2CF88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0308" y="2852659"/>
            <a:ext cx="4861420" cy="1084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19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4713-49B6-46A4-99F5-B89802AD57EC}"/>
              </a:ext>
            </a:extLst>
          </p:cNvPr>
          <p:cNvSpPr>
            <a:spLocks noGrp="1"/>
          </p:cNvSpPr>
          <p:nvPr>
            <p:ph type="title"/>
          </p:nvPr>
        </p:nvSpPr>
        <p:spPr/>
        <p:txBody>
          <a:bodyPr/>
          <a:lstStyle/>
          <a:p>
            <a:r>
              <a:rPr lang="en-US" dirty="0"/>
              <a:t>Training</a:t>
            </a:r>
          </a:p>
        </p:txBody>
      </p:sp>
      <p:sp>
        <p:nvSpPr>
          <p:cNvPr id="3" name="Content Placeholder 2">
            <a:extLst>
              <a:ext uri="{FF2B5EF4-FFF2-40B4-BE49-F238E27FC236}">
                <a16:creationId xmlns:a16="http://schemas.microsoft.com/office/drawing/2014/main" id="{4F9B02CF-EACD-41AD-BE71-FE20702B480C}"/>
              </a:ext>
            </a:extLst>
          </p:cNvPr>
          <p:cNvSpPr>
            <a:spLocks noGrp="1"/>
          </p:cNvSpPr>
          <p:nvPr>
            <p:ph idx="1"/>
          </p:nvPr>
        </p:nvSpPr>
        <p:spPr/>
        <p:txBody>
          <a:bodyPr/>
          <a:lstStyle/>
          <a:p>
            <a:r>
              <a:rPr lang="en-US" dirty="0"/>
              <a:t>Gradient descent </a:t>
            </a:r>
          </a:p>
        </p:txBody>
      </p:sp>
      <p:sp>
        <p:nvSpPr>
          <p:cNvPr id="6" name="Slide Number Placeholder 5">
            <a:extLst>
              <a:ext uri="{FF2B5EF4-FFF2-40B4-BE49-F238E27FC236}">
                <a16:creationId xmlns:a16="http://schemas.microsoft.com/office/drawing/2014/main" id="{8B7B0D4E-0F2A-4ED6-A574-D490B269A3F5}"/>
              </a:ext>
            </a:extLst>
          </p:cNvPr>
          <p:cNvSpPr>
            <a:spLocks noGrp="1"/>
          </p:cNvSpPr>
          <p:nvPr>
            <p:ph type="sldNum" sz="quarter" idx="12"/>
          </p:nvPr>
        </p:nvSpPr>
        <p:spPr/>
        <p:txBody>
          <a:bodyPr/>
          <a:lstStyle/>
          <a:p>
            <a:fld id="{1B30F0CC-EBAF-4E3D-80D7-CFC82A3A738F}" type="slidenum">
              <a:rPr lang="en-US" smtClean="0"/>
              <a:pPr/>
              <a:t>77</a:t>
            </a:fld>
            <a:endParaRPr lang="en-US" dirty="0"/>
          </a:p>
        </p:txBody>
      </p:sp>
      <p:pic>
        <p:nvPicPr>
          <p:cNvPr id="7170" name="Picture 2">
            <a:extLst>
              <a:ext uri="{FF2B5EF4-FFF2-40B4-BE49-F238E27FC236}">
                <a16:creationId xmlns:a16="http://schemas.microsoft.com/office/drawing/2014/main" id="{659409B5-6DDB-482B-B4E6-4E60DF448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169729"/>
            <a:ext cx="6868391" cy="114830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iagram&#10;&#10;Description automatically generated">
            <a:extLst>
              <a:ext uri="{FF2B5EF4-FFF2-40B4-BE49-F238E27FC236}">
                <a16:creationId xmlns:a16="http://schemas.microsoft.com/office/drawing/2014/main" id="{261210E7-0292-4BF6-8445-11FF227B62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8020" y="2162147"/>
            <a:ext cx="1863771" cy="1999117"/>
          </a:xfrm>
          <a:prstGeom prst="rect">
            <a:avLst/>
          </a:prstGeom>
        </p:spPr>
      </p:pic>
      <p:pic>
        <p:nvPicPr>
          <p:cNvPr id="10" name="Picture 2">
            <a:extLst>
              <a:ext uri="{FF2B5EF4-FFF2-40B4-BE49-F238E27FC236}">
                <a16:creationId xmlns:a16="http://schemas.microsoft.com/office/drawing/2014/main" id="{26BCC47B-FD2D-4319-A8B4-4039F0432E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8365" y="3009595"/>
            <a:ext cx="457200" cy="3524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24367741-BFBF-4D90-9CDE-A9659B3813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7798" y="2943478"/>
            <a:ext cx="392084" cy="44926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a:extLst>
              <a:ext uri="{FF2B5EF4-FFF2-40B4-BE49-F238E27FC236}">
                <a16:creationId xmlns:a16="http://schemas.microsoft.com/office/drawing/2014/main" id="{81236C13-5D5A-4C5A-AD2C-555CCC604C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4822" y="2193320"/>
            <a:ext cx="390105" cy="282003"/>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05A34C5E-9F61-45E5-9B5F-C3B31430119F}"/>
              </a:ext>
            </a:extLst>
          </p:cNvPr>
          <p:cNvCxnSpPr>
            <a:cxnSpLocks/>
          </p:cNvCxnSpPr>
          <p:nvPr/>
        </p:nvCxnSpPr>
        <p:spPr>
          <a:xfrm flipV="1">
            <a:off x="4319773" y="3170840"/>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8">
            <a:extLst>
              <a:ext uri="{FF2B5EF4-FFF2-40B4-BE49-F238E27FC236}">
                <a16:creationId xmlns:a16="http://schemas.microsoft.com/office/drawing/2014/main" id="{728962C9-CA95-4AB3-A8D1-C27DFB1F0F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98905" y="2887617"/>
            <a:ext cx="1106722" cy="592632"/>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Arrow Connector 14">
            <a:extLst>
              <a:ext uri="{FF2B5EF4-FFF2-40B4-BE49-F238E27FC236}">
                <a16:creationId xmlns:a16="http://schemas.microsoft.com/office/drawing/2014/main" id="{E06327F7-EF11-4E4D-901D-03C7EA90FB1A}"/>
              </a:ext>
            </a:extLst>
          </p:cNvPr>
          <p:cNvCxnSpPr>
            <a:cxnSpLocks/>
          </p:cNvCxnSpPr>
          <p:nvPr/>
        </p:nvCxnSpPr>
        <p:spPr>
          <a:xfrm flipV="1">
            <a:off x="6451977" y="3183933"/>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8">
            <a:extLst>
              <a:ext uri="{FF2B5EF4-FFF2-40B4-BE49-F238E27FC236}">
                <a16:creationId xmlns:a16="http://schemas.microsoft.com/office/drawing/2014/main" id="{2307DEC1-5101-4568-B992-A0F67E7E49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58948" y="2908800"/>
            <a:ext cx="1229246" cy="56307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236BB90E-7B02-412F-A3E9-F03E9B02313B}"/>
              </a:ext>
            </a:extLst>
          </p:cNvPr>
          <p:cNvSpPr txBox="1"/>
          <p:nvPr/>
        </p:nvSpPr>
        <p:spPr>
          <a:xfrm>
            <a:off x="1001699" y="4393936"/>
            <a:ext cx="3520451" cy="461665"/>
          </a:xfrm>
          <a:prstGeom prst="rect">
            <a:avLst/>
          </a:prstGeom>
          <a:noFill/>
        </p:spPr>
        <p:txBody>
          <a:bodyPr wrap="none" rtlCol="0">
            <a:spAutoFit/>
          </a:bodyPr>
          <a:lstStyle/>
          <a:p>
            <a:r>
              <a:rPr lang="en-US" sz="2400" dirty="0"/>
              <a:t>How to compute gradient?</a:t>
            </a:r>
          </a:p>
        </p:txBody>
      </p:sp>
      <p:pic>
        <p:nvPicPr>
          <p:cNvPr id="7178" name="Picture 10">
            <a:extLst>
              <a:ext uri="{FF2B5EF4-FFF2-40B4-BE49-F238E27FC236}">
                <a16:creationId xmlns:a16="http://schemas.microsoft.com/office/drawing/2014/main" id="{D7604F52-48D5-4102-B799-9172401326A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25896" y="4109352"/>
            <a:ext cx="633491" cy="1135502"/>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a:extLst>
              <a:ext uri="{FF2B5EF4-FFF2-40B4-BE49-F238E27FC236}">
                <a16:creationId xmlns:a16="http://schemas.microsoft.com/office/drawing/2014/main" id="{9A22817C-BEF7-4E77-B919-CDDA99964E5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4298687"/>
            <a:ext cx="3962400" cy="841870"/>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a:extLst>
              <a:ext uri="{FF2B5EF4-FFF2-40B4-BE49-F238E27FC236}">
                <a16:creationId xmlns:a16="http://schemas.microsoft.com/office/drawing/2014/main" id="{9EC6B132-D111-4B57-8AF1-CDB5C2AA2BC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58948" y="5452523"/>
            <a:ext cx="1220632" cy="330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4713-49B6-46A4-99F5-B89802AD57EC}"/>
              </a:ext>
            </a:extLst>
          </p:cNvPr>
          <p:cNvSpPr>
            <a:spLocks noGrp="1"/>
          </p:cNvSpPr>
          <p:nvPr>
            <p:ph type="title"/>
          </p:nvPr>
        </p:nvSpPr>
        <p:spPr/>
        <p:txBody>
          <a:bodyPr/>
          <a:lstStyle/>
          <a:p>
            <a:r>
              <a:rPr lang="en-US" dirty="0"/>
              <a:t>Training</a:t>
            </a:r>
          </a:p>
        </p:txBody>
      </p:sp>
      <p:sp>
        <p:nvSpPr>
          <p:cNvPr id="3" name="Content Placeholder 2">
            <a:extLst>
              <a:ext uri="{FF2B5EF4-FFF2-40B4-BE49-F238E27FC236}">
                <a16:creationId xmlns:a16="http://schemas.microsoft.com/office/drawing/2014/main" id="{4F9B02CF-EACD-41AD-BE71-FE20702B480C}"/>
              </a:ext>
            </a:extLst>
          </p:cNvPr>
          <p:cNvSpPr>
            <a:spLocks noGrp="1"/>
          </p:cNvSpPr>
          <p:nvPr>
            <p:ph idx="1"/>
          </p:nvPr>
        </p:nvSpPr>
        <p:spPr/>
        <p:txBody>
          <a:bodyPr/>
          <a:lstStyle/>
          <a:p>
            <a:r>
              <a:rPr lang="en-US" dirty="0"/>
              <a:t>Chain rule</a:t>
            </a:r>
          </a:p>
        </p:txBody>
      </p:sp>
      <p:sp>
        <p:nvSpPr>
          <p:cNvPr id="6" name="Slide Number Placeholder 5">
            <a:extLst>
              <a:ext uri="{FF2B5EF4-FFF2-40B4-BE49-F238E27FC236}">
                <a16:creationId xmlns:a16="http://schemas.microsoft.com/office/drawing/2014/main" id="{8B7B0D4E-0F2A-4ED6-A574-D490B269A3F5}"/>
              </a:ext>
            </a:extLst>
          </p:cNvPr>
          <p:cNvSpPr>
            <a:spLocks noGrp="1"/>
          </p:cNvSpPr>
          <p:nvPr>
            <p:ph type="sldNum" sz="quarter" idx="12"/>
          </p:nvPr>
        </p:nvSpPr>
        <p:spPr/>
        <p:txBody>
          <a:bodyPr/>
          <a:lstStyle/>
          <a:p>
            <a:fld id="{1B30F0CC-EBAF-4E3D-80D7-CFC82A3A738F}" type="slidenum">
              <a:rPr lang="en-US" smtClean="0"/>
              <a:pPr/>
              <a:t>78</a:t>
            </a:fld>
            <a:endParaRPr lang="en-US" dirty="0"/>
          </a:p>
        </p:txBody>
      </p:sp>
      <p:pic>
        <p:nvPicPr>
          <p:cNvPr id="7170" name="Picture 2">
            <a:extLst>
              <a:ext uri="{FF2B5EF4-FFF2-40B4-BE49-F238E27FC236}">
                <a16:creationId xmlns:a16="http://schemas.microsoft.com/office/drawing/2014/main" id="{659409B5-6DDB-482B-B4E6-4E60DF448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7304" y="502222"/>
            <a:ext cx="6868391" cy="1148309"/>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59836F44-0DEE-47DF-9945-BB2D015D4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320" y="2318038"/>
            <a:ext cx="3578326" cy="938891"/>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7322422E-C55E-422C-B872-768B82F181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0320" y="4686845"/>
            <a:ext cx="2826745" cy="81242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4">
            <a:extLst>
              <a:ext uri="{FF2B5EF4-FFF2-40B4-BE49-F238E27FC236}">
                <a16:creationId xmlns:a16="http://schemas.microsoft.com/office/drawing/2014/main" id="{0C971F30-C914-43C2-A57A-502D83B5F2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030" y="3548556"/>
            <a:ext cx="1039479" cy="28121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4">
            <a:extLst>
              <a:ext uri="{FF2B5EF4-FFF2-40B4-BE49-F238E27FC236}">
                <a16:creationId xmlns:a16="http://schemas.microsoft.com/office/drawing/2014/main" id="{AB416851-5352-46A1-B08B-C5A28DAAFD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3548556"/>
            <a:ext cx="1039479" cy="281211"/>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a:extLst>
              <a:ext uri="{FF2B5EF4-FFF2-40B4-BE49-F238E27FC236}">
                <a16:creationId xmlns:a16="http://schemas.microsoft.com/office/drawing/2014/main" id="{E575E03D-7AC4-48FE-8EA3-B7327A43B0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1449" y="3574813"/>
            <a:ext cx="1323165" cy="22869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0E77948-9CB4-41DD-8B3C-3451CB88AAF9}"/>
              </a:ext>
            </a:extLst>
          </p:cNvPr>
          <p:cNvPicPr>
            <a:picLocks noChangeAspect="1"/>
          </p:cNvPicPr>
          <p:nvPr/>
        </p:nvPicPr>
        <p:blipFill>
          <a:blip r:embed="rId7"/>
          <a:stretch>
            <a:fillRect/>
          </a:stretch>
        </p:blipFill>
        <p:spPr>
          <a:xfrm>
            <a:off x="5508763" y="2652433"/>
            <a:ext cx="6388828" cy="1442050"/>
          </a:xfrm>
          <a:prstGeom prst="rect">
            <a:avLst/>
          </a:prstGeom>
        </p:spPr>
      </p:pic>
      <p:sp>
        <p:nvSpPr>
          <p:cNvPr id="25" name="TextBox 24">
            <a:extLst>
              <a:ext uri="{FF2B5EF4-FFF2-40B4-BE49-F238E27FC236}">
                <a16:creationId xmlns:a16="http://schemas.microsoft.com/office/drawing/2014/main" id="{EE6B1821-CB3B-4665-80B7-80D9DB3AE98C}"/>
              </a:ext>
            </a:extLst>
          </p:cNvPr>
          <p:cNvSpPr txBox="1"/>
          <p:nvPr/>
        </p:nvSpPr>
        <p:spPr>
          <a:xfrm>
            <a:off x="7760277" y="4053309"/>
            <a:ext cx="2175164" cy="369332"/>
          </a:xfrm>
          <a:prstGeom prst="rect">
            <a:avLst/>
          </a:prstGeom>
          <a:noFill/>
        </p:spPr>
        <p:txBody>
          <a:bodyPr wrap="square">
            <a:spAutoFit/>
          </a:bodyPr>
          <a:lstStyle/>
          <a:p>
            <a:r>
              <a:rPr lang="en-US" b="0" i="0" dirty="0">
                <a:solidFill>
                  <a:srgbClr val="3A4145"/>
                </a:solidFill>
                <a:effectLst/>
                <a:latin typeface="Merriweather" panose="00000500000000000000" pitchFamily="2" charset="0"/>
              </a:rPr>
              <a:t> Jacobian matrix</a:t>
            </a:r>
            <a:endParaRPr lang="en-US" dirty="0"/>
          </a:p>
        </p:txBody>
      </p:sp>
      <p:pic>
        <p:nvPicPr>
          <p:cNvPr id="26" name="Picture 6">
            <a:extLst>
              <a:ext uri="{FF2B5EF4-FFF2-40B4-BE49-F238E27FC236}">
                <a16:creationId xmlns:a16="http://schemas.microsoft.com/office/drawing/2014/main" id="{76FAE513-440D-45B6-AA31-E055E83C64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80034" y="1504124"/>
            <a:ext cx="2409714" cy="85586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94C34A6C-D4C9-4FBB-876D-54266EA574C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91909" y="4761344"/>
            <a:ext cx="4339963" cy="85256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0B58EE66-5A72-42A1-95A6-C7C24F8DBFB6}"/>
              </a:ext>
            </a:extLst>
          </p:cNvPr>
          <p:cNvPicPr>
            <a:picLocks noChangeAspect="1"/>
          </p:cNvPicPr>
          <p:nvPr/>
        </p:nvPicPr>
        <p:blipFill>
          <a:blip r:embed="rId10"/>
          <a:stretch>
            <a:fillRect/>
          </a:stretch>
        </p:blipFill>
        <p:spPr>
          <a:xfrm>
            <a:off x="9714156" y="4729161"/>
            <a:ext cx="2041814" cy="866584"/>
          </a:xfrm>
          <a:prstGeom prst="rect">
            <a:avLst/>
          </a:prstGeom>
        </p:spPr>
      </p:pic>
      <p:sp>
        <p:nvSpPr>
          <p:cNvPr id="21" name="TextBox 20">
            <a:extLst>
              <a:ext uri="{FF2B5EF4-FFF2-40B4-BE49-F238E27FC236}">
                <a16:creationId xmlns:a16="http://schemas.microsoft.com/office/drawing/2014/main" id="{2991AE43-3270-437F-91D3-8132FA0B8877}"/>
              </a:ext>
            </a:extLst>
          </p:cNvPr>
          <p:cNvSpPr txBox="1"/>
          <p:nvPr/>
        </p:nvSpPr>
        <p:spPr>
          <a:xfrm>
            <a:off x="2328339" y="5645131"/>
            <a:ext cx="8042293" cy="369332"/>
          </a:xfrm>
          <a:prstGeom prst="rect">
            <a:avLst/>
          </a:prstGeom>
          <a:noFill/>
        </p:spPr>
        <p:txBody>
          <a:bodyPr wrap="square">
            <a:spAutoFit/>
          </a:bodyPr>
          <a:lstStyle/>
          <a:p>
            <a:r>
              <a:rPr lang="en-US" dirty="0">
                <a:hlinkClick r:id="rId11"/>
              </a:rPr>
              <a:t>https://eli.thegreenplace.net/2016/the-softmax-function-and-its-derivative/</a:t>
            </a:r>
            <a:endParaRPr lang="en-US" dirty="0"/>
          </a:p>
        </p:txBody>
      </p:sp>
    </p:spTree>
    <p:extLst>
      <p:ext uri="{BB962C8B-B14F-4D97-AF65-F5344CB8AC3E}">
        <p14:creationId xmlns:p14="http://schemas.microsoft.com/office/powerpoint/2010/main" val="409421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1"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4713-49B6-46A4-99F5-B89802AD57EC}"/>
              </a:ext>
            </a:extLst>
          </p:cNvPr>
          <p:cNvSpPr>
            <a:spLocks noGrp="1"/>
          </p:cNvSpPr>
          <p:nvPr>
            <p:ph type="title"/>
          </p:nvPr>
        </p:nvSpPr>
        <p:spPr/>
        <p:txBody>
          <a:bodyPr/>
          <a:lstStyle/>
          <a:p>
            <a:r>
              <a:rPr lang="en-US" dirty="0"/>
              <a:t>Training</a:t>
            </a:r>
          </a:p>
        </p:txBody>
      </p:sp>
      <p:sp>
        <p:nvSpPr>
          <p:cNvPr id="3" name="Content Placeholder 2">
            <a:extLst>
              <a:ext uri="{FF2B5EF4-FFF2-40B4-BE49-F238E27FC236}">
                <a16:creationId xmlns:a16="http://schemas.microsoft.com/office/drawing/2014/main" id="{4F9B02CF-EACD-41AD-BE71-FE20702B480C}"/>
              </a:ext>
            </a:extLst>
          </p:cNvPr>
          <p:cNvSpPr>
            <a:spLocks noGrp="1"/>
          </p:cNvSpPr>
          <p:nvPr>
            <p:ph idx="1"/>
          </p:nvPr>
        </p:nvSpPr>
        <p:spPr/>
        <p:txBody>
          <a:bodyPr/>
          <a:lstStyle/>
          <a:p>
            <a:r>
              <a:rPr lang="en-US" dirty="0"/>
              <a:t>Gradient descent</a:t>
            </a:r>
          </a:p>
        </p:txBody>
      </p:sp>
      <p:sp>
        <p:nvSpPr>
          <p:cNvPr id="6" name="Slide Number Placeholder 5">
            <a:extLst>
              <a:ext uri="{FF2B5EF4-FFF2-40B4-BE49-F238E27FC236}">
                <a16:creationId xmlns:a16="http://schemas.microsoft.com/office/drawing/2014/main" id="{8B7B0D4E-0F2A-4ED6-A574-D490B269A3F5}"/>
              </a:ext>
            </a:extLst>
          </p:cNvPr>
          <p:cNvSpPr>
            <a:spLocks noGrp="1"/>
          </p:cNvSpPr>
          <p:nvPr>
            <p:ph type="sldNum" sz="quarter" idx="12"/>
          </p:nvPr>
        </p:nvSpPr>
        <p:spPr/>
        <p:txBody>
          <a:bodyPr/>
          <a:lstStyle/>
          <a:p>
            <a:fld id="{1B30F0CC-EBAF-4E3D-80D7-CFC82A3A738F}" type="slidenum">
              <a:rPr lang="en-US" smtClean="0"/>
              <a:pPr/>
              <a:t>79</a:t>
            </a:fld>
            <a:endParaRPr lang="en-US" dirty="0"/>
          </a:p>
        </p:txBody>
      </p:sp>
      <p:pic>
        <p:nvPicPr>
          <p:cNvPr id="7170" name="Picture 2">
            <a:extLst>
              <a:ext uri="{FF2B5EF4-FFF2-40B4-BE49-F238E27FC236}">
                <a16:creationId xmlns:a16="http://schemas.microsoft.com/office/drawing/2014/main" id="{659409B5-6DDB-482B-B4E6-4E60DF448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169729"/>
            <a:ext cx="6868391" cy="1148309"/>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a:extLst>
              <a:ext uri="{FF2B5EF4-FFF2-40B4-BE49-F238E27FC236}">
                <a16:creationId xmlns:a16="http://schemas.microsoft.com/office/drawing/2014/main" id="{0D7CDA3C-508A-48CB-85FC-5440A32D0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8462" y="4614516"/>
            <a:ext cx="3970844" cy="1152401"/>
          </a:xfrm>
          <a:prstGeom prst="rect">
            <a:avLst/>
          </a:prstGeom>
          <a:noFill/>
          <a:extLst>
            <a:ext uri="{909E8E84-426E-40DD-AFC4-6F175D3DCCD1}">
              <a14:hiddenFill xmlns:a14="http://schemas.microsoft.com/office/drawing/2010/main">
                <a:solidFill>
                  <a:srgbClr val="FFFFFF"/>
                </a:solidFill>
              </a14:hiddenFill>
            </a:ext>
          </a:extLst>
        </p:spPr>
      </p:pic>
      <p:pic>
        <p:nvPicPr>
          <p:cNvPr id="9228" name="Picture 12">
            <a:extLst>
              <a:ext uri="{FF2B5EF4-FFF2-40B4-BE49-F238E27FC236}">
                <a16:creationId xmlns:a16="http://schemas.microsoft.com/office/drawing/2014/main" id="{0507F141-CF15-4BF9-88AE-6A6E026B7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2495292"/>
            <a:ext cx="4339963" cy="96772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B221E68-3D85-4197-B6AE-B5A617F23426}"/>
              </a:ext>
            </a:extLst>
          </p:cNvPr>
          <p:cNvSpPr txBox="1"/>
          <p:nvPr/>
        </p:nvSpPr>
        <p:spPr>
          <a:xfrm>
            <a:off x="9425802" y="5810500"/>
            <a:ext cx="1420838" cy="369332"/>
          </a:xfrm>
          <a:prstGeom prst="rect">
            <a:avLst/>
          </a:prstGeom>
          <a:noFill/>
        </p:spPr>
        <p:txBody>
          <a:bodyPr wrap="none" rtlCol="0">
            <a:spAutoFit/>
          </a:bodyPr>
          <a:lstStyle/>
          <a:p>
            <a:r>
              <a:rPr lang="en-US" dirty="0"/>
              <a:t>Learning rate</a:t>
            </a:r>
          </a:p>
        </p:txBody>
      </p:sp>
      <p:cxnSp>
        <p:nvCxnSpPr>
          <p:cNvPr id="31" name="Straight Arrow Connector 30">
            <a:extLst>
              <a:ext uri="{FF2B5EF4-FFF2-40B4-BE49-F238E27FC236}">
                <a16:creationId xmlns:a16="http://schemas.microsoft.com/office/drawing/2014/main" id="{0F150A6B-FA3C-4277-9B35-11C3DA57A762}"/>
              </a:ext>
            </a:extLst>
          </p:cNvPr>
          <p:cNvCxnSpPr>
            <a:cxnSpLocks/>
            <a:stCxn id="7" idx="0"/>
          </p:cNvCxnSpPr>
          <p:nvPr/>
        </p:nvCxnSpPr>
        <p:spPr>
          <a:xfrm flipV="1">
            <a:off x="10136221" y="5426256"/>
            <a:ext cx="145870" cy="3842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8">
            <a:extLst>
              <a:ext uri="{FF2B5EF4-FFF2-40B4-BE49-F238E27FC236}">
                <a16:creationId xmlns:a16="http://schemas.microsoft.com/office/drawing/2014/main" id="{FB059EC0-3066-4A6A-8DF3-B0A79138E5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6511" y="3638127"/>
            <a:ext cx="2826745" cy="81242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a:extLst>
              <a:ext uri="{FF2B5EF4-FFF2-40B4-BE49-F238E27FC236}">
                <a16:creationId xmlns:a16="http://schemas.microsoft.com/office/drawing/2014/main" id="{744F657C-CB1E-4613-9313-724929A304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9585" y="3726460"/>
            <a:ext cx="4339963" cy="85256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07D73ECD-FDF7-4A2D-AAB9-39036A99639F}"/>
              </a:ext>
            </a:extLst>
          </p:cNvPr>
          <p:cNvPicPr>
            <a:picLocks noChangeAspect="1"/>
          </p:cNvPicPr>
          <p:nvPr/>
        </p:nvPicPr>
        <p:blipFill>
          <a:blip r:embed="rId7"/>
          <a:stretch>
            <a:fillRect/>
          </a:stretch>
        </p:blipFill>
        <p:spPr>
          <a:xfrm>
            <a:off x="9121832" y="3694277"/>
            <a:ext cx="2041814" cy="866584"/>
          </a:xfrm>
          <a:prstGeom prst="rect">
            <a:avLst/>
          </a:prstGeom>
        </p:spPr>
      </p:pic>
      <p:pic>
        <p:nvPicPr>
          <p:cNvPr id="23" name="Picture 4">
            <a:extLst>
              <a:ext uri="{FF2B5EF4-FFF2-40B4-BE49-F238E27FC236}">
                <a16:creationId xmlns:a16="http://schemas.microsoft.com/office/drawing/2014/main" id="{9BEE2A4D-1E76-4200-A017-FDA5358CCD7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52659" y="2257695"/>
            <a:ext cx="1747302" cy="43682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1A32E6AC-6759-4A9F-83DC-A95F3D48E27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3259" y="4920021"/>
            <a:ext cx="4908156" cy="1059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757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2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53DFA-3156-4F8F-8F0C-812A9A9043BD}"/>
              </a:ext>
            </a:extLst>
          </p:cNvPr>
          <p:cNvSpPr>
            <a:spLocks noGrp="1"/>
          </p:cNvSpPr>
          <p:nvPr>
            <p:ph type="title"/>
          </p:nvPr>
        </p:nvSpPr>
        <p:spPr/>
        <p:txBody>
          <a:bodyPr/>
          <a:lstStyle/>
          <a:p>
            <a:r>
              <a:rPr lang="en-US" dirty="0"/>
              <a:t>Back-propagation</a:t>
            </a:r>
          </a:p>
        </p:txBody>
      </p:sp>
      <p:sp>
        <p:nvSpPr>
          <p:cNvPr id="6" name="Slide Number Placeholder 5">
            <a:extLst>
              <a:ext uri="{FF2B5EF4-FFF2-40B4-BE49-F238E27FC236}">
                <a16:creationId xmlns:a16="http://schemas.microsoft.com/office/drawing/2014/main" id="{C650E13D-2087-4EE1-852A-55DF5A51E8A9}"/>
              </a:ext>
            </a:extLst>
          </p:cNvPr>
          <p:cNvSpPr>
            <a:spLocks noGrp="1"/>
          </p:cNvSpPr>
          <p:nvPr>
            <p:ph type="sldNum" sz="quarter" idx="12"/>
          </p:nvPr>
        </p:nvSpPr>
        <p:spPr/>
        <p:txBody>
          <a:bodyPr/>
          <a:lstStyle/>
          <a:p>
            <a:fld id="{1B30F0CC-EBAF-4E3D-80D7-CFC82A3A738F}" type="slidenum">
              <a:rPr lang="en-US" smtClean="0"/>
              <a:pPr/>
              <a:t>80</a:t>
            </a:fld>
            <a:endParaRPr lang="en-US" dirty="0"/>
          </a:p>
        </p:txBody>
      </p:sp>
      <p:pic>
        <p:nvPicPr>
          <p:cNvPr id="7" name="Picture 6" descr="Diagram&#10;&#10;Description automatically generated">
            <a:extLst>
              <a:ext uri="{FF2B5EF4-FFF2-40B4-BE49-F238E27FC236}">
                <a16:creationId xmlns:a16="http://schemas.microsoft.com/office/drawing/2014/main" id="{7869126D-03F3-4A19-9B15-A766E5F558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6714" y="1299702"/>
            <a:ext cx="1863771" cy="1999117"/>
          </a:xfrm>
          <a:prstGeom prst="rect">
            <a:avLst/>
          </a:prstGeom>
        </p:spPr>
      </p:pic>
      <p:pic>
        <p:nvPicPr>
          <p:cNvPr id="8" name="Picture 2">
            <a:extLst>
              <a:ext uri="{FF2B5EF4-FFF2-40B4-BE49-F238E27FC236}">
                <a16:creationId xmlns:a16="http://schemas.microsoft.com/office/drawing/2014/main" id="{7D834148-732B-40DF-A21A-041851FDF6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7059" y="2147150"/>
            <a:ext cx="457200" cy="3524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427A0EA3-A7DA-41B0-B626-2773F6F7C5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6492" y="2081033"/>
            <a:ext cx="392084" cy="44926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811B2839-42A6-4408-A975-A57D44C95E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3516" y="1330875"/>
            <a:ext cx="390105" cy="28200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1E7A6BE7-282C-4DFB-A9FB-9A6E9F03C33D}"/>
              </a:ext>
            </a:extLst>
          </p:cNvPr>
          <p:cNvCxnSpPr>
            <a:cxnSpLocks/>
          </p:cNvCxnSpPr>
          <p:nvPr/>
        </p:nvCxnSpPr>
        <p:spPr>
          <a:xfrm flipV="1">
            <a:off x="5698467" y="2308395"/>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8">
            <a:extLst>
              <a:ext uri="{FF2B5EF4-FFF2-40B4-BE49-F238E27FC236}">
                <a16:creationId xmlns:a16="http://schemas.microsoft.com/office/drawing/2014/main" id="{D5AA0B33-BDF2-47C8-B87D-CABD5AB737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7599" y="2025172"/>
            <a:ext cx="1106722" cy="592632"/>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F98FFC91-EB87-4523-BBE9-771EA88DF18C}"/>
              </a:ext>
            </a:extLst>
          </p:cNvPr>
          <p:cNvCxnSpPr>
            <a:cxnSpLocks/>
          </p:cNvCxnSpPr>
          <p:nvPr/>
        </p:nvCxnSpPr>
        <p:spPr>
          <a:xfrm flipV="1">
            <a:off x="7830671" y="2321488"/>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2">
            <a:extLst>
              <a:ext uri="{FF2B5EF4-FFF2-40B4-BE49-F238E27FC236}">
                <a16:creationId xmlns:a16="http://schemas.microsoft.com/office/drawing/2014/main" id="{ABD3425D-E46D-4FF3-A201-39A56ABF7F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37642" y="2100617"/>
            <a:ext cx="395243" cy="441742"/>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Arrow Connector 16">
            <a:extLst>
              <a:ext uri="{FF2B5EF4-FFF2-40B4-BE49-F238E27FC236}">
                <a16:creationId xmlns:a16="http://schemas.microsoft.com/office/drawing/2014/main" id="{69261E9E-6114-4727-92F5-1C3B9C958B41}"/>
              </a:ext>
            </a:extLst>
          </p:cNvPr>
          <p:cNvCxnSpPr>
            <a:cxnSpLocks/>
          </p:cNvCxnSpPr>
          <p:nvPr/>
        </p:nvCxnSpPr>
        <p:spPr>
          <a:xfrm flipH="1">
            <a:off x="7789412" y="2924747"/>
            <a:ext cx="64362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266" name="Picture 2">
            <a:extLst>
              <a:ext uri="{FF2B5EF4-FFF2-40B4-BE49-F238E27FC236}">
                <a16:creationId xmlns:a16="http://schemas.microsoft.com/office/drawing/2014/main" id="{AAFCF368-E60C-419B-A55A-86B095F820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19223" y="3318786"/>
            <a:ext cx="1244676" cy="1117903"/>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Arrow Connector 20">
            <a:extLst>
              <a:ext uri="{FF2B5EF4-FFF2-40B4-BE49-F238E27FC236}">
                <a16:creationId xmlns:a16="http://schemas.microsoft.com/office/drawing/2014/main" id="{0BB25209-AA7E-4BA5-9119-81FE9CCBB028}"/>
              </a:ext>
            </a:extLst>
          </p:cNvPr>
          <p:cNvCxnSpPr>
            <a:cxnSpLocks/>
          </p:cNvCxnSpPr>
          <p:nvPr/>
        </p:nvCxnSpPr>
        <p:spPr>
          <a:xfrm flipH="1">
            <a:off x="5657208" y="2936576"/>
            <a:ext cx="64362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268" name="Picture 4">
            <a:extLst>
              <a:ext uri="{FF2B5EF4-FFF2-40B4-BE49-F238E27FC236}">
                <a16:creationId xmlns:a16="http://schemas.microsoft.com/office/drawing/2014/main" id="{B5C1F390-1833-4819-BEF6-E27D2135040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71345" y="3301046"/>
            <a:ext cx="1244676" cy="1106378"/>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3A332EA8-0F01-4438-BBCF-CBBBA70656EE}"/>
              </a:ext>
            </a:extLst>
          </p:cNvPr>
          <p:cNvCxnSpPr>
            <a:cxnSpLocks/>
          </p:cNvCxnSpPr>
          <p:nvPr/>
        </p:nvCxnSpPr>
        <p:spPr>
          <a:xfrm flipH="1">
            <a:off x="3649995" y="3463049"/>
            <a:ext cx="64362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270" name="Picture 6">
            <a:extLst>
              <a:ext uri="{FF2B5EF4-FFF2-40B4-BE49-F238E27FC236}">
                <a16:creationId xmlns:a16="http://schemas.microsoft.com/office/drawing/2014/main" id="{34F2E81A-DD8D-429C-88B0-0A9AE9E9F58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78288" y="3669932"/>
            <a:ext cx="878780" cy="110637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2">
            <a:extLst>
              <a:ext uri="{FF2B5EF4-FFF2-40B4-BE49-F238E27FC236}">
                <a16:creationId xmlns:a16="http://schemas.microsoft.com/office/drawing/2014/main" id="{A89311B7-A18F-4473-A197-02AB520E1E4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7926" y="5048542"/>
            <a:ext cx="4575112" cy="1020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64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 221">
            <a:extLst>
              <a:ext uri="{FF2B5EF4-FFF2-40B4-BE49-F238E27FC236}">
                <a16:creationId xmlns:a16="http://schemas.microsoft.com/office/drawing/2014/main" id="{CDE3C75A-9722-4D35-87B4-25B9B7D24B33}"/>
              </a:ext>
            </a:extLst>
          </p:cNvPr>
          <p:cNvSpPr/>
          <p:nvPr/>
        </p:nvSpPr>
        <p:spPr>
          <a:xfrm>
            <a:off x="3566828" y="1207906"/>
            <a:ext cx="776389" cy="2784203"/>
          </a:xfrm>
          <a:prstGeom prst="cube">
            <a:avLst>
              <a:gd name="adj" fmla="val 90357"/>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 name="Title 1">
            <a:extLst>
              <a:ext uri="{FF2B5EF4-FFF2-40B4-BE49-F238E27FC236}">
                <a16:creationId xmlns:a16="http://schemas.microsoft.com/office/drawing/2014/main" id="{DDE75B25-DAB5-4D0E-9A28-D26B84161211}"/>
              </a:ext>
            </a:extLst>
          </p:cNvPr>
          <p:cNvSpPr>
            <a:spLocks noGrp="1"/>
          </p:cNvSpPr>
          <p:nvPr>
            <p:ph type="title"/>
          </p:nvPr>
        </p:nvSpPr>
        <p:spPr/>
        <p:txBody>
          <a:bodyPr/>
          <a:lstStyle/>
          <a:p>
            <a:r>
              <a:rPr lang="en-US" dirty="0"/>
              <a:t>Back-propagation</a:t>
            </a:r>
          </a:p>
        </p:txBody>
      </p:sp>
      <p:sp>
        <p:nvSpPr>
          <p:cNvPr id="6" name="Slide Number Placeholder 5">
            <a:extLst>
              <a:ext uri="{FF2B5EF4-FFF2-40B4-BE49-F238E27FC236}">
                <a16:creationId xmlns:a16="http://schemas.microsoft.com/office/drawing/2014/main" id="{9BA9C14C-270C-4C21-B77B-BF3045821702}"/>
              </a:ext>
            </a:extLst>
          </p:cNvPr>
          <p:cNvSpPr>
            <a:spLocks noGrp="1"/>
          </p:cNvSpPr>
          <p:nvPr>
            <p:ph type="sldNum" sz="quarter" idx="12"/>
          </p:nvPr>
        </p:nvSpPr>
        <p:spPr/>
        <p:txBody>
          <a:bodyPr/>
          <a:lstStyle/>
          <a:p>
            <a:fld id="{1B30F0CC-EBAF-4E3D-80D7-CFC82A3A738F}" type="slidenum">
              <a:rPr lang="en-US" smtClean="0"/>
              <a:pPr/>
              <a:t>81</a:t>
            </a:fld>
            <a:endParaRPr lang="en-US" dirty="0"/>
          </a:p>
        </p:txBody>
      </p:sp>
      <p:pic>
        <p:nvPicPr>
          <p:cNvPr id="7" name="Picture 6" descr="Diagram&#10;&#10;Description automatically generated">
            <a:extLst>
              <a:ext uri="{FF2B5EF4-FFF2-40B4-BE49-F238E27FC236}">
                <a16:creationId xmlns:a16="http://schemas.microsoft.com/office/drawing/2014/main" id="{F5ACD6A7-B43D-41A2-BE49-5FF3D23377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6517" y="1592202"/>
            <a:ext cx="1863771" cy="1999117"/>
          </a:xfrm>
          <a:prstGeom prst="rect">
            <a:avLst/>
          </a:prstGeom>
        </p:spPr>
      </p:pic>
      <p:pic>
        <p:nvPicPr>
          <p:cNvPr id="8" name="Picture 2">
            <a:extLst>
              <a:ext uri="{FF2B5EF4-FFF2-40B4-BE49-F238E27FC236}">
                <a16:creationId xmlns:a16="http://schemas.microsoft.com/office/drawing/2014/main" id="{416EFB86-ADE2-42E2-ACFD-A670789F6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4140" y="2866153"/>
            <a:ext cx="457200" cy="3524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698BAFA4-55D7-4440-8C98-1F066BBBB2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6295" y="2373533"/>
            <a:ext cx="392084" cy="44926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1D17BE8F-1719-4756-A4E2-E7D85D361B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3319" y="1623375"/>
            <a:ext cx="390105" cy="28200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D5FA1B35-135B-435E-8461-79968AE95AA1}"/>
              </a:ext>
            </a:extLst>
          </p:cNvPr>
          <p:cNvCxnSpPr>
            <a:cxnSpLocks/>
          </p:cNvCxnSpPr>
          <p:nvPr/>
        </p:nvCxnSpPr>
        <p:spPr>
          <a:xfrm flipV="1">
            <a:off x="8028270" y="2600895"/>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8">
            <a:extLst>
              <a:ext uri="{FF2B5EF4-FFF2-40B4-BE49-F238E27FC236}">
                <a16:creationId xmlns:a16="http://schemas.microsoft.com/office/drawing/2014/main" id="{6B5E6D4E-C26E-477D-A5B4-E244DABBA4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07402" y="2317672"/>
            <a:ext cx="1106722" cy="592632"/>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6A3E79AB-108C-4E82-A976-20511F89484F}"/>
              </a:ext>
            </a:extLst>
          </p:cNvPr>
          <p:cNvCxnSpPr>
            <a:cxnSpLocks/>
          </p:cNvCxnSpPr>
          <p:nvPr/>
        </p:nvCxnSpPr>
        <p:spPr>
          <a:xfrm flipV="1">
            <a:off x="10160474" y="2613988"/>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2">
            <a:extLst>
              <a:ext uri="{FF2B5EF4-FFF2-40B4-BE49-F238E27FC236}">
                <a16:creationId xmlns:a16="http://schemas.microsoft.com/office/drawing/2014/main" id="{40351A63-B24A-4C2A-81A6-A633BE2E5D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67445" y="2393117"/>
            <a:ext cx="395243" cy="441742"/>
          </a:xfrm>
          <a:prstGeom prst="rect">
            <a:avLst/>
          </a:prstGeom>
          <a:noFill/>
          <a:extLst>
            <a:ext uri="{909E8E84-426E-40DD-AFC4-6F175D3DCCD1}">
              <a14:hiddenFill xmlns:a14="http://schemas.microsoft.com/office/drawing/2010/main">
                <a:solidFill>
                  <a:srgbClr val="FFFFFF"/>
                </a:solidFill>
              </a14:hiddenFill>
            </a:ext>
          </a:extLst>
        </p:spPr>
      </p:pic>
      <p:sp>
        <p:nvSpPr>
          <p:cNvPr id="18" name="Shape 205">
            <a:extLst>
              <a:ext uri="{FF2B5EF4-FFF2-40B4-BE49-F238E27FC236}">
                <a16:creationId xmlns:a16="http://schemas.microsoft.com/office/drawing/2014/main" id="{6390E007-368B-4BD9-B2AD-ED94216F151F}"/>
              </a:ext>
            </a:extLst>
          </p:cNvPr>
          <p:cNvSpPr/>
          <p:nvPr/>
        </p:nvSpPr>
        <p:spPr>
          <a:xfrm>
            <a:off x="2222999" y="2031234"/>
            <a:ext cx="282299" cy="862610"/>
          </a:xfrm>
          <a:prstGeom prst="cube">
            <a:avLst>
              <a:gd name="adj" fmla="val 53382"/>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19" name="Shape 206">
            <a:extLst>
              <a:ext uri="{FF2B5EF4-FFF2-40B4-BE49-F238E27FC236}">
                <a16:creationId xmlns:a16="http://schemas.microsoft.com/office/drawing/2014/main" id="{F38CFD95-3EED-428D-B56B-A8ED37148D4D}"/>
              </a:ext>
            </a:extLst>
          </p:cNvPr>
          <p:cNvSpPr/>
          <p:nvPr/>
        </p:nvSpPr>
        <p:spPr>
          <a:xfrm>
            <a:off x="3819250" y="2240250"/>
            <a:ext cx="282299" cy="299194"/>
          </a:xfrm>
          <a:prstGeom prst="ellipse">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20" name="Shape 207">
            <a:extLst>
              <a:ext uri="{FF2B5EF4-FFF2-40B4-BE49-F238E27FC236}">
                <a16:creationId xmlns:a16="http://schemas.microsoft.com/office/drawing/2014/main" id="{87494BC5-6B88-4D1E-8CB7-FAEAFEF6DCD6}"/>
              </a:ext>
            </a:extLst>
          </p:cNvPr>
          <p:cNvCxnSpPr>
            <a:endCxn id="19" idx="2"/>
          </p:cNvCxnSpPr>
          <p:nvPr/>
        </p:nvCxnSpPr>
        <p:spPr>
          <a:xfrm flipV="1">
            <a:off x="2329748" y="2389847"/>
            <a:ext cx="1489502" cy="493395"/>
          </a:xfrm>
          <a:prstGeom prst="straightConnector1">
            <a:avLst/>
          </a:prstGeom>
          <a:noFill/>
          <a:ln w="19050" cap="flat" cmpd="sng">
            <a:solidFill>
              <a:srgbClr val="000000"/>
            </a:solidFill>
            <a:prstDash val="solid"/>
            <a:round/>
            <a:headEnd type="none" w="lg" len="lg"/>
            <a:tailEnd type="none" w="lg" len="lg"/>
          </a:ln>
        </p:spPr>
      </p:cxnSp>
      <p:cxnSp>
        <p:nvCxnSpPr>
          <p:cNvPr id="21" name="Shape 208">
            <a:extLst>
              <a:ext uri="{FF2B5EF4-FFF2-40B4-BE49-F238E27FC236}">
                <a16:creationId xmlns:a16="http://schemas.microsoft.com/office/drawing/2014/main" id="{12C6A5BC-F0FB-4F90-86C0-A63BD3790734}"/>
              </a:ext>
            </a:extLst>
          </p:cNvPr>
          <p:cNvCxnSpPr>
            <a:cxnSpLocks/>
            <a:endCxn id="19" idx="2"/>
          </p:cNvCxnSpPr>
          <p:nvPr/>
        </p:nvCxnSpPr>
        <p:spPr>
          <a:xfrm>
            <a:off x="2324424" y="2190647"/>
            <a:ext cx="1494826" cy="199200"/>
          </a:xfrm>
          <a:prstGeom prst="straightConnector1">
            <a:avLst/>
          </a:prstGeom>
          <a:noFill/>
          <a:ln w="19050" cap="flat" cmpd="sng">
            <a:solidFill>
              <a:srgbClr val="000000"/>
            </a:solidFill>
            <a:prstDash val="solid"/>
            <a:round/>
            <a:headEnd type="none" w="lg" len="lg"/>
            <a:tailEnd type="none" w="lg" len="lg"/>
          </a:ln>
        </p:spPr>
      </p:cxnSp>
      <p:cxnSp>
        <p:nvCxnSpPr>
          <p:cNvPr id="22" name="Shape 209">
            <a:extLst>
              <a:ext uri="{FF2B5EF4-FFF2-40B4-BE49-F238E27FC236}">
                <a16:creationId xmlns:a16="http://schemas.microsoft.com/office/drawing/2014/main" id="{0E6DDBBA-FCFA-4695-B0BC-2835299DBBFC}"/>
              </a:ext>
            </a:extLst>
          </p:cNvPr>
          <p:cNvCxnSpPr>
            <a:cxnSpLocks/>
            <a:endCxn id="19" idx="2"/>
          </p:cNvCxnSpPr>
          <p:nvPr/>
        </p:nvCxnSpPr>
        <p:spPr>
          <a:xfrm>
            <a:off x="2505298" y="2042517"/>
            <a:ext cx="1313952" cy="347330"/>
          </a:xfrm>
          <a:prstGeom prst="straightConnector1">
            <a:avLst/>
          </a:prstGeom>
          <a:noFill/>
          <a:ln w="19050" cap="flat" cmpd="sng">
            <a:solidFill>
              <a:srgbClr val="000000"/>
            </a:solidFill>
            <a:prstDash val="solid"/>
            <a:round/>
            <a:headEnd type="none" w="lg" len="lg"/>
            <a:tailEnd type="none" w="lg" len="lg"/>
          </a:ln>
        </p:spPr>
      </p:cxnSp>
      <p:cxnSp>
        <p:nvCxnSpPr>
          <p:cNvPr id="23" name="Shape 210">
            <a:extLst>
              <a:ext uri="{FF2B5EF4-FFF2-40B4-BE49-F238E27FC236}">
                <a16:creationId xmlns:a16="http://schemas.microsoft.com/office/drawing/2014/main" id="{89AE145D-03E2-4631-8487-3B5328AF141C}"/>
              </a:ext>
            </a:extLst>
          </p:cNvPr>
          <p:cNvCxnSpPr>
            <a:endCxn id="19" idx="2"/>
          </p:cNvCxnSpPr>
          <p:nvPr/>
        </p:nvCxnSpPr>
        <p:spPr>
          <a:xfrm flipV="1">
            <a:off x="2511548" y="2389847"/>
            <a:ext cx="1307702" cy="294195"/>
          </a:xfrm>
          <a:prstGeom prst="straightConnector1">
            <a:avLst/>
          </a:prstGeom>
          <a:noFill/>
          <a:ln w="19050" cap="flat" cmpd="sng">
            <a:solidFill>
              <a:srgbClr val="000000"/>
            </a:solidFill>
            <a:prstDash val="solid"/>
            <a:round/>
            <a:headEnd type="none" w="lg" len="lg"/>
            <a:tailEnd type="none" w="lg" len="lg"/>
          </a:ln>
        </p:spPr>
      </p:cxnSp>
      <p:sp>
        <p:nvSpPr>
          <p:cNvPr id="24" name="Shape 211">
            <a:extLst>
              <a:ext uri="{FF2B5EF4-FFF2-40B4-BE49-F238E27FC236}">
                <a16:creationId xmlns:a16="http://schemas.microsoft.com/office/drawing/2014/main" id="{0A39909B-5F70-4098-98FB-C962814E7A52}"/>
              </a:ext>
            </a:extLst>
          </p:cNvPr>
          <p:cNvSpPr txBox="1"/>
          <p:nvPr/>
        </p:nvSpPr>
        <p:spPr>
          <a:xfrm>
            <a:off x="2419098" y="3663980"/>
            <a:ext cx="776388" cy="328129"/>
          </a:xfrm>
          <a:prstGeom prst="rect">
            <a:avLst/>
          </a:prstGeom>
          <a:noFill/>
          <a:ln>
            <a:noFill/>
          </a:ln>
        </p:spPr>
        <p:txBody>
          <a:bodyPr lIns="91425" tIns="91425" rIns="91425" bIns="91425" anchor="t" anchorCtr="0">
            <a:noAutofit/>
          </a:bodyPr>
          <a:lstStyle/>
          <a:p>
            <a:r>
              <a:rPr lang="en" dirty="0"/>
              <a:t>224</a:t>
            </a:r>
          </a:p>
        </p:txBody>
      </p:sp>
      <p:sp>
        <p:nvSpPr>
          <p:cNvPr id="25" name="Shape 212">
            <a:extLst>
              <a:ext uri="{FF2B5EF4-FFF2-40B4-BE49-F238E27FC236}">
                <a16:creationId xmlns:a16="http://schemas.microsoft.com/office/drawing/2014/main" id="{EB8CE549-7D8B-4F97-A431-DE5CC9DCEB0F}"/>
              </a:ext>
            </a:extLst>
          </p:cNvPr>
          <p:cNvSpPr txBox="1"/>
          <p:nvPr/>
        </p:nvSpPr>
        <p:spPr>
          <a:xfrm>
            <a:off x="2742943" y="1316783"/>
            <a:ext cx="716725" cy="299194"/>
          </a:xfrm>
          <a:prstGeom prst="rect">
            <a:avLst/>
          </a:prstGeom>
          <a:noFill/>
          <a:ln>
            <a:noFill/>
          </a:ln>
        </p:spPr>
        <p:txBody>
          <a:bodyPr lIns="91425" tIns="91425" rIns="91425" bIns="91425" anchor="t" anchorCtr="0">
            <a:noAutofit/>
          </a:bodyPr>
          <a:lstStyle/>
          <a:p>
            <a:r>
              <a:rPr lang="en" dirty="0"/>
              <a:t>224</a:t>
            </a:r>
          </a:p>
        </p:txBody>
      </p:sp>
      <p:sp>
        <p:nvSpPr>
          <p:cNvPr id="26" name="Shape 213">
            <a:extLst>
              <a:ext uri="{FF2B5EF4-FFF2-40B4-BE49-F238E27FC236}">
                <a16:creationId xmlns:a16="http://schemas.microsoft.com/office/drawing/2014/main" id="{F8F1C3ED-D959-48D6-A69D-0EC16B0AEDBD}"/>
              </a:ext>
            </a:extLst>
          </p:cNvPr>
          <p:cNvSpPr txBox="1"/>
          <p:nvPr/>
        </p:nvSpPr>
        <p:spPr>
          <a:xfrm>
            <a:off x="1748485" y="4151288"/>
            <a:ext cx="491700" cy="192998"/>
          </a:xfrm>
          <a:prstGeom prst="rect">
            <a:avLst/>
          </a:prstGeom>
          <a:noFill/>
          <a:ln>
            <a:noFill/>
          </a:ln>
        </p:spPr>
        <p:txBody>
          <a:bodyPr lIns="91425" tIns="91425" rIns="91425" bIns="91425" anchor="t" anchorCtr="0">
            <a:noAutofit/>
          </a:bodyPr>
          <a:lstStyle/>
          <a:p>
            <a:r>
              <a:rPr lang="en"/>
              <a:t>3</a:t>
            </a:r>
          </a:p>
        </p:txBody>
      </p:sp>
      <p:sp>
        <p:nvSpPr>
          <p:cNvPr id="27" name="Shape 215">
            <a:extLst>
              <a:ext uri="{FF2B5EF4-FFF2-40B4-BE49-F238E27FC236}">
                <a16:creationId xmlns:a16="http://schemas.microsoft.com/office/drawing/2014/main" id="{35974419-972C-45A4-85AE-A27CB19F00E3}"/>
              </a:ext>
            </a:extLst>
          </p:cNvPr>
          <p:cNvSpPr/>
          <p:nvPr/>
        </p:nvSpPr>
        <p:spPr>
          <a:xfrm>
            <a:off x="1806473" y="1266887"/>
            <a:ext cx="956400" cy="2922955"/>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43" name="Straight Arrow Connector 42">
            <a:extLst>
              <a:ext uri="{FF2B5EF4-FFF2-40B4-BE49-F238E27FC236}">
                <a16:creationId xmlns:a16="http://schemas.microsoft.com/office/drawing/2014/main" id="{2928E5E2-93AC-4F91-A611-9E5C53C9B4A3}"/>
              </a:ext>
            </a:extLst>
          </p:cNvPr>
          <p:cNvCxnSpPr>
            <a:cxnSpLocks/>
          </p:cNvCxnSpPr>
          <p:nvPr/>
        </p:nvCxnSpPr>
        <p:spPr>
          <a:xfrm flipV="1">
            <a:off x="4521923" y="2586059"/>
            <a:ext cx="561109" cy="64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290" name="Picture 2">
            <a:extLst>
              <a:ext uri="{FF2B5EF4-FFF2-40B4-BE49-F238E27FC236}">
                <a16:creationId xmlns:a16="http://schemas.microsoft.com/office/drawing/2014/main" id="{B0026A21-FA02-45D4-82B9-48C89AE8BFA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5243" y="4556355"/>
            <a:ext cx="3441903" cy="563760"/>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7F3C29CF-C518-47D5-9FF8-5D0F8DD3603A}"/>
              </a:ext>
            </a:extLst>
          </p:cNvPr>
          <p:cNvSpPr txBox="1"/>
          <p:nvPr/>
        </p:nvSpPr>
        <p:spPr>
          <a:xfrm>
            <a:off x="1618825" y="5504359"/>
            <a:ext cx="1151341" cy="369332"/>
          </a:xfrm>
          <a:prstGeom prst="rect">
            <a:avLst/>
          </a:prstGeom>
          <a:noFill/>
        </p:spPr>
        <p:txBody>
          <a:bodyPr wrap="none" rtlCol="0">
            <a:spAutoFit/>
          </a:bodyPr>
          <a:lstStyle/>
          <a:p>
            <a:r>
              <a:rPr lang="en-US" dirty="0"/>
              <a:t>Conv filter</a:t>
            </a:r>
          </a:p>
        </p:txBody>
      </p:sp>
      <p:cxnSp>
        <p:nvCxnSpPr>
          <p:cNvPr id="46" name="Straight Arrow Connector 45">
            <a:extLst>
              <a:ext uri="{FF2B5EF4-FFF2-40B4-BE49-F238E27FC236}">
                <a16:creationId xmlns:a16="http://schemas.microsoft.com/office/drawing/2014/main" id="{3A589AFA-C550-40EA-A20A-B09BC623940F}"/>
              </a:ext>
            </a:extLst>
          </p:cNvPr>
          <p:cNvCxnSpPr>
            <a:cxnSpLocks/>
            <a:stCxn id="45" idx="0"/>
          </p:cNvCxnSpPr>
          <p:nvPr/>
        </p:nvCxnSpPr>
        <p:spPr>
          <a:xfrm flipV="1">
            <a:off x="2194496" y="5120115"/>
            <a:ext cx="280618" cy="3842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FF848D54-811B-4DC3-8F2D-1A7BFC2B26F6}"/>
              </a:ext>
            </a:extLst>
          </p:cNvPr>
          <p:cNvSpPr txBox="1"/>
          <p:nvPr/>
        </p:nvSpPr>
        <p:spPr>
          <a:xfrm>
            <a:off x="3793188" y="5476340"/>
            <a:ext cx="562975" cy="369332"/>
          </a:xfrm>
          <a:prstGeom prst="rect">
            <a:avLst/>
          </a:prstGeom>
          <a:noFill/>
        </p:spPr>
        <p:txBody>
          <a:bodyPr wrap="none" rtlCol="0">
            <a:spAutoFit/>
          </a:bodyPr>
          <a:lstStyle/>
          <a:p>
            <a:r>
              <a:rPr lang="en-US" dirty="0"/>
              <a:t>Bias</a:t>
            </a:r>
          </a:p>
        </p:txBody>
      </p:sp>
      <p:cxnSp>
        <p:nvCxnSpPr>
          <p:cNvPr id="48" name="Straight Arrow Connector 47">
            <a:extLst>
              <a:ext uri="{FF2B5EF4-FFF2-40B4-BE49-F238E27FC236}">
                <a16:creationId xmlns:a16="http://schemas.microsoft.com/office/drawing/2014/main" id="{0800E349-A022-41FC-A61B-2CE16A617547}"/>
              </a:ext>
            </a:extLst>
          </p:cNvPr>
          <p:cNvCxnSpPr>
            <a:cxnSpLocks/>
          </p:cNvCxnSpPr>
          <p:nvPr/>
        </p:nvCxnSpPr>
        <p:spPr>
          <a:xfrm flipV="1">
            <a:off x="4074676" y="5054314"/>
            <a:ext cx="0" cy="4441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294" name="Picture 6">
            <a:extLst>
              <a:ext uri="{FF2B5EF4-FFF2-40B4-BE49-F238E27FC236}">
                <a16:creationId xmlns:a16="http://schemas.microsoft.com/office/drawing/2014/main" id="{91B981D1-BA70-45CE-955F-C37D5D2E08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93016" y="3894361"/>
            <a:ext cx="1889919" cy="909010"/>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Straight Arrow Connector 51">
            <a:extLst>
              <a:ext uri="{FF2B5EF4-FFF2-40B4-BE49-F238E27FC236}">
                <a16:creationId xmlns:a16="http://schemas.microsoft.com/office/drawing/2014/main" id="{781BAE49-6242-4D06-9532-EAA870E4760D}"/>
              </a:ext>
            </a:extLst>
          </p:cNvPr>
          <p:cNvCxnSpPr>
            <a:cxnSpLocks/>
          </p:cNvCxnSpPr>
          <p:nvPr/>
        </p:nvCxnSpPr>
        <p:spPr>
          <a:xfrm flipH="1">
            <a:off x="10077957" y="2993431"/>
            <a:ext cx="64362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325F235-0FD3-4E1D-948D-A77B521D62A8}"/>
              </a:ext>
            </a:extLst>
          </p:cNvPr>
          <p:cNvCxnSpPr>
            <a:cxnSpLocks/>
          </p:cNvCxnSpPr>
          <p:nvPr/>
        </p:nvCxnSpPr>
        <p:spPr>
          <a:xfrm flipH="1">
            <a:off x="7966974" y="2993431"/>
            <a:ext cx="64362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950BAB7-2AA4-4B57-A082-EDCC5993D949}"/>
              </a:ext>
            </a:extLst>
          </p:cNvPr>
          <p:cNvCxnSpPr>
            <a:cxnSpLocks/>
          </p:cNvCxnSpPr>
          <p:nvPr/>
        </p:nvCxnSpPr>
        <p:spPr>
          <a:xfrm flipH="1">
            <a:off x="4521923" y="2910304"/>
            <a:ext cx="64362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247FE5D-F257-40B4-B981-61D07ADC0134}"/>
              </a:ext>
            </a:extLst>
          </p:cNvPr>
          <p:cNvCxnSpPr>
            <a:cxnSpLocks/>
          </p:cNvCxnSpPr>
          <p:nvPr/>
        </p:nvCxnSpPr>
        <p:spPr>
          <a:xfrm flipH="1">
            <a:off x="2816042" y="2910304"/>
            <a:ext cx="64362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296" name="Picture 8">
            <a:extLst>
              <a:ext uri="{FF2B5EF4-FFF2-40B4-BE49-F238E27FC236}">
                <a16:creationId xmlns:a16="http://schemas.microsoft.com/office/drawing/2014/main" id="{631D25E1-122B-4DB3-99BD-3C25564EB6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04661" y="3882949"/>
            <a:ext cx="2404630" cy="98981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8D0D52BF-2835-454C-9C5B-A6321A02D92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59241" y="5122729"/>
            <a:ext cx="3859092" cy="9462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9732D67-225C-ADA9-AD79-873EB25EEF59}"/>
              </a:ext>
            </a:extLst>
          </p:cNvPr>
          <p:cNvSpPr txBox="1"/>
          <p:nvPr/>
        </p:nvSpPr>
        <p:spPr>
          <a:xfrm>
            <a:off x="983660" y="5828517"/>
            <a:ext cx="3801041" cy="369332"/>
          </a:xfrm>
          <a:prstGeom prst="rect">
            <a:avLst/>
          </a:prstGeom>
          <a:noFill/>
        </p:spPr>
        <p:txBody>
          <a:bodyPr wrap="none" rtlCol="0">
            <a:spAutoFit/>
          </a:bodyPr>
          <a:lstStyle/>
          <a:p>
            <a:r>
              <a:rPr lang="en-US" dirty="0"/>
              <a:t>Simplified convolution computation </a:t>
            </a:r>
          </a:p>
        </p:txBody>
      </p:sp>
    </p:spTree>
    <p:extLst>
      <p:ext uri="{BB962C8B-B14F-4D97-AF65-F5344CB8AC3E}">
        <p14:creationId xmlns:p14="http://schemas.microsoft.com/office/powerpoint/2010/main" val="3797815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29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29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6AB90-75A4-4EC2-9A76-9B3C5CFA5644}"/>
              </a:ext>
            </a:extLst>
          </p:cNvPr>
          <p:cNvSpPr>
            <a:spLocks noGrp="1"/>
          </p:cNvSpPr>
          <p:nvPr>
            <p:ph type="title"/>
          </p:nvPr>
        </p:nvSpPr>
        <p:spPr/>
        <p:txBody>
          <a:bodyPr>
            <a:normAutofit fontScale="90000"/>
          </a:bodyPr>
          <a:lstStyle/>
          <a:p>
            <a:br>
              <a:rPr lang="en-US" sz="4400" dirty="0">
                <a:latin typeface="Helvetica Neue"/>
                <a:ea typeface="Helvetica Neue"/>
                <a:cs typeface="Helvetica Neue"/>
                <a:sym typeface="Helvetica Neue"/>
              </a:rPr>
            </a:br>
            <a:r>
              <a:rPr lang="en-US" sz="4400" dirty="0">
                <a:latin typeface="Helvetica Neue"/>
                <a:ea typeface="Helvetica Neue"/>
                <a:cs typeface="Helvetica Neue"/>
                <a:sym typeface="Helvetica Neue"/>
              </a:rPr>
              <a:t>Training: back-propagate errors</a:t>
            </a:r>
            <a:br>
              <a:rPr lang="en-US" sz="4400" dirty="0">
                <a:latin typeface="Helvetica Neue"/>
                <a:ea typeface="Helvetica Neue"/>
                <a:cs typeface="Helvetica Neue"/>
                <a:sym typeface="Helvetica Neue"/>
              </a:rPr>
            </a:br>
            <a:endParaRPr lang="en-US" dirty="0"/>
          </a:p>
        </p:txBody>
      </p:sp>
      <p:sp>
        <p:nvSpPr>
          <p:cNvPr id="6" name="Slide Number Placeholder 5">
            <a:extLst>
              <a:ext uri="{FF2B5EF4-FFF2-40B4-BE49-F238E27FC236}">
                <a16:creationId xmlns:a16="http://schemas.microsoft.com/office/drawing/2014/main" id="{4C5C5D25-3323-470F-9D01-7B8B981D90F4}"/>
              </a:ext>
            </a:extLst>
          </p:cNvPr>
          <p:cNvSpPr>
            <a:spLocks noGrp="1"/>
          </p:cNvSpPr>
          <p:nvPr>
            <p:ph type="sldNum" sz="quarter" idx="12"/>
          </p:nvPr>
        </p:nvSpPr>
        <p:spPr/>
        <p:txBody>
          <a:bodyPr/>
          <a:lstStyle/>
          <a:p>
            <a:fld id="{1B30F0CC-EBAF-4E3D-80D7-CFC82A3A738F}" type="slidenum">
              <a:rPr lang="en-US" smtClean="0"/>
              <a:pPr/>
              <a:t>82</a:t>
            </a:fld>
            <a:endParaRPr lang="en-US" dirty="0"/>
          </a:p>
        </p:txBody>
      </p:sp>
      <p:sp>
        <p:nvSpPr>
          <p:cNvPr id="7" name="Shape 136">
            <a:extLst>
              <a:ext uri="{FF2B5EF4-FFF2-40B4-BE49-F238E27FC236}">
                <a16:creationId xmlns:a16="http://schemas.microsoft.com/office/drawing/2014/main" id="{255E9D0C-0282-4F94-BD19-01814869FD6A}"/>
              </a:ext>
            </a:extLst>
          </p:cNvPr>
          <p:cNvSpPr/>
          <p:nvPr/>
        </p:nvSpPr>
        <p:spPr>
          <a:xfrm>
            <a:off x="1869948" y="2638700"/>
            <a:ext cx="457200" cy="1295400"/>
          </a:xfrm>
          <a:prstGeom prst="cube">
            <a:avLst>
              <a:gd name="adj" fmla="val 77711"/>
            </a:avLst>
          </a:prstGeom>
          <a:solidFill>
            <a:schemeClr val="accent1">
              <a:alpha val="51920"/>
            </a:scheme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8" name="Right Arrow 5">
            <a:extLst>
              <a:ext uri="{FF2B5EF4-FFF2-40B4-BE49-F238E27FC236}">
                <a16:creationId xmlns:a16="http://schemas.microsoft.com/office/drawing/2014/main" id="{9532A7AC-70B8-4D5E-8B13-564D5C7BBA74}"/>
              </a:ext>
            </a:extLst>
          </p:cNvPr>
          <p:cNvSpPr/>
          <p:nvPr/>
        </p:nvSpPr>
        <p:spPr>
          <a:xfrm>
            <a:off x="2420874" y="313890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ight Arrow 7">
            <a:extLst>
              <a:ext uri="{FF2B5EF4-FFF2-40B4-BE49-F238E27FC236}">
                <a16:creationId xmlns:a16="http://schemas.microsoft.com/office/drawing/2014/main" id="{8E639135-02B0-4E37-9C54-9F0C0C8F5FFC}"/>
              </a:ext>
            </a:extLst>
          </p:cNvPr>
          <p:cNvSpPr/>
          <p:nvPr/>
        </p:nvSpPr>
        <p:spPr>
          <a:xfrm>
            <a:off x="6934200" y="313890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4F26AE-3CBA-4E9A-AEDC-E1117DD758F7}"/>
              </a:ext>
            </a:extLst>
          </p:cNvPr>
          <p:cNvSpPr/>
          <p:nvPr/>
        </p:nvSpPr>
        <p:spPr>
          <a:xfrm>
            <a:off x="7924800" y="1838600"/>
            <a:ext cx="304800" cy="2895600"/>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ight Arrow 11">
            <a:extLst>
              <a:ext uri="{FF2B5EF4-FFF2-40B4-BE49-F238E27FC236}">
                <a16:creationId xmlns:a16="http://schemas.microsoft.com/office/drawing/2014/main" id="{D2C57F66-4D90-4443-B27F-B886BF5CB94C}"/>
              </a:ext>
            </a:extLst>
          </p:cNvPr>
          <p:cNvSpPr/>
          <p:nvPr/>
        </p:nvSpPr>
        <p:spPr>
          <a:xfrm rot="10800000">
            <a:off x="9456084" y="2456980"/>
            <a:ext cx="685800" cy="295000"/>
          </a:xfrm>
          <a:prstGeom prst="rightArrow">
            <a:avLst/>
          </a:prstGeom>
          <a:noFill/>
          <a:ln w="38100">
            <a:solidFill>
              <a:srgbClr val="FF0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1DB2B9-ECCB-423D-B4F1-7A064940F515}"/>
              </a:ext>
            </a:extLst>
          </p:cNvPr>
          <p:cNvSpPr/>
          <p:nvPr/>
        </p:nvSpPr>
        <p:spPr>
          <a:xfrm>
            <a:off x="9154848" y="2716477"/>
            <a:ext cx="197694" cy="1139846"/>
          </a:xfrm>
          <a:prstGeom prst="rect">
            <a:avLst/>
          </a:prstGeom>
          <a:solidFill>
            <a:schemeClr val="bg1">
              <a:lumMod val="75000"/>
            </a:schemeClr>
          </a:solidFill>
          <a:ln w="38100">
            <a:solidFill>
              <a:schemeClr val="bg1">
                <a:lumMod val="75000"/>
              </a:schemeClr>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60D56E5-F945-4530-8510-CC9E1A80275C}"/>
              </a:ext>
            </a:extLst>
          </p:cNvPr>
          <p:cNvSpPr txBox="1"/>
          <p:nvPr/>
        </p:nvSpPr>
        <p:spPr>
          <a:xfrm>
            <a:off x="1524000" y="4090204"/>
            <a:ext cx="1308050" cy="369332"/>
          </a:xfrm>
          <a:prstGeom prst="rect">
            <a:avLst/>
          </a:prstGeom>
          <a:noFill/>
        </p:spPr>
        <p:txBody>
          <a:bodyPr wrap="none" rtlCol="0">
            <a:spAutoFit/>
          </a:bodyPr>
          <a:lstStyle/>
          <a:p>
            <a:r>
              <a:rPr lang="en-US" dirty="0"/>
              <a:t>Input image</a:t>
            </a:r>
          </a:p>
        </p:txBody>
      </p:sp>
      <p:sp>
        <p:nvSpPr>
          <p:cNvPr id="14" name="TextBox 13">
            <a:extLst>
              <a:ext uri="{FF2B5EF4-FFF2-40B4-BE49-F238E27FC236}">
                <a16:creationId xmlns:a16="http://schemas.microsoft.com/office/drawing/2014/main" id="{053E3267-C238-41C0-8C3D-4AA7BD4B4F11}"/>
              </a:ext>
            </a:extLst>
          </p:cNvPr>
          <p:cNvSpPr txBox="1"/>
          <p:nvPr/>
        </p:nvSpPr>
        <p:spPr>
          <a:xfrm>
            <a:off x="6958445" y="4949016"/>
            <a:ext cx="2170466" cy="369332"/>
          </a:xfrm>
          <a:prstGeom prst="rect">
            <a:avLst/>
          </a:prstGeom>
          <a:noFill/>
        </p:spPr>
        <p:txBody>
          <a:bodyPr wrap="none" rtlCol="0">
            <a:spAutoFit/>
          </a:bodyPr>
          <a:lstStyle/>
          <a:p>
            <a:r>
              <a:rPr lang="en-US" dirty="0"/>
              <a:t>Fully connected layer</a:t>
            </a:r>
          </a:p>
        </p:txBody>
      </p:sp>
      <p:sp>
        <p:nvSpPr>
          <p:cNvPr id="15" name="TextBox 14">
            <a:extLst>
              <a:ext uri="{FF2B5EF4-FFF2-40B4-BE49-F238E27FC236}">
                <a16:creationId xmlns:a16="http://schemas.microsoft.com/office/drawing/2014/main" id="{618B6D94-19C4-4A3E-A356-DD9D32F181EB}"/>
              </a:ext>
            </a:extLst>
          </p:cNvPr>
          <p:cNvSpPr txBox="1"/>
          <p:nvPr/>
        </p:nvSpPr>
        <p:spPr>
          <a:xfrm>
            <a:off x="8759090" y="3960626"/>
            <a:ext cx="877163" cy="646331"/>
          </a:xfrm>
          <a:prstGeom prst="rect">
            <a:avLst/>
          </a:prstGeom>
          <a:noFill/>
        </p:spPr>
        <p:txBody>
          <a:bodyPr wrap="none" rtlCol="0">
            <a:spAutoFit/>
          </a:bodyPr>
          <a:lstStyle/>
          <a:p>
            <a:r>
              <a:rPr lang="en-US" dirty="0"/>
              <a:t>Output</a:t>
            </a:r>
          </a:p>
          <a:p>
            <a:r>
              <a:rPr lang="en-US" dirty="0"/>
              <a:t>vector</a:t>
            </a:r>
          </a:p>
        </p:txBody>
      </p:sp>
      <p:sp>
        <p:nvSpPr>
          <p:cNvPr id="16" name="Rectangle 15">
            <a:extLst>
              <a:ext uri="{FF2B5EF4-FFF2-40B4-BE49-F238E27FC236}">
                <a16:creationId xmlns:a16="http://schemas.microsoft.com/office/drawing/2014/main" id="{B561B028-A668-4E18-9E15-CFDB6E7C6BAA}"/>
              </a:ext>
            </a:extLst>
          </p:cNvPr>
          <p:cNvSpPr/>
          <p:nvPr/>
        </p:nvSpPr>
        <p:spPr>
          <a:xfrm>
            <a:off x="10227990" y="2719525"/>
            <a:ext cx="197694" cy="1139846"/>
          </a:xfrm>
          <a:prstGeom prst="rect">
            <a:avLst/>
          </a:prstGeom>
          <a:solidFill>
            <a:srgbClr val="32FF00"/>
          </a:solidFill>
          <a:ln w="38100">
            <a:solidFill>
              <a:srgbClr val="32FF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D28003C-91D6-46A6-B60A-003FE588E08B}"/>
              </a:ext>
            </a:extLst>
          </p:cNvPr>
          <p:cNvSpPr txBox="1"/>
          <p:nvPr/>
        </p:nvSpPr>
        <p:spPr>
          <a:xfrm>
            <a:off x="9931158" y="3960626"/>
            <a:ext cx="776495" cy="646331"/>
          </a:xfrm>
          <a:prstGeom prst="rect">
            <a:avLst/>
          </a:prstGeom>
          <a:noFill/>
        </p:spPr>
        <p:txBody>
          <a:bodyPr wrap="none" rtlCol="0">
            <a:spAutoFit/>
          </a:bodyPr>
          <a:lstStyle/>
          <a:p>
            <a:r>
              <a:rPr lang="en-US" dirty="0"/>
              <a:t>GT </a:t>
            </a:r>
          </a:p>
          <a:p>
            <a:r>
              <a:rPr lang="en-US" dirty="0"/>
              <a:t>vector</a:t>
            </a:r>
          </a:p>
        </p:txBody>
      </p:sp>
      <p:sp>
        <p:nvSpPr>
          <p:cNvPr id="18" name="Left-Right Arrow 3">
            <a:extLst>
              <a:ext uri="{FF2B5EF4-FFF2-40B4-BE49-F238E27FC236}">
                <a16:creationId xmlns:a16="http://schemas.microsoft.com/office/drawing/2014/main" id="{9C2C569E-A091-47C4-89EF-4DE1923E98F7}"/>
              </a:ext>
            </a:extLst>
          </p:cNvPr>
          <p:cNvSpPr/>
          <p:nvPr/>
        </p:nvSpPr>
        <p:spPr>
          <a:xfrm>
            <a:off x="9425514" y="3159080"/>
            <a:ext cx="746940" cy="274821"/>
          </a:xfrm>
          <a:prstGeom prst="lef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Shape 136">
            <a:extLst>
              <a:ext uri="{FF2B5EF4-FFF2-40B4-BE49-F238E27FC236}">
                <a16:creationId xmlns:a16="http://schemas.microsoft.com/office/drawing/2014/main" id="{AE573144-73C0-4EAA-895B-B776DA133124}"/>
              </a:ext>
            </a:extLst>
          </p:cNvPr>
          <p:cNvSpPr/>
          <p:nvPr/>
        </p:nvSpPr>
        <p:spPr>
          <a:xfrm>
            <a:off x="3284155" y="1424899"/>
            <a:ext cx="956400" cy="3677200"/>
          </a:xfrm>
          <a:prstGeom prst="cube">
            <a:avLst>
              <a:gd name="adj" fmla="val 91130"/>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0" name="Shape 136">
            <a:extLst>
              <a:ext uri="{FF2B5EF4-FFF2-40B4-BE49-F238E27FC236}">
                <a16:creationId xmlns:a16="http://schemas.microsoft.com/office/drawing/2014/main" id="{664FD84E-82C3-4B94-84C3-CAB8F81E4C02}"/>
              </a:ext>
            </a:extLst>
          </p:cNvPr>
          <p:cNvSpPr/>
          <p:nvPr/>
        </p:nvSpPr>
        <p:spPr>
          <a:xfrm>
            <a:off x="5414466" y="2142677"/>
            <a:ext cx="834874" cy="2032804"/>
          </a:xfrm>
          <a:prstGeom prst="cube">
            <a:avLst>
              <a:gd name="adj" fmla="val 90038"/>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1" name="TextBox 20">
            <a:extLst>
              <a:ext uri="{FF2B5EF4-FFF2-40B4-BE49-F238E27FC236}">
                <a16:creationId xmlns:a16="http://schemas.microsoft.com/office/drawing/2014/main" id="{680986B2-FF1E-433B-9364-4C6B0FE26C4B}"/>
              </a:ext>
            </a:extLst>
          </p:cNvPr>
          <p:cNvSpPr txBox="1"/>
          <p:nvPr/>
        </p:nvSpPr>
        <p:spPr>
          <a:xfrm>
            <a:off x="1718943" y="5536032"/>
            <a:ext cx="1483548" cy="646331"/>
          </a:xfrm>
          <a:prstGeom prst="rect">
            <a:avLst/>
          </a:prstGeom>
          <a:noFill/>
        </p:spPr>
        <p:txBody>
          <a:bodyPr wrap="none" rtlCol="0">
            <a:spAutoFit/>
          </a:bodyPr>
          <a:lstStyle/>
          <a:p>
            <a:r>
              <a:rPr lang="en-US" dirty="0"/>
              <a:t>Convolutional</a:t>
            </a:r>
          </a:p>
          <a:p>
            <a:r>
              <a:rPr lang="en-US" dirty="0"/>
              <a:t>layer</a:t>
            </a:r>
          </a:p>
        </p:txBody>
      </p:sp>
      <p:sp>
        <p:nvSpPr>
          <p:cNvPr id="22" name="Shape 136">
            <a:extLst>
              <a:ext uri="{FF2B5EF4-FFF2-40B4-BE49-F238E27FC236}">
                <a16:creationId xmlns:a16="http://schemas.microsoft.com/office/drawing/2014/main" id="{1A49B9E1-5AE2-4892-9FA2-2A7CEF032E13}"/>
              </a:ext>
            </a:extLst>
          </p:cNvPr>
          <p:cNvSpPr/>
          <p:nvPr/>
        </p:nvSpPr>
        <p:spPr>
          <a:xfrm>
            <a:off x="3512755" y="1424899"/>
            <a:ext cx="956400" cy="3677200"/>
          </a:xfrm>
          <a:prstGeom prst="cube">
            <a:avLst>
              <a:gd name="adj" fmla="val 91130"/>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23" name="Shape 136">
            <a:extLst>
              <a:ext uri="{FF2B5EF4-FFF2-40B4-BE49-F238E27FC236}">
                <a16:creationId xmlns:a16="http://schemas.microsoft.com/office/drawing/2014/main" id="{556E9D7D-A72C-42F3-9490-7085EA1549A5}"/>
              </a:ext>
            </a:extLst>
          </p:cNvPr>
          <p:cNvSpPr/>
          <p:nvPr/>
        </p:nvSpPr>
        <p:spPr>
          <a:xfrm>
            <a:off x="3709063" y="1424899"/>
            <a:ext cx="956400" cy="3677200"/>
          </a:xfrm>
          <a:prstGeom prst="cube">
            <a:avLst>
              <a:gd name="adj" fmla="val 91130"/>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cxnSp>
        <p:nvCxnSpPr>
          <p:cNvPr id="24" name="Straight Arrow Connector 23">
            <a:extLst>
              <a:ext uri="{FF2B5EF4-FFF2-40B4-BE49-F238E27FC236}">
                <a16:creationId xmlns:a16="http://schemas.microsoft.com/office/drawing/2014/main" id="{D9E3C365-01EC-4DC6-A002-85AF1540A677}"/>
              </a:ext>
            </a:extLst>
          </p:cNvPr>
          <p:cNvCxnSpPr>
            <a:stCxn id="21" idx="0"/>
            <a:endCxn id="19" idx="3"/>
          </p:cNvCxnSpPr>
          <p:nvPr/>
        </p:nvCxnSpPr>
        <p:spPr>
          <a:xfrm flipV="1">
            <a:off x="2460717" y="5102099"/>
            <a:ext cx="865854" cy="43393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FA46A2D-B19B-4244-8295-F1E15353704D}"/>
              </a:ext>
            </a:extLst>
          </p:cNvPr>
          <p:cNvSpPr txBox="1"/>
          <p:nvPr/>
        </p:nvSpPr>
        <p:spPr>
          <a:xfrm>
            <a:off x="3375637" y="5536032"/>
            <a:ext cx="661400" cy="646331"/>
          </a:xfrm>
          <a:prstGeom prst="rect">
            <a:avLst/>
          </a:prstGeom>
          <a:noFill/>
        </p:spPr>
        <p:txBody>
          <a:bodyPr wrap="none" rtlCol="0">
            <a:spAutoFit/>
          </a:bodyPr>
          <a:lstStyle/>
          <a:p>
            <a:r>
              <a:rPr lang="en-US" dirty="0" err="1"/>
              <a:t>ReLU</a:t>
            </a:r>
            <a:endParaRPr lang="en-US" dirty="0"/>
          </a:p>
          <a:p>
            <a:r>
              <a:rPr lang="en-US" dirty="0"/>
              <a:t>layer</a:t>
            </a:r>
          </a:p>
        </p:txBody>
      </p:sp>
      <p:cxnSp>
        <p:nvCxnSpPr>
          <p:cNvPr id="26" name="Straight Arrow Connector 25">
            <a:extLst>
              <a:ext uri="{FF2B5EF4-FFF2-40B4-BE49-F238E27FC236}">
                <a16:creationId xmlns:a16="http://schemas.microsoft.com/office/drawing/2014/main" id="{6BF260B1-A03A-4C78-A040-68B6FBFA146E}"/>
              </a:ext>
            </a:extLst>
          </p:cNvPr>
          <p:cNvCxnSpPr/>
          <p:nvPr/>
        </p:nvCxnSpPr>
        <p:spPr>
          <a:xfrm flipV="1">
            <a:off x="3612847" y="5092939"/>
            <a:ext cx="5306" cy="44309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799E2B49-FF97-46E6-A186-594AE447A4D5}"/>
              </a:ext>
            </a:extLst>
          </p:cNvPr>
          <p:cNvSpPr txBox="1"/>
          <p:nvPr/>
        </p:nvSpPr>
        <p:spPr>
          <a:xfrm>
            <a:off x="4387419" y="5536031"/>
            <a:ext cx="878959" cy="646331"/>
          </a:xfrm>
          <a:prstGeom prst="rect">
            <a:avLst/>
          </a:prstGeom>
          <a:noFill/>
        </p:spPr>
        <p:txBody>
          <a:bodyPr wrap="none" rtlCol="0">
            <a:spAutoFit/>
          </a:bodyPr>
          <a:lstStyle/>
          <a:p>
            <a:r>
              <a:rPr lang="en-US" dirty="0"/>
              <a:t>Pooling</a:t>
            </a:r>
          </a:p>
          <a:p>
            <a:r>
              <a:rPr lang="en-US" dirty="0"/>
              <a:t>layer</a:t>
            </a:r>
          </a:p>
        </p:txBody>
      </p:sp>
      <p:cxnSp>
        <p:nvCxnSpPr>
          <p:cNvPr id="28" name="Straight Arrow Connector 27">
            <a:extLst>
              <a:ext uri="{FF2B5EF4-FFF2-40B4-BE49-F238E27FC236}">
                <a16:creationId xmlns:a16="http://schemas.microsoft.com/office/drawing/2014/main" id="{DB81EC9E-EABA-4CF8-8763-D2FCE7F46C1B}"/>
              </a:ext>
            </a:extLst>
          </p:cNvPr>
          <p:cNvCxnSpPr>
            <a:stCxn id="27" idx="0"/>
          </p:cNvCxnSpPr>
          <p:nvPr/>
        </p:nvCxnSpPr>
        <p:spPr>
          <a:xfrm flipH="1" flipV="1">
            <a:off x="3990956" y="4930100"/>
            <a:ext cx="835942" cy="60593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9" name="Shape 136">
            <a:extLst>
              <a:ext uri="{FF2B5EF4-FFF2-40B4-BE49-F238E27FC236}">
                <a16:creationId xmlns:a16="http://schemas.microsoft.com/office/drawing/2014/main" id="{05C4F0B1-924C-4B28-824A-9FEAED65D32C}"/>
              </a:ext>
            </a:extLst>
          </p:cNvPr>
          <p:cNvSpPr/>
          <p:nvPr/>
        </p:nvSpPr>
        <p:spPr>
          <a:xfrm>
            <a:off x="5641315" y="2142677"/>
            <a:ext cx="834874" cy="2032804"/>
          </a:xfrm>
          <a:prstGeom prst="cube">
            <a:avLst>
              <a:gd name="adj" fmla="val 90038"/>
            </a:avLst>
          </a:prstGeom>
          <a:solidFill>
            <a:srgbClr val="00B05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0" name="Shape 136">
            <a:extLst>
              <a:ext uri="{FF2B5EF4-FFF2-40B4-BE49-F238E27FC236}">
                <a16:creationId xmlns:a16="http://schemas.microsoft.com/office/drawing/2014/main" id="{235D035B-B648-43BF-897B-CBB597377EC9}"/>
              </a:ext>
            </a:extLst>
          </p:cNvPr>
          <p:cNvSpPr/>
          <p:nvPr/>
        </p:nvSpPr>
        <p:spPr>
          <a:xfrm>
            <a:off x="5870097" y="2099597"/>
            <a:ext cx="834874" cy="2032804"/>
          </a:xfrm>
          <a:prstGeom prst="cube">
            <a:avLst>
              <a:gd name="adj" fmla="val 90038"/>
            </a:avLst>
          </a:prstGeom>
          <a:solidFill>
            <a:srgbClr val="0070C0">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endParaRPr/>
          </a:p>
        </p:txBody>
      </p:sp>
      <p:sp>
        <p:nvSpPr>
          <p:cNvPr id="31" name="TextBox 30">
            <a:extLst>
              <a:ext uri="{FF2B5EF4-FFF2-40B4-BE49-F238E27FC236}">
                <a16:creationId xmlns:a16="http://schemas.microsoft.com/office/drawing/2014/main" id="{67F931D8-1A69-40DC-9FC4-66C5B92A3539}"/>
              </a:ext>
            </a:extLst>
          </p:cNvPr>
          <p:cNvSpPr txBox="1"/>
          <p:nvPr/>
        </p:nvSpPr>
        <p:spPr>
          <a:xfrm>
            <a:off x="4548636" y="2565527"/>
            <a:ext cx="715260" cy="1015663"/>
          </a:xfrm>
          <a:prstGeom prst="rect">
            <a:avLst/>
          </a:prstGeom>
          <a:noFill/>
        </p:spPr>
        <p:txBody>
          <a:bodyPr wrap="none" rtlCol="0">
            <a:spAutoFit/>
          </a:bodyPr>
          <a:lstStyle/>
          <a:p>
            <a:r>
              <a:rPr lang="en-US" sz="6000" dirty="0"/>
              <a:t>…</a:t>
            </a:r>
          </a:p>
        </p:txBody>
      </p:sp>
      <p:sp>
        <p:nvSpPr>
          <p:cNvPr id="32" name="Right Arrow 11">
            <a:extLst>
              <a:ext uri="{FF2B5EF4-FFF2-40B4-BE49-F238E27FC236}">
                <a16:creationId xmlns:a16="http://schemas.microsoft.com/office/drawing/2014/main" id="{C773A904-647E-436C-8C7E-14BAEE3F7CF3}"/>
              </a:ext>
            </a:extLst>
          </p:cNvPr>
          <p:cNvSpPr/>
          <p:nvPr/>
        </p:nvSpPr>
        <p:spPr>
          <a:xfrm>
            <a:off x="8360328" y="3148990"/>
            <a:ext cx="685800" cy="295000"/>
          </a:xfrm>
          <a:prstGeom prst="rightArrow">
            <a:avLst/>
          </a:prstGeom>
          <a:noFill/>
          <a:ln w="38100">
            <a:solidFill>
              <a:srgbClr val="FFC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B9AB745-1151-49D9-B82B-615BF23FEB26}"/>
              </a:ext>
            </a:extLst>
          </p:cNvPr>
          <p:cNvSpPr txBox="1"/>
          <p:nvPr/>
        </p:nvSpPr>
        <p:spPr>
          <a:xfrm>
            <a:off x="9352542" y="2005086"/>
            <a:ext cx="1003352" cy="369332"/>
          </a:xfrm>
          <a:prstGeom prst="rect">
            <a:avLst/>
          </a:prstGeom>
          <a:noFill/>
        </p:spPr>
        <p:txBody>
          <a:bodyPr wrap="none" rtlCol="0">
            <a:spAutoFit/>
          </a:bodyPr>
          <a:lstStyle/>
          <a:p>
            <a:r>
              <a:rPr lang="en-US" dirty="0"/>
              <a:t>Gradient</a:t>
            </a:r>
          </a:p>
        </p:txBody>
      </p:sp>
      <p:sp>
        <p:nvSpPr>
          <p:cNvPr id="34" name="Right Arrow 11">
            <a:extLst>
              <a:ext uri="{FF2B5EF4-FFF2-40B4-BE49-F238E27FC236}">
                <a16:creationId xmlns:a16="http://schemas.microsoft.com/office/drawing/2014/main" id="{5E63A777-C8E8-4977-B2F4-34BD3EB97517}"/>
              </a:ext>
            </a:extLst>
          </p:cNvPr>
          <p:cNvSpPr/>
          <p:nvPr/>
        </p:nvSpPr>
        <p:spPr>
          <a:xfrm rot="10800000">
            <a:off x="8324424" y="2458799"/>
            <a:ext cx="685800" cy="295000"/>
          </a:xfrm>
          <a:prstGeom prst="rightArrow">
            <a:avLst/>
          </a:prstGeom>
          <a:noFill/>
          <a:ln w="38100">
            <a:solidFill>
              <a:srgbClr val="FF0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ight Arrow 11">
            <a:extLst>
              <a:ext uri="{FF2B5EF4-FFF2-40B4-BE49-F238E27FC236}">
                <a16:creationId xmlns:a16="http://schemas.microsoft.com/office/drawing/2014/main" id="{487026FA-256E-410C-8DCD-F4CF2E7FFCC7}"/>
              </a:ext>
            </a:extLst>
          </p:cNvPr>
          <p:cNvSpPr/>
          <p:nvPr/>
        </p:nvSpPr>
        <p:spPr>
          <a:xfrm rot="10800000">
            <a:off x="6939356" y="2460027"/>
            <a:ext cx="685800" cy="295000"/>
          </a:xfrm>
          <a:prstGeom prst="rightArrow">
            <a:avLst/>
          </a:prstGeom>
          <a:noFill/>
          <a:ln w="38100">
            <a:solidFill>
              <a:srgbClr val="FF0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ight Arrow 11">
            <a:extLst>
              <a:ext uri="{FF2B5EF4-FFF2-40B4-BE49-F238E27FC236}">
                <a16:creationId xmlns:a16="http://schemas.microsoft.com/office/drawing/2014/main" id="{9ED372D4-9EF5-4F0B-87B4-88DD30E310ED}"/>
              </a:ext>
            </a:extLst>
          </p:cNvPr>
          <p:cNvSpPr/>
          <p:nvPr/>
        </p:nvSpPr>
        <p:spPr>
          <a:xfrm rot="10800000">
            <a:off x="4721130" y="2425234"/>
            <a:ext cx="685800" cy="295000"/>
          </a:xfrm>
          <a:prstGeom prst="rightArrow">
            <a:avLst/>
          </a:prstGeom>
          <a:noFill/>
          <a:ln w="38100">
            <a:solidFill>
              <a:srgbClr val="FF0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ight Arrow 11">
            <a:extLst>
              <a:ext uri="{FF2B5EF4-FFF2-40B4-BE49-F238E27FC236}">
                <a16:creationId xmlns:a16="http://schemas.microsoft.com/office/drawing/2014/main" id="{97A36620-A47B-4105-82BC-3DCE9D394BE6}"/>
              </a:ext>
            </a:extLst>
          </p:cNvPr>
          <p:cNvSpPr/>
          <p:nvPr/>
        </p:nvSpPr>
        <p:spPr>
          <a:xfrm rot="10800000">
            <a:off x="2406629" y="2465390"/>
            <a:ext cx="685800" cy="295000"/>
          </a:xfrm>
          <a:prstGeom prst="rightArrow">
            <a:avLst/>
          </a:prstGeom>
          <a:noFill/>
          <a:ln w="38100">
            <a:solidFill>
              <a:srgbClr val="FF0000"/>
            </a:solidFill>
          </a:ln>
          <a:effectLst>
            <a:outerShdw dist="23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6512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17" grpId="0"/>
      <p:bldP spid="18" grpId="0" animBg="1"/>
      <p:bldP spid="33" grpId="0"/>
      <p:bldP spid="34" grpId="0" animBg="1"/>
      <p:bldP spid="35" grpId="0" animBg="1"/>
      <p:bldP spid="36" grpId="0" animBg="1"/>
      <p:bldP spid="37"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882AE-1B24-494F-81EC-50808112B926}"/>
              </a:ext>
            </a:extLst>
          </p:cNvPr>
          <p:cNvSpPr>
            <a:spLocks noGrp="1"/>
          </p:cNvSpPr>
          <p:nvPr>
            <p:ph type="title"/>
          </p:nvPr>
        </p:nvSpPr>
        <p:spPr/>
        <p:txBody>
          <a:bodyPr/>
          <a:lstStyle/>
          <a:p>
            <a:r>
              <a:rPr lang="en-US" dirty="0"/>
              <a:t>Back-propagation</a:t>
            </a:r>
          </a:p>
        </p:txBody>
      </p:sp>
      <p:sp>
        <p:nvSpPr>
          <p:cNvPr id="3" name="Content Placeholder 2">
            <a:extLst>
              <a:ext uri="{FF2B5EF4-FFF2-40B4-BE49-F238E27FC236}">
                <a16:creationId xmlns:a16="http://schemas.microsoft.com/office/drawing/2014/main" id="{F456E8D1-4221-46D0-B1E3-CA93A5517000}"/>
              </a:ext>
            </a:extLst>
          </p:cNvPr>
          <p:cNvSpPr>
            <a:spLocks noGrp="1"/>
          </p:cNvSpPr>
          <p:nvPr>
            <p:ph idx="1"/>
          </p:nvPr>
        </p:nvSpPr>
        <p:spPr/>
        <p:txBody>
          <a:bodyPr/>
          <a:lstStyle/>
          <a:p>
            <a:r>
              <a:rPr lang="en-US" dirty="0"/>
              <a:t>For each layer in the network, compute </a:t>
            </a:r>
            <a:r>
              <a:rPr lang="en-US" dirty="0">
                <a:solidFill>
                  <a:srgbClr val="FF0000"/>
                </a:solidFill>
              </a:rPr>
              <a:t>local</a:t>
            </a:r>
            <a:r>
              <a:rPr lang="en-US" dirty="0"/>
              <a:t> gradients (partial derivative)</a:t>
            </a:r>
          </a:p>
          <a:p>
            <a:pPr lvl="1"/>
            <a:r>
              <a:rPr lang="en-US" dirty="0"/>
              <a:t>Fully connected layers</a:t>
            </a:r>
          </a:p>
          <a:p>
            <a:pPr lvl="1"/>
            <a:r>
              <a:rPr lang="en-US" dirty="0"/>
              <a:t>Convolution layers</a:t>
            </a:r>
          </a:p>
          <a:p>
            <a:pPr lvl="1"/>
            <a:r>
              <a:rPr lang="en-US" dirty="0"/>
              <a:t>Activation functions</a:t>
            </a:r>
          </a:p>
          <a:p>
            <a:pPr lvl="1"/>
            <a:r>
              <a:rPr lang="en-US" dirty="0"/>
              <a:t>Pooling functions</a:t>
            </a:r>
          </a:p>
          <a:p>
            <a:pPr lvl="1"/>
            <a:r>
              <a:rPr lang="en-US" dirty="0"/>
              <a:t>Etc.</a:t>
            </a:r>
          </a:p>
          <a:p>
            <a:pPr marL="457200" lvl="1" indent="0">
              <a:buNone/>
            </a:pPr>
            <a:endParaRPr lang="en-US" dirty="0"/>
          </a:p>
          <a:p>
            <a:r>
              <a:rPr lang="en-US" dirty="0"/>
              <a:t>Use chain rule to combine local gradients for training</a:t>
            </a:r>
          </a:p>
        </p:txBody>
      </p:sp>
      <p:sp>
        <p:nvSpPr>
          <p:cNvPr id="6" name="Slide Number Placeholder 5">
            <a:extLst>
              <a:ext uri="{FF2B5EF4-FFF2-40B4-BE49-F238E27FC236}">
                <a16:creationId xmlns:a16="http://schemas.microsoft.com/office/drawing/2014/main" id="{3EEA25ED-97C2-49F3-BA9F-6471FFA05C1C}"/>
              </a:ext>
            </a:extLst>
          </p:cNvPr>
          <p:cNvSpPr>
            <a:spLocks noGrp="1"/>
          </p:cNvSpPr>
          <p:nvPr>
            <p:ph type="sldNum" sz="quarter" idx="12"/>
          </p:nvPr>
        </p:nvSpPr>
        <p:spPr/>
        <p:txBody>
          <a:bodyPr/>
          <a:lstStyle/>
          <a:p>
            <a:fld id="{1B30F0CC-EBAF-4E3D-80D7-CFC82A3A738F}" type="slidenum">
              <a:rPr lang="en-US" smtClean="0"/>
              <a:pPr/>
              <a:t>83</a:t>
            </a:fld>
            <a:endParaRPr lang="en-US" dirty="0"/>
          </a:p>
        </p:txBody>
      </p:sp>
      <p:pic>
        <p:nvPicPr>
          <p:cNvPr id="7" name="Picture 12">
            <a:extLst>
              <a:ext uri="{FF2B5EF4-FFF2-40B4-BE49-F238E27FC236}">
                <a16:creationId xmlns:a16="http://schemas.microsoft.com/office/drawing/2014/main" id="{11420777-FDE7-452D-96F4-4DD575041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586" y="5241617"/>
            <a:ext cx="3916988" cy="873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415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8A3B4-B5AB-4637-B0D0-C5BF526E6EC3}"/>
              </a:ext>
            </a:extLst>
          </p:cNvPr>
          <p:cNvSpPr>
            <a:spLocks noGrp="1"/>
          </p:cNvSpPr>
          <p:nvPr>
            <p:ph type="title"/>
          </p:nvPr>
        </p:nvSpPr>
        <p:spPr/>
        <p:txBody>
          <a:bodyPr/>
          <a:lstStyle/>
          <a:p>
            <a:r>
              <a:rPr lang="en-US" dirty="0"/>
              <a:t>Classification Loss Functions</a:t>
            </a:r>
          </a:p>
        </p:txBody>
      </p:sp>
      <p:sp>
        <p:nvSpPr>
          <p:cNvPr id="3" name="Content Placeholder 2">
            <a:extLst>
              <a:ext uri="{FF2B5EF4-FFF2-40B4-BE49-F238E27FC236}">
                <a16:creationId xmlns:a16="http://schemas.microsoft.com/office/drawing/2014/main" id="{B74D94A9-89FD-48F9-A1E2-5CEB70AAFB08}"/>
              </a:ext>
            </a:extLst>
          </p:cNvPr>
          <p:cNvSpPr>
            <a:spLocks noGrp="1"/>
          </p:cNvSpPr>
          <p:nvPr>
            <p:ph idx="1"/>
          </p:nvPr>
        </p:nvSpPr>
        <p:spPr/>
        <p:txBody>
          <a:bodyPr/>
          <a:lstStyle/>
          <a:p>
            <a:r>
              <a:rPr lang="en-US" dirty="0"/>
              <a:t>Cross entropy loss</a:t>
            </a:r>
          </a:p>
          <a:p>
            <a:endParaRPr lang="en-US" dirty="0"/>
          </a:p>
          <a:p>
            <a:endParaRPr lang="en-US" dirty="0"/>
          </a:p>
          <a:p>
            <a:endParaRPr lang="en-US" dirty="0"/>
          </a:p>
          <a:p>
            <a:endParaRPr lang="en-US" dirty="0"/>
          </a:p>
        </p:txBody>
      </p:sp>
      <p:pic>
        <p:nvPicPr>
          <p:cNvPr id="7" name="Picture 2">
            <a:extLst>
              <a:ext uri="{FF2B5EF4-FFF2-40B4-BE49-F238E27FC236}">
                <a16:creationId xmlns:a16="http://schemas.microsoft.com/office/drawing/2014/main" id="{BDDF645F-9118-4C45-9D94-6C1A9D020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537" y="1303184"/>
            <a:ext cx="4592727" cy="125162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7219FD6-67C7-4FF3-8795-244065BE61B8}"/>
              </a:ext>
            </a:extLst>
          </p:cNvPr>
          <p:cNvSpPr txBox="1"/>
          <p:nvPr/>
        </p:nvSpPr>
        <p:spPr>
          <a:xfrm>
            <a:off x="8329112" y="2659806"/>
            <a:ext cx="643125" cy="369332"/>
          </a:xfrm>
          <a:prstGeom prst="rect">
            <a:avLst/>
          </a:prstGeom>
          <a:noFill/>
        </p:spPr>
        <p:txBody>
          <a:bodyPr wrap="none" rtlCol="0">
            <a:spAutoFit/>
          </a:bodyPr>
          <a:lstStyle/>
          <a:p>
            <a:r>
              <a:rPr lang="en-US" dirty="0"/>
              <a:t>Logit</a:t>
            </a:r>
          </a:p>
        </p:txBody>
      </p:sp>
      <p:cxnSp>
        <p:nvCxnSpPr>
          <p:cNvPr id="9" name="Straight Arrow Connector 8">
            <a:extLst>
              <a:ext uri="{FF2B5EF4-FFF2-40B4-BE49-F238E27FC236}">
                <a16:creationId xmlns:a16="http://schemas.microsoft.com/office/drawing/2014/main" id="{6663073B-5FC3-44A8-8858-0702BA183D9D}"/>
              </a:ext>
            </a:extLst>
          </p:cNvPr>
          <p:cNvCxnSpPr>
            <a:cxnSpLocks/>
          </p:cNvCxnSpPr>
          <p:nvPr/>
        </p:nvCxnSpPr>
        <p:spPr>
          <a:xfrm flipV="1">
            <a:off x="8610600" y="2237780"/>
            <a:ext cx="0" cy="4441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0E80139-434C-44FF-BE33-CE5CBA023733}"/>
              </a:ext>
            </a:extLst>
          </p:cNvPr>
          <p:cNvSpPr txBox="1"/>
          <p:nvPr/>
        </p:nvSpPr>
        <p:spPr>
          <a:xfrm>
            <a:off x="6774900" y="2648267"/>
            <a:ext cx="1294915" cy="923330"/>
          </a:xfrm>
          <a:prstGeom prst="rect">
            <a:avLst/>
          </a:prstGeom>
          <a:noFill/>
        </p:spPr>
        <p:txBody>
          <a:bodyPr wrap="square" rtlCol="0">
            <a:spAutoFit/>
          </a:bodyPr>
          <a:lstStyle/>
          <a:p>
            <a:r>
              <a:rPr lang="en-US" dirty="0"/>
              <a:t>Binary ground truth label</a:t>
            </a:r>
          </a:p>
        </p:txBody>
      </p:sp>
      <p:cxnSp>
        <p:nvCxnSpPr>
          <p:cNvPr id="11" name="Straight Arrow Connector 10">
            <a:extLst>
              <a:ext uri="{FF2B5EF4-FFF2-40B4-BE49-F238E27FC236}">
                <a16:creationId xmlns:a16="http://schemas.microsoft.com/office/drawing/2014/main" id="{466EEC87-5F88-427E-9437-9DED7726B9EF}"/>
              </a:ext>
            </a:extLst>
          </p:cNvPr>
          <p:cNvCxnSpPr>
            <a:cxnSpLocks/>
          </p:cNvCxnSpPr>
          <p:nvPr/>
        </p:nvCxnSpPr>
        <p:spPr>
          <a:xfrm flipV="1">
            <a:off x="7235536" y="2233140"/>
            <a:ext cx="0" cy="4441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5034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EF077C-5B24-C362-63C5-89A5D0244CB4}"/>
            </a:ext>
          </a:extLst>
        </p:cNvPr>
        <p:cNvGrpSpPr/>
        <p:nvPr/>
      </p:nvGrpSpPr>
      <p:grpSpPr>
        <a:xfrm>
          <a:off x="0" y="0"/>
          <a:ext cx="0" cy="0"/>
          <a:chOff x="0" y="0"/>
          <a:chExt cx="0" cy="0"/>
        </a:xfrm>
      </p:grpSpPr>
      <p:pic>
        <p:nvPicPr>
          <p:cNvPr id="1036" name="Picture 12" descr="An example of a maximum margin classifier | Download Scientific Diagram">
            <a:extLst>
              <a:ext uri="{FF2B5EF4-FFF2-40B4-BE49-F238E27FC236}">
                <a16:creationId xmlns:a16="http://schemas.microsoft.com/office/drawing/2014/main" id="{A11414E8-9C4D-179D-E5B8-FEFA6F6D3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3193" y="4303195"/>
            <a:ext cx="3213816" cy="190424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3F881FA-BD9E-EB65-01B0-0FA461623110}"/>
              </a:ext>
            </a:extLst>
          </p:cNvPr>
          <p:cNvSpPr>
            <a:spLocks noGrp="1"/>
          </p:cNvSpPr>
          <p:nvPr>
            <p:ph type="title"/>
          </p:nvPr>
        </p:nvSpPr>
        <p:spPr/>
        <p:txBody>
          <a:bodyPr/>
          <a:lstStyle/>
          <a:p>
            <a:r>
              <a:rPr lang="en-US" dirty="0"/>
              <a:t>Classification Loss Functions</a:t>
            </a:r>
          </a:p>
        </p:txBody>
      </p:sp>
      <p:sp>
        <p:nvSpPr>
          <p:cNvPr id="3" name="Content Placeholder 2">
            <a:extLst>
              <a:ext uri="{FF2B5EF4-FFF2-40B4-BE49-F238E27FC236}">
                <a16:creationId xmlns:a16="http://schemas.microsoft.com/office/drawing/2014/main" id="{535281B8-14D3-0288-6ED5-8C943BD90F21}"/>
              </a:ext>
            </a:extLst>
          </p:cNvPr>
          <p:cNvSpPr>
            <a:spLocks noGrp="1"/>
          </p:cNvSpPr>
          <p:nvPr>
            <p:ph idx="1"/>
          </p:nvPr>
        </p:nvSpPr>
        <p:spPr/>
        <p:txBody>
          <a:bodyPr/>
          <a:lstStyle/>
          <a:p>
            <a:r>
              <a:rPr lang="en-US" dirty="0"/>
              <a:t>Cross entropy loss</a:t>
            </a:r>
          </a:p>
          <a:p>
            <a:endParaRPr lang="en-US" dirty="0"/>
          </a:p>
          <a:p>
            <a:endParaRPr lang="en-US" dirty="0"/>
          </a:p>
          <a:p>
            <a:endParaRPr lang="en-US" dirty="0"/>
          </a:p>
          <a:p>
            <a:r>
              <a:rPr lang="en-US" dirty="0"/>
              <a:t>Hinge loss for binary classification</a:t>
            </a:r>
          </a:p>
        </p:txBody>
      </p:sp>
      <p:sp>
        <p:nvSpPr>
          <p:cNvPr id="6" name="Slide Number Placeholder 5">
            <a:extLst>
              <a:ext uri="{FF2B5EF4-FFF2-40B4-BE49-F238E27FC236}">
                <a16:creationId xmlns:a16="http://schemas.microsoft.com/office/drawing/2014/main" id="{2213EF30-BD75-93B3-CAC1-4B1EF925D8BB}"/>
              </a:ext>
            </a:extLst>
          </p:cNvPr>
          <p:cNvSpPr>
            <a:spLocks noGrp="1"/>
          </p:cNvSpPr>
          <p:nvPr>
            <p:ph type="sldNum" sz="quarter" idx="12"/>
          </p:nvPr>
        </p:nvSpPr>
        <p:spPr/>
        <p:txBody>
          <a:bodyPr/>
          <a:lstStyle/>
          <a:p>
            <a:fld id="{1B30F0CC-EBAF-4E3D-80D7-CFC82A3A738F}" type="slidenum">
              <a:rPr lang="en-US" smtClean="0"/>
              <a:pPr/>
              <a:t>85</a:t>
            </a:fld>
            <a:endParaRPr lang="en-US" dirty="0"/>
          </a:p>
        </p:txBody>
      </p:sp>
      <p:pic>
        <p:nvPicPr>
          <p:cNvPr id="7" name="Picture 2">
            <a:extLst>
              <a:ext uri="{FF2B5EF4-FFF2-40B4-BE49-F238E27FC236}">
                <a16:creationId xmlns:a16="http://schemas.microsoft.com/office/drawing/2014/main" id="{60D7EF7A-B0E5-5A25-B28F-3E182A6E97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8537" y="1303184"/>
            <a:ext cx="4592727" cy="125162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D6F548-F8F6-4F9D-5C29-159498AFCC27}"/>
              </a:ext>
            </a:extLst>
          </p:cNvPr>
          <p:cNvSpPr txBox="1"/>
          <p:nvPr/>
        </p:nvSpPr>
        <p:spPr>
          <a:xfrm>
            <a:off x="8329112" y="2659806"/>
            <a:ext cx="643125" cy="369332"/>
          </a:xfrm>
          <a:prstGeom prst="rect">
            <a:avLst/>
          </a:prstGeom>
          <a:noFill/>
        </p:spPr>
        <p:txBody>
          <a:bodyPr wrap="none" rtlCol="0">
            <a:spAutoFit/>
          </a:bodyPr>
          <a:lstStyle/>
          <a:p>
            <a:r>
              <a:rPr lang="en-US" dirty="0"/>
              <a:t>Logit</a:t>
            </a:r>
          </a:p>
        </p:txBody>
      </p:sp>
      <p:cxnSp>
        <p:nvCxnSpPr>
          <p:cNvPr id="9" name="Straight Arrow Connector 8">
            <a:extLst>
              <a:ext uri="{FF2B5EF4-FFF2-40B4-BE49-F238E27FC236}">
                <a16:creationId xmlns:a16="http://schemas.microsoft.com/office/drawing/2014/main" id="{8A33237F-4FA5-42B5-91FD-73080B13DE82}"/>
              </a:ext>
            </a:extLst>
          </p:cNvPr>
          <p:cNvCxnSpPr>
            <a:cxnSpLocks/>
          </p:cNvCxnSpPr>
          <p:nvPr/>
        </p:nvCxnSpPr>
        <p:spPr>
          <a:xfrm flipV="1">
            <a:off x="8610600" y="2237780"/>
            <a:ext cx="0" cy="4441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A636C2B-2CA8-22F2-99F4-09B641D51BA2}"/>
              </a:ext>
            </a:extLst>
          </p:cNvPr>
          <p:cNvSpPr txBox="1"/>
          <p:nvPr/>
        </p:nvSpPr>
        <p:spPr>
          <a:xfrm>
            <a:off x="6774900" y="2648267"/>
            <a:ext cx="1294915" cy="923330"/>
          </a:xfrm>
          <a:prstGeom prst="rect">
            <a:avLst/>
          </a:prstGeom>
          <a:noFill/>
        </p:spPr>
        <p:txBody>
          <a:bodyPr wrap="square" rtlCol="0">
            <a:spAutoFit/>
          </a:bodyPr>
          <a:lstStyle/>
          <a:p>
            <a:r>
              <a:rPr lang="en-US" dirty="0"/>
              <a:t>Binary ground truth label</a:t>
            </a:r>
          </a:p>
        </p:txBody>
      </p:sp>
      <p:cxnSp>
        <p:nvCxnSpPr>
          <p:cNvPr id="11" name="Straight Arrow Connector 10">
            <a:extLst>
              <a:ext uri="{FF2B5EF4-FFF2-40B4-BE49-F238E27FC236}">
                <a16:creationId xmlns:a16="http://schemas.microsoft.com/office/drawing/2014/main" id="{3C1BF7BB-A3BA-7FFC-30C7-AB06C58297B9}"/>
              </a:ext>
            </a:extLst>
          </p:cNvPr>
          <p:cNvCxnSpPr>
            <a:cxnSpLocks/>
          </p:cNvCxnSpPr>
          <p:nvPr/>
        </p:nvCxnSpPr>
        <p:spPr>
          <a:xfrm flipV="1">
            <a:off x="7235536" y="2233140"/>
            <a:ext cx="0" cy="4441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EC8A96B7-886C-F8F7-A4B1-D774D858C6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3923" y="4353323"/>
            <a:ext cx="3889231" cy="442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43EDB38-6896-8C76-AE4D-090FB907AF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8508" y="5433919"/>
            <a:ext cx="2440092" cy="4422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7A8652EF-8240-63A0-9B8A-646823C7EB52}"/>
              </a:ext>
            </a:extLst>
          </p:cNvPr>
          <p:cNvSpPr txBox="1"/>
          <p:nvPr/>
        </p:nvSpPr>
        <p:spPr>
          <a:xfrm>
            <a:off x="353319" y="5342557"/>
            <a:ext cx="1245189" cy="646331"/>
          </a:xfrm>
          <a:prstGeom prst="rect">
            <a:avLst/>
          </a:prstGeom>
          <a:noFill/>
        </p:spPr>
        <p:txBody>
          <a:bodyPr wrap="square">
            <a:spAutoFit/>
          </a:bodyPr>
          <a:lstStyle/>
          <a:p>
            <a:r>
              <a:rPr lang="en-US" dirty="0"/>
              <a:t>ground truth label</a:t>
            </a:r>
          </a:p>
        </p:txBody>
      </p:sp>
      <p:sp>
        <p:nvSpPr>
          <p:cNvPr id="17" name="TextBox 16">
            <a:extLst>
              <a:ext uri="{FF2B5EF4-FFF2-40B4-BE49-F238E27FC236}">
                <a16:creationId xmlns:a16="http://schemas.microsoft.com/office/drawing/2014/main" id="{EEAF8B1A-3D27-30AD-C54B-33C436DFEE3D}"/>
              </a:ext>
            </a:extLst>
          </p:cNvPr>
          <p:cNvSpPr txBox="1"/>
          <p:nvPr/>
        </p:nvSpPr>
        <p:spPr>
          <a:xfrm>
            <a:off x="4421359" y="5283600"/>
            <a:ext cx="1706764" cy="646331"/>
          </a:xfrm>
          <a:prstGeom prst="rect">
            <a:avLst/>
          </a:prstGeom>
          <a:noFill/>
        </p:spPr>
        <p:txBody>
          <a:bodyPr wrap="square" rtlCol="0">
            <a:spAutoFit/>
          </a:bodyPr>
          <a:lstStyle/>
          <a:p>
            <a:r>
              <a:rPr lang="en-US" dirty="0"/>
              <a:t>Classification score</a:t>
            </a:r>
          </a:p>
        </p:txBody>
      </p:sp>
      <p:cxnSp>
        <p:nvCxnSpPr>
          <p:cNvPr id="18" name="Straight Arrow Connector 17">
            <a:extLst>
              <a:ext uri="{FF2B5EF4-FFF2-40B4-BE49-F238E27FC236}">
                <a16:creationId xmlns:a16="http://schemas.microsoft.com/office/drawing/2014/main" id="{AFC1D057-95DD-E11C-C435-96DA8DF37198}"/>
              </a:ext>
            </a:extLst>
          </p:cNvPr>
          <p:cNvCxnSpPr>
            <a:cxnSpLocks/>
          </p:cNvCxnSpPr>
          <p:nvPr/>
        </p:nvCxnSpPr>
        <p:spPr>
          <a:xfrm flipV="1">
            <a:off x="4972257" y="4861574"/>
            <a:ext cx="0" cy="4441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297D74E-7C66-6851-9CE3-26895983FD6A}"/>
              </a:ext>
            </a:extLst>
          </p:cNvPr>
          <p:cNvSpPr txBox="1"/>
          <p:nvPr/>
        </p:nvSpPr>
        <p:spPr>
          <a:xfrm>
            <a:off x="7464148" y="4670300"/>
            <a:ext cx="1706764" cy="369332"/>
          </a:xfrm>
          <a:prstGeom prst="rect">
            <a:avLst/>
          </a:prstGeom>
          <a:noFill/>
        </p:spPr>
        <p:txBody>
          <a:bodyPr wrap="square" rtlCol="0">
            <a:spAutoFit/>
          </a:bodyPr>
          <a:lstStyle/>
          <a:p>
            <a:r>
              <a:rPr lang="en-US" dirty="0"/>
              <a:t>Predict positive</a:t>
            </a:r>
          </a:p>
        </p:txBody>
      </p:sp>
      <p:pic>
        <p:nvPicPr>
          <p:cNvPr id="1032" name="Picture 8">
            <a:extLst>
              <a:ext uri="{FF2B5EF4-FFF2-40B4-BE49-F238E27FC236}">
                <a16:creationId xmlns:a16="http://schemas.microsoft.com/office/drawing/2014/main" id="{F32748EF-A432-115B-7595-79D9DBA6C7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20771" y="4664177"/>
            <a:ext cx="1195528" cy="44832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84E4E24F-EFEE-A6DF-3E19-84AC5A5F467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6869" y="5427294"/>
            <a:ext cx="1145963" cy="429737"/>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7C6D3DFE-62E1-BDAC-D57A-566950C6E8B7}"/>
              </a:ext>
            </a:extLst>
          </p:cNvPr>
          <p:cNvSpPr txBox="1"/>
          <p:nvPr/>
        </p:nvSpPr>
        <p:spPr>
          <a:xfrm>
            <a:off x="7475730" y="5387349"/>
            <a:ext cx="1706764" cy="369332"/>
          </a:xfrm>
          <a:prstGeom prst="rect">
            <a:avLst/>
          </a:prstGeom>
          <a:noFill/>
        </p:spPr>
        <p:txBody>
          <a:bodyPr wrap="square" rtlCol="0">
            <a:spAutoFit/>
          </a:bodyPr>
          <a:lstStyle/>
          <a:p>
            <a:r>
              <a:rPr lang="en-US" dirty="0"/>
              <a:t>Predict negative</a:t>
            </a:r>
          </a:p>
        </p:txBody>
      </p:sp>
      <p:sp>
        <p:nvSpPr>
          <p:cNvPr id="25" name="TextBox 24">
            <a:extLst>
              <a:ext uri="{FF2B5EF4-FFF2-40B4-BE49-F238E27FC236}">
                <a16:creationId xmlns:a16="http://schemas.microsoft.com/office/drawing/2014/main" id="{72206306-2BD6-AC6A-ED8C-12C12B7FCC49}"/>
              </a:ext>
            </a:extLst>
          </p:cNvPr>
          <p:cNvSpPr txBox="1"/>
          <p:nvPr/>
        </p:nvSpPr>
        <p:spPr>
          <a:xfrm>
            <a:off x="9389135" y="3840158"/>
            <a:ext cx="2546210" cy="369332"/>
          </a:xfrm>
          <a:prstGeom prst="rect">
            <a:avLst/>
          </a:prstGeom>
          <a:noFill/>
        </p:spPr>
        <p:txBody>
          <a:bodyPr wrap="none" rtlCol="0">
            <a:spAutoFit/>
          </a:bodyPr>
          <a:lstStyle/>
          <a:p>
            <a:r>
              <a:rPr lang="en-US" dirty="0"/>
              <a:t>Max margin classification</a:t>
            </a:r>
          </a:p>
        </p:txBody>
      </p:sp>
    </p:spTree>
    <p:extLst>
      <p:ext uri="{BB962C8B-B14F-4D97-AF65-F5344CB8AC3E}">
        <p14:creationId xmlns:p14="http://schemas.microsoft.com/office/powerpoint/2010/main" val="12222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3" grpId="0"/>
      <p:bldP spid="25" grpId="0"/>
    </p:bld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8A3B4-B5AB-4637-B0D0-C5BF526E6EC3}"/>
              </a:ext>
            </a:extLst>
          </p:cNvPr>
          <p:cNvSpPr>
            <a:spLocks noGrp="1"/>
          </p:cNvSpPr>
          <p:nvPr>
            <p:ph type="title"/>
          </p:nvPr>
        </p:nvSpPr>
        <p:spPr/>
        <p:txBody>
          <a:bodyPr/>
          <a:lstStyle/>
          <a:p>
            <a:r>
              <a:rPr lang="en-US" dirty="0"/>
              <a:t>Classification Loss Functions</a:t>
            </a:r>
          </a:p>
        </p:txBody>
      </p:sp>
      <p:sp>
        <p:nvSpPr>
          <p:cNvPr id="3" name="Content Placeholder 2">
            <a:extLst>
              <a:ext uri="{FF2B5EF4-FFF2-40B4-BE49-F238E27FC236}">
                <a16:creationId xmlns:a16="http://schemas.microsoft.com/office/drawing/2014/main" id="{B74D94A9-89FD-48F9-A1E2-5CEB70AAFB08}"/>
              </a:ext>
            </a:extLst>
          </p:cNvPr>
          <p:cNvSpPr>
            <a:spLocks noGrp="1"/>
          </p:cNvSpPr>
          <p:nvPr>
            <p:ph idx="1"/>
          </p:nvPr>
        </p:nvSpPr>
        <p:spPr/>
        <p:txBody>
          <a:bodyPr/>
          <a:lstStyle/>
          <a:p>
            <a:r>
              <a:rPr lang="en-US" dirty="0"/>
              <a:t>Hinge loss for multi-class classification</a:t>
            </a:r>
          </a:p>
        </p:txBody>
      </p:sp>
      <p:sp>
        <p:nvSpPr>
          <p:cNvPr id="6" name="Slide Number Placeholder 5">
            <a:extLst>
              <a:ext uri="{FF2B5EF4-FFF2-40B4-BE49-F238E27FC236}">
                <a16:creationId xmlns:a16="http://schemas.microsoft.com/office/drawing/2014/main" id="{AA521873-FFD8-4CAE-B286-ACE57609779E}"/>
              </a:ext>
            </a:extLst>
          </p:cNvPr>
          <p:cNvSpPr>
            <a:spLocks noGrp="1"/>
          </p:cNvSpPr>
          <p:nvPr>
            <p:ph type="sldNum" sz="quarter" idx="12"/>
          </p:nvPr>
        </p:nvSpPr>
        <p:spPr/>
        <p:txBody>
          <a:bodyPr/>
          <a:lstStyle/>
          <a:p>
            <a:fld id="{1B30F0CC-EBAF-4E3D-80D7-CFC82A3A738F}" type="slidenum">
              <a:rPr lang="en-US" smtClean="0"/>
              <a:pPr/>
              <a:t>86</a:t>
            </a:fld>
            <a:endParaRPr lang="en-US" dirty="0"/>
          </a:p>
        </p:txBody>
      </p:sp>
      <p:pic>
        <p:nvPicPr>
          <p:cNvPr id="14" name="Picture 13">
            <a:extLst>
              <a:ext uri="{FF2B5EF4-FFF2-40B4-BE49-F238E27FC236}">
                <a16:creationId xmlns:a16="http://schemas.microsoft.com/office/drawing/2014/main" id="{DAE3F734-AA4A-4AA3-87DE-F3AA3DC668EF}"/>
              </a:ext>
            </a:extLst>
          </p:cNvPr>
          <p:cNvPicPr>
            <a:picLocks noChangeAspect="1"/>
          </p:cNvPicPr>
          <p:nvPr/>
        </p:nvPicPr>
        <p:blipFill>
          <a:blip r:embed="rId3"/>
          <a:stretch>
            <a:fillRect/>
          </a:stretch>
        </p:blipFill>
        <p:spPr>
          <a:xfrm>
            <a:off x="2576078" y="2491653"/>
            <a:ext cx="5338709" cy="802265"/>
          </a:xfrm>
          <a:prstGeom prst="rect">
            <a:avLst/>
          </a:prstGeom>
        </p:spPr>
      </p:pic>
      <p:sp>
        <p:nvSpPr>
          <p:cNvPr id="26" name="TextBox 25">
            <a:extLst>
              <a:ext uri="{FF2B5EF4-FFF2-40B4-BE49-F238E27FC236}">
                <a16:creationId xmlns:a16="http://schemas.microsoft.com/office/drawing/2014/main" id="{A699EAB2-5F8F-44DD-970F-7AFFD923DF09}"/>
              </a:ext>
            </a:extLst>
          </p:cNvPr>
          <p:cNvSpPr txBox="1"/>
          <p:nvPr/>
        </p:nvSpPr>
        <p:spPr>
          <a:xfrm>
            <a:off x="7164065" y="3923137"/>
            <a:ext cx="1978670" cy="923330"/>
          </a:xfrm>
          <a:prstGeom prst="rect">
            <a:avLst/>
          </a:prstGeom>
          <a:noFill/>
        </p:spPr>
        <p:txBody>
          <a:bodyPr wrap="square" rtlCol="0">
            <a:spAutoFit/>
          </a:bodyPr>
          <a:lstStyle/>
          <a:p>
            <a:r>
              <a:rPr lang="en-US" dirty="0"/>
              <a:t>Score corresponds to the ground truth label</a:t>
            </a:r>
          </a:p>
        </p:txBody>
      </p:sp>
      <p:cxnSp>
        <p:nvCxnSpPr>
          <p:cNvPr id="27" name="Straight Arrow Connector 26">
            <a:extLst>
              <a:ext uri="{FF2B5EF4-FFF2-40B4-BE49-F238E27FC236}">
                <a16:creationId xmlns:a16="http://schemas.microsoft.com/office/drawing/2014/main" id="{69C2D701-662D-4490-83A6-C3EE1E510685}"/>
              </a:ext>
            </a:extLst>
          </p:cNvPr>
          <p:cNvCxnSpPr>
            <a:cxnSpLocks/>
          </p:cNvCxnSpPr>
          <p:nvPr/>
        </p:nvCxnSpPr>
        <p:spPr>
          <a:xfrm flipH="1" flipV="1">
            <a:off x="7446818" y="3071864"/>
            <a:ext cx="467969" cy="8512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269D6DE-C5E8-414F-A860-58F9FE04F6A1}"/>
              </a:ext>
            </a:extLst>
          </p:cNvPr>
          <p:cNvSpPr txBox="1"/>
          <p:nvPr/>
        </p:nvSpPr>
        <p:spPr>
          <a:xfrm>
            <a:off x="3966195" y="3829767"/>
            <a:ext cx="1978670" cy="923330"/>
          </a:xfrm>
          <a:prstGeom prst="rect">
            <a:avLst/>
          </a:prstGeom>
          <a:noFill/>
        </p:spPr>
        <p:txBody>
          <a:bodyPr wrap="square" rtlCol="0">
            <a:spAutoFit/>
          </a:bodyPr>
          <a:lstStyle/>
          <a:p>
            <a:r>
              <a:rPr lang="en-US" dirty="0"/>
              <a:t>Score corresponds to the most wrong label</a:t>
            </a:r>
          </a:p>
        </p:txBody>
      </p:sp>
      <p:cxnSp>
        <p:nvCxnSpPr>
          <p:cNvPr id="30" name="Straight Arrow Connector 29">
            <a:extLst>
              <a:ext uri="{FF2B5EF4-FFF2-40B4-BE49-F238E27FC236}">
                <a16:creationId xmlns:a16="http://schemas.microsoft.com/office/drawing/2014/main" id="{72AA6205-C62B-4B3B-9A2E-702C21931076}"/>
              </a:ext>
            </a:extLst>
          </p:cNvPr>
          <p:cNvCxnSpPr>
            <a:cxnSpLocks/>
            <a:stCxn id="28" idx="0"/>
          </p:cNvCxnSpPr>
          <p:nvPr/>
        </p:nvCxnSpPr>
        <p:spPr>
          <a:xfrm flipV="1">
            <a:off x="4955530" y="3268975"/>
            <a:ext cx="560400" cy="5607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5844BE9-7E55-4FB2-8239-0DC2BA277F32}"/>
              </a:ext>
            </a:extLst>
          </p:cNvPr>
          <p:cNvSpPr txBox="1"/>
          <p:nvPr/>
        </p:nvSpPr>
        <p:spPr>
          <a:xfrm>
            <a:off x="3189940" y="3553805"/>
            <a:ext cx="937625" cy="369332"/>
          </a:xfrm>
          <a:prstGeom prst="rect">
            <a:avLst/>
          </a:prstGeom>
          <a:noFill/>
        </p:spPr>
        <p:txBody>
          <a:bodyPr wrap="square" rtlCol="0">
            <a:spAutoFit/>
          </a:bodyPr>
          <a:lstStyle/>
          <a:p>
            <a:r>
              <a:rPr lang="en-US" dirty="0"/>
              <a:t>margin</a:t>
            </a:r>
          </a:p>
        </p:txBody>
      </p:sp>
      <p:cxnSp>
        <p:nvCxnSpPr>
          <p:cNvPr id="33" name="Straight Arrow Connector 32">
            <a:extLst>
              <a:ext uri="{FF2B5EF4-FFF2-40B4-BE49-F238E27FC236}">
                <a16:creationId xmlns:a16="http://schemas.microsoft.com/office/drawing/2014/main" id="{636A6E77-88BA-4D73-A685-B3A1CD0C182D}"/>
              </a:ext>
            </a:extLst>
          </p:cNvPr>
          <p:cNvCxnSpPr>
            <a:cxnSpLocks/>
          </p:cNvCxnSpPr>
          <p:nvPr/>
        </p:nvCxnSpPr>
        <p:spPr>
          <a:xfrm flipV="1">
            <a:off x="3800129" y="3001050"/>
            <a:ext cx="1105612" cy="5857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FA483B6-EADB-04C5-FCF1-6A61A18158B4}"/>
              </a:ext>
            </a:extLst>
          </p:cNvPr>
          <p:cNvSpPr txBox="1"/>
          <p:nvPr/>
        </p:nvSpPr>
        <p:spPr>
          <a:xfrm>
            <a:off x="2009321" y="5693670"/>
            <a:ext cx="9052931" cy="369332"/>
          </a:xfrm>
          <a:prstGeom prst="rect">
            <a:avLst/>
          </a:prstGeom>
          <a:noFill/>
        </p:spPr>
        <p:txBody>
          <a:bodyPr wrap="square">
            <a:spAutoFit/>
          </a:bodyPr>
          <a:lstStyle/>
          <a:p>
            <a:r>
              <a:rPr lang="en-US" dirty="0"/>
              <a:t>https://</a:t>
            </a:r>
            <a:r>
              <a:rPr lang="en-US" dirty="0" err="1"/>
              <a:t>torchmetrics.readthedocs.io</a:t>
            </a:r>
            <a:r>
              <a:rPr lang="en-US" dirty="0"/>
              <a:t>/</a:t>
            </a:r>
            <a:r>
              <a:rPr lang="en-US" dirty="0" err="1"/>
              <a:t>en</a:t>
            </a:r>
            <a:r>
              <a:rPr lang="en-US" dirty="0"/>
              <a:t>/stable/classification/</a:t>
            </a:r>
            <a:r>
              <a:rPr lang="en-US" dirty="0" err="1"/>
              <a:t>hinge_loss.html</a:t>
            </a:r>
            <a:endParaRPr lang="en-US" dirty="0"/>
          </a:p>
        </p:txBody>
      </p:sp>
    </p:spTree>
    <p:extLst>
      <p:ext uri="{BB962C8B-B14F-4D97-AF65-F5344CB8AC3E}">
        <p14:creationId xmlns:p14="http://schemas.microsoft.com/office/powerpoint/2010/main" val="98978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3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44B4-704C-40FF-B7B6-E167E68B4789}"/>
              </a:ext>
            </a:extLst>
          </p:cNvPr>
          <p:cNvSpPr>
            <a:spLocks noGrp="1"/>
          </p:cNvSpPr>
          <p:nvPr>
            <p:ph type="title"/>
          </p:nvPr>
        </p:nvSpPr>
        <p:spPr/>
        <p:txBody>
          <a:bodyPr/>
          <a:lstStyle/>
          <a:p>
            <a:r>
              <a:rPr lang="en-US" dirty="0"/>
              <a:t>Regression Loss Functions</a:t>
            </a:r>
          </a:p>
        </p:txBody>
      </p:sp>
      <p:sp>
        <p:nvSpPr>
          <p:cNvPr id="3" name="Content Placeholder 2">
            <a:extLst>
              <a:ext uri="{FF2B5EF4-FFF2-40B4-BE49-F238E27FC236}">
                <a16:creationId xmlns:a16="http://schemas.microsoft.com/office/drawing/2014/main" id="{8BA4D241-D94F-41E1-B46F-41221CDF6722}"/>
              </a:ext>
            </a:extLst>
          </p:cNvPr>
          <p:cNvSpPr>
            <a:spLocks noGrp="1"/>
          </p:cNvSpPr>
          <p:nvPr>
            <p:ph idx="1"/>
          </p:nvPr>
        </p:nvSpPr>
        <p:spPr/>
        <p:txBody>
          <a:bodyPr/>
          <a:lstStyle/>
          <a:p>
            <a:r>
              <a:rPr lang="en-US" dirty="0"/>
              <a:t>Mean Absolute Loss or L1 loss</a:t>
            </a:r>
          </a:p>
          <a:p>
            <a:endParaRPr lang="en-US" dirty="0"/>
          </a:p>
          <a:p>
            <a:endParaRPr lang="en-US" dirty="0"/>
          </a:p>
          <a:p>
            <a:endParaRPr lang="en-US" dirty="0"/>
          </a:p>
          <a:p>
            <a:r>
              <a:rPr lang="en-US" dirty="0"/>
              <a:t>Mean Square Loss or L2 loss</a:t>
            </a:r>
          </a:p>
        </p:txBody>
      </p:sp>
      <p:sp>
        <p:nvSpPr>
          <p:cNvPr id="6" name="Slide Number Placeholder 5">
            <a:extLst>
              <a:ext uri="{FF2B5EF4-FFF2-40B4-BE49-F238E27FC236}">
                <a16:creationId xmlns:a16="http://schemas.microsoft.com/office/drawing/2014/main" id="{48742150-B35E-4B14-A9C8-F9620595DFB8}"/>
              </a:ext>
            </a:extLst>
          </p:cNvPr>
          <p:cNvSpPr>
            <a:spLocks noGrp="1"/>
          </p:cNvSpPr>
          <p:nvPr>
            <p:ph type="sldNum" sz="quarter" idx="12"/>
          </p:nvPr>
        </p:nvSpPr>
        <p:spPr/>
        <p:txBody>
          <a:bodyPr/>
          <a:lstStyle/>
          <a:p>
            <a:fld id="{1B30F0CC-EBAF-4E3D-80D7-CFC82A3A738F}" type="slidenum">
              <a:rPr lang="en-US" smtClean="0"/>
              <a:pPr/>
              <a:t>87</a:t>
            </a:fld>
            <a:endParaRPr lang="en-US" dirty="0"/>
          </a:p>
        </p:txBody>
      </p:sp>
      <p:pic>
        <p:nvPicPr>
          <p:cNvPr id="8" name="Picture 7">
            <a:extLst>
              <a:ext uri="{FF2B5EF4-FFF2-40B4-BE49-F238E27FC236}">
                <a16:creationId xmlns:a16="http://schemas.microsoft.com/office/drawing/2014/main" id="{D2A9938A-33EB-4B0D-85D1-3B94A4DA9B62}"/>
              </a:ext>
            </a:extLst>
          </p:cNvPr>
          <p:cNvPicPr>
            <a:picLocks noChangeAspect="1"/>
          </p:cNvPicPr>
          <p:nvPr/>
        </p:nvPicPr>
        <p:blipFill>
          <a:blip r:embed="rId2"/>
          <a:stretch>
            <a:fillRect/>
          </a:stretch>
        </p:blipFill>
        <p:spPr>
          <a:xfrm>
            <a:off x="5636006" y="2043545"/>
            <a:ext cx="3261702" cy="1073295"/>
          </a:xfrm>
          <a:prstGeom prst="rect">
            <a:avLst/>
          </a:prstGeom>
        </p:spPr>
      </p:pic>
      <p:pic>
        <p:nvPicPr>
          <p:cNvPr id="10" name="Picture 9">
            <a:extLst>
              <a:ext uri="{FF2B5EF4-FFF2-40B4-BE49-F238E27FC236}">
                <a16:creationId xmlns:a16="http://schemas.microsoft.com/office/drawing/2014/main" id="{D261CCAB-E5E2-4286-BE12-E3C3FF93294D}"/>
              </a:ext>
            </a:extLst>
          </p:cNvPr>
          <p:cNvPicPr>
            <a:picLocks noChangeAspect="1"/>
          </p:cNvPicPr>
          <p:nvPr/>
        </p:nvPicPr>
        <p:blipFill>
          <a:blip r:embed="rId3"/>
          <a:stretch>
            <a:fillRect/>
          </a:stretch>
        </p:blipFill>
        <p:spPr>
          <a:xfrm>
            <a:off x="5636006" y="4360934"/>
            <a:ext cx="3552973" cy="1208593"/>
          </a:xfrm>
          <a:prstGeom prst="rect">
            <a:avLst/>
          </a:prstGeom>
        </p:spPr>
      </p:pic>
      <p:pic>
        <p:nvPicPr>
          <p:cNvPr id="12" name="Picture 11">
            <a:extLst>
              <a:ext uri="{FF2B5EF4-FFF2-40B4-BE49-F238E27FC236}">
                <a16:creationId xmlns:a16="http://schemas.microsoft.com/office/drawing/2014/main" id="{59CE38AA-2434-4CE2-92B6-A8C443BF830C}"/>
              </a:ext>
            </a:extLst>
          </p:cNvPr>
          <p:cNvPicPr>
            <a:picLocks noChangeAspect="1"/>
          </p:cNvPicPr>
          <p:nvPr/>
        </p:nvPicPr>
        <p:blipFill>
          <a:blip r:embed="rId4"/>
          <a:stretch>
            <a:fillRect/>
          </a:stretch>
        </p:blipFill>
        <p:spPr>
          <a:xfrm>
            <a:off x="2480397" y="2252012"/>
            <a:ext cx="1969080" cy="656360"/>
          </a:xfrm>
          <a:prstGeom prst="rect">
            <a:avLst/>
          </a:prstGeom>
        </p:spPr>
      </p:pic>
      <p:pic>
        <p:nvPicPr>
          <p:cNvPr id="14" name="Picture 13">
            <a:extLst>
              <a:ext uri="{FF2B5EF4-FFF2-40B4-BE49-F238E27FC236}">
                <a16:creationId xmlns:a16="http://schemas.microsoft.com/office/drawing/2014/main" id="{9E958517-E116-47D1-8A6D-0B2F1A168CD6}"/>
              </a:ext>
            </a:extLst>
          </p:cNvPr>
          <p:cNvPicPr>
            <a:picLocks noChangeAspect="1"/>
          </p:cNvPicPr>
          <p:nvPr/>
        </p:nvPicPr>
        <p:blipFill>
          <a:blip r:embed="rId5"/>
          <a:stretch>
            <a:fillRect/>
          </a:stretch>
        </p:blipFill>
        <p:spPr>
          <a:xfrm>
            <a:off x="2665549" y="4635942"/>
            <a:ext cx="1831702" cy="656360"/>
          </a:xfrm>
          <a:prstGeom prst="rect">
            <a:avLst/>
          </a:prstGeom>
        </p:spPr>
      </p:pic>
    </p:spTree>
    <p:extLst>
      <p:ext uri="{BB962C8B-B14F-4D97-AF65-F5344CB8AC3E}">
        <p14:creationId xmlns:p14="http://schemas.microsoft.com/office/powerpoint/2010/main" val="423492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3FCD-C42D-4FDF-9F6A-9D4682DCBB51}"/>
              </a:ext>
            </a:extLst>
          </p:cNvPr>
          <p:cNvSpPr>
            <a:spLocks noGrp="1"/>
          </p:cNvSpPr>
          <p:nvPr>
            <p:ph type="title"/>
          </p:nvPr>
        </p:nvSpPr>
        <p:spPr/>
        <p:txBody>
          <a:bodyPr/>
          <a:lstStyle/>
          <a:p>
            <a:r>
              <a:rPr lang="en-US" dirty="0"/>
              <a:t>Regression Loss Functions</a:t>
            </a:r>
          </a:p>
        </p:txBody>
      </p:sp>
      <p:sp>
        <p:nvSpPr>
          <p:cNvPr id="3" name="Content Placeholder 2">
            <a:extLst>
              <a:ext uri="{FF2B5EF4-FFF2-40B4-BE49-F238E27FC236}">
                <a16:creationId xmlns:a16="http://schemas.microsoft.com/office/drawing/2014/main" id="{01B22550-C494-43A4-8D1D-EE4D3E9AA6D9}"/>
              </a:ext>
            </a:extLst>
          </p:cNvPr>
          <p:cNvSpPr>
            <a:spLocks noGrp="1"/>
          </p:cNvSpPr>
          <p:nvPr>
            <p:ph idx="1"/>
          </p:nvPr>
        </p:nvSpPr>
        <p:spPr/>
        <p:txBody>
          <a:bodyPr/>
          <a:lstStyle/>
          <a:p>
            <a:r>
              <a:rPr lang="en-US" dirty="0"/>
              <a:t>Smooth L1 loss</a:t>
            </a:r>
          </a:p>
        </p:txBody>
      </p:sp>
      <p:sp>
        <p:nvSpPr>
          <p:cNvPr id="6" name="Slide Number Placeholder 5">
            <a:extLst>
              <a:ext uri="{FF2B5EF4-FFF2-40B4-BE49-F238E27FC236}">
                <a16:creationId xmlns:a16="http://schemas.microsoft.com/office/drawing/2014/main" id="{7370B695-FF07-4088-876B-0B730B0EE42B}"/>
              </a:ext>
            </a:extLst>
          </p:cNvPr>
          <p:cNvSpPr>
            <a:spLocks noGrp="1"/>
          </p:cNvSpPr>
          <p:nvPr>
            <p:ph type="sldNum" sz="quarter" idx="12"/>
          </p:nvPr>
        </p:nvSpPr>
        <p:spPr/>
        <p:txBody>
          <a:bodyPr/>
          <a:lstStyle/>
          <a:p>
            <a:fld id="{1B30F0CC-EBAF-4E3D-80D7-CFC82A3A738F}" type="slidenum">
              <a:rPr lang="en-US" smtClean="0"/>
              <a:pPr/>
              <a:t>88</a:t>
            </a:fld>
            <a:endParaRPr lang="en-US" dirty="0"/>
          </a:p>
        </p:txBody>
      </p:sp>
      <p:pic>
        <p:nvPicPr>
          <p:cNvPr id="8" name="Picture 7">
            <a:extLst>
              <a:ext uri="{FF2B5EF4-FFF2-40B4-BE49-F238E27FC236}">
                <a16:creationId xmlns:a16="http://schemas.microsoft.com/office/drawing/2014/main" id="{8904BE99-FAAD-42F9-BEC1-EC360C5AD2CD}"/>
              </a:ext>
            </a:extLst>
          </p:cNvPr>
          <p:cNvPicPr>
            <a:picLocks noChangeAspect="1"/>
          </p:cNvPicPr>
          <p:nvPr/>
        </p:nvPicPr>
        <p:blipFill>
          <a:blip r:embed="rId3"/>
          <a:stretch>
            <a:fillRect/>
          </a:stretch>
        </p:blipFill>
        <p:spPr>
          <a:xfrm>
            <a:off x="1307521" y="2269980"/>
            <a:ext cx="5157869" cy="888856"/>
          </a:xfrm>
          <a:prstGeom prst="rect">
            <a:avLst/>
          </a:prstGeom>
        </p:spPr>
      </p:pic>
      <p:pic>
        <p:nvPicPr>
          <p:cNvPr id="10" name="Picture 9">
            <a:extLst>
              <a:ext uri="{FF2B5EF4-FFF2-40B4-BE49-F238E27FC236}">
                <a16:creationId xmlns:a16="http://schemas.microsoft.com/office/drawing/2014/main" id="{81BE022E-EDB3-40BF-AE46-D29EE13E35BA}"/>
              </a:ext>
            </a:extLst>
          </p:cNvPr>
          <p:cNvPicPr>
            <a:picLocks noChangeAspect="1"/>
          </p:cNvPicPr>
          <p:nvPr/>
        </p:nvPicPr>
        <p:blipFill>
          <a:blip r:embed="rId4"/>
          <a:stretch>
            <a:fillRect/>
          </a:stretch>
        </p:blipFill>
        <p:spPr>
          <a:xfrm>
            <a:off x="1307521" y="3946245"/>
            <a:ext cx="5607251" cy="1259600"/>
          </a:xfrm>
          <a:prstGeom prst="rect">
            <a:avLst/>
          </a:prstGeom>
        </p:spPr>
      </p:pic>
      <p:pic>
        <p:nvPicPr>
          <p:cNvPr id="12" name="Picture 11" descr="Chart, line chart&#10;&#10;Description automatically generated">
            <a:extLst>
              <a:ext uri="{FF2B5EF4-FFF2-40B4-BE49-F238E27FC236}">
                <a16:creationId xmlns:a16="http://schemas.microsoft.com/office/drawing/2014/main" id="{BC6E52B2-43A4-4AD0-AED2-B455A6EA9E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50488" y="2396691"/>
            <a:ext cx="4554681" cy="2579977"/>
          </a:xfrm>
          <a:prstGeom prst="rect">
            <a:avLst/>
          </a:prstGeom>
        </p:spPr>
      </p:pic>
      <p:sp>
        <p:nvSpPr>
          <p:cNvPr id="9" name="TextBox 8">
            <a:extLst>
              <a:ext uri="{FF2B5EF4-FFF2-40B4-BE49-F238E27FC236}">
                <a16:creationId xmlns:a16="http://schemas.microsoft.com/office/drawing/2014/main" id="{4D2345B8-89EA-0004-9D41-7740562D732C}"/>
              </a:ext>
            </a:extLst>
          </p:cNvPr>
          <p:cNvSpPr txBox="1"/>
          <p:nvPr/>
        </p:nvSpPr>
        <p:spPr>
          <a:xfrm>
            <a:off x="2459541" y="5746109"/>
            <a:ext cx="9381893" cy="369332"/>
          </a:xfrm>
          <a:prstGeom prst="rect">
            <a:avLst/>
          </a:prstGeom>
          <a:noFill/>
        </p:spPr>
        <p:txBody>
          <a:bodyPr wrap="square">
            <a:spAutoFit/>
          </a:bodyPr>
          <a:lstStyle/>
          <a:p>
            <a:r>
              <a:rPr lang="en-US" dirty="0"/>
              <a:t>https://</a:t>
            </a:r>
            <a:r>
              <a:rPr lang="en-US" dirty="0" err="1"/>
              <a:t>pytorch.org</a:t>
            </a:r>
            <a:r>
              <a:rPr lang="en-US" dirty="0"/>
              <a:t>/docs/stable/generated/torch.nn.SmoothL1Loss.html</a:t>
            </a:r>
          </a:p>
        </p:txBody>
      </p:sp>
    </p:spTree>
    <p:extLst>
      <p:ext uri="{BB962C8B-B14F-4D97-AF65-F5344CB8AC3E}">
        <p14:creationId xmlns:p14="http://schemas.microsoft.com/office/powerpoint/2010/main" val="32359641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8227E-E677-49C4-AFAC-8CDB1BFA72D2}"/>
              </a:ext>
            </a:extLst>
          </p:cNvPr>
          <p:cNvSpPr>
            <a:spLocks noGrp="1"/>
          </p:cNvSpPr>
          <p:nvPr>
            <p:ph type="title"/>
          </p:nvPr>
        </p:nvSpPr>
        <p:spPr/>
        <p:txBody>
          <a:bodyPr/>
          <a:lstStyle/>
          <a:p>
            <a:r>
              <a:rPr lang="en-US" dirty="0"/>
              <a:t>Regression Loss Functions</a:t>
            </a:r>
          </a:p>
        </p:txBody>
      </p:sp>
      <p:sp>
        <p:nvSpPr>
          <p:cNvPr id="3" name="Content Placeholder 2">
            <a:extLst>
              <a:ext uri="{FF2B5EF4-FFF2-40B4-BE49-F238E27FC236}">
                <a16:creationId xmlns:a16="http://schemas.microsoft.com/office/drawing/2014/main" id="{44088A77-462E-4581-BB81-EB10E35FD702}"/>
              </a:ext>
            </a:extLst>
          </p:cNvPr>
          <p:cNvSpPr>
            <a:spLocks noGrp="1"/>
          </p:cNvSpPr>
          <p:nvPr>
            <p:ph idx="1"/>
          </p:nvPr>
        </p:nvSpPr>
        <p:spPr/>
        <p:txBody>
          <a:bodyPr/>
          <a:lstStyle/>
          <a:p>
            <a:r>
              <a:rPr lang="en-US" dirty="0"/>
              <a:t>Huber loss</a:t>
            </a:r>
          </a:p>
          <a:p>
            <a:pPr lvl="1"/>
            <a:r>
              <a:rPr lang="en-US" dirty="0"/>
              <a:t>Generalization of smooth L1 loss (               )</a:t>
            </a:r>
          </a:p>
        </p:txBody>
      </p:sp>
      <p:sp>
        <p:nvSpPr>
          <p:cNvPr id="6" name="Slide Number Placeholder 5">
            <a:extLst>
              <a:ext uri="{FF2B5EF4-FFF2-40B4-BE49-F238E27FC236}">
                <a16:creationId xmlns:a16="http://schemas.microsoft.com/office/drawing/2014/main" id="{66756860-47A4-4429-89C1-9C164E806000}"/>
              </a:ext>
            </a:extLst>
          </p:cNvPr>
          <p:cNvSpPr>
            <a:spLocks noGrp="1"/>
          </p:cNvSpPr>
          <p:nvPr>
            <p:ph type="sldNum" sz="quarter" idx="12"/>
          </p:nvPr>
        </p:nvSpPr>
        <p:spPr/>
        <p:txBody>
          <a:bodyPr/>
          <a:lstStyle/>
          <a:p>
            <a:fld id="{1B30F0CC-EBAF-4E3D-80D7-CFC82A3A738F}" type="slidenum">
              <a:rPr lang="en-US" smtClean="0"/>
              <a:pPr/>
              <a:t>89</a:t>
            </a:fld>
            <a:endParaRPr lang="en-US" dirty="0"/>
          </a:p>
        </p:txBody>
      </p:sp>
      <p:pic>
        <p:nvPicPr>
          <p:cNvPr id="8" name="Picture 7">
            <a:extLst>
              <a:ext uri="{FF2B5EF4-FFF2-40B4-BE49-F238E27FC236}">
                <a16:creationId xmlns:a16="http://schemas.microsoft.com/office/drawing/2014/main" id="{0A3CDB6B-D1CC-42BA-A2E3-6DA33F982505}"/>
              </a:ext>
            </a:extLst>
          </p:cNvPr>
          <p:cNvPicPr>
            <a:picLocks noChangeAspect="1"/>
          </p:cNvPicPr>
          <p:nvPr/>
        </p:nvPicPr>
        <p:blipFill>
          <a:blip r:embed="rId3"/>
          <a:stretch>
            <a:fillRect/>
          </a:stretch>
        </p:blipFill>
        <p:spPr>
          <a:xfrm>
            <a:off x="1350818" y="2860530"/>
            <a:ext cx="4147764" cy="1025670"/>
          </a:xfrm>
          <a:prstGeom prst="rect">
            <a:avLst/>
          </a:prstGeom>
        </p:spPr>
      </p:pic>
      <p:pic>
        <p:nvPicPr>
          <p:cNvPr id="10" name="Picture 9">
            <a:extLst>
              <a:ext uri="{FF2B5EF4-FFF2-40B4-BE49-F238E27FC236}">
                <a16:creationId xmlns:a16="http://schemas.microsoft.com/office/drawing/2014/main" id="{2ED3D3F3-CA52-4620-848E-9F33EF322979}"/>
              </a:ext>
            </a:extLst>
          </p:cNvPr>
          <p:cNvPicPr>
            <a:picLocks noChangeAspect="1"/>
          </p:cNvPicPr>
          <p:nvPr/>
        </p:nvPicPr>
        <p:blipFill>
          <a:blip r:embed="rId4"/>
          <a:stretch>
            <a:fillRect/>
          </a:stretch>
        </p:blipFill>
        <p:spPr>
          <a:xfrm>
            <a:off x="1205778" y="4489604"/>
            <a:ext cx="5457825" cy="885825"/>
          </a:xfrm>
          <a:prstGeom prst="rect">
            <a:avLst/>
          </a:prstGeom>
        </p:spPr>
      </p:pic>
      <p:pic>
        <p:nvPicPr>
          <p:cNvPr id="2050" name="Picture 2">
            <a:extLst>
              <a:ext uri="{FF2B5EF4-FFF2-40B4-BE49-F238E27FC236}">
                <a16:creationId xmlns:a16="http://schemas.microsoft.com/office/drawing/2014/main" id="{30187471-EE1D-4A60-8E79-4201DAF845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4817" y="2053497"/>
            <a:ext cx="766969" cy="25565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Chart, line chart&#10;&#10;Description automatically generated">
            <a:extLst>
              <a:ext uri="{FF2B5EF4-FFF2-40B4-BE49-F238E27FC236}">
                <a16:creationId xmlns:a16="http://schemas.microsoft.com/office/drawing/2014/main" id="{548EFD96-92F3-413F-99A5-982894E709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50488" y="2396691"/>
            <a:ext cx="4554681" cy="2579977"/>
          </a:xfrm>
          <a:prstGeom prst="rect">
            <a:avLst/>
          </a:prstGeom>
        </p:spPr>
      </p:pic>
    </p:spTree>
    <p:extLst>
      <p:ext uri="{BB962C8B-B14F-4D97-AF65-F5344CB8AC3E}">
        <p14:creationId xmlns:p14="http://schemas.microsoft.com/office/powerpoint/2010/main" val="29876125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E72B7-164D-4B53-A30B-0FFDFB4BDA92}"/>
              </a:ext>
            </a:extLst>
          </p:cNvPr>
          <p:cNvSpPr>
            <a:spLocks noGrp="1"/>
          </p:cNvSpPr>
          <p:nvPr>
            <p:ph type="title"/>
          </p:nvPr>
        </p:nvSpPr>
        <p:spPr/>
        <p:txBody>
          <a:bodyPr/>
          <a:lstStyle/>
          <a:p>
            <a:r>
              <a:rPr lang="en-US" dirty="0"/>
              <a:t>Optimization</a:t>
            </a:r>
          </a:p>
        </p:txBody>
      </p:sp>
      <p:sp>
        <p:nvSpPr>
          <p:cNvPr id="3" name="Content Placeholder 2">
            <a:extLst>
              <a:ext uri="{FF2B5EF4-FFF2-40B4-BE49-F238E27FC236}">
                <a16:creationId xmlns:a16="http://schemas.microsoft.com/office/drawing/2014/main" id="{549B6A97-388F-4DD9-849C-E45B727795FB}"/>
              </a:ext>
            </a:extLst>
          </p:cNvPr>
          <p:cNvSpPr>
            <a:spLocks noGrp="1"/>
          </p:cNvSpPr>
          <p:nvPr>
            <p:ph idx="1"/>
          </p:nvPr>
        </p:nvSpPr>
        <p:spPr>
          <a:xfrm>
            <a:off x="838200" y="1482571"/>
            <a:ext cx="5583382" cy="4694392"/>
          </a:xfrm>
        </p:spPr>
        <p:txBody>
          <a:bodyPr/>
          <a:lstStyle/>
          <a:p>
            <a:r>
              <a:rPr lang="en-US" dirty="0"/>
              <a:t>Gradient descent</a:t>
            </a:r>
          </a:p>
          <a:p>
            <a:pPr lvl="1"/>
            <a:r>
              <a:rPr lang="en-US" dirty="0"/>
              <a:t>Gradient direction: steepest direction to increase the objective</a:t>
            </a:r>
          </a:p>
          <a:p>
            <a:pPr lvl="1"/>
            <a:endParaRPr lang="en-US" dirty="0"/>
          </a:p>
          <a:p>
            <a:pPr lvl="1"/>
            <a:r>
              <a:rPr lang="en-US" dirty="0"/>
              <a:t>Can only find local minimum</a:t>
            </a:r>
          </a:p>
          <a:p>
            <a:pPr lvl="1"/>
            <a:endParaRPr lang="en-US" dirty="0"/>
          </a:p>
          <a:p>
            <a:pPr lvl="1"/>
            <a:r>
              <a:rPr lang="en-US" dirty="0"/>
              <a:t>Widely used for neural network training (works in practice)</a:t>
            </a:r>
          </a:p>
          <a:p>
            <a:pPr lvl="1"/>
            <a:endParaRPr lang="en-US" dirty="0"/>
          </a:p>
          <a:p>
            <a:pPr lvl="1"/>
            <a:r>
              <a:rPr lang="en-US" dirty="0"/>
              <a:t>Compute gradient with a mini-batch (</a:t>
            </a:r>
            <a:r>
              <a:rPr lang="en-US" i="0" dirty="0">
                <a:solidFill>
                  <a:srgbClr val="090A0B"/>
                </a:solidFill>
                <a:effectLst/>
                <a:latin typeface="-apple-system"/>
              </a:rPr>
              <a:t>Stochastic Gradient Descent, SGD)</a:t>
            </a:r>
          </a:p>
        </p:txBody>
      </p:sp>
      <p:sp>
        <p:nvSpPr>
          <p:cNvPr id="6" name="Slide Number Placeholder 5">
            <a:extLst>
              <a:ext uri="{FF2B5EF4-FFF2-40B4-BE49-F238E27FC236}">
                <a16:creationId xmlns:a16="http://schemas.microsoft.com/office/drawing/2014/main" id="{ACF1DD91-4EF8-409D-A28B-C4F48FAB6DEC}"/>
              </a:ext>
            </a:extLst>
          </p:cNvPr>
          <p:cNvSpPr>
            <a:spLocks noGrp="1"/>
          </p:cNvSpPr>
          <p:nvPr>
            <p:ph type="sldNum" sz="quarter" idx="12"/>
          </p:nvPr>
        </p:nvSpPr>
        <p:spPr/>
        <p:txBody>
          <a:bodyPr/>
          <a:lstStyle/>
          <a:p>
            <a:fld id="{1B30F0CC-EBAF-4E3D-80D7-CFC82A3A738F}" type="slidenum">
              <a:rPr lang="en-US" smtClean="0"/>
              <a:pPr/>
              <a:t>90</a:t>
            </a:fld>
            <a:endParaRPr lang="en-US" dirty="0"/>
          </a:p>
        </p:txBody>
      </p:sp>
      <p:pic>
        <p:nvPicPr>
          <p:cNvPr id="7" name="Picture 10">
            <a:extLst>
              <a:ext uri="{FF2B5EF4-FFF2-40B4-BE49-F238E27FC236}">
                <a16:creationId xmlns:a16="http://schemas.microsoft.com/office/drawing/2014/main" id="{A5391E87-E3DA-4652-A976-B0C5EB25E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6083" y="2659692"/>
            <a:ext cx="3970844" cy="11524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0C83F80-51E2-4BF7-8F39-EB148F2F3144}"/>
              </a:ext>
            </a:extLst>
          </p:cNvPr>
          <p:cNvSpPr txBox="1"/>
          <p:nvPr/>
        </p:nvSpPr>
        <p:spPr>
          <a:xfrm>
            <a:off x="9368323" y="3927076"/>
            <a:ext cx="1420838" cy="369332"/>
          </a:xfrm>
          <a:prstGeom prst="rect">
            <a:avLst/>
          </a:prstGeom>
          <a:noFill/>
        </p:spPr>
        <p:txBody>
          <a:bodyPr wrap="none" rtlCol="0">
            <a:spAutoFit/>
          </a:bodyPr>
          <a:lstStyle/>
          <a:p>
            <a:r>
              <a:rPr lang="en-US" dirty="0"/>
              <a:t>Learning rate</a:t>
            </a:r>
          </a:p>
        </p:txBody>
      </p:sp>
      <p:cxnSp>
        <p:nvCxnSpPr>
          <p:cNvPr id="9" name="Straight Arrow Connector 8">
            <a:extLst>
              <a:ext uri="{FF2B5EF4-FFF2-40B4-BE49-F238E27FC236}">
                <a16:creationId xmlns:a16="http://schemas.microsoft.com/office/drawing/2014/main" id="{E8651CE7-6AF3-450C-8C69-CC9ADD7CF6B9}"/>
              </a:ext>
            </a:extLst>
          </p:cNvPr>
          <p:cNvCxnSpPr>
            <a:cxnSpLocks/>
            <a:stCxn id="8" idx="0"/>
          </p:cNvCxnSpPr>
          <p:nvPr/>
        </p:nvCxnSpPr>
        <p:spPr>
          <a:xfrm flipV="1">
            <a:off x="10078742" y="3542832"/>
            <a:ext cx="145870" cy="3842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445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E72B7-164D-4B53-A30B-0FFDFB4BDA92}"/>
              </a:ext>
            </a:extLst>
          </p:cNvPr>
          <p:cNvSpPr>
            <a:spLocks noGrp="1"/>
          </p:cNvSpPr>
          <p:nvPr>
            <p:ph type="title"/>
          </p:nvPr>
        </p:nvSpPr>
        <p:spPr/>
        <p:txBody>
          <a:bodyPr/>
          <a:lstStyle/>
          <a:p>
            <a:r>
              <a:rPr lang="en-US" dirty="0"/>
              <a:t>Optimization</a:t>
            </a:r>
          </a:p>
        </p:txBody>
      </p:sp>
      <p:sp>
        <p:nvSpPr>
          <p:cNvPr id="3" name="Content Placeholder 2">
            <a:extLst>
              <a:ext uri="{FF2B5EF4-FFF2-40B4-BE49-F238E27FC236}">
                <a16:creationId xmlns:a16="http://schemas.microsoft.com/office/drawing/2014/main" id="{549B6A97-388F-4DD9-849C-E45B727795FB}"/>
              </a:ext>
            </a:extLst>
          </p:cNvPr>
          <p:cNvSpPr>
            <a:spLocks noGrp="1"/>
          </p:cNvSpPr>
          <p:nvPr>
            <p:ph idx="1"/>
          </p:nvPr>
        </p:nvSpPr>
        <p:spPr>
          <a:xfrm>
            <a:off x="838200" y="1482571"/>
            <a:ext cx="5583382" cy="4694392"/>
          </a:xfrm>
        </p:spPr>
        <p:txBody>
          <a:bodyPr/>
          <a:lstStyle/>
          <a:p>
            <a:r>
              <a:rPr lang="en-US" dirty="0"/>
              <a:t>Gradient descent with momentum</a:t>
            </a:r>
          </a:p>
          <a:p>
            <a:endParaRPr lang="en-US" dirty="0"/>
          </a:p>
          <a:p>
            <a:pPr lvl="1"/>
            <a:r>
              <a:rPr lang="en-US" dirty="0"/>
              <a:t>Add a fraction of the update vector from previous time step (momentum)</a:t>
            </a:r>
          </a:p>
          <a:p>
            <a:pPr lvl="1"/>
            <a:endParaRPr lang="en-US" dirty="0"/>
          </a:p>
          <a:p>
            <a:pPr lvl="1"/>
            <a:r>
              <a:rPr lang="en-US" dirty="0"/>
              <a:t>Accelerated SGD, reduced oscillation</a:t>
            </a:r>
          </a:p>
          <a:p>
            <a:endParaRPr lang="en-US" dirty="0"/>
          </a:p>
        </p:txBody>
      </p:sp>
      <p:sp>
        <p:nvSpPr>
          <p:cNvPr id="6" name="Slide Number Placeholder 5">
            <a:extLst>
              <a:ext uri="{FF2B5EF4-FFF2-40B4-BE49-F238E27FC236}">
                <a16:creationId xmlns:a16="http://schemas.microsoft.com/office/drawing/2014/main" id="{ACF1DD91-4EF8-409D-A28B-C4F48FAB6DEC}"/>
              </a:ext>
            </a:extLst>
          </p:cNvPr>
          <p:cNvSpPr>
            <a:spLocks noGrp="1"/>
          </p:cNvSpPr>
          <p:nvPr>
            <p:ph type="sldNum" sz="quarter" idx="12"/>
          </p:nvPr>
        </p:nvSpPr>
        <p:spPr/>
        <p:txBody>
          <a:bodyPr/>
          <a:lstStyle/>
          <a:p>
            <a:fld id="{1B30F0CC-EBAF-4E3D-80D7-CFC82A3A738F}" type="slidenum">
              <a:rPr lang="en-US" smtClean="0"/>
              <a:pPr/>
              <a:t>91</a:t>
            </a:fld>
            <a:endParaRPr lang="en-US" dirty="0"/>
          </a:p>
        </p:txBody>
      </p:sp>
      <p:pic>
        <p:nvPicPr>
          <p:cNvPr id="11" name="Picture 10">
            <a:extLst>
              <a:ext uri="{FF2B5EF4-FFF2-40B4-BE49-F238E27FC236}">
                <a16:creationId xmlns:a16="http://schemas.microsoft.com/office/drawing/2014/main" id="{F84A4EC7-DC82-4992-AB1C-87C1B38AAD42}"/>
              </a:ext>
            </a:extLst>
          </p:cNvPr>
          <p:cNvPicPr>
            <a:picLocks noChangeAspect="1"/>
          </p:cNvPicPr>
          <p:nvPr/>
        </p:nvPicPr>
        <p:blipFill>
          <a:blip r:embed="rId3"/>
          <a:stretch>
            <a:fillRect/>
          </a:stretch>
        </p:blipFill>
        <p:spPr>
          <a:xfrm>
            <a:off x="7308419" y="3613909"/>
            <a:ext cx="4415010" cy="1466414"/>
          </a:xfrm>
          <a:prstGeom prst="rect">
            <a:avLst/>
          </a:prstGeom>
        </p:spPr>
      </p:pic>
      <p:sp>
        <p:nvSpPr>
          <p:cNvPr id="13" name="TextBox 12">
            <a:extLst>
              <a:ext uri="{FF2B5EF4-FFF2-40B4-BE49-F238E27FC236}">
                <a16:creationId xmlns:a16="http://schemas.microsoft.com/office/drawing/2014/main" id="{3E881176-8EF6-4CCE-9FE5-86CEC4AFD776}"/>
              </a:ext>
            </a:extLst>
          </p:cNvPr>
          <p:cNvSpPr txBox="1"/>
          <p:nvPr/>
        </p:nvSpPr>
        <p:spPr>
          <a:xfrm>
            <a:off x="1872096" y="5730501"/>
            <a:ext cx="6094268" cy="369332"/>
          </a:xfrm>
          <a:prstGeom prst="rect">
            <a:avLst/>
          </a:prstGeom>
          <a:noFill/>
        </p:spPr>
        <p:txBody>
          <a:bodyPr wrap="square">
            <a:spAutoFit/>
          </a:bodyPr>
          <a:lstStyle/>
          <a:p>
            <a:r>
              <a:rPr lang="en-US" dirty="0">
                <a:hlinkClick r:id="rId4"/>
              </a:rPr>
              <a:t>https://ruder.io/optimizing-gradient-descent/</a:t>
            </a:r>
            <a:endParaRPr lang="en-US" dirty="0"/>
          </a:p>
        </p:txBody>
      </p:sp>
      <p:sp>
        <p:nvSpPr>
          <p:cNvPr id="14" name="TextBox 13">
            <a:extLst>
              <a:ext uri="{FF2B5EF4-FFF2-40B4-BE49-F238E27FC236}">
                <a16:creationId xmlns:a16="http://schemas.microsoft.com/office/drawing/2014/main" id="{44DF56A1-09DF-4563-905A-13293908B318}"/>
              </a:ext>
            </a:extLst>
          </p:cNvPr>
          <p:cNvSpPr txBox="1"/>
          <p:nvPr/>
        </p:nvSpPr>
        <p:spPr>
          <a:xfrm>
            <a:off x="9108550" y="2584278"/>
            <a:ext cx="1420838" cy="369332"/>
          </a:xfrm>
          <a:prstGeom prst="rect">
            <a:avLst/>
          </a:prstGeom>
          <a:noFill/>
        </p:spPr>
        <p:txBody>
          <a:bodyPr wrap="none" rtlCol="0">
            <a:spAutoFit/>
          </a:bodyPr>
          <a:lstStyle/>
          <a:p>
            <a:r>
              <a:rPr lang="en-US" dirty="0"/>
              <a:t>Learning rate</a:t>
            </a:r>
          </a:p>
        </p:txBody>
      </p:sp>
      <p:cxnSp>
        <p:nvCxnSpPr>
          <p:cNvPr id="15" name="Straight Arrow Connector 14">
            <a:extLst>
              <a:ext uri="{FF2B5EF4-FFF2-40B4-BE49-F238E27FC236}">
                <a16:creationId xmlns:a16="http://schemas.microsoft.com/office/drawing/2014/main" id="{0F71BB45-24CD-4F17-8DFC-0259156FB615}"/>
              </a:ext>
            </a:extLst>
          </p:cNvPr>
          <p:cNvCxnSpPr>
            <a:cxnSpLocks/>
          </p:cNvCxnSpPr>
          <p:nvPr/>
        </p:nvCxnSpPr>
        <p:spPr>
          <a:xfrm>
            <a:off x="9818969" y="2918747"/>
            <a:ext cx="163231" cy="96229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D0A5E27-D7DB-48D9-A03C-FB4F9F275F05}"/>
              </a:ext>
            </a:extLst>
          </p:cNvPr>
          <p:cNvSpPr txBox="1"/>
          <p:nvPr/>
        </p:nvSpPr>
        <p:spPr>
          <a:xfrm>
            <a:off x="7443619" y="2584278"/>
            <a:ext cx="1293431" cy="369332"/>
          </a:xfrm>
          <a:prstGeom prst="rect">
            <a:avLst/>
          </a:prstGeom>
          <a:noFill/>
        </p:spPr>
        <p:txBody>
          <a:bodyPr wrap="none" rtlCol="0">
            <a:spAutoFit/>
          </a:bodyPr>
          <a:lstStyle/>
          <a:p>
            <a:r>
              <a:rPr lang="en-US" dirty="0"/>
              <a:t>momentum</a:t>
            </a:r>
          </a:p>
        </p:txBody>
      </p:sp>
      <p:cxnSp>
        <p:nvCxnSpPr>
          <p:cNvPr id="19" name="Straight Arrow Connector 18">
            <a:extLst>
              <a:ext uri="{FF2B5EF4-FFF2-40B4-BE49-F238E27FC236}">
                <a16:creationId xmlns:a16="http://schemas.microsoft.com/office/drawing/2014/main" id="{BBD0DD70-C4E6-4B34-921A-D1D119D459AB}"/>
              </a:ext>
            </a:extLst>
          </p:cNvPr>
          <p:cNvCxnSpPr>
            <a:cxnSpLocks/>
          </p:cNvCxnSpPr>
          <p:nvPr/>
        </p:nvCxnSpPr>
        <p:spPr>
          <a:xfrm>
            <a:off x="8146179" y="3013440"/>
            <a:ext cx="429400" cy="86760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1DF13FC5-D51A-4A72-977A-F99182D19199}"/>
              </a:ext>
            </a:extLst>
          </p:cNvPr>
          <p:cNvPicPr>
            <a:picLocks noChangeAspect="1"/>
          </p:cNvPicPr>
          <p:nvPr/>
        </p:nvPicPr>
        <p:blipFill>
          <a:blip r:embed="rId5"/>
          <a:stretch>
            <a:fillRect/>
          </a:stretch>
        </p:blipFill>
        <p:spPr>
          <a:xfrm>
            <a:off x="1158177" y="4032133"/>
            <a:ext cx="5774423" cy="1771464"/>
          </a:xfrm>
          <a:prstGeom prst="rect">
            <a:avLst/>
          </a:prstGeom>
        </p:spPr>
      </p:pic>
    </p:spTree>
    <p:extLst>
      <p:ext uri="{BB962C8B-B14F-4D97-AF65-F5344CB8AC3E}">
        <p14:creationId xmlns:p14="http://schemas.microsoft.com/office/powerpoint/2010/main" val="57011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EFC26B-1D25-4AD7-AC4F-18092FCC9A76}"/>
              </a:ext>
            </a:extLst>
          </p:cNvPr>
          <p:cNvSpPr>
            <a:spLocks noGrp="1"/>
          </p:cNvSpPr>
          <p:nvPr>
            <p:ph idx="1"/>
          </p:nvPr>
        </p:nvSpPr>
        <p:spPr/>
        <p:txBody>
          <a:bodyPr/>
          <a:lstStyle/>
          <a:p>
            <a:r>
              <a:rPr lang="en-US" dirty="0"/>
              <a:t>Adam: Adaptive Moment Estimation</a:t>
            </a:r>
          </a:p>
          <a:p>
            <a:pPr marL="914400" lvl="1" indent="-457200">
              <a:buFont typeface="+mj-lt"/>
              <a:buAutoNum type="arabicPeriod"/>
            </a:pPr>
            <a:r>
              <a:rPr lang="en-US" dirty="0"/>
              <a:t>Exponentially decaying average of gradients and squared gradients</a:t>
            </a:r>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r>
              <a:rPr lang="en-US" dirty="0"/>
              <a:t>Bias-corrected 1</a:t>
            </a:r>
            <a:r>
              <a:rPr lang="en-US" baseline="30000" dirty="0"/>
              <a:t>st</a:t>
            </a:r>
            <a:r>
              <a:rPr lang="en-US" dirty="0"/>
              <a:t> and 2</a:t>
            </a:r>
            <a:r>
              <a:rPr lang="en-US" baseline="30000" dirty="0"/>
              <a:t>nd</a:t>
            </a:r>
            <a:r>
              <a:rPr lang="en-US" dirty="0"/>
              <a:t> moment estimates</a:t>
            </a:r>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r>
              <a:rPr lang="en-US" dirty="0"/>
              <a:t>Updating rule</a:t>
            </a:r>
          </a:p>
        </p:txBody>
      </p:sp>
      <p:pic>
        <p:nvPicPr>
          <p:cNvPr id="14" name="Picture 13">
            <a:extLst>
              <a:ext uri="{FF2B5EF4-FFF2-40B4-BE49-F238E27FC236}">
                <a16:creationId xmlns:a16="http://schemas.microsoft.com/office/drawing/2014/main" id="{442391C8-44C7-4F55-8196-2965A455EBEB}"/>
              </a:ext>
            </a:extLst>
          </p:cNvPr>
          <p:cNvPicPr>
            <a:picLocks noChangeAspect="1"/>
          </p:cNvPicPr>
          <p:nvPr/>
        </p:nvPicPr>
        <p:blipFill>
          <a:blip r:embed="rId3"/>
          <a:stretch>
            <a:fillRect/>
          </a:stretch>
        </p:blipFill>
        <p:spPr>
          <a:xfrm>
            <a:off x="2277255" y="3885890"/>
            <a:ext cx="1828800" cy="866775"/>
          </a:xfrm>
          <a:prstGeom prst="rect">
            <a:avLst/>
          </a:prstGeom>
        </p:spPr>
      </p:pic>
      <p:sp>
        <p:nvSpPr>
          <p:cNvPr id="2" name="Title 1">
            <a:extLst>
              <a:ext uri="{FF2B5EF4-FFF2-40B4-BE49-F238E27FC236}">
                <a16:creationId xmlns:a16="http://schemas.microsoft.com/office/drawing/2014/main" id="{C2C817D8-F5D7-42E5-9827-6AB626BF5788}"/>
              </a:ext>
            </a:extLst>
          </p:cNvPr>
          <p:cNvSpPr>
            <a:spLocks noGrp="1"/>
          </p:cNvSpPr>
          <p:nvPr>
            <p:ph type="title"/>
          </p:nvPr>
        </p:nvSpPr>
        <p:spPr/>
        <p:txBody>
          <a:bodyPr/>
          <a:lstStyle/>
          <a:p>
            <a:r>
              <a:rPr lang="en-US" dirty="0"/>
              <a:t>Optimization</a:t>
            </a:r>
          </a:p>
        </p:txBody>
      </p:sp>
      <p:sp>
        <p:nvSpPr>
          <p:cNvPr id="6" name="Slide Number Placeholder 5">
            <a:extLst>
              <a:ext uri="{FF2B5EF4-FFF2-40B4-BE49-F238E27FC236}">
                <a16:creationId xmlns:a16="http://schemas.microsoft.com/office/drawing/2014/main" id="{4818B68F-6FD9-4B49-8589-1066D3B2AE3B}"/>
              </a:ext>
            </a:extLst>
          </p:cNvPr>
          <p:cNvSpPr>
            <a:spLocks noGrp="1"/>
          </p:cNvSpPr>
          <p:nvPr>
            <p:ph type="sldNum" sz="quarter" idx="12"/>
          </p:nvPr>
        </p:nvSpPr>
        <p:spPr/>
        <p:txBody>
          <a:bodyPr/>
          <a:lstStyle/>
          <a:p>
            <a:fld id="{1B30F0CC-EBAF-4E3D-80D7-CFC82A3A738F}" type="slidenum">
              <a:rPr lang="en-US" smtClean="0"/>
              <a:pPr/>
              <a:t>92</a:t>
            </a:fld>
            <a:endParaRPr lang="en-US" dirty="0"/>
          </a:p>
        </p:txBody>
      </p:sp>
      <p:pic>
        <p:nvPicPr>
          <p:cNvPr id="8" name="Picture 7">
            <a:extLst>
              <a:ext uri="{FF2B5EF4-FFF2-40B4-BE49-F238E27FC236}">
                <a16:creationId xmlns:a16="http://schemas.microsoft.com/office/drawing/2014/main" id="{BE94DDB5-F839-4446-B195-470A34A688BA}"/>
              </a:ext>
            </a:extLst>
          </p:cNvPr>
          <p:cNvPicPr>
            <a:picLocks noChangeAspect="1"/>
          </p:cNvPicPr>
          <p:nvPr/>
        </p:nvPicPr>
        <p:blipFill>
          <a:blip r:embed="rId4"/>
          <a:stretch>
            <a:fillRect/>
          </a:stretch>
        </p:blipFill>
        <p:spPr>
          <a:xfrm>
            <a:off x="2055150" y="2415561"/>
            <a:ext cx="3686175" cy="981075"/>
          </a:xfrm>
          <a:prstGeom prst="rect">
            <a:avLst/>
          </a:prstGeom>
        </p:spPr>
      </p:pic>
      <p:pic>
        <p:nvPicPr>
          <p:cNvPr id="10" name="Picture 9">
            <a:extLst>
              <a:ext uri="{FF2B5EF4-FFF2-40B4-BE49-F238E27FC236}">
                <a16:creationId xmlns:a16="http://schemas.microsoft.com/office/drawing/2014/main" id="{43F5EDC9-4C25-4F49-AD2D-6A6EF34E9024}"/>
              </a:ext>
            </a:extLst>
          </p:cNvPr>
          <p:cNvPicPr>
            <a:picLocks noChangeAspect="1"/>
          </p:cNvPicPr>
          <p:nvPr/>
        </p:nvPicPr>
        <p:blipFill>
          <a:blip r:embed="rId5"/>
          <a:stretch>
            <a:fillRect/>
          </a:stretch>
        </p:blipFill>
        <p:spPr>
          <a:xfrm>
            <a:off x="6739514" y="2603331"/>
            <a:ext cx="3056091" cy="353088"/>
          </a:xfrm>
          <a:prstGeom prst="rect">
            <a:avLst/>
          </a:prstGeom>
        </p:spPr>
      </p:pic>
      <p:pic>
        <p:nvPicPr>
          <p:cNvPr id="16" name="Picture 15">
            <a:extLst>
              <a:ext uri="{FF2B5EF4-FFF2-40B4-BE49-F238E27FC236}">
                <a16:creationId xmlns:a16="http://schemas.microsoft.com/office/drawing/2014/main" id="{700A5A47-D7B0-4580-AF39-71A19C4F6E0A}"/>
              </a:ext>
            </a:extLst>
          </p:cNvPr>
          <p:cNvPicPr>
            <a:picLocks noChangeAspect="1"/>
          </p:cNvPicPr>
          <p:nvPr/>
        </p:nvPicPr>
        <p:blipFill>
          <a:blip r:embed="rId6"/>
          <a:stretch>
            <a:fillRect/>
          </a:stretch>
        </p:blipFill>
        <p:spPr>
          <a:xfrm>
            <a:off x="4553965" y="3964900"/>
            <a:ext cx="1733550" cy="847725"/>
          </a:xfrm>
          <a:prstGeom prst="rect">
            <a:avLst/>
          </a:prstGeom>
        </p:spPr>
      </p:pic>
      <p:pic>
        <p:nvPicPr>
          <p:cNvPr id="18" name="Picture 17">
            <a:extLst>
              <a:ext uri="{FF2B5EF4-FFF2-40B4-BE49-F238E27FC236}">
                <a16:creationId xmlns:a16="http://schemas.microsoft.com/office/drawing/2014/main" id="{02675442-39AF-45D7-AADC-433F2281FA3F}"/>
              </a:ext>
            </a:extLst>
          </p:cNvPr>
          <p:cNvPicPr>
            <a:picLocks noChangeAspect="1"/>
          </p:cNvPicPr>
          <p:nvPr/>
        </p:nvPicPr>
        <p:blipFill>
          <a:blip r:embed="rId7"/>
          <a:stretch>
            <a:fillRect/>
          </a:stretch>
        </p:blipFill>
        <p:spPr>
          <a:xfrm>
            <a:off x="2812470" y="5067691"/>
            <a:ext cx="3219450" cy="1047750"/>
          </a:xfrm>
          <a:prstGeom prst="rect">
            <a:avLst/>
          </a:prstGeom>
        </p:spPr>
      </p:pic>
      <p:pic>
        <p:nvPicPr>
          <p:cNvPr id="20" name="Picture 19">
            <a:extLst>
              <a:ext uri="{FF2B5EF4-FFF2-40B4-BE49-F238E27FC236}">
                <a16:creationId xmlns:a16="http://schemas.microsoft.com/office/drawing/2014/main" id="{CFDC166C-4FCC-4569-BFA9-ACB9D29978A0}"/>
              </a:ext>
            </a:extLst>
          </p:cNvPr>
          <p:cNvPicPr>
            <a:picLocks noChangeAspect="1"/>
          </p:cNvPicPr>
          <p:nvPr/>
        </p:nvPicPr>
        <p:blipFill>
          <a:blip r:embed="rId8"/>
          <a:stretch>
            <a:fillRect/>
          </a:stretch>
        </p:blipFill>
        <p:spPr>
          <a:xfrm>
            <a:off x="7134148" y="5486404"/>
            <a:ext cx="1410246" cy="371950"/>
          </a:xfrm>
          <a:prstGeom prst="rect">
            <a:avLst/>
          </a:prstGeom>
        </p:spPr>
      </p:pic>
      <p:sp>
        <p:nvSpPr>
          <p:cNvPr id="21" name="TextBox 20">
            <a:extLst>
              <a:ext uri="{FF2B5EF4-FFF2-40B4-BE49-F238E27FC236}">
                <a16:creationId xmlns:a16="http://schemas.microsoft.com/office/drawing/2014/main" id="{835551BD-1270-4A66-A3ED-9D3893087B79}"/>
              </a:ext>
            </a:extLst>
          </p:cNvPr>
          <p:cNvSpPr txBox="1"/>
          <p:nvPr/>
        </p:nvSpPr>
        <p:spPr>
          <a:xfrm>
            <a:off x="9296168" y="5425094"/>
            <a:ext cx="2262351" cy="369332"/>
          </a:xfrm>
          <a:prstGeom prst="rect">
            <a:avLst/>
          </a:prstGeom>
          <a:noFill/>
        </p:spPr>
        <p:txBody>
          <a:bodyPr wrap="none" rtlCol="0">
            <a:spAutoFit/>
          </a:bodyPr>
          <a:lstStyle/>
          <a:p>
            <a:r>
              <a:rPr lang="en-US" dirty="0">
                <a:solidFill>
                  <a:srgbClr val="FF0000"/>
                </a:solidFill>
              </a:rPr>
              <a:t>Adaptive learning rate</a:t>
            </a:r>
          </a:p>
        </p:txBody>
      </p:sp>
      <p:sp>
        <p:nvSpPr>
          <p:cNvPr id="7" name="TextBox 6">
            <a:extLst>
              <a:ext uri="{FF2B5EF4-FFF2-40B4-BE49-F238E27FC236}">
                <a16:creationId xmlns:a16="http://schemas.microsoft.com/office/drawing/2014/main" id="{38C72A05-B265-45B3-90C6-BDF719B9BC90}"/>
              </a:ext>
            </a:extLst>
          </p:cNvPr>
          <p:cNvSpPr txBox="1"/>
          <p:nvPr/>
        </p:nvSpPr>
        <p:spPr>
          <a:xfrm>
            <a:off x="6739514" y="3059668"/>
            <a:ext cx="2199513" cy="369332"/>
          </a:xfrm>
          <a:prstGeom prst="rect">
            <a:avLst/>
          </a:prstGeom>
          <a:noFill/>
        </p:spPr>
        <p:txBody>
          <a:bodyPr wrap="none" rtlCol="0">
            <a:spAutoFit/>
          </a:bodyPr>
          <a:lstStyle/>
          <a:p>
            <a:r>
              <a:rPr lang="en-US" dirty="0"/>
              <a:t>Start m and v from 0s</a:t>
            </a:r>
          </a:p>
        </p:txBody>
      </p:sp>
      <p:sp>
        <p:nvSpPr>
          <p:cNvPr id="15" name="TextBox 14">
            <a:extLst>
              <a:ext uri="{FF2B5EF4-FFF2-40B4-BE49-F238E27FC236}">
                <a16:creationId xmlns:a16="http://schemas.microsoft.com/office/drawing/2014/main" id="{5601A145-801B-4634-95B4-309C6EC0CD79}"/>
              </a:ext>
            </a:extLst>
          </p:cNvPr>
          <p:cNvSpPr txBox="1"/>
          <p:nvPr/>
        </p:nvSpPr>
        <p:spPr>
          <a:xfrm>
            <a:off x="6287514" y="4794855"/>
            <a:ext cx="1997841" cy="369332"/>
          </a:xfrm>
          <a:prstGeom prst="rect">
            <a:avLst/>
          </a:prstGeom>
          <a:noFill/>
        </p:spPr>
        <p:txBody>
          <a:bodyPr wrap="square" rtlCol="0">
            <a:spAutoFit/>
          </a:bodyPr>
          <a:lstStyle/>
          <a:p>
            <a:r>
              <a:rPr lang="en-US" dirty="0"/>
              <a:t>Learning rate</a:t>
            </a:r>
          </a:p>
        </p:txBody>
      </p:sp>
      <p:cxnSp>
        <p:nvCxnSpPr>
          <p:cNvPr id="17" name="Straight Arrow Connector 16">
            <a:extLst>
              <a:ext uri="{FF2B5EF4-FFF2-40B4-BE49-F238E27FC236}">
                <a16:creationId xmlns:a16="http://schemas.microsoft.com/office/drawing/2014/main" id="{2520E007-AA36-4680-9C6F-DDC7B253BE6D}"/>
              </a:ext>
            </a:extLst>
          </p:cNvPr>
          <p:cNvCxnSpPr>
            <a:cxnSpLocks/>
          </p:cNvCxnSpPr>
          <p:nvPr/>
        </p:nvCxnSpPr>
        <p:spPr>
          <a:xfrm flipH="1">
            <a:off x="5584597" y="5129324"/>
            <a:ext cx="1413337" cy="2162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621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7" grpId="0"/>
      <p:bldP spid="1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7F3AF-18B0-49F7-9D8C-D7BDFA600F34}"/>
              </a:ext>
            </a:extLst>
          </p:cNvPr>
          <p:cNvSpPr>
            <a:spLocks noGrp="1"/>
          </p:cNvSpPr>
          <p:nvPr>
            <p:ph type="title"/>
          </p:nvPr>
        </p:nvSpPr>
        <p:spPr/>
        <p:txBody>
          <a:bodyPr/>
          <a:lstStyle/>
          <a:p>
            <a:r>
              <a:rPr lang="en-US" altLang="zh-CN" dirty="0"/>
              <a:t>Computational</a:t>
            </a:r>
            <a:r>
              <a:rPr lang="zh-CN" altLang="en-US" dirty="0"/>
              <a:t> </a:t>
            </a:r>
            <a:r>
              <a:rPr lang="en-US" altLang="zh-CN" dirty="0"/>
              <a:t>Multisensory</a:t>
            </a:r>
            <a:r>
              <a:rPr lang="zh-CN" altLang="en-US" dirty="0"/>
              <a:t> </a:t>
            </a:r>
            <a:r>
              <a:rPr lang="en-US" altLang="zh-CN" dirty="0"/>
              <a:t>Perception</a:t>
            </a:r>
            <a:endParaRPr lang="en-US" dirty="0"/>
          </a:p>
        </p:txBody>
      </p:sp>
      <p:pic>
        <p:nvPicPr>
          <p:cNvPr id="7" name="Content Placeholder 6">
            <a:extLst>
              <a:ext uri="{FF2B5EF4-FFF2-40B4-BE49-F238E27FC236}">
                <a16:creationId xmlns:a16="http://schemas.microsoft.com/office/drawing/2014/main" id="{292D11A3-92A5-F2D3-8F7A-7BA602415B2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09292" y="3014895"/>
            <a:ext cx="1060888" cy="727310"/>
          </a:xfrm>
        </p:spPr>
      </p:pic>
      <p:sp>
        <p:nvSpPr>
          <p:cNvPr id="4" name="Slide Number Placeholder 3">
            <a:extLst>
              <a:ext uri="{FF2B5EF4-FFF2-40B4-BE49-F238E27FC236}">
                <a16:creationId xmlns:a16="http://schemas.microsoft.com/office/drawing/2014/main" id="{8D829E1D-D21B-B5E9-8F55-020D80506873}"/>
              </a:ext>
            </a:extLst>
          </p:cNvPr>
          <p:cNvSpPr>
            <a:spLocks noGrp="1"/>
          </p:cNvSpPr>
          <p:nvPr>
            <p:ph type="sldNum" sz="quarter" idx="12"/>
          </p:nvPr>
        </p:nvSpPr>
        <p:spPr/>
        <p:txBody>
          <a:bodyPr/>
          <a:lstStyle/>
          <a:p>
            <a:fld id="{C68DACDF-E1A9-A04C-A5FF-FC2443684BF5}" type="slidenum">
              <a:rPr lang="en-US" smtClean="0"/>
              <a:pPr/>
              <a:t>93</a:t>
            </a:fld>
            <a:endParaRPr lang="en-US" dirty="0"/>
          </a:p>
        </p:txBody>
      </p:sp>
      <p:pic>
        <p:nvPicPr>
          <p:cNvPr id="2050" name="Picture 2" descr="Neurons: What are they and how do they work?">
            <a:extLst>
              <a:ext uri="{FF2B5EF4-FFF2-40B4-BE49-F238E27FC236}">
                <a16:creationId xmlns:a16="http://schemas.microsoft.com/office/drawing/2014/main" id="{33BA30CF-E327-DA01-183E-33682F8EB5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1691" y="3014895"/>
            <a:ext cx="2277952" cy="15200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C5668AD-9281-9337-4710-06401EA7CAC2}"/>
              </a:ext>
            </a:extLst>
          </p:cNvPr>
          <p:cNvPicPr>
            <a:picLocks noChangeAspect="1"/>
          </p:cNvPicPr>
          <p:nvPr/>
        </p:nvPicPr>
        <p:blipFill>
          <a:blip r:embed="rId5"/>
          <a:stretch>
            <a:fillRect/>
          </a:stretch>
        </p:blipFill>
        <p:spPr>
          <a:xfrm>
            <a:off x="3171197" y="4089788"/>
            <a:ext cx="1187955" cy="520967"/>
          </a:xfrm>
          <a:prstGeom prst="rect">
            <a:avLst/>
          </a:prstGeom>
        </p:spPr>
      </p:pic>
      <p:sp>
        <p:nvSpPr>
          <p:cNvPr id="8" name="TextBox 7">
            <a:extLst>
              <a:ext uri="{FF2B5EF4-FFF2-40B4-BE49-F238E27FC236}">
                <a16:creationId xmlns:a16="http://schemas.microsoft.com/office/drawing/2014/main" id="{55115B30-83B7-9895-9B9B-E55D20D966DE}"/>
              </a:ext>
            </a:extLst>
          </p:cNvPr>
          <p:cNvSpPr txBox="1"/>
          <p:nvPr/>
        </p:nvSpPr>
        <p:spPr>
          <a:xfrm>
            <a:off x="2362321" y="3193884"/>
            <a:ext cx="808876" cy="369332"/>
          </a:xfrm>
          <a:prstGeom prst="rect">
            <a:avLst/>
          </a:prstGeom>
          <a:noFill/>
        </p:spPr>
        <p:txBody>
          <a:bodyPr wrap="none" rtlCol="0">
            <a:spAutoFit/>
          </a:bodyPr>
          <a:lstStyle/>
          <a:p>
            <a:r>
              <a:rPr lang="en-US" altLang="zh-CN" dirty="0"/>
              <a:t>Visual</a:t>
            </a:r>
            <a:endParaRPr lang="en-US" dirty="0"/>
          </a:p>
        </p:txBody>
      </p:sp>
      <p:sp>
        <p:nvSpPr>
          <p:cNvPr id="9" name="TextBox 8">
            <a:extLst>
              <a:ext uri="{FF2B5EF4-FFF2-40B4-BE49-F238E27FC236}">
                <a16:creationId xmlns:a16="http://schemas.microsoft.com/office/drawing/2014/main" id="{860AEFB0-272C-14AE-AADD-D99206A313BD}"/>
              </a:ext>
            </a:extLst>
          </p:cNvPr>
          <p:cNvSpPr txBox="1"/>
          <p:nvPr/>
        </p:nvSpPr>
        <p:spPr>
          <a:xfrm>
            <a:off x="2396626" y="4133938"/>
            <a:ext cx="774571" cy="369332"/>
          </a:xfrm>
          <a:prstGeom prst="rect">
            <a:avLst/>
          </a:prstGeom>
          <a:noFill/>
        </p:spPr>
        <p:txBody>
          <a:bodyPr wrap="none" rtlCol="0">
            <a:spAutoFit/>
          </a:bodyPr>
          <a:lstStyle/>
          <a:p>
            <a:r>
              <a:rPr lang="en-US" altLang="zh-CN" dirty="0"/>
              <a:t>Audio</a:t>
            </a:r>
            <a:endParaRPr lang="en-US" dirty="0"/>
          </a:p>
        </p:txBody>
      </p:sp>
      <p:sp>
        <p:nvSpPr>
          <p:cNvPr id="10" name="Right Arrow 9">
            <a:extLst>
              <a:ext uri="{FF2B5EF4-FFF2-40B4-BE49-F238E27FC236}">
                <a16:creationId xmlns:a16="http://schemas.microsoft.com/office/drawing/2014/main" id="{663715FF-830E-4ADB-88D7-B3263FF6BFE0}"/>
              </a:ext>
            </a:extLst>
          </p:cNvPr>
          <p:cNvSpPr/>
          <p:nvPr/>
        </p:nvSpPr>
        <p:spPr>
          <a:xfrm>
            <a:off x="4968745" y="3666506"/>
            <a:ext cx="455221" cy="369332"/>
          </a:xfrm>
          <a:prstGeom prst="rightArrow">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1FCD53DD-5F8E-C0D4-EA62-9A3BA8DF45AE}"/>
              </a:ext>
            </a:extLst>
          </p:cNvPr>
          <p:cNvSpPr txBox="1">
            <a:spLocks/>
          </p:cNvSpPr>
          <p:nvPr/>
        </p:nvSpPr>
        <p:spPr>
          <a:xfrm>
            <a:off x="838200" y="1579419"/>
            <a:ext cx="10515600" cy="4362092"/>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750"/>
              </a:spcBef>
              <a:buFont typeface="Arial" panose="020B0604020202020204" pitchFamily="34" charset="0"/>
              <a:buNone/>
              <a:defRPr sz="2800" kern="1200">
                <a:solidFill>
                  <a:schemeClr val="tx1"/>
                </a:solidFill>
                <a:latin typeface="Calibri" panose="020F0502020204030204" pitchFamily="34" charset="0"/>
                <a:ea typeface="+mn-ea"/>
                <a:cs typeface="Calibri" panose="020F05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Calibri" panose="020F0502020204030204" pitchFamily="34" charset="0"/>
                <a:ea typeface="+mn-ea"/>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57200" indent="-457200">
              <a:buFont typeface="Arial" panose="020B0604020202020204" pitchFamily="34" charset="0"/>
              <a:buChar char="•"/>
            </a:pPr>
            <a:r>
              <a:rPr lang="en-US" altLang="zh-CN" dirty="0"/>
              <a:t>Learn</a:t>
            </a:r>
            <a:r>
              <a:rPr lang="zh-CN" altLang="en-US" dirty="0"/>
              <a:t> </a:t>
            </a:r>
            <a:r>
              <a:rPr lang="en-US" altLang="zh-CN" dirty="0"/>
              <a:t>functions</a:t>
            </a:r>
            <a:r>
              <a:rPr lang="zh-CN" altLang="en-US" dirty="0"/>
              <a:t> </a:t>
            </a:r>
            <a:r>
              <a:rPr lang="en-US" altLang="zh-CN" dirty="0"/>
              <a:t>(e.g.,</a:t>
            </a:r>
            <a:r>
              <a:rPr lang="zh-CN" altLang="en-US" dirty="0"/>
              <a:t> </a:t>
            </a:r>
            <a:r>
              <a:rPr lang="en-US" altLang="zh-CN" dirty="0"/>
              <a:t>neural</a:t>
            </a:r>
            <a:r>
              <a:rPr lang="zh-CN" altLang="en-US" dirty="0"/>
              <a:t> </a:t>
            </a:r>
            <a:r>
              <a:rPr lang="en-US" altLang="zh-CN" dirty="0"/>
              <a:t>networks)</a:t>
            </a:r>
            <a:r>
              <a:rPr lang="zh-CN" altLang="en-US" dirty="0"/>
              <a:t> </a:t>
            </a:r>
            <a:r>
              <a:rPr lang="en-US" altLang="zh-CN" dirty="0"/>
              <a:t>to</a:t>
            </a:r>
            <a:r>
              <a:rPr lang="zh-CN" altLang="en-US" dirty="0"/>
              <a:t> </a:t>
            </a:r>
            <a:r>
              <a:rPr lang="en-US" altLang="zh-CN" dirty="0"/>
              <a:t>model</a:t>
            </a:r>
            <a:r>
              <a:rPr lang="zh-CN" altLang="en-US" dirty="0"/>
              <a:t> </a:t>
            </a:r>
            <a:r>
              <a:rPr lang="en-US" altLang="zh-CN" dirty="0"/>
              <a:t>and</a:t>
            </a:r>
            <a:r>
              <a:rPr lang="zh-CN" altLang="en-US" dirty="0"/>
              <a:t> </a:t>
            </a:r>
            <a:r>
              <a:rPr lang="en-US" altLang="zh-CN" dirty="0"/>
              <a:t>understand</a:t>
            </a:r>
            <a:r>
              <a:rPr lang="zh-CN" altLang="en-US" dirty="0"/>
              <a:t> </a:t>
            </a:r>
            <a:r>
              <a:rPr lang="en-US" altLang="zh-CN" dirty="0"/>
              <a:t>auditory</a:t>
            </a:r>
            <a:r>
              <a:rPr lang="zh-CN" altLang="en-US" dirty="0"/>
              <a:t> </a:t>
            </a:r>
            <a:r>
              <a:rPr lang="en-US" altLang="zh-CN" dirty="0"/>
              <a:t>and</a:t>
            </a:r>
            <a:r>
              <a:rPr lang="zh-CN" altLang="en-US" dirty="0"/>
              <a:t> </a:t>
            </a:r>
            <a:r>
              <a:rPr lang="en-US" altLang="zh-CN" dirty="0"/>
              <a:t>visual</a:t>
            </a:r>
            <a:r>
              <a:rPr lang="zh-CN" altLang="en-US" dirty="0"/>
              <a:t> </a:t>
            </a:r>
            <a:r>
              <a:rPr lang="en-US" altLang="zh-CN" dirty="0"/>
              <a:t>inputs</a:t>
            </a:r>
            <a:endParaRPr lang="en-US"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7E62966-0339-63BC-6B5C-081F371BA54A}"/>
                  </a:ext>
                </a:extLst>
              </p:cNvPr>
              <p:cNvSpPr txBox="1"/>
              <p:nvPr/>
            </p:nvSpPr>
            <p:spPr>
              <a:xfrm>
                <a:off x="6329548" y="4610755"/>
                <a:ext cx="9780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𝜃</m:t>
                      </m:r>
                      <m:r>
                        <a:rPr lang="en-US" altLang="zh-CN" b="0" i="1" smtClean="0">
                          <a:latin typeface="Cambria Math" panose="02040503050406030204" pitchFamily="18" charset="0"/>
                        </a:rPr>
                        <m:t>)</m:t>
                      </m:r>
                    </m:oMath>
                  </m:oMathPara>
                </a14:m>
                <a:endParaRPr lang="en-US" dirty="0"/>
              </a:p>
            </p:txBody>
          </p:sp>
        </mc:Choice>
        <mc:Fallback xmlns="">
          <p:sp>
            <p:nvSpPr>
              <p:cNvPr id="13" name="TextBox 12">
                <a:extLst>
                  <a:ext uri="{FF2B5EF4-FFF2-40B4-BE49-F238E27FC236}">
                    <a16:creationId xmlns:a16="http://schemas.microsoft.com/office/drawing/2014/main" id="{C7E62966-0339-63BC-6B5C-081F371BA54A}"/>
                  </a:ext>
                </a:extLst>
              </p:cNvPr>
              <p:cNvSpPr txBox="1">
                <a:spLocks noRot="1" noChangeAspect="1" noMove="1" noResize="1" noEditPoints="1" noAdjustHandles="1" noChangeArrowheads="1" noChangeShapeType="1" noTextEdit="1"/>
              </p:cNvSpPr>
              <p:nvPr/>
            </p:nvSpPr>
            <p:spPr>
              <a:xfrm>
                <a:off x="6329548" y="4610755"/>
                <a:ext cx="978025" cy="276999"/>
              </a:xfrm>
              <a:prstGeom prst="rect">
                <a:avLst/>
              </a:prstGeom>
              <a:blipFill>
                <a:blip r:embed="rId6"/>
                <a:stretch>
                  <a:fillRect l="-7453" r="-7453" b="-34783"/>
                </a:stretch>
              </a:blipFill>
            </p:spPr>
            <p:txBody>
              <a:bodyPr/>
              <a:lstStyle/>
              <a:p>
                <a:r>
                  <a:rPr lang="en-US">
                    <a:noFill/>
                  </a:rPr>
                  <a:t> </a:t>
                </a:r>
              </a:p>
            </p:txBody>
          </p:sp>
        </mc:Fallback>
      </mc:AlternateContent>
      <p:sp>
        <p:nvSpPr>
          <p:cNvPr id="16" name="Right Arrow 15">
            <a:extLst>
              <a:ext uri="{FF2B5EF4-FFF2-40B4-BE49-F238E27FC236}">
                <a16:creationId xmlns:a16="http://schemas.microsoft.com/office/drawing/2014/main" id="{C5AC8EF6-CDDC-FCE1-B7EB-167F208EF760}"/>
              </a:ext>
            </a:extLst>
          </p:cNvPr>
          <p:cNvSpPr/>
          <p:nvPr/>
        </p:nvSpPr>
        <p:spPr>
          <a:xfrm>
            <a:off x="8204454" y="3666506"/>
            <a:ext cx="455221" cy="369332"/>
          </a:xfrm>
          <a:prstGeom prst="rightArrow">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4A510F3-C5B0-7B10-4EA5-4427021FA08F}"/>
                  </a:ext>
                </a:extLst>
              </p:cNvPr>
              <p:cNvSpPr txBox="1"/>
              <p:nvPr/>
            </p:nvSpPr>
            <p:spPr>
              <a:xfrm>
                <a:off x="8713149" y="3625936"/>
                <a:ext cx="997037" cy="369332"/>
              </a:xfrm>
              <a:prstGeom prst="rect">
                <a:avLst/>
              </a:prstGeom>
              <a:noFill/>
            </p:spPr>
            <p:txBody>
              <a:bodyPr wrap="square" rtlCol="0">
                <a:spAutoFit/>
              </a:bodyPr>
              <a:lstStyle/>
              <a:p>
                <a14:m>
                  <m:oMath xmlns:m="http://schemas.openxmlformats.org/officeDocument/2006/math">
                    <m:r>
                      <a:rPr lang="en-US" altLang="zh-CN" b="0" i="1" smtClean="0">
                        <a:latin typeface="Cambria Math" panose="02040503050406030204" pitchFamily="18" charset="0"/>
                      </a:rPr>
                      <m:t>𝑦</m:t>
                    </m:r>
                  </m:oMath>
                </a14:m>
                <a:r>
                  <a:rPr lang="zh-CN" altLang="en-US" dirty="0"/>
                  <a:t> </a:t>
                </a:r>
                <a:endParaRPr lang="en-US" altLang="zh-CN" dirty="0"/>
              </a:p>
            </p:txBody>
          </p:sp>
        </mc:Choice>
        <mc:Fallback xmlns="">
          <p:sp>
            <p:nvSpPr>
              <p:cNvPr id="17" name="TextBox 16">
                <a:extLst>
                  <a:ext uri="{FF2B5EF4-FFF2-40B4-BE49-F238E27FC236}">
                    <a16:creationId xmlns:a16="http://schemas.microsoft.com/office/drawing/2014/main" id="{24A510F3-C5B0-7B10-4EA5-4427021FA08F}"/>
                  </a:ext>
                </a:extLst>
              </p:cNvPr>
              <p:cNvSpPr txBox="1">
                <a:spLocks noRot="1" noChangeAspect="1" noMove="1" noResize="1" noEditPoints="1" noAdjustHandles="1" noChangeArrowheads="1" noChangeShapeType="1" noTextEdit="1"/>
              </p:cNvSpPr>
              <p:nvPr/>
            </p:nvSpPr>
            <p:spPr>
              <a:xfrm>
                <a:off x="8713149" y="3625936"/>
                <a:ext cx="997037" cy="369332"/>
              </a:xfrm>
              <a:prstGeom prst="rect">
                <a:avLst/>
              </a:prstGeom>
              <a:blipFill>
                <a:blip r:embed="rId7"/>
                <a:stretch>
                  <a:fillRect b="-8333"/>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506E15A9-130E-B3CB-49A4-33641566259B}"/>
              </a:ext>
            </a:extLst>
          </p:cNvPr>
          <p:cNvSpPr txBox="1"/>
          <p:nvPr/>
        </p:nvSpPr>
        <p:spPr>
          <a:xfrm>
            <a:off x="9052010" y="3528006"/>
            <a:ext cx="1403435" cy="646331"/>
          </a:xfrm>
          <a:prstGeom prst="rect">
            <a:avLst/>
          </a:prstGeom>
          <a:noFill/>
        </p:spPr>
        <p:txBody>
          <a:bodyPr wrap="square" rtlCol="0">
            <a:spAutoFit/>
          </a:bodyPr>
          <a:lstStyle/>
          <a:p>
            <a:r>
              <a:rPr lang="en-US" altLang="zh-CN" sz="1200" dirty="0"/>
              <a:t>event</a:t>
            </a:r>
            <a:r>
              <a:rPr lang="zh-CN" altLang="en-US" sz="1200" dirty="0"/>
              <a:t> </a:t>
            </a:r>
            <a:r>
              <a:rPr lang="en-US" altLang="zh-CN" sz="1200" dirty="0"/>
              <a:t>label,</a:t>
            </a:r>
            <a:r>
              <a:rPr lang="zh-CN" altLang="en-US" sz="1200" dirty="0"/>
              <a:t> </a:t>
            </a:r>
            <a:r>
              <a:rPr lang="en-US" altLang="zh-CN" sz="1200" dirty="0"/>
              <a:t>sounding</a:t>
            </a:r>
            <a:r>
              <a:rPr lang="zh-CN" altLang="en-US" sz="1200" dirty="0"/>
              <a:t> </a:t>
            </a:r>
            <a:r>
              <a:rPr lang="en-US" altLang="zh-CN" sz="1200" dirty="0"/>
              <a:t>object</a:t>
            </a:r>
            <a:r>
              <a:rPr lang="zh-CN" altLang="en-US" sz="1200" dirty="0"/>
              <a:t> </a:t>
            </a:r>
            <a:r>
              <a:rPr lang="en-US" altLang="zh-CN" sz="1200" dirty="0"/>
              <a:t>location,</a:t>
            </a:r>
            <a:r>
              <a:rPr lang="zh-CN" altLang="en-US" sz="1200" dirty="0"/>
              <a:t> </a:t>
            </a:r>
            <a:r>
              <a:rPr lang="en-US" altLang="zh-CN" sz="1200" dirty="0"/>
              <a:t>…</a:t>
            </a:r>
            <a:endParaRPr lang="en-US" sz="120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0E2BB21-1F0C-EF2A-9673-4EFEE913310D}"/>
                  </a:ext>
                </a:extLst>
              </p:cNvPr>
              <p:cNvSpPr txBox="1"/>
              <p:nvPr/>
            </p:nvSpPr>
            <p:spPr>
              <a:xfrm>
                <a:off x="941343" y="3009499"/>
                <a:ext cx="4860966" cy="14773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9600" i="1" smtClean="0">
                              <a:latin typeface="Cambria Math" panose="02040503050406030204" pitchFamily="18" charset="0"/>
                            </a:rPr>
                          </m:ctrlPr>
                        </m:dPr>
                        <m:e>
                          <m:r>
                            <a:rPr lang="zh-CN" altLang="en-US" sz="9600" b="0" i="1" smtClean="0">
                              <a:latin typeface="Cambria Math" panose="02040503050406030204" pitchFamily="18" charset="0"/>
                            </a:rPr>
                            <m:t>       </m:t>
                          </m:r>
                        </m:e>
                      </m:d>
                    </m:oMath>
                  </m:oMathPara>
                </a14:m>
                <a:endParaRPr lang="en-US" sz="9600" dirty="0"/>
              </a:p>
            </p:txBody>
          </p:sp>
        </mc:Choice>
        <mc:Fallback xmlns="">
          <p:sp>
            <p:nvSpPr>
              <p:cNvPr id="19" name="TextBox 18">
                <a:extLst>
                  <a:ext uri="{FF2B5EF4-FFF2-40B4-BE49-F238E27FC236}">
                    <a16:creationId xmlns:a16="http://schemas.microsoft.com/office/drawing/2014/main" id="{00E2BB21-1F0C-EF2A-9673-4EFEE913310D}"/>
                  </a:ext>
                </a:extLst>
              </p:cNvPr>
              <p:cNvSpPr txBox="1">
                <a:spLocks noRot="1" noChangeAspect="1" noMove="1" noResize="1" noEditPoints="1" noAdjustHandles="1" noChangeArrowheads="1" noChangeShapeType="1" noTextEdit="1"/>
              </p:cNvSpPr>
              <p:nvPr/>
            </p:nvSpPr>
            <p:spPr>
              <a:xfrm>
                <a:off x="941343" y="3009499"/>
                <a:ext cx="4860966" cy="147732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183968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A2E-8DC9-AB7A-20B2-2315236F4013}"/>
              </a:ext>
            </a:extLst>
          </p:cNvPr>
          <p:cNvSpPr>
            <a:spLocks noGrp="1"/>
          </p:cNvSpPr>
          <p:nvPr>
            <p:ph type="title"/>
          </p:nvPr>
        </p:nvSpPr>
        <p:spPr/>
        <p:txBody>
          <a:bodyPr/>
          <a:lstStyle/>
          <a:p>
            <a:r>
              <a:rPr lang="en-US" dirty="0">
                <a:latin typeface="Calibri"/>
                <a:ea typeface="Calibri"/>
                <a:cs typeface="Calibri"/>
              </a:rPr>
              <a:t>Image + Audio</a:t>
            </a:r>
            <a:endParaRPr lang="en-US" dirty="0"/>
          </a:p>
        </p:txBody>
      </p:sp>
      <p:pic>
        <p:nvPicPr>
          <p:cNvPr id="5" name="Picture 5" descr="A picture containing person, wall, indoor, music&#10;&#10;Description automatically generated">
            <a:extLst>
              <a:ext uri="{FF2B5EF4-FFF2-40B4-BE49-F238E27FC236}">
                <a16:creationId xmlns:a16="http://schemas.microsoft.com/office/drawing/2014/main" id="{3230E9CC-8CE0-9D8C-AB32-A4B4BFA25732}"/>
              </a:ext>
            </a:extLst>
          </p:cNvPr>
          <p:cNvPicPr>
            <a:picLocks noGrp="1" noChangeAspect="1"/>
          </p:cNvPicPr>
          <p:nvPr>
            <p:ph idx="1"/>
          </p:nvPr>
        </p:nvPicPr>
        <p:blipFill>
          <a:blip r:embed="rId2"/>
          <a:stretch>
            <a:fillRect/>
          </a:stretch>
        </p:blipFill>
        <p:spPr>
          <a:xfrm>
            <a:off x="2801158" y="1570434"/>
            <a:ext cx="2276475" cy="1562100"/>
          </a:xfrm>
        </p:spPr>
      </p:pic>
      <p:sp>
        <p:nvSpPr>
          <p:cNvPr id="4" name="Slide Number Placeholder 3">
            <a:extLst>
              <a:ext uri="{FF2B5EF4-FFF2-40B4-BE49-F238E27FC236}">
                <a16:creationId xmlns:a16="http://schemas.microsoft.com/office/drawing/2014/main" id="{6FEB8395-BC48-AE27-AF27-961DC62B42C6}"/>
              </a:ext>
            </a:extLst>
          </p:cNvPr>
          <p:cNvSpPr>
            <a:spLocks noGrp="1"/>
          </p:cNvSpPr>
          <p:nvPr>
            <p:ph type="sldNum" sz="quarter" idx="12"/>
          </p:nvPr>
        </p:nvSpPr>
        <p:spPr/>
        <p:txBody>
          <a:bodyPr/>
          <a:lstStyle/>
          <a:p>
            <a:fld id="{C68DACDF-E1A9-A04C-A5FF-FC2443684BF5}" type="slidenum">
              <a:rPr lang="en-US" smtClean="0"/>
              <a:pPr/>
              <a:t>94</a:t>
            </a:fld>
            <a:endParaRPr lang="en-US" dirty="0"/>
          </a:p>
        </p:txBody>
      </p:sp>
      <p:pic>
        <p:nvPicPr>
          <p:cNvPr id="6" name="Picture 6" descr="A picture containing text, sky, outdoor&#10;&#10;Description automatically generated">
            <a:extLst>
              <a:ext uri="{FF2B5EF4-FFF2-40B4-BE49-F238E27FC236}">
                <a16:creationId xmlns:a16="http://schemas.microsoft.com/office/drawing/2014/main" id="{6A76E391-0599-101A-0AB8-6C2FF5EF19B5}"/>
              </a:ext>
            </a:extLst>
          </p:cNvPr>
          <p:cNvPicPr>
            <a:picLocks noChangeAspect="1"/>
          </p:cNvPicPr>
          <p:nvPr/>
        </p:nvPicPr>
        <p:blipFill>
          <a:blip r:embed="rId3"/>
          <a:stretch>
            <a:fillRect/>
          </a:stretch>
        </p:blipFill>
        <p:spPr>
          <a:xfrm>
            <a:off x="842513" y="3544711"/>
            <a:ext cx="2743200" cy="1321332"/>
          </a:xfrm>
          <a:prstGeom prst="rect">
            <a:avLst/>
          </a:prstGeom>
        </p:spPr>
      </p:pic>
      <p:pic>
        <p:nvPicPr>
          <p:cNvPr id="7" name="Picture 7">
            <a:extLst>
              <a:ext uri="{FF2B5EF4-FFF2-40B4-BE49-F238E27FC236}">
                <a16:creationId xmlns:a16="http://schemas.microsoft.com/office/drawing/2014/main" id="{A7D5FC90-1709-3160-2220-904EB152A0EC}"/>
              </a:ext>
            </a:extLst>
          </p:cNvPr>
          <p:cNvPicPr>
            <a:picLocks noChangeAspect="1"/>
          </p:cNvPicPr>
          <p:nvPr/>
        </p:nvPicPr>
        <p:blipFill>
          <a:blip r:embed="rId4"/>
          <a:stretch>
            <a:fillRect/>
          </a:stretch>
        </p:blipFill>
        <p:spPr>
          <a:xfrm>
            <a:off x="4180487" y="3363403"/>
            <a:ext cx="1990725" cy="2000250"/>
          </a:xfrm>
          <a:prstGeom prst="rect">
            <a:avLst/>
          </a:prstGeom>
        </p:spPr>
      </p:pic>
      <p:sp>
        <p:nvSpPr>
          <p:cNvPr id="8" name="Rectangle: Rounded Corners 7">
            <a:extLst>
              <a:ext uri="{FF2B5EF4-FFF2-40B4-BE49-F238E27FC236}">
                <a16:creationId xmlns:a16="http://schemas.microsoft.com/office/drawing/2014/main" id="{C28BDCC5-E876-B2C4-9814-ED279388BE69}"/>
              </a:ext>
            </a:extLst>
          </p:cNvPr>
          <p:cNvSpPr/>
          <p:nvPr/>
        </p:nvSpPr>
        <p:spPr>
          <a:xfrm>
            <a:off x="6517888" y="1571393"/>
            <a:ext cx="2276706" cy="13753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cs typeface="Arial"/>
              </a:rPr>
              <a:t>Image Feature Extractor Network</a:t>
            </a:r>
            <a:endParaRPr lang="en-US" dirty="0"/>
          </a:p>
        </p:txBody>
      </p:sp>
      <p:sp>
        <p:nvSpPr>
          <p:cNvPr id="9" name="Rectangle: Rounded Corners 8">
            <a:extLst>
              <a:ext uri="{FF2B5EF4-FFF2-40B4-BE49-F238E27FC236}">
                <a16:creationId xmlns:a16="http://schemas.microsoft.com/office/drawing/2014/main" id="{529AA994-08B3-BA0C-978B-564B0C53A97A}"/>
              </a:ext>
            </a:extLst>
          </p:cNvPr>
          <p:cNvSpPr/>
          <p:nvPr/>
        </p:nvSpPr>
        <p:spPr>
          <a:xfrm>
            <a:off x="6517888" y="3522856"/>
            <a:ext cx="2276706" cy="13753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Audio Feature Extractor Network</a:t>
            </a:r>
            <a:endParaRPr lang="en-US" dirty="0"/>
          </a:p>
        </p:txBody>
      </p:sp>
      <p:sp>
        <p:nvSpPr>
          <p:cNvPr id="10" name="Rectangle: Rounded Corners 9">
            <a:extLst>
              <a:ext uri="{FF2B5EF4-FFF2-40B4-BE49-F238E27FC236}">
                <a16:creationId xmlns:a16="http://schemas.microsoft.com/office/drawing/2014/main" id="{F5D6AE10-7B80-C882-61C1-6F560BDF2227}"/>
              </a:ext>
            </a:extLst>
          </p:cNvPr>
          <p:cNvSpPr/>
          <p:nvPr/>
        </p:nvSpPr>
        <p:spPr>
          <a:xfrm>
            <a:off x="9147717" y="2500661"/>
            <a:ext cx="2276706" cy="13753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Feature Fusion</a:t>
            </a:r>
            <a:endParaRPr lang="en-US" dirty="0"/>
          </a:p>
        </p:txBody>
      </p:sp>
      <p:sp>
        <p:nvSpPr>
          <p:cNvPr id="11" name="Arrow: Right 10">
            <a:extLst>
              <a:ext uri="{FF2B5EF4-FFF2-40B4-BE49-F238E27FC236}">
                <a16:creationId xmlns:a16="http://schemas.microsoft.com/office/drawing/2014/main" id="{54F3B00C-AF9E-0EC7-5042-7525C884B328}"/>
              </a:ext>
            </a:extLst>
          </p:cNvPr>
          <p:cNvSpPr/>
          <p:nvPr/>
        </p:nvSpPr>
        <p:spPr>
          <a:xfrm>
            <a:off x="3580470" y="4123163"/>
            <a:ext cx="669073" cy="4832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1C01E291-81D0-09B0-2C5F-F4DE86583CB9}"/>
              </a:ext>
            </a:extLst>
          </p:cNvPr>
          <p:cNvSpPr/>
          <p:nvPr/>
        </p:nvSpPr>
        <p:spPr>
          <a:xfrm>
            <a:off x="6098787" y="4076699"/>
            <a:ext cx="418171" cy="4832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8E2CC6E6-0593-A13F-E333-83F00C8170C6}"/>
              </a:ext>
            </a:extLst>
          </p:cNvPr>
          <p:cNvSpPr/>
          <p:nvPr/>
        </p:nvSpPr>
        <p:spPr>
          <a:xfrm>
            <a:off x="5076591" y="2013723"/>
            <a:ext cx="1440365" cy="4832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Bent 13">
            <a:extLst>
              <a:ext uri="{FF2B5EF4-FFF2-40B4-BE49-F238E27FC236}">
                <a16:creationId xmlns:a16="http://schemas.microsoft.com/office/drawing/2014/main" id="{70F56397-5EBF-FF34-C570-A461A951B2CB}"/>
              </a:ext>
            </a:extLst>
          </p:cNvPr>
          <p:cNvSpPr/>
          <p:nvPr/>
        </p:nvSpPr>
        <p:spPr>
          <a:xfrm rot="5400000">
            <a:off x="9459021" y="1484041"/>
            <a:ext cx="362414" cy="1672682"/>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Arrow: Bent-Up 15">
            <a:extLst>
              <a:ext uri="{FF2B5EF4-FFF2-40B4-BE49-F238E27FC236}">
                <a16:creationId xmlns:a16="http://schemas.microsoft.com/office/drawing/2014/main" id="{1BE6AED2-FDAD-7040-129D-AA1179BE4706}"/>
              </a:ext>
            </a:extLst>
          </p:cNvPr>
          <p:cNvSpPr/>
          <p:nvPr/>
        </p:nvSpPr>
        <p:spPr>
          <a:xfrm>
            <a:off x="8799243" y="3874119"/>
            <a:ext cx="1709852" cy="446048"/>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5341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26576-B0B4-1C89-6726-83096D0D50D6}"/>
              </a:ext>
            </a:extLst>
          </p:cNvPr>
          <p:cNvSpPr>
            <a:spLocks noGrp="1"/>
          </p:cNvSpPr>
          <p:nvPr>
            <p:ph type="title"/>
          </p:nvPr>
        </p:nvSpPr>
        <p:spPr/>
        <p:txBody>
          <a:bodyPr/>
          <a:lstStyle/>
          <a:p>
            <a:r>
              <a:rPr lang="en-US" dirty="0"/>
              <a:t>Sound of Pixels</a:t>
            </a:r>
          </a:p>
        </p:txBody>
      </p:sp>
      <p:pic>
        <p:nvPicPr>
          <p:cNvPr id="6" name="Content Placeholder 5" descr="A picture containing text, diagram, line, plot&#10;&#10;Description automatically generated">
            <a:extLst>
              <a:ext uri="{FF2B5EF4-FFF2-40B4-BE49-F238E27FC236}">
                <a16:creationId xmlns:a16="http://schemas.microsoft.com/office/drawing/2014/main" id="{FDB0A8C1-B9E0-4175-4613-2752D9D520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0952" y="1314702"/>
            <a:ext cx="10270096" cy="4362450"/>
          </a:xfrm>
        </p:spPr>
      </p:pic>
      <p:sp>
        <p:nvSpPr>
          <p:cNvPr id="4" name="Slide Number Placeholder 3">
            <a:extLst>
              <a:ext uri="{FF2B5EF4-FFF2-40B4-BE49-F238E27FC236}">
                <a16:creationId xmlns:a16="http://schemas.microsoft.com/office/drawing/2014/main" id="{7AB4153A-9959-998E-3F8F-BCAF9B1E8DC1}"/>
              </a:ext>
            </a:extLst>
          </p:cNvPr>
          <p:cNvSpPr>
            <a:spLocks noGrp="1"/>
          </p:cNvSpPr>
          <p:nvPr>
            <p:ph type="sldNum" sz="quarter" idx="12"/>
          </p:nvPr>
        </p:nvSpPr>
        <p:spPr/>
        <p:txBody>
          <a:bodyPr/>
          <a:lstStyle/>
          <a:p>
            <a:fld id="{C68DACDF-E1A9-A04C-A5FF-FC2443684BF5}" type="slidenum">
              <a:rPr lang="en-US" smtClean="0"/>
              <a:pPr/>
              <a:t>95</a:t>
            </a:fld>
            <a:endParaRPr lang="en-US" dirty="0"/>
          </a:p>
        </p:txBody>
      </p:sp>
      <p:sp>
        <p:nvSpPr>
          <p:cNvPr id="7" name="TextBox 6">
            <a:extLst>
              <a:ext uri="{FF2B5EF4-FFF2-40B4-BE49-F238E27FC236}">
                <a16:creationId xmlns:a16="http://schemas.microsoft.com/office/drawing/2014/main" id="{CEDBF967-9EF2-6A01-A27C-986CFD98BC5F}"/>
              </a:ext>
            </a:extLst>
          </p:cNvPr>
          <p:cNvSpPr txBox="1"/>
          <p:nvPr/>
        </p:nvSpPr>
        <p:spPr>
          <a:xfrm>
            <a:off x="4601680" y="5840692"/>
            <a:ext cx="3031920" cy="276999"/>
          </a:xfrm>
          <a:prstGeom prst="rect">
            <a:avLst/>
          </a:prstGeom>
          <a:noFill/>
        </p:spPr>
        <p:txBody>
          <a:bodyPr wrap="none" rtlCol="0">
            <a:spAutoFit/>
          </a:bodyPr>
          <a:lstStyle/>
          <a:p>
            <a:r>
              <a:rPr lang="en-US" sz="1200" dirty="0"/>
              <a:t>Sound of Pixels. Zhao et al., ECCV, 2018.</a:t>
            </a:r>
          </a:p>
        </p:txBody>
      </p:sp>
    </p:spTree>
    <p:extLst>
      <p:ext uri="{BB962C8B-B14F-4D97-AF65-F5344CB8AC3E}">
        <p14:creationId xmlns:p14="http://schemas.microsoft.com/office/powerpoint/2010/main" val="15335620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0CFCC-972A-41EB-AB42-53064BD5E747}"/>
              </a:ext>
            </a:extLst>
          </p:cNvPr>
          <p:cNvSpPr>
            <a:spLocks noGrp="1"/>
          </p:cNvSpPr>
          <p:nvPr>
            <p:ph type="title"/>
          </p:nvPr>
        </p:nvSpPr>
        <p:spPr/>
        <p:txBody>
          <a:bodyPr/>
          <a:lstStyle/>
          <a:p>
            <a:r>
              <a:rPr lang="en-US" dirty="0"/>
              <a:t>Single Images</a:t>
            </a:r>
          </a:p>
        </p:txBody>
      </p:sp>
      <p:sp>
        <p:nvSpPr>
          <p:cNvPr id="3" name="Content Placeholder 2">
            <a:extLst>
              <a:ext uri="{FF2B5EF4-FFF2-40B4-BE49-F238E27FC236}">
                <a16:creationId xmlns:a16="http://schemas.microsoft.com/office/drawing/2014/main" id="{5253ACB5-368F-4EE2-B7BC-2C7C49652991}"/>
              </a:ext>
            </a:extLst>
          </p:cNvPr>
          <p:cNvSpPr>
            <a:spLocks noGrp="1"/>
          </p:cNvSpPr>
          <p:nvPr>
            <p:ph idx="1"/>
          </p:nvPr>
        </p:nvSpPr>
        <p:spPr/>
        <p:txBody>
          <a:bodyPr/>
          <a:lstStyle/>
          <a:p>
            <a:r>
              <a:rPr lang="en-US" dirty="0"/>
              <a:t>Convolutional neural networks</a:t>
            </a:r>
          </a:p>
        </p:txBody>
      </p:sp>
      <p:sp>
        <p:nvSpPr>
          <p:cNvPr id="6" name="Slide Number Placeholder 5">
            <a:extLst>
              <a:ext uri="{FF2B5EF4-FFF2-40B4-BE49-F238E27FC236}">
                <a16:creationId xmlns:a16="http://schemas.microsoft.com/office/drawing/2014/main" id="{53D98B3B-4C81-44CB-B4DC-004B6BEB4C9B}"/>
              </a:ext>
            </a:extLst>
          </p:cNvPr>
          <p:cNvSpPr>
            <a:spLocks noGrp="1"/>
          </p:cNvSpPr>
          <p:nvPr>
            <p:ph type="sldNum" sz="quarter" idx="12"/>
          </p:nvPr>
        </p:nvSpPr>
        <p:spPr/>
        <p:txBody>
          <a:bodyPr/>
          <a:lstStyle/>
          <a:p>
            <a:fld id="{1B30F0CC-EBAF-4E3D-80D7-CFC82A3A738F}" type="slidenum">
              <a:rPr lang="en-US" smtClean="0"/>
              <a:pPr/>
              <a:t>96</a:t>
            </a:fld>
            <a:endParaRPr lang="en-US" dirty="0"/>
          </a:p>
        </p:txBody>
      </p:sp>
      <p:pic>
        <p:nvPicPr>
          <p:cNvPr id="7" name="Picture 2" descr="http://r.ddmcdn.com/s_f/o_1/cx_633/cy_0/cw_1725/ch_1725/w_720/APL/uploads/2014/11/too-cute-doggone-it-video-playlist.jpg">
            <a:extLst>
              <a:ext uri="{FF2B5EF4-FFF2-40B4-BE49-F238E27FC236}">
                <a16:creationId xmlns:a16="http://schemas.microsoft.com/office/drawing/2014/main" id="{AC447ABD-014C-40CA-84B0-280B738934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4758" y="2910807"/>
            <a:ext cx="1760176" cy="176017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F8695B5-B93F-4CB1-88B5-5F403E8045DD}"/>
              </a:ext>
            </a:extLst>
          </p:cNvPr>
          <p:cNvSpPr txBox="1"/>
          <p:nvPr/>
        </p:nvSpPr>
        <p:spPr>
          <a:xfrm>
            <a:off x="2269876" y="4731475"/>
            <a:ext cx="949940" cy="461665"/>
          </a:xfrm>
          <a:prstGeom prst="rect">
            <a:avLst/>
          </a:prstGeom>
          <a:noFill/>
        </p:spPr>
        <p:txBody>
          <a:bodyPr wrap="none" rtlCol="0">
            <a:spAutoFit/>
          </a:bodyPr>
          <a:lstStyle/>
          <a:p>
            <a:r>
              <a:rPr lang="en-US" sz="2400" dirty="0"/>
              <a:t>Image</a:t>
            </a:r>
          </a:p>
        </p:txBody>
      </p:sp>
      <p:sp>
        <p:nvSpPr>
          <p:cNvPr id="9" name="Rectangle 8">
            <a:extLst>
              <a:ext uri="{FF2B5EF4-FFF2-40B4-BE49-F238E27FC236}">
                <a16:creationId xmlns:a16="http://schemas.microsoft.com/office/drawing/2014/main" id="{387D8FA8-5472-4298-AB7E-A93F76385174}"/>
              </a:ext>
            </a:extLst>
          </p:cNvPr>
          <p:cNvSpPr/>
          <p:nvPr/>
        </p:nvSpPr>
        <p:spPr>
          <a:xfrm>
            <a:off x="4865795" y="3548316"/>
            <a:ext cx="1528997" cy="659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p:txBody>
      </p:sp>
      <p:sp>
        <p:nvSpPr>
          <p:cNvPr id="10" name="Arrow: Right 9">
            <a:extLst>
              <a:ext uri="{FF2B5EF4-FFF2-40B4-BE49-F238E27FC236}">
                <a16:creationId xmlns:a16="http://schemas.microsoft.com/office/drawing/2014/main" id="{19A8C88D-3B04-4128-8AEA-CA79AC703DB2}"/>
              </a:ext>
            </a:extLst>
          </p:cNvPr>
          <p:cNvSpPr/>
          <p:nvPr/>
        </p:nvSpPr>
        <p:spPr>
          <a:xfrm>
            <a:off x="3712418" y="3756941"/>
            <a:ext cx="978408"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72739FA4-89A0-4490-9FCA-672E081C81A4}"/>
              </a:ext>
            </a:extLst>
          </p:cNvPr>
          <p:cNvSpPr/>
          <p:nvPr/>
        </p:nvSpPr>
        <p:spPr>
          <a:xfrm>
            <a:off x="6675474" y="3756941"/>
            <a:ext cx="978408"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9CBCE4-48E9-4B47-99E1-06A8FEA39CB2}"/>
              </a:ext>
            </a:extLst>
          </p:cNvPr>
          <p:cNvSpPr txBox="1"/>
          <p:nvPr/>
        </p:nvSpPr>
        <p:spPr>
          <a:xfrm>
            <a:off x="8015901" y="2968226"/>
            <a:ext cx="2975879" cy="1938992"/>
          </a:xfrm>
          <a:prstGeom prst="rect">
            <a:avLst/>
          </a:prstGeom>
          <a:noFill/>
        </p:spPr>
        <p:txBody>
          <a:bodyPr wrap="none" rtlCol="0">
            <a:spAutoFit/>
          </a:bodyPr>
          <a:lstStyle/>
          <a:p>
            <a:r>
              <a:rPr lang="en-US" sz="2400" dirty="0"/>
              <a:t>High-level information</a:t>
            </a:r>
          </a:p>
          <a:p>
            <a:pPr marL="285750" indent="-285750">
              <a:buFont typeface="Arial" panose="020B0604020202020204" pitchFamily="34" charset="0"/>
              <a:buChar char="•"/>
            </a:pPr>
            <a:r>
              <a:rPr lang="en-US" sz="2400" dirty="0"/>
              <a:t>Depth</a:t>
            </a:r>
          </a:p>
          <a:p>
            <a:pPr marL="285750" indent="-285750">
              <a:buFont typeface="Arial" panose="020B0604020202020204" pitchFamily="34" charset="0"/>
              <a:buChar char="•"/>
            </a:pPr>
            <a:r>
              <a:rPr lang="en-US" sz="2400" dirty="0"/>
              <a:t>Object classes</a:t>
            </a:r>
          </a:p>
          <a:p>
            <a:pPr marL="285750" indent="-285750">
              <a:buFont typeface="Arial" panose="020B0604020202020204" pitchFamily="34" charset="0"/>
              <a:buChar char="•"/>
            </a:pPr>
            <a:r>
              <a:rPr lang="en-US" sz="2400" dirty="0"/>
              <a:t>Object poses</a:t>
            </a:r>
          </a:p>
          <a:p>
            <a:pPr marL="285750" indent="-285750">
              <a:buFont typeface="Arial" panose="020B0604020202020204" pitchFamily="34" charset="0"/>
              <a:buChar char="•"/>
            </a:pPr>
            <a:r>
              <a:rPr lang="en-US" sz="2400" dirty="0"/>
              <a:t>Etc.</a:t>
            </a:r>
          </a:p>
        </p:txBody>
      </p:sp>
    </p:spTree>
    <p:extLst>
      <p:ext uri="{BB962C8B-B14F-4D97-AF65-F5344CB8AC3E}">
        <p14:creationId xmlns:p14="http://schemas.microsoft.com/office/powerpoint/2010/main" val="41063308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EC967-34BA-416A-B591-4B28B6581F1D}"/>
              </a:ext>
            </a:extLst>
          </p:cNvPr>
          <p:cNvSpPr>
            <a:spLocks noGrp="1"/>
          </p:cNvSpPr>
          <p:nvPr>
            <p:ph type="title"/>
          </p:nvPr>
        </p:nvSpPr>
        <p:spPr/>
        <p:txBody>
          <a:bodyPr/>
          <a:lstStyle/>
          <a:p>
            <a:r>
              <a:rPr lang="en-US" dirty="0"/>
              <a:t>Sequential Data</a:t>
            </a:r>
          </a:p>
        </p:txBody>
      </p:sp>
      <p:sp>
        <p:nvSpPr>
          <p:cNvPr id="3" name="Content Placeholder 2">
            <a:extLst>
              <a:ext uri="{FF2B5EF4-FFF2-40B4-BE49-F238E27FC236}">
                <a16:creationId xmlns:a16="http://schemas.microsoft.com/office/drawing/2014/main" id="{BF93C374-27B1-4AD3-A782-684FB9206226}"/>
              </a:ext>
            </a:extLst>
          </p:cNvPr>
          <p:cNvSpPr>
            <a:spLocks noGrp="1"/>
          </p:cNvSpPr>
          <p:nvPr>
            <p:ph idx="1"/>
          </p:nvPr>
        </p:nvSpPr>
        <p:spPr/>
        <p:txBody>
          <a:bodyPr/>
          <a:lstStyle/>
          <a:p>
            <a:r>
              <a:rPr lang="en-US" dirty="0"/>
              <a:t>Data depends on time</a:t>
            </a:r>
          </a:p>
          <a:p>
            <a:pPr lvl="1"/>
            <a:r>
              <a:rPr lang="en-US" dirty="0"/>
              <a:t>Video</a:t>
            </a:r>
          </a:p>
          <a:p>
            <a:pPr lvl="1"/>
            <a:endParaRPr lang="en-US" dirty="0"/>
          </a:p>
          <a:p>
            <a:pPr lvl="1"/>
            <a:endParaRPr lang="en-US" dirty="0"/>
          </a:p>
          <a:p>
            <a:pPr lvl="1"/>
            <a:endParaRPr lang="en-US" dirty="0"/>
          </a:p>
          <a:p>
            <a:pPr lvl="1"/>
            <a:endParaRPr lang="en-US" dirty="0"/>
          </a:p>
          <a:p>
            <a:pPr lvl="1"/>
            <a:r>
              <a:rPr lang="en-US" dirty="0"/>
              <a:t>Sentence</a:t>
            </a:r>
          </a:p>
        </p:txBody>
      </p:sp>
      <p:sp>
        <p:nvSpPr>
          <p:cNvPr id="6" name="Slide Number Placeholder 5">
            <a:extLst>
              <a:ext uri="{FF2B5EF4-FFF2-40B4-BE49-F238E27FC236}">
                <a16:creationId xmlns:a16="http://schemas.microsoft.com/office/drawing/2014/main" id="{3B8768EA-EEA0-4BB0-86D6-2486D87078A7}"/>
              </a:ext>
            </a:extLst>
          </p:cNvPr>
          <p:cNvSpPr>
            <a:spLocks noGrp="1"/>
          </p:cNvSpPr>
          <p:nvPr>
            <p:ph type="sldNum" sz="quarter" idx="12"/>
          </p:nvPr>
        </p:nvSpPr>
        <p:spPr/>
        <p:txBody>
          <a:bodyPr/>
          <a:lstStyle/>
          <a:p>
            <a:fld id="{1B30F0CC-EBAF-4E3D-80D7-CFC82A3A738F}" type="slidenum">
              <a:rPr lang="en-US" smtClean="0"/>
              <a:pPr/>
              <a:t>97</a:t>
            </a:fld>
            <a:endParaRPr lang="en-US" dirty="0"/>
          </a:p>
        </p:txBody>
      </p:sp>
      <p:grpSp>
        <p:nvGrpSpPr>
          <p:cNvPr id="13" name="Group 12">
            <a:extLst>
              <a:ext uri="{FF2B5EF4-FFF2-40B4-BE49-F238E27FC236}">
                <a16:creationId xmlns:a16="http://schemas.microsoft.com/office/drawing/2014/main" id="{6B12DFD8-4462-4B5D-9762-7F879D3664CE}"/>
              </a:ext>
            </a:extLst>
          </p:cNvPr>
          <p:cNvGrpSpPr/>
          <p:nvPr/>
        </p:nvGrpSpPr>
        <p:grpSpPr>
          <a:xfrm>
            <a:off x="2886716" y="1975147"/>
            <a:ext cx="7223384" cy="1948503"/>
            <a:chOff x="2886716" y="1975147"/>
            <a:chExt cx="7223384" cy="1948503"/>
          </a:xfrm>
        </p:grpSpPr>
        <p:pic>
          <p:nvPicPr>
            <p:cNvPr id="7" name="Picture 6">
              <a:extLst>
                <a:ext uri="{FF2B5EF4-FFF2-40B4-BE49-F238E27FC236}">
                  <a16:creationId xmlns:a16="http://schemas.microsoft.com/office/drawing/2014/main" id="{2FE4555C-98D1-476C-B199-9B57D3D26883}"/>
                </a:ext>
              </a:extLst>
            </p:cNvPr>
            <p:cNvPicPr>
              <a:picLocks noChangeAspect="1"/>
            </p:cNvPicPr>
            <p:nvPr/>
          </p:nvPicPr>
          <p:blipFill rotWithShape="1">
            <a:blip r:embed="rId2">
              <a:extLst>
                <a:ext uri="{28A0092B-C50C-407E-A947-70E740481C1C}">
                  <a14:useLocalDpi xmlns:a14="http://schemas.microsoft.com/office/drawing/2010/main" val="0"/>
                </a:ext>
              </a:extLst>
            </a:blip>
            <a:srcRect l="11268" t="24858" r="45461" b="31269"/>
            <a:stretch/>
          </p:blipFill>
          <p:spPr>
            <a:xfrm>
              <a:off x="2886716" y="1993693"/>
              <a:ext cx="2178710" cy="1656812"/>
            </a:xfrm>
            <a:prstGeom prst="rect">
              <a:avLst/>
            </a:prstGeom>
          </p:spPr>
        </p:pic>
        <p:pic>
          <p:nvPicPr>
            <p:cNvPr id="8" name="Picture 7">
              <a:extLst>
                <a:ext uri="{FF2B5EF4-FFF2-40B4-BE49-F238E27FC236}">
                  <a16:creationId xmlns:a16="http://schemas.microsoft.com/office/drawing/2014/main" id="{7C7EC2CD-3321-4BF4-9CE3-F52564EAD5B8}"/>
                </a:ext>
              </a:extLst>
            </p:cNvPr>
            <p:cNvPicPr>
              <a:picLocks noChangeAspect="1"/>
            </p:cNvPicPr>
            <p:nvPr/>
          </p:nvPicPr>
          <p:blipFill rotWithShape="1">
            <a:blip r:embed="rId3">
              <a:extLst>
                <a:ext uri="{28A0092B-C50C-407E-A947-70E740481C1C}">
                  <a14:useLocalDpi xmlns:a14="http://schemas.microsoft.com/office/drawing/2010/main" val="0"/>
                </a:ext>
              </a:extLst>
            </a:blip>
            <a:srcRect l="16857" t="25437" r="39239" b="30690"/>
            <a:stretch/>
          </p:blipFill>
          <p:spPr>
            <a:xfrm>
              <a:off x="5416609" y="1988445"/>
              <a:ext cx="2210622" cy="1656811"/>
            </a:xfrm>
            <a:prstGeom prst="rect">
              <a:avLst/>
            </a:prstGeom>
          </p:spPr>
        </p:pic>
        <p:pic>
          <p:nvPicPr>
            <p:cNvPr id="9" name="Picture 8">
              <a:extLst>
                <a:ext uri="{FF2B5EF4-FFF2-40B4-BE49-F238E27FC236}">
                  <a16:creationId xmlns:a16="http://schemas.microsoft.com/office/drawing/2014/main" id="{66EFE17F-A1C9-4979-9B31-D5E50A1F8E8A}"/>
                </a:ext>
              </a:extLst>
            </p:cNvPr>
            <p:cNvPicPr>
              <a:picLocks noChangeAspect="1"/>
            </p:cNvPicPr>
            <p:nvPr/>
          </p:nvPicPr>
          <p:blipFill rotWithShape="1">
            <a:blip r:embed="rId4">
              <a:extLst>
                <a:ext uri="{28A0092B-C50C-407E-A947-70E740481C1C}">
                  <a14:useLocalDpi xmlns:a14="http://schemas.microsoft.com/office/drawing/2010/main" val="0"/>
                </a:ext>
              </a:extLst>
            </a:blip>
            <a:srcRect l="26761" t="24827" r="28660" b="30948"/>
            <a:stretch/>
          </p:blipFill>
          <p:spPr>
            <a:xfrm>
              <a:off x="7865560" y="1975147"/>
              <a:ext cx="2244540" cy="1670109"/>
            </a:xfrm>
            <a:prstGeom prst="rect">
              <a:avLst/>
            </a:prstGeom>
          </p:spPr>
        </p:pic>
        <p:sp>
          <p:nvSpPr>
            <p:cNvPr id="10" name="TextBox 9">
              <a:extLst>
                <a:ext uri="{FF2B5EF4-FFF2-40B4-BE49-F238E27FC236}">
                  <a16:creationId xmlns:a16="http://schemas.microsoft.com/office/drawing/2014/main" id="{BD248F4F-521F-49EB-BCBC-4BA8F7EB4CD1}"/>
                </a:ext>
              </a:extLst>
            </p:cNvPr>
            <p:cNvSpPr txBox="1"/>
            <p:nvPr/>
          </p:nvSpPr>
          <p:spPr>
            <a:xfrm>
              <a:off x="6513226" y="3554318"/>
              <a:ext cx="261610" cy="369332"/>
            </a:xfrm>
            <a:prstGeom prst="rect">
              <a:avLst/>
            </a:prstGeom>
            <a:noFill/>
          </p:spPr>
          <p:txBody>
            <a:bodyPr wrap="none" rtlCol="0">
              <a:spAutoFit/>
            </a:bodyPr>
            <a:lstStyle>
              <a:defPPr>
                <a:defRPr lang="en-US"/>
              </a:defPPr>
              <a:lvl1pPr>
                <a:defRPr sz="2800"/>
              </a:lvl1pPr>
            </a:lstStyle>
            <a:p>
              <a:r>
                <a:rPr lang="en-US" dirty="0"/>
                <a:t>t</a:t>
              </a:r>
            </a:p>
          </p:txBody>
        </p:sp>
        <p:sp>
          <p:nvSpPr>
            <p:cNvPr id="11" name="TextBox 10">
              <a:extLst>
                <a:ext uri="{FF2B5EF4-FFF2-40B4-BE49-F238E27FC236}">
                  <a16:creationId xmlns:a16="http://schemas.microsoft.com/office/drawing/2014/main" id="{8CF64A95-3ED3-4770-9750-E3BBF49E72B4}"/>
                </a:ext>
              </a:extLst>
            </p:cNvPr>
            <p:cNvSpPr txBox="1"/>
            <p:nvPr/>
          </p:nvSpPr>
          <p:spPr>
            <a:xfrm>
              <a:off x="8811238" y="3554318"/>
              <a:ext cx="494046" cy="369332"/>
            </a:xfrm>
            <a:prstGeom prst="rect">
              <a:avLst/>
            </a:prstGeom>
            <a:noFill/>
          </p:spPr>
          <p:txBody>
            <a:bodyPr wrap="none" rtlCol="0">
              <a:spAutoFit/>
            </a:bodyPr>
            <a:lstStyle>
              <a:defPPr>
                <a:defRPr lang="en-US"/>
              </a:defPPr>
              <a:lvl1pPr>
                <a:defRPr sz="2800"/>
              </a:lvl1pPr>
            </a:lstStyle>
            <a:p>
              <a:r>
                <a:rPr lang="en-US" dirty="0"/>
                <a:t>t+1</a:t>
              </a:r>
            </a:p>
          </p:txBody>
        </p:sp>
        <p:sp>
          <p:nvSpPr>
            <p:cNvPr id="12" name="TextBox 11">
              <a:extLst>
                <a:ext uri="{FF2B5EF4-FFF2-40B4-BE49-F238E27FC236}">
                  <a16:creationId xmlns:a16="http://schemas.microsoft.com/office/drawing/2014/main" id="{1E4923BE-4AC7-40C1-9A20-3B0B1F032463}"/>
                </a:ext>
              </a:extLst>
            </p:cNvPr>
            <p:cNvSpPr txBox="1"/>
            <p:nvPr/>
          </p:nvSpPr>
          <p:spPr>
            <a:xfrm>
              <a:off x="3729048" y="3554318"/>
              <a:ext cx="449162" cy="369332"/>
            </a:xfrm>
            <a:prstGeom prst="rect">
              <a:avLst/>
            </a:prstGeom>
            <a:noFill/>
          </p:spPr>
          <p:txBody>
            <a:bodyPr wrap="none" rtlCol="0">
              <a:spAutoFit/>
            </a:bodyPr>
            <a:lstStyle>
              <a:defPPr>
                <a:defRPr lang="en-US"/>
              </a:defPPr>
              <a:lvl1pPr>
                <a:defRPr sz="2800"/>
              </a:lvl1pPr>
            </a:lstStyle>
            <a:p>
              <a:r>
                <a:rPr lang="en-US" dirty="0"/>
                <a:t>t-1</a:t>
              </a:r>
            </a:p>
          </p:txBody>
        </p:sp>
      </p:grpSp>
      <p:sp>
        <p:nvSpPr>
          <p:cNvPr id="14" name="TextBox 13">
            <a:extLst>
              <a:ext uri="{FF2B5EF4-FFF2-40B4-BE49-F238E27FC236}">
                <a16:creationId xmlns:a16="http://schemas.microsoft.com/office/drawing/2014/main" id="{0DED3FD5-22BE-42D4-93B4-3FC6D45C45C8}"/>
              </a:ext>
            </a:extLst>
          </p:cNvPr>
          <p:cNvSpPr txBox="1"/>
          <p:nvPr/>
        </p:nvSpPr>
        <p:spPr>
          <a:xfrm>
            <a:off x="1364279" y="4799695"/>
            <a:ext cx="10024450" cy="424732"/>
          </a:xfrm>
          <a:prstGeom prst="rect">
            <a:avLst/>
          </a:prstGeom>
          <a:noFill/>
        </p:spPr>
        <p:txBody>
          <a:bodyPr wrap="square">
            <a:spAutoFit/>
          </a:bodyPr>
          <a:lstStyle/>
          <a:p>
            <a:pPr lvl="1">
              <a:lnSpc>
                <a:spcPct val="90000"/>
              </a:lnSpc>
              <a:spcBef>
                <a:spcPts val="500"/>
              </a:spcBef>
            </a:pPr>
            <a:r>
              <a:rPr lang="en-US" sz="2400" dirty="0"/>
              <a:t>UT Dallas is a rising public research university in the heart of DFW.</a:t>
            </a:r>
          </a:p>
        </p:txBody>
      </p:sp>
      <p:cxnSp>
        <p:nvCxnSpPr>
          <p:cNvPr id="16" name="Straight Arrow Connector 15">
            <a:extLst>
              <a:ext uri="{FF2B5EF4-FFF2-40B4-BE49-F238E27FC236}">
                <a16:creationId xmlns:a16="http://schemas.microsoft.com/office/drawing/2014/main" id="{5415D021-7EAE-4A86-85B8-728A03B1D39E}"/>
              </a:ext>
            </a:extLst>
          </p:cNvPr>
          <p:cNvCxnSpPr/>
          <p:nvPr/>
        </p:nvCxnSpPr>
        <p:spPr>
          <a:xfrm>
            <a:off x="1797627" y="5484275"/>
            <a:ext cx="9112828" cy="185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7A2F4CF-29A4-4FBB-A1D0-F46B3372BBCF}"/>
              </a:ext>
            </a:extLst>
          </p:cNvPr>
          <p:cNvSpPr txBox="1"/>
          <p:nvPr/>
        </p:nvSpPr>
        <p:spPr>
          <a:xfrm>
            <a:off x="6071612" y="5539758"/>
            <a:ext cx="304892" cy="523220"/>
          </a:xfrm>
          <a:prstGeom prst="rect">
            <a:avLst/>
          </a:prstGeom>
          <a:noFill/>
        </p:spPr>
        <p:txBody>
          <a:bodyPr wrap="none" rtlCol="0">
            <a:spAutoFit/>
          </a:bodyPr>
          <a:lstStyle/>
          <a:p>
            <a:r>
              <a:rPr lang="en-US" sz="2800" dirty="0"/>
              <a:t>t</a:t>
            </a:r>
          </a:p>
        </p:txBody>
      </p:sp>
    </p:spTree>
    <p:extLst>
      <p:ext uri="{BB962C8B-B14F-4D97-AF65-F5344CB8AC3E}">
        <p14:creationId xmlns:p14="http://schemas.microsoft.com/office/powerpoint/2010/main" val="866912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C5D9E-9433-480B-BE64-7590E00FB93C}"/>
              </a:ext>
            </a:extLst>
          </p:cNvPr>
          <p:cNvSpPr>
            <a:spLocks noGrp="1"/>
          </p:cNvSpPr>
          <p:nvPr>
            <p:ph type="title"/>
          </p:nvPr>
        </p:nvSpPr>
        <p:spPr/>
        <p:txBody>
          <a:bodyPr/>
          <a:lstStyle/>
          <a:p>
            <a:r>
              <a:rPr lang="en-US" dirty="0"/>
              <a:t>Sequential Data Labeling</a:t>
            </a:r>
          </a:p>
        </p:txBody>
      </p:sp>
      <p:sp>
        <p:nvSpPr>
          <p:cNvPr id="3" name="Content Placeholder 2">
            <a:extLst>
              <a:ext uri="{FF2B5EF4-FFF2-40B4-BE49-F238E27FC236}">
                <a16:creationId xmlns:a16="http://schemas.microsoft.com/office/drawing/2014/main" id="{0F88DB2B-BA51-44CE-9FBD-781B564B1E82}"/>
              </a:ext>
            </a:extLst>
          </p:cNvPr>
          <p:cNvSpPr>
            <a:spLocks noGrp="1"/>
          </p:cNvSpPr>
          <p:nvPr>
            <p:ph idx="1"/>
          </p:nvPr>
        </p:nvSpPr>
        <p:spPr/>
        <p:txBody>
          <a:bodyPr/>
          <a:lstStyle/>
          <a:p>
            <a:r>
              <a:rPr lang="en-US" dirty="0"/>
              <a:t>Video frame labeling</a:t>
            </a:r>
          </a:p>
        </p:txBody>
      </p:sp>
      <p:sp>
        <p:nvSpPr>
          <p:cNvPr id="6" name="Slide Number Placeholder 5">
            <a:extLst>
              <a:ext uri="{FF2B5EF4-FFF2-40B4-BE49-F238E27FC236}">
                <a16:creationId xmlns:a16="http://schemas.microsoft.com/office/drawing/2014/main" id="{981C1440-E295-4C5D-8FA2-6CDF9063C8F2}"/>
              </a:ext>
            </a:extLst>
          </p:cNvPr>
          <p:cNvSpPr>
            <a:spLocks noGrp="1"/>
          </p:cNvSpPr>
          <p:nvPr>
            <p:ph type="sldNum" sz="quarter" idx="12"/>
          </p:nvPr>
        </p:nvSpPr>
        <p:spPr/>
        <p:txBody>
          <a:bodyPr/>
          <a:lstStyle/>
          <a:p>
            <a:fld id="{1B30F0CC-EBAF-4E3D-80D7-CFC82A3A738F}" type="slidenum">
              <a:rPr lang="en-US" smtClean="0"/>
              <a:pPr/>
              <a:t>98</a:t>
            </a:fld>
            <a:endParaRPr lang="en-US" dirty="0"/>
          </a:p>
        </p:txBody>
      </p:sp>
      <p:grpSp>
        <p:nvGrpSpPr>
          <p:cNvPr id="11" name="Group 10">
            <a:extLst>
              <a:ext uri="{FF2B5EF4-FFF2-40B4-BE49-F238E27FC236}">
                <a16:creationId xmlns:a16="http://schemas.microsoft.com/office/drawing/2014/main" id="{410E4EF5-CF1B-45E3-AFCB-AFC9A629DB28}"/>
              </a:ext>
            </a:extLst>
          </p:cNvPr>
          <p:cNvGrpSpPr/>
          <p:nvPr/>
        </p:nvGrpSpPr>
        <p:grpSpPr>
          <a:xfrm>
            <a:off x="2290761" y="1970799"/>
            <a:ext cx="7610478" cy="3970712"/>
            <a:chOff x="2033154" y="2060987"/>
            <a:chExt cx="7610478" cy="3970712"/>
          </a:xfrm>
        </p:grpSpPr>
        <p:pic>
          <p:nvPicPr>
            <p:cNvPr id="8" name="Picture 7" descr="A picture containing text&#10;&#10;Description automatically generated">
              <a:extLst>
                <a:ext uri="{FF2B5EF4-FFF2-40B4-BE49-F238E27FC236}">
                  <a16:creationId xmlns:a16="http://schemas.microsoft.com/office/drawing/2014/main" id="{225EB64C-036E-4046-B720-110CE441E7A2}"/>
                </a:ext>
              </a:extLst>
            </p:cNvPr>
            <p:cNvPicPr>
              <a:picLocks noChangeAspect="1"/>
            </p:cNvPicPr>
            <p:nvPr/>
          </p:nvPicPr>
          <p:blipFill rotWithShape="1">
            <a:blip r:embed="rId2">
              <a:extLst>
                <a:ext uri="{28A0092B-C50C-407E-A947-70E740481C1C}">
                  <a14:useLocalDpi xmlns:a14="http://schemas.microsoft.com/office/drawing/2010/main" val="0"/>
                </a:ext>
              </a:extLst>
            </a:blip>
            <a:srcRect t="11364"/>
            <a:stretch/>
          </p:blipFill>
          <p:spPr>
            <a:xfrm>
              <a:off x="2209800" y="2183780"/>
              <a:ext cx="7433832" cy="3847919"/>
            </a:xfrm>
            <a:prstGeom prst="rect">
              <a:avLst/>
            </a:prstGeom>
          </p:spPr>
        </p:pic>
        <p:sp>
          <p:nvSpPr>
            <p:cNvPr id="9" name="Rectangle 8">
              <a:extLst>
                <a:ext uri="{FF2B5EF4-FFF2-40B4-BE49-F238E27FC236}">
                  <a16:creationId xmlns:a16="http://schemas.microsoft.com/office/drawing/2014/main" id="{C50365C2-A2EB-44D8-A43F-5AEF81BFF760}"/>
                </a:ext>
              </a:extLst>
            </p:cNvPr>
            <p:cNvSpPr/>
            <p:nvPr/>
          </p:nvSpPr>
          <p:spPr>
            <a:xfrm>
              <a:off x="9266096" y="2060987"/>
              <a:ext cx="353291" cy="374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2C1E8F9-49AA-4520-A519-85CCC560EE72}"/>
                </a:ext>
              </a:extLst>
            </p:cNvPr>
            <p:cNvSpPr/>
            <p:nvPr/>
          </p:nvSpPr>
          <p:spPr>
            <a:xfrm>
              <a:off x="2033154" y="2152370"/>
              <a:ext cx="353291" cy="374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058F8195-7C2F-4745-987B-96DADA755CB6}"/>
              </a:ext>
            </a:extLst>
          </p:cNvPr>
          <p:cNvSpPr txBox="1"/>
          <p:nvPr/>
        </p:nvSpPr>
        <p:spPr>
          <a:xfrm>
            <a:off x="2386445" y="5823883"/>
            <a:ext cx="8306666" cy="369332"/>
          </a:xfrm>
          <a:prstGeom prst="rect">
            <a:avLst/>
          </a:prstGeom>
          <a:noFill/>
        </p:spPr>
        <p:txBody>
          <a:bodyPr wrap="square">
            <a:spAutoFit/>
          </a:bodyPr>
          <a:lstStyle/>
          <a:p>
            <a:r>
              <a:rPr lang="en-US" dirty="0">
                <a:hlinkClick r:id="rId3"/>
              </a:rPr>
              <a:t>https://bleedai.com/human-activity-recognition-using-tensorflow-cnn-lstm/</a:t>
            </a:r>
            <a:endParaRPr lang="en-US" dirty="0"/>
          </a:p>
        </p:txBody>
      </p:sp>
    </p:spTree>
    <p:extLst>
      <p:ext uri="{BB962C8B-B14F-4D97-AF65-F5344CB8AC3E}">
        <p14:creationId xmlns:p14="http://schemas.microsoft.com/office/powerpoint/2010/main" val="1231317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A3559-DAE4-4A35-A207-2E8792A4A860}"/>
              </a:ext>
            </a:extLst>
          </p:cNvPr>
          <p:cNvSpPr>
            <a:spLocks noGrp="1"/>
          </p:cNvSpPr>
          <p:nvPr>
            <p:ph type="title"/>
          </p:nvPr>
        </p:nvSpPr>
        <p:spPr/>
        <p:txBody>
          <a:bodyPr/>
          <a:lstStyle/>
          <a:p>
            <a:r>
              <a:rPr lang="en-US" dirty="0"/>
              <a:t>Sequential Data Labeling</a:t>
            </a:r>
          </a:p>
        </p:txBody>
      </p:sp>
      <p:sp>
        <p:nvSpPr>
          <p:cNvPr id="3" name="Content Placeholder 2">
            <a:extLst>
              <a:ext uri="{FF2B5EF4-FFF2-40B4-BE49-F238E27FC236}">
                <a16:creationId xmlns:a16="http://schemas.microsoft.com/office/drawing/2014/main" id="{0EB1DACA-7EDC-449B-B807-20EE0C23E345}"/>
              </a:ext>
            </a:extLst>
          </p:cNvPr>
          <p:cNvSpPr>
            <a:spLocks noGrp="1"/>
          </p:cNvSpPr>
          <p:nvPr>
            <p:ph idx="1"/>
          </p:nvPr>
        </p:nvSpPr>
        <p:spPr/>
        <p:txBody>
          <a:bodyPr/>
          <a:lstStyle/>
          <a:p>
            <a:r>
              <a:rPr lang="en-US" dirty="0"/>
              <a:t>Part-of-speech tagging (grammatical tagging)</a:t>
            </a:r>
          </a:p>
        </p:txBody>
      </p:sp>
      <p:sp>
        <p:nvSpPr>
          <p:cNvPr id="6" name="Slide Number Placeholder 5">
            <a:extLst>
              <a:ext uri="{FF2B5EF4-FFF2-40B4-BE49-F238E27FC236}">
                <a16:creationId xmlns:a16="http://schemas.microsoft.com/office/drawing/2014/main" id="{9702114A-11F4-4895-8E8E-2428B2FB660E}"/>
              </a:ext>
            </a:extLst>
          </p:cNvPr>
          <p:cNvSpPr>
            <a:spLocks noGrp="1"/>
          </p:cNvSpPr>
          <p:nvPr>
            <p:ph type="sldNum" sz="quarter" idx="12"/>
          </p:nvPr>
        </p:nvSpPr>
        <p:spPr/>
        <p:txBody>
          <a:bodyPr/>
          <a:lstStyle/>
          <a:p>
            <a:fld id="{1B30F0CC-EBAF-4E3D-80D7-CFC82A3A738F}" type="slidenum">
              <a:rPr lang="en-US" smtClean="0"/>
              <a:pPr/>
              <a:t>99</a:t>
            </a:fld>
            <a:endParaRPr lang="en-US" dirty="0"/>
          </a:p>
        </p:txBody>
      </p:sp>
      <p:pic>
        <p:nvPicPr>
          <p:cNvPr id="8" name="Picture 7" descr="Text&#10;&#10;Description automatically generated">
            <a:extLst>
              <a:ext uri="{FF2B5EF4-FFF2-40B4-BE49-F238E27FC236}">
                <a16:creationId xmlns:a16="http://schemas.microsoft.com/office/drawing/2014/main" id="{2F9E47B0-1105-42C6-A6D4-258709B646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5382" y="2484577"/>
            <a:ext cx="5658690" cy="2690379"/>
          </a:xfrm>
          <a:prstGeom prst="rect">
            <a:avLst/>
          </a:prstGeom>
        </p:spPr>
      </p:pic>
      <p:pic>
        <p:nvPicPr>
          <p:cNvPr id="10" name="Picture 9" descr="Timeline&#10;&#10;Description automatically generated">
            <a:extLst>
              <a:ext uri="{FF2B5EF4-FFF2-40B4-BE49-F238E27FC236}">
                <a16:creationId xmlns:a16="http://schemas.microsoft.com/office/drawing/2014/main" id="{E468068D-216A-45BC-9835-A2158C29B9A1}"/>
              </a:ext>
            </a:extLst>
          </p:cNvPr>
          <p:cNvPicPr>
            <a:picLocks noChangeAspect="1"/>
          </p:cNvPicPr>
          <p:nvPr/>
        </p:nvPicPr>
        <p:blipFill rotWithShape="1">
          <a:blip r:embed="rId3">
            <a:extLst>
              <a:ext uri="{28A0092B-C50C-407E-A947-70E740481C1C}">
                <a14:useLocalDpi xmlns:a14="http://schemas.microsoft.com/office/drawing/2010/main" val="0"/>
              </a:ext>
            </a:extLst>
          </a:blip>
          <a:srcRect b="40791"/>
          <a:stretch/>
        </p:blipFill>
        <p:spPr>
          <a:xfrm>
            <a:off x="431053" y="3146853"/>
            <a:ext cx="5807765" cy="1601792"/>
          </a:xfrm>
          <a:prstGeom prst="rect">
            <a:avLst/>
          </a:prstGeom>
        </p:spPr>
      </p:pic>
      <p:cxnSp>
        <p:nvCxnSpPr>
          <p:cNvPr id="11" name="Straight Arrow Connector 10">
            <a:extLst>
              <a:ext uri="{FF2B5EF4-FFF2-40B4-BE49-F238E27FC236}">
                <a16:creationId xmlns:a16="http://schemas.microsoft.com/office/drawing/2014/main" id="{1DE651A5-AD28-45D5-99CA-731A5E50FE77}"/>
              </a:ext>
            </a:extLst>
          </p:cNvPr>
          <p:cNvCxnSpPr>
            <a:cxnSpLocks/>
          </p:cNvCxnSpPr>
          <p:nvPr/>
        </p:nvCxnSpPr>
        <p:spPr>
          <a:xfrm>
            <a:off x="730684" y="4923166"/>
            <a:ext cx="53409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A86B5CA-8815-413C-9B31-668FAB8BC174}"/>
              </a:ext>
            </a:extLst>
          </p:cNvPr>
          <p:cNvSpPr txBox="1"/>
          <p:nvPr/>
        </p:nvSpPr>
        <p:spPr>
          <a:xfrm>
            <a:off x="3180289" y="4842373"/>
            <a:ext cx="304892" cy="523220"/>
          </a:xfrm>
          <a:prstGeom prst="rect">
            <a:avLst/>
          </a:prstGeom>
          <a:noFill/>
        </p:spPr>
        <p:txBody>
          <a:bodyPr wrap="none" rtlCol="0">
            <a:spAutoFit/>
          </a:bodyPr>
          <a:lstStyle/>
          <a:p>
            <a:r>
              <a:rPr lang="en-US" sz="2800" dirty="0"/>
              <a:t>t</a:t>
            </a:r>
          </a:p>
        </p:txBody>
      </p:sp>
    </p:spTree>
    <p:extLst>
      <p:ext uri="{BB962C8B-B14F-4D97-AF65-F5344CB8AC3E}">
        <p14:creationId xmlns:p14="http://schemas.microsoft.com/office/powerpoint/2010/main" val="3461583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E80CE-9F03-40E4-9B53-6C2EF1183B68}"/>
              </a:ext>
            </a:extLst>
          </p:cNvPr>
          <p:cNvSpPr>
            <a:spLocks noGrp="1"/>
          </p:cNvSpPr>
          <p:nvPr>
            <p:ph type="title"/>
          </p:nvPr>
        </p:nvSpPr>
        <p:spPr/>
        <p:txBody>
          <a:bodyPr/>
          <a:lstStyle/>
          <a:p>
            <a:r>
              <a:rPr lang="en-US" dirty="0"/>
              <a:t>Sequential Data Labeling</a:t>
            </a:r>
          </a:p>
        </p:txBody>
      </p:sp>
      <p:sp>
        <p:nvSpPr>
          <p:cNvPr id="6" name="Slide Number Placeholder 5">
            <a:extLst>
              <a:ext uri="{FF2B5EF4-FFF2-40B4-BE49-F238E27FC236}">
                <a16:creationId xmlns:a16="http://schemas.microsoft.com/office/drawing/2014/main" id="{050FD7BC-9BED-41C3-BE9D-B8E5870018A5}"/>
              </a:ext>
            </a:extLst>
          </p:cNvPr>
          <p:cNvSpPr>
            <a:spLocks noGrp="1"/>
          </p:cNvSpPr>
          <p:nvPr>
            <p:ph type="sldNum" sz="quarter" idx="12"/>
          </p:nvPr>
        </p:nvSpPr>
        <p:spPr/>
        <p:txBody>
          <a:bodyPr/>
          <a:lstStyle/>
          <a:p>
            <a:fld id="{1B30F0CC-EBAF-4E3D-80D7-CFC82A3A738F}" type="slidenum">
              <a:rPr lang="en-US" smtClean="0"/>
              <a:pPr/>
              <a:t>100</a:t>
            </a:fld>
            <a:endParaRPr lang="en-US" dirty="0"/>
          </a:p>
        </p:txBody>
      </p:sp>
      <p:pic>
        <p:nvPicPr>
          <p:cNvPr id="1026" name="Picture 2">
            <a:extLst>
              <a:ext uri="{FF2B5EF4-FFF2-40B4-BE49-F238E27FC236}">
                <a16:creationId xmlns:a16="http://schemas.microsoft.com/office/drawing/2014/main" id="{670B433B-3A90-48AD-8788-F38F751EB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882" y="4665847"/>
            <a:ext cx="1143171" cy="4652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F6A9467-717E-46D4-876B-D26EC8C92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7882" y="2126522"/>
            <a:ext cx="989463" cy="46524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C99E411-DCFC-4D13-95AC-271597B392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2850" y="2083788"/>
            <a:ext cx="479280" cy="4931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2CFCD5A1-4FFD-4391-B9F7-767454F94E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7587" y="2046647"/>
            <a:ext cx="1058490" cy="54335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F687D68B-4231-43FE-A922-529F4FF831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7145" y="4597353"/>
            <a:ext cx="1143172" cy="50807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9420D881-3543-4A1A-AD15-A3D7761F15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3169" y="4637077"/>
            <a:ext cx="598171" cy="4652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04322EC-A6FB-4360-A7C5-781460A55263}"/>
              </a:ext>
            </a:extLst>
          </p:cNvPr>
          <p:cNvSpPr txBox="1"/>
          <p:nvPr/>
        </p:nvSpPr>
        <p:spPr>
          <a:xfrm>
            <a:off x="1789884" y="4665847"/>
            <a:ext cx="849913" cy="461665"/>
          </a:xfrm>
          <a:prstGeom prst="rect">
            <a:avLst/>
          </a:prstGeom>
          <a:noFill/>
        </p:spPr>
        <p:txBody>
          <a:bodyPr wrap="none" rtlCol="0">
            <a:spAutoFit/>
          </a:bodyPr>
          <a:lstStyle/>
          <a:p>
            <a:r>
              <a:rPr lang="en-US" sz="2400" dirty="0"/>
              <a:t>Input</a:t>
            </a:r>
          </a:p>
        </p:txBody>
      </p:sp>
      <p:sp>
        <p:nvSpPr>
          <p:cNvPr id="14" name="TextBox 13">
            <a:extLst>
              <a:ext uri="{FF2B5EF4-FFF2-40B4-BE49-F238E27FC236}">
                <a16:creationId xmlns:a16="http://schemas.microsoft.com/office/drawing/2014/main" id="{53910BB2-4A0F-4F16-B833-746F6E9A6E12}"/>
              </a:ext>
            </a:extLst>
          </p:cNvPr>
          <p:cNvSpPr txBox="1"/>
          <p:nvPr/>
        </p:nvSpPr>
        <p:spPr>
          <a:xfrm>
            <a:off x="1495792" y="2128312"/>
            <a:ext cx="1752403" cy="461665"/>
          </a:xfrm>
          <a:prstGeom prst="rect">
            <a:avLst/>
          </a:prstGeom>
          <a:noFill/>
        </p:spPr>
        <p:txBody>
          <a:bodyPr wrap="none" rtlCol="0">
            <a:spAutoFit/>
          </a:bodyPr>
          <a:lstStyle/>
          <a:p>
            <a:r>
              <a:rPr lang="en-US" sz="2400" dirty="0"/>
              <a:t>Output label</a:t>
            </a:r>
          </a:p>
        </p:txBody>
      </p:sp>
      <p:sp>
        <p:nvSpPr>
          <p:cNvPr id="8" name="Oval 7">
            <a:extLst>
              <a:ext uri="{FF2B5EF4-FFF2-40B4-BE49-F238E27FC236}">
                <a16:creationId xmlns:a16="http://schemas.microsoft.com/office/drawing/2014/main" id="{D0EC65EF-7EFC-4502-996F-F49BFF17671C}"/>
              </a:ext>
            </a:extLst>
          </p:cNvPr>
          <p:cNvSpPr/>
          <p:nvPr/>
        </p:nvSpPr>
        <p:spPr>
          <a:xfrm>
            <a:off x="3642693" y="3206694"/>
            <a:ext cx="768928" cy="72736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A735009-58DB-412B-8C9D-CABF7DF47FDE}"/>
              </a:ext>
            </a:extLst>
          </p:cNvPr>
          <p:cNvCxnSpPr/>
          <p:nvPr/>
        </p:nvCxnSpPr>
        <p:spPr>
          <a:xfrm flipV="1">
            <a:off x="4071615" y="4108127"/>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1A99835-09B5-46BC-92F3-D95A720DCBDC}"/>
              </a:ext>
            </a:extLst>
          </p:cNvPr>
          <p:cNvCxnSpPr/>
          <p:nvPr/>
        </p:nvCxnSpPr>
        <p:spPr>
          <a:xfrm flipV="1">
            <a:off x="4032463" y="2785018"/>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1671BCCF-C2D3-4446-8E56-EC59E1F9B146}"/>
              </a:ext>
            </a:extLst>
          </p:cNvPr>
          <p:cNvSpPr/>
          <p:nvPr/>
        </p:nvSpPr>
        <p:spPr>
          <a:xfrm>
            <a:off x="5639320" y="3206694"/>
            <a:ext cx="768928" cy="72736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C322D50-308B-4C00-89E6-2FF784231232}"/>
              </a:ext>
            </a:extLst>
          </p:cNvPr>
          <p:cNvCxnSpPr/>
          <p:nvPr/>
        </p:nvCxnSpPr>
        <p:spPr>
          <a:xfrm flipV="1">
            <a:off x="6068242" y="4086339"/>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B494B68-5206-4A24-802D-E54AA179D2C3}"/>
              </a:ext>
            </a:extLst>
          </p:cNvPr>
          <p:cNvCxnSpPr/>
          <p:nvPr/>
        </p:nvCxnSpPr>
        <p:spPr>
          <a:xfrm flipV="1">
            <a:off x="6029090" y="2763230"/>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069F3406-A1F1-4914-9C12-4B18DE2D24FF}"/>
              </a:ext>
            </a:extLst>
          </p:cNvPr>
          <p:cNvSpPr/>
          <p:nvPr/>
        </p:nvSpPr>
        <p:spPr>
          <a:xfrm>
            <a:off x="7804292" y="3206694"/>
            <a:ext cx="768928" cy="72736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48662DBF-754E-4D1F-9E81-235CB1C5E3E1}"/>
              </a:ext>
            </a:extLst>
          </p:cNvPr>
          <p:cNvCxnSpPr/>
          <p:nvPr/>
        </p:nvCxnSpPr>
        <p:spPr>
          <a:xfrm flipV="1">
            <a:off x="8233214" y="3991268"/>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099EF37-E1F7-4605-A7AE-9B37B825EDA7}"/>
              </a:ext>
            </a:extLst>
          </p:cNvPr>
          <p:cNvCxnSpPr/>
          <p:nvPr/>
        </p:nvCxnSpPr>
        <p:spPr>
          <a:xfrm flipV="1">
            <a:off x="8194062" y="2668159"/>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33363BC-20E3-46E5-80BF-E2A79E446897}"/>
              </a:ext>
            </a:extLst>
          </p:cNvPr>
          <p:cNvSpPr txBox="1"/>
          <p:nvPr/>
        </p:nvSpPr>
        <p:spPr>
          <a:xfrm>
            <a:off x="1789883" y="3350162"/>
            <a:ext cx="1303562" cy="461665"/>
          </a:xfrm>
          <a:prstGeom prst="rect">
            <a:avLst/>
          </a:prstGeom>
          <a:noFill/>
        </p:spPr>
        <p:txBody>
          <a:bodyPr wrap="none" rtlCol="0">
            <a:spAutoFit/>
          </a:bodyPr>
          <a:lstStyle/>
          <a:p>
            <a:r>
              <a:rPr lang="en-US" sz="2400" dirty="0"/>
              <a:t>Classifier</a:t>
            </a:r>
          </a:p>
        </p:txBody>
      </p:sp>
      <p:cxnSp>
        <p:nvCxnSpPr>
          <p:cNvPr id="26" name="Straight Arrow Connector 25">
            <a:extLst>
              <a:ext uri="{FF2B5EF4-FFF2-40B4-BE49-F238E27FC236}">
                <a16:creationId xmlns:a16="http://schemas.microsoft.com/office/drawing/2014/main" id="{E424711B-B7F0-47FE-978B-0C4319D52D45}"/>
              </a:ext>
            </a:extLst>
          </p:cNvPr>
          <p:cNvCxnSpPr>
            <a:cxnSpLocks/>
          </p:cNvCxnSpPr>
          <p:nvPr/>
        </p:nvCxnSpPr>
        <p:spPr>
          <a:xfrm>
            <a:off x="4631053" y="3570376"/>
            <a:ext cx="832388" cy="0"/>
          </a:xfrm>
          <a:prstGeom prst="straightConnector1">
            <a:avLst/>
          </a:prstGeom>
          <a:ln w="381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6B5915A-1CA3-4B36-99C8-F47169F9E8C0}"/>
              </a:ext>
            </a:extLst>
          </p:cNvPr>
          <p:cNvCxnSpPr>
            <a:cxnSpLocks/>
          </p:cNvCxnSpPr>
          <p:nvPr/>
        </p:nvCxnSpPr>
        <p:spPr>
          <a:xfrm>
            <a:off x="6770294" y="3570376"/>
            <a:ext cx="832388" cy="0"/>
          </a:xfrm>
          <a:prstGeom prst="straightConnector1">
            <a:avLst/>
          </a:prstGeom>
          <a:ln w="381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D155B5-6743-4BA7-B2FA-CD5FF9E5C70C}"/>
              </a:ext>
            </a:extLst>
          </p:cNvPr>
          <p:cNvSpPr txBox="1"/>
          <p:nvPr/>
        </p:nvSpPr>
        <p:spPr>
          <a:xfrm>
            <a:off x="9279281" y="3247211"/>
            <a:ext cx="2556161" cy="646331"/>
          </a:xfrm>
          <a:prstGeom prst="rect">
            <a:avLst/>
          </a:prstGeom>
          <a:noFill/>
        </p:spPr>
        <p:txBody>
          <a:bodyPr wrap="square" rtlCol="0">
            <a:spAutoFit/>
          </a:bodyPr>
          <a:lstStyle/>
          <a:p>
            <a:r>
              <a:rPr lang="en-US" dirty="0">
                <a:solidFill>
                  <a:srgbClr val="FF0000"/>
                </a:solidFill>
              </a:rPr>
              <a:t>How to capture information across time?</a:t>
            </a:r>
          </a:p>
        </p:txBody>
      </p:sp>
    </p:spTree>
    <p:extLst>
      <p:ext uri="{BB962C8B-B14F-4D97-AF65-F5344CB8AC3E}">
        <p14:creationId xmlns:p14="http://schemas.microsoft.com/office/powerpoint/2010/main" val="238321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3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8" grpId="0" animBg="1"/>
      <p:bldP spid="19" grpId="0" animBg="1"/>
      <p:bldP spid="22" grpId="0" animBg="1"/>
      <p:bldP spid="25" grpId="0"/>
      <p:bldP spid="1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17AF-6A0A-4C4C-A691-FE3A7A4AA2DE}"/>
              </a:ext>
            </a:extLst>
          </p:cNvPr>
          <p:cNvSpPr>
            <a:spLocks noGrp="1"/>
          </p:cNvSpPr>
          <p:nvPr>
            <p:ph type="title"/>
          </p:nvPr>
        </p:nvSpPr>
        <p:spPr/>
        <p:txBody>
          <a:bodyPr/>
          <a:lstStyle/>
          <a:p>
            <a:r>
              <a:rPr lang="en-US" dirty="0"/>
              <a:t>Recurrent Neural Networks</a:t>
            </a:r>
          </a:p>
        </p:txBody>
      </p:sp>
      <p:sp>
        <p:nvSpPr>
          <p:cNvPr id="6" name="Slide Number Placeholder 5">
            <a:extLst>
              <a:ext uri="{FF2B5EF4-FFF2-40B4-BE49-F238E27FC236}">
                <a16:creationId xmlns:a16="http://schemas.microsoft.com/office/drawing/2014/main" id="{3EA58214-EB6B-4E35-B419-0FC5DE243A16}"/>
              </a:ext>
            </a:extLst>
          </p:cNvPr>
          <p:cNvSpPr>
            <a:spLocks noGrp="1"/>
          </p:cNvSpPr>
          <p:nvPr>
            <p:ph type="sldNum" sz="quarter" idx="12"/>
          </p:nvPr>
        </p:nvSpPr>
        <p:spPr/>
        <p:txBody>
          <a:bodyPr/>
          <a:lstStyle/>
          <a:p>
            <a:fld id="{1B30F0CC-EBAF-4E3D-80D7-CFC82A3A738F}" type="slidenum">
              <a:rPr lang="en-US" smtClean="0"/>
              <a:pPr/>
              <a:t>101</a:t>
            </a:fld>
            <a:endParaRPr lang="en-US" dirty="0"/>
          </a:p>
        </p:txBody>
      </p:sp>
      <p:pic>
        <p:nvPicPr>
          <p:cNvPr id="7" name="Picture 2">
            <a:extLst>
              <a:ext uri="{FF2B5EF4-FFF2-40B4-BE49-F238E27FC236}">
                <a16:creationId xmlns:a16="http://schemas.microsoft.com/office/drawing/2014/main" id="{669567C0-921A-4799-A3AE-B554F612CB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4792" y="4488450"/>
            <a:ext cx="1143171" cy="4652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5994AF35-02E2-4A7E-86F5-833EFD77CA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4792" y="1949125"/>
            <a:ext cx="989463" cy="4652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4B665E7B-1C2B-42F3-A83B-3CF2233C69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9760" y="1906391"/>
            <a:ext cx="479280" cy="49317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F66EE984-C9CE-464D-BB3F-DD45C47190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9938" y="1928939"/>
            <a:ext cx="1058490" cy="5433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F79ACD7-359D-4696-A0C3-C93287270F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5192" y="4474964"/>
            <a:ext cx="1143172" cy="50807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a:extLst>
              <a:ext uri="{FF2B5EF4-FFF2-40B4-BE49-F238E27FC236}">
                <a16:creationId xmlns:a16="http://schemas.microsoft.com/office/drawing/2014/main" id="{B2E5C9D0-55D0-4198-8D73-DF2D2AC517E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30079" y="4459680"/>
            <a:ext cx="598171" cy="46524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A7FC7AB-9293-4055-AAC7-3123FBA0E40D}"/>
              </a:ext>
            </a:extLst>
          </p:cNvPr>
          <p:cNvSpPr txBox="1"/>
          <p:nvPr/>
        </p:nvSpPr>
        <p:spPr>
          <a:xfrm>
            <a:off x="1856794" y="4488450"/>
            <a:ext cx="849913" cy="461665"/>
          </a:xfrm>
          <a:prstGeom prst="rect">
            <a:avLst/>
          </a:prstGeom>
          <a:noFill/>
        </p:spPr>
        <p:txBody>
          <a:bodyPr wrap="none" rtlCol="0">
            <a:spAutoFit/>
          </a:bodyPr>
          <a:lstStyle/>
          <a:p>
            <a:r>
              <a:rPr lang="en-US" sz="2400" dirty="0"/>
              <a:t>Input</a:t>
            </a:r>
          </a:p>
        </p:txBody>
      </p:sp>
      <p:sp>
        <p:nvSpPr>
          <p:cNvPr id="14" name="TextBox 13">
            <a:extLst>
              <a:ext uri="{FF2B5EF4-FFF2-40B4-BE49-F238E27FC236}">
                <a16:creationId xmlns:a16="http://schemas.microsoft.com/office/drawing/2014/main" id="{737370A9-65AD-40AE-B447-710E0CF803B9}"/>
              </a:ext>
            </a:extLst>
          </p:cNvPr>
          <p:cNvSpPr txBox="1"/>
          <p:nvPr/>
        </p:nvSpPr>
        <p:spPr>
          <a:xfrm>
            <a:off x="1562702" y="1950915"/>
            <a:ext cx="1752403" cy="461665"/>
          </a:xfrm>
          <a:prstGeom prst="rect">
            <a:avLst/>
          </a:prstGeom>
          <a:noFill/>
        </p:spPr>
        <p:txBody>
          <a:bodyPr wrap="none" rtlCol="0">
            <a:spAutoFit/>
          </a:bodyPr>
          <a:lstStyle/>
          <a:p>
            <a:r>
              <a:rPr lang="en-US" sz="2400" dirty="0"/>
              <a:t>Output label</a:t>
            </a:r>
          </a:p>
        </p:txBody>
      </p:sp>
      <p:cxnSp>
        <p:nvCxnSpPr>
          <p:cNvPr id="16" name="Straight Arrow Connector 15">
            <a:extLst>
              <a:ext uri="{FF2B5EF4-FFF2-40B4-BE49-F238E27FC236}">
                <a16:creationId xmlns:a16="http://schemas.microsoft.com/office/drawing/2014/main" id="{F979149A-ECF7-44A3-B6C6-2EA98F02E83B}"/>
              </a:ext>
            </a:extLst>
          </p:cNvPr>
          <p:cNvCxnSpPr/>
          <p:nvPr/>
        </p:nvCxnSpPr>
        <p:spPr>
          <a:xfrm flipV="1">
            <a:off x="4138525" y="3930730"/>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48ADB24-DEBB-4644-BDBF-150CC6B989DD}"/>
              </a:ext>
            </a:extLst>
          </p:cNvPr>
          <p:cNvCxnSpPr/>
          <p:nvPr/>
        </p:nvCxnSpPr>
        <p:spPr>
          <a:xfrm flipV="1">
            <a:off x="4099373" y="2607621"/>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09E213E-BCC7-4A2A-8663-B26A29D82D26}"/>
              </a:ext>
            </a:extLst>
          </p:cNvPr>
          <p:cNvCxnSpPr/>
          <p:nvPr/>
        </p:nvCxnSpPr>
        <p:spPr>
          <a:xfrm flipV="1">
            <a:off x="6135152" y="3908942"/>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CEE8737-F344-47C3-855F-681F2747E36F}"/>
              </a:ext>
            </a:extLst>
          </p:cNvPr>
          <p:cNvCxnSpPr/>
          <p:nvPr/>
        </p:nvCxnSpPr>
        <p:spPr>
          <a:xfrm flipV="1">
            <a:off x="6096000" y="2585833"/>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6283681-7AEE-495D-93A7-B55281AE5652}"/>
              </a:ext>
            </a:extLst>
          </p:cNvPr>
          <p:cNvCxnSpPr/>
          <p:nvPr/>
        </p:nvCxnSpPr>
        <p:spPr>
          <a:xfrm flipV="1">
            <a:off x="8215565" y="3873560"/>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3535D6C-700E-46A8-83C5-B69783EAF056}"/>
              </a:ext>
            </a:extLst>
          </p:cNvPr>
          <p:cNvCxnSpPr/>
          <p:nvPr/>
        </p:nvCxnSpPr>
        <p:spPr>
          <a:xfrm flipV="1">
            <a:off x="8176413" y="2550451"/>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428F11C-C91A-4C41-9534-45B37857B89F}"/>
              </a:ext>
            </a:extLst>
          </p:cNvPr>
          <p:cNvSpPr/>
          <p:nvPr/>
        </p:nvSpPr>
        <p:spPr>
          <a:xfrm>
            <a:off x="3555462" y="3135019"/>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RNN</a:t>
            </a:r>
          </a:p>
        </p:txBody>
      </p:sp>
      <p:cxnSp>
        <p:nvCxnSpPr>
          <p:cNvPr id="28" name="Straight Arrow Connector 27">
            <a:extLst>
              <a:ext uri="{FF2B5EF4-FFF2-40B4-BE49-F238E27FC236}">
                <a16:creationId xmlns:a16="http://schemas.microsoft.com/office/drawing/2014/main" id="{F6807CE6-B8D3-4ADB-839E-EA144972D6BD}"/>
              </a:ext>
            </a:extLst>
          </p:cNvPr>
          <p:cNvCxnSpPr>
            <a:cxnSpLocks/>
            <a:endCxn id="31" idx="1"/>
          </p:cNvCxnSpPr>
          <p:nvPr/>
        </p:nvCxnSpPr>
        <p:spPr>
          <a:xfrm>
            <a:off x="4544255" y="3421292"/>
            <a:ext cx="1057348" cy="77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71A80278-A683-42A5-BFBE-2DAF23014A87}"/>
              </a:ext>
            </a:extLst>
          </p:cNvPr>
          <p:cNvSpPr/>
          <p:nvPr/>
        </p:nvSpPr>
        <p:spPr>
          <a:xfrm>
            <a:off x="5601603" y="3142726"/>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RNN</a:t>
            </a:r>
          </a:p>
        </p:txBody>
      </p:sp>
      <p:sp>
        <p:nvSpPr>
          <p:cNvPr id="32" name="Rectangle 31">
            <a:extLst>
              <a:ext uri="{FF2B5EF4-FFF2-40B4-BE49-F238E27FC236}">
                <a16:creationId xmlns:a16="http://schemas.microsoft.com/office/drawing/2014/main" id="{60CBD658-3F73-4AFC-9F35-03DD5327B787}"/>
              </a:ext>
            </a:extLst>
          </p:cNvPr>
          <p:cNvSpPr/>
          <p:nvPr/>
        </p:nvSpPr>
        <p:spPr>
          <a:xfrm>
            <a:off x="7687136" y="3135018"/>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RNN</a:t>
            </a:r>
          </a:p>
        </p:txBody>
      </p:sp>
      <p:cxnSp>
        <p:nvCxnSpPr>
          <p:cNvPr id="34" name="Straight Arrow Connector 33">
            <a:extLst>
              <a:ext uri="{FF2B5EF4-FFF2-40B4-BE49-F238E27FC236}">
                <a16:creationId xmlns:a16="http://schemas.microsoft.com/office/drawing/2014/main" id="{3BD0E280-B836-4E3B-BA5E-21D4D6BE0A9C}"/>
              </a:ext>
            </a:extLst>
          </p:cNvPr>
          <p:cNvCxnSpPr>
            <a:cxnSpLocks/>
          </p:cNvCxnSpPr>
          <p:nvPr/>
        </p:nvCxnSpPr>
        <p:spPr>
          <a:xfrm>
            <a:off x="6590396" y="3442119"/>
            <a:ext cx="1057348" cy="77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C490291-6E2D-4194-B2EB-A44E26E3AAD5}"/>
              </a:ext>
            </a:extLst>
          </p:cNvPr>
          <p:cNvSpPr txBox="1"/>
          <p:nvPr/>
        </p:nvSpPr>
        <p:spPr>
          <a:xfrm>
            <a:off x="9417533" y="2970868"/>
            <a:ext cx="2556161" cy="830997"/>
          </a:xfrm>
          <a:prstGeom prst="rect">
            <a:avLst/>
          </a:prstGeom>
          <a:noFill/>
        </p:spPr>
        <p:txBody>
          <a:bodyPr wrap="square" rtlCol="0">
            <a:spAutoFit/>
          </a:bodyPr>
          <a:lstStyle/>
          <a:p>
            <a:pPr algn="ctr"/>
            <a:r>
              <a:rPr lang="en-US" sz="2400" dirty="0">
                <a:solidFill>
                  <a:srgbClr val="FF0000"/>
                </a:solidFill>
              </a:rPr>
              <a:t>Internal state (memory)</a:t>
            </a:r>
          </a:p>
        </p:txBody>
      </p:sp>
      <p:cxnSp>
        <p:nvCxnSpPr>
          <p:cNvPr id="36" name="Straight Arrow Connector 35">
            <a:extLst>
              <a:ext uri="{FF2B5EF4-FFF2-40B4-BE49-F238E27FC236}">
                <a16:creationId xmlns:a16="http://schemas.microsoft.com/office/drawing/2014/main" id="{5BC9839A-10C2-4050-906B-E7A19B2D1DB1}"/>
              </a:ext>
            </a:extLst>
          </p:cNvPr>
          <p:cNvCxnSpPr>
            <a:cxnSpLocks/>
          </p:cNvCxnSpPr>
          <p:nvPr/>
        </p:nvCxnSpPr>
        <p:spPr>
          <a:xfrm>
            <a:off x="8662701" y="3438265"/>
            <a:ext cx="1057348" cy="77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946213E-870B-4355-8883-109E3939B6F3}"/>
              </a:ext>
            </a:extLst>
          </p:cNvPr>
          <p:cNvCxnSpPr>
            <a:cxnSpLocks/>
          </p:cNvCxnSpPr>
          <p:nvPr/>
        </p:nvCxnSpPr>
        <p:spPr>
          <a:xfrm>
            <a:off x="2478418" y="3455447"/>
            <a:ext cx="1057348" cy="77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7EF8F297-63EB-4F56-9AE8-032DC5115A1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53700" y="3907230"/>
            <a:ext cx="457200" cy="55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667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B09CC-6A11-48DD-9F9C-39A55DA89A46}"/>
              </a:ext>
            </a:extLst>
          </p:cNvPr>
          <p:cNvSpPr>
            <a:spLocks noGrp="1"/>
          </p:cNvSpPr>
          <p:nvPr>
            <p:ph type="title"/>
          </p:nvPr>
        </p:nvSpPr>
        <p:spPr/>
        <p:txBody>
          <a:bodyPr/>
          <a:lstStyle/>
          <a:p>
            <a:r>
              <a:rPr lang="en-US" dirty="0"/>
              <a:t>Hidden State Update</a:t>
            </a:r>
          </a:p>
        </p:txBody>
      </p:sp>
      <p:sp>
        <p:nvSpPr>
          <p:cNvPr id="6" name="Slide Number Placeholder 5">
            <a:extLst>
              <a:ext uri="{FF2B5EF4-FFF2-40B4-BE49-F238E27FC236}">
                <a16:creationId xmlns:a16="http://schemas.microsoft.com/office/drawing/2014/main" id="{967D8C7A-504C-44F7-8C33-D614DD655B22}"/>
              </a:ext>
            </a:extLst>
          </p:cNvPr>
          <p:cNvSpPr>
            <a:spLocks noGrp="1"/>
          </p:cNvSpPr>
          <p:nvPr>
            <p:ph type="sldNum" sz="quarter" idx="12"/>
          </p:nvPr>
        </p:nvSpPr>
        <p:spPr/>
        <p:txBody>
          <a:bodyPr/>
          <a:lstStyle/>
          <a:p>
            <a:fld id="{1B30F0CC-EBAF-4E3D-80D7-CFC82A3A738F}" type="slidenum">
              <a:rPr lang="en-US" smtClean="0"/>
              <a:pPr/>
              <a:t>102</a:t>
            </a:fld>
            <a:endParaRPr lang="en-US" dirty="0"/>
          </a:p>
        </p:txBody>
      </p:sp>
      <p:pic>
        <p:nvPicPr>
          <p:cNvPr id="2054" name="Picture 6">
            <a:extLst>
              <a:ext uri="{FF2B5EF4-FFF2-40B4-BE49-F238E27FC236}">
                <a16:creationId xmlns:a16="http://schemas.microsoft.com/office/drawing/2014/main" id="{14735D4C-8A32-44E1-8AA4-DB0D7721BC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4392" y="2929814"/>
            <a:ext cx="6162675" cy="7905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A135CD61-0960-4561-953A-F015FD823676}"/>
              </a:ext>
            </a:extLst>
          </p:cNvPr>
          <p:cNvSpPr txBox="1"/>
          <p:nvPr/>
        </p:nvSpPr>
        <p:spPr>
          <a:xfrm>
            <a:off x="9779710" y="4351889"/>
            <a:ext cx="1282000" cy="830997"/>
          </a:xfrm>
          <a:prstGeom prst="rect">
            <a:avLst/>
          </a:prstGeom>
          <a:noFill/>
        </p:spPr>
        <p:txBody>
          <a:bodyPr wrap="square" rtlCol="0">
            <a:spAutoFit/>
          </a:bodyPr>
          <a:lstStyle/>
          <a:p>
            <a:pPr algn="ctr"/>
            <a:r>
              <a:rPr lang="en-US" sz="2400" dirty="0"/>
              <a:t>Input at time t</a:t>
            </a:r>
          </a:p>
        </p:txBody>
      </p:sp>
      <p:cxnSp>
        <p:nvCxnSpPr>
          <p:cNvPr id="15" name="Straight Arrow Connector 14">
            <a:extLst>
              <a:ext uri="{FF2B5EF4-FFF2-40B4-BE49-F238E27FC236}">
                <a16:creationId xmlns:a16="http://schemas.microsoft.com/office/drawing/2014/main" id="{48A5BD25-572A-4A35-BE66-EBDDC8CD833A}"/>
              </a:ext>
            </a:extLst>
          </p:cNvPr>
          <p:cNvCxnSpPr>
            <a:cxnSpLocks/>
            <a:stCxn id="14" idx="0"/>
          </p:cNvCxnSpPr>
          <p:nvPr/>
        </p:nvCxnSpPr>
        <p:spPr>
          <a:xfrm flipH="1" flipV="1">
            <a:off x="10009632" y="3667728"/>
            <a:ext cx="411078" cy="6841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C9D6A87-1E9A-4702-8335-28688B98862D}"/>
              </a:ext>
            </a:extLst>
          </p:cNvPr>
          <p:cNvSpPr txBox="1"/>
          <p:nvPr/>
        </p:nvSpPr>
        <p:spPr>
          <a:xfrm>
            <a:off x="7196301" y="4409134"/>
            <a:ext cx="1914198" cy="830997"/>
          </a:xfrm>
          <a:prstGeom prst="rect">
            <a:avLst/>
          </a:prstGeom>
          <a:noFill/>
        </p:spPr>
        <p:txBody>
          <a:bodyPr wrap="square" rtlCol="0">
            <a:spAutoFit/>
          </a:bodyPr>
          <a:lstStyle/>
          <a:p>
            <a:pPr algn="ctr"/>
            <a:r>
              <a:rPr lang="en-US" sz="2400" dirty="0"/>
              <a:t>Hidden state at time t-1</a:t>
            </a:r>
          </a:p>
        </p:txBody>
      </p:sp>
      <p:cxnSp>
        <p:nvCxnSpPr>
          <p:cNvPr id="18" name="Straight Arrow Connector 17">
            <a:extLst>
              <a:ext uri="{FF2B5EF4-FFF2-40B4-BE49-F238E27FC236}">
                <a16:creationId xmlns:a16="http://schemas.microsoft.com/office/drawing/2014/main" id="{D73F01C6-4B40-462A-8131-92441762AB50}"/>
              </a:ext>
            </a:extLst>
          </p:cNvPr>
          <p:cNvCxnSpPr>
            <a:cxnSpLocks/>
            <a:stCxn id="17" idx="0"/>
          </p:cNvCxnSpPr>
          <p:nvPr/>
        </p:nvCxnSpPr>
        <p:spPr>
          <a:xfrm flipV="1">
            <a:off x="8153400" y="3724973"/>
            <a:ext cx="337107" cy="6841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13A9A8E-EF44-487C-B65B-098D1D433573}"/>
              </a:ext>
            </a:extLst>
          </p:cNvPr>
          <p:cNvSpPr txBox="1"/>
          <p:nvPr/>
        </p:nvSpPr>
        <p:spPr>
          <a:xfrm>
            <a:off x="3783964" y="4351889"/>
            <a:ext cx="1914198" cy="830997"/>
          </a:xfrm>
          <a:prstGeom prst="rect">
            <a:avLst/>
          </a:prstGeom>
          <a:noFill/>
        </p:spPr>
        <p:txBody>
          <a:bodyPr wrap="square" rtlCol="0">
            <a:spAutoFit/>
          </a:bodyPr>
          <a:lstStyle/>
          <a:p>
            <a:pPr algn="ctr"/>
            <a:r>
              <a:rPr lang="en-US" sz="2400" dirty="0"/>
              <a:t>Hidden state at time t</a:t>
            </a:r>
          </a:p>
        </p:txBody>
      </p:sp>
      <p:cxnSp>
        <p:nvCxnSpPr>
          <p:cNvPr id="22" name="Straight Arrow Connector 21">
            <a:extLst>
              <a:ext uri="{FF2B5EF4-FFF2-40B4-BE49-F238E27FC236}">
                <a16:creationId xmlns:a16="http://schemas.microsoft.com/office/drawing/2014/main" id="{B6B658A2-AF44-4A76-828D-ADD3167047BF}"/>
              </a:ext>
            </a:extLst>
          </p:cNvPr>
          <p:cNvCxnSpPr>
            <a:cxnSpLocks/>
          </p:cNvCxnSpPr>
          <p:nvPr/>
        </p:nvCxnSpPr>
        <p:spPr>
          <a:xfrm flipV="1">
            <a:off x="4473734" y="3734223"/>
            <a:ext cx="337107" cy="6841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BBCD9E6-C47D-402C-9CD7-2BF05E319A9B}"/>
              </a:ext>
            </a:extLst>
          </p:cNvPr>
          <p:cNvSpPr txBox="1"/>
          <p:nvPr/>
        </p:nvSpPr>
        <p:spPr>
          <a:xfrm>
            <a:off x="5603027" y="1388843"/>
            <a:ext cx="2790498" cy="830997"/>
          </a:xfrm>
          <a:prstGeom prst="rect">
            <a:avLst/>
          </a:prstGeom>
          <a:noFill/>
        </p:spPr>
        <p:txBody>
          <a:bodyPr wrap="square" rtlCol="0">
            <a:spAutoFit/>
          </a:bodyPr>
          <a:lstStyle/>
          <a:p>
            <a:pPr algn="ctr"/>
            <a:r>
              <a:rPr lang="en-US" sz="2400" dirty="0"/>
              <a:t>Updating function with parameters W</a:t>
            </a:r>
          </a:p>
        </p:txBody>
      </p:sp>
      <p:cxnSp>
        <p:nvCxnSpPr>
          <p:cNvPr id="24" name="Straight Arrow Connector 23">
            <a:extLst>
              <a:ext uri="{FF2B5EF4-FFF2-40B4-BE49-F238E27FC236}">
                <a16:creationId xmlns:a16="http://schemas.microsoft.com/office/drawing/2014/main" id="{75BCEB11-CDD2-4E63-B45D-AC57095061A1}"/>
              </a:ext>
            </a:extLst>
          </p:cNvPr>
          <p:cNvCxnSpPr>
            <a:cxnSpLocks/>
          </p:cNvCxnSpPr>
          <p:nvPr/>
        </p:nvCxnSpPr>
        <p:spPr>
          <a:xfrm flipH="1">
            <a:off x="6803758" y="2177851"/>
            <a:ext cx="223989" cy="6582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
            <a:extLst>
              <a:ext uri="{FF2B5EF4-FFF2-40B4-BE49-F238E27FC236}">
                <a16:creationId xmlns:a16="http://schemas.microsoft.com/office/drawing/2014/main" id="{2C287FCE-9821-4843-844D-F34D6D88A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2679" y="4546636"/>
            <a:ext cx="510313" cy="421563"/>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Arrow Connector 26">
            <a:extLst>
              <a:ext uri="{FF2B5EF4-FFF2-40B4-BE49-F238E27FC236}">
                <a16:creationId xmlns:a16="http://schemas.microsoft.com/office/drawing/2014/main" id="{26C015BF-3832-40A9-8999-DEAE5F31C88A}"/>
              </a:ext>
            </a:extLst>
          </p:cNvPr>
          <p:cNvCxnSpPr/>
          <p:nvPr/>
        </p:nvCxnSpPr>
        <p:spPr>
          <a:xfrm flipV="1">
            <a:off x="2327836" y="3938437"/>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2E96696-4C1B-40AD-A85C-247573FFAEC6}"/>
              </a:ext>
            </a:extLst>
          </p:cNvPr>
          <p:cNvCxnSpPr/>
          <p:nvPr/>
        </p:nvCxnSpPr>
        <p:spPr>
          <a:xfrm flipV="1">
            <a:off x="2327836" y="2615328"/>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C4058B35-7B69-4759-B655-86F103D64835}"/>
              </a:ext>
            </a:extLst>
          </p:cNvPr>
          <p:cNvSpPr/>
          <p:nvPr/>
        </p:nvSpPr>
        <p:spPr>
          <a:xfrm>
            <a:off x="1833440" y="3142726"/>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RNN</a:t>
            </a:r>
          </a:p>
        </p:txBody>
      </p:sp>
      <p:pic>
        <p:nvPicPr>
          <p:cNvPr id="30" name="Picture 4">
            <a:extLst>
              <a:ext uri="{FF2B5EF4-FFF2-40B4-BE49-F238E27FC236}">
                <a16:creationId xmlns:a16="http://schemas.microsoft.com/office/drawing/2014/main" id="{6AF37017-425A-44A5-A48E-32373B4BAE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2679" y="1839714"/>
            <a:ext cx="590550" cy="552450"/>
          </a:xfrm>
          <a:prstGeom prst="rect">
            <a:avLst/>
          </a:prstGeom>
          <a:noFill/>
          <a:extLst>
            <a:ext uri="{909E8E84-426E-40DD-AFC4-6F175D3DCCD1}">
              <a14:hiddenFill xmlns:a14="http://schemas.microsoft.com/office/drawing/2010/main">
                <a:solidFill>
                  <a:srgbClr val="FFFFFF"/>
                </a:solidFill>
              </a14:hiddenFill>
            </a:ext>
          </a:extLst>
        </p:spPr>
      </p:pic>
      <p:sp>
        <p:nvSpPr>
          <p:cNvPr id="31" name="Arc 30">
            <a:extLst>
              <a:ext uri="{FF2B5EF4-FFF2-40B4-BE49-F238E27FC236}">
                <a16:creationId xmlns:a16="http://schemas.microsoft.com/office/drawing/2014/main" id="{ED45F3AE-8C8A-4902-8557-0E047A6581A3}"/>
              </a:ext>
            </a:extLst>
          </p:cNvPr>
          <p:cNvSpPr/>
          <p:nvPr/>
        </p:nvSpPr>
        <p:spPr>
          <a:xfrm flipV="1">
            <a:off x="2663229" y="3052403"/>
            <a:ext cx="779317" cy="753191"/>
          </a:xfrm>
          <a:prstGeom prst="arc">
            <a:avLst>
              <a:gd name="adj1" fmla="val 12823877"/>
              <a:gd name="adj2" fmla="val 866981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3506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1" grpId="0"/>
      <p:bldP spid="2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0152-BC05-4284-BC25-2C334D49B489}"/>
              </a:ext>
            </a:extLst>
          </p:cNvPr>
          <p:cNvSpPr>
            <a:spLocks noGrp="1"/>
          </p:cNvSpPr>
          <p:nvPr>
            <p:ph type="title"/>
          </p:nvPr>
        </p:nvSpPr>
        <p:spPr/>
        <p:txBody>
          <a:bodyPr/>
          <a:lstStyle/>
          <a:p>
            <a:r>
              <a:rPr lang="en-US" dirty="0"/>
              <a:t>Using the Hidden State</a:t>
            </a:r>
          </a:p>
        </p:txBody>
      </p:sp>
      <p:sp>
        <p:nvSpPr>
          <p:cNvPr id="6" name="Slide Number Placeholder 5">
            <a:extLst>
              <a:ext uri="{FF2B5EF4-FFF2-40B4-BE49-F238E27FC236}">
                <a16:creationId xmlns:a16="http://schemas.microsoft.com/office/drawing/2014/main" id="{AF8D96D6-241F-4058-9E7B-E63E069374C3}"/>
              </a:ext>
            </a:extLst>
          </p:cNvPr>
          <p:cNvSpPr>
            <a:spLocks noGrp="1"/>
          </p:cNvSpPr>
          <p:nvPr>
            <p:ph type="sldNum" sz="quarter" idx="12"/>
          </p:nvPr>
        </p:nvSpPr>
        <p:spPr/>
        <p:txBody>
          <a:bodyPr/>
          <a:lstStyle/>
          <a:p>
            <a:fld id="{1B30F0CC-EBAF-4E3D-80D7-CFC82A3A738F}" type="slidenum">
              <a:rPr lang="en-US" smtClean="0"/>
              <a:pPr/>
              <a:t>103</a:t>
            </a:fld>
            <a:endParaRPr lang="en-US" dirty="0"/>
          </a:p>
        </p:txBody>
      </p:sp>
      <p:pic>
        <p:nvPicPr>
          <p:cNvPr id="13" name="Picture 2">
            <a:extLst>
              <a:ext uri="{FF2B5EF4-FFF2-40B4-BE49-F238E27FC236}">
                <a16:creationId xmlns:a16="http://schemas.microsoft.com/office/drawing/2014/main" id="{EA3C8E2B-1623-43F6-97EB-8499465AD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1533" y="4918031"/>
            <a:ext cx="510313" cy="42156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D5ED31A4-5312-44BF-A4EB-7DF8FF3ABA85}"/>
              </a:ext>
            </a:extLst>
          </p:cNvPr>
          <p:cNvCxnSpPr/>
          <p:nvPr/>
        </p:nvCxnSpPr>
        <p:spPr>
          <a:xfrm flipV="1">
            <a:off x="2466690" y="4309832"/>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6CA351D-2862-4927-8497-D030807D212C}"/>
              </a:ext>
            </a:extLst>
          </p:cNvPr>
          <p:cNvCxnSpPr/>
          <p:nvPr/>
        </p:nvCxnSpPr>
        <p:spPr>
          <a:xfrm flipV="1">
            <a:off x="2466690" y="2986723"/>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9E4D71C-0FF9-46BB-BE7C-2EC557457A79}"/>
              </a:ext>
            </a:extLst>
          </p:cNvPr>
          <p:cNvSpPr/>
          <p:nvPr/>
        </p:nvSpPr>
        <p:spPr>
          <a:xfrm>
            <a:off x="1972294" y="3514121"/>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7" name="Picture 4">
            <a:extLst>
              <a:ext uri="{FF2B5EF4-FFF2-40B4-BE49-F238E27FC236}">
                <a16:creationId xmlns:a16="http://schemas.microsoft.com/office/drawing/2014/main" id="{8562FB05-6A00-4F9C-9847-E304BF446A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1533" y="2211109"/>
            <a:ext cx="590550" cy="552450"/>
          </a:xfrm>
          <a:prstGeom prst="rect">
            <a:avLst/>
          </a:prstGeom>
          <a:noFill/>
          <a:extLst>
            <a:ext uri="{909E8E84-426E-40DD-AFC4-6F175D3DCCD1}">
              <a14:hiddenFill xmlns:a14="http://schemas.microsoft.com/office/drawing/2010/main">
                <a:solidFill>
                  <a:srgbClr val="FFFFFF"/>
                </a:solidFill>
              </a14:hiddenFill>
            </a:ext>
          </a:extLst>
        </p:spPr>
      </p:pic>
      <p:sp>
        <p:nvSpPr>
          <p:cNvPr id="18" name="Arc 17">
            <a:extLst>
              <a:ext uri="{FF2B5EF4-FFF2-40B4-BE49-F238E27FC236}">
                <a16:creationId xmlns:a16="http://schemas.microsoft.com/office/drawing/2014/main" id="{D711B285-0733-454C-8D26-A9AAEB83EA0D}"/>
              </a:ext>
            </a:extLst>
          </p:cNvPr>
          <p:cNvSpPr/>
          <p:nvPr/>
        </p:nvSpPr>
        <p:spPr>
          <a:xfrm flipV="1">
            <a:off x="2802083" y="3423798"/>
            <a:ext cx="779317" cy="753191"/>
          </a:xfrm>
          <a:prstGeom prst="arc">
            <a:avLst>
              <a:gd name="adj1" fmla="val 12823877"/>
              <a:gd name="adj2" fmla="val 866981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9" name="Picture 2">
            <a:extLst>
              <a:ext uri="{FF2B5EF4-FFF2-40B4-BE49-F238E27FC236}">
                <a16:creationId xmlns:a16="http://schemas.microsoft.com/office/drawing/2014/main" id="{9F8DA659-3C8D-4634-B86F-377037E71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4677" y="3567968"/>
            <a:ext cx="364025" cy="43986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34942C54-9BF8-4444-85AD-6EA1266F1313}"/>
              </a:ext>
            </a:extLst>
          </p:cNvPr>
          <p:cNvSpPr txBox="1"/>
          <p:nvPr/>
        </p:nvSpPr>
        <p:spPr>
          <a:xfrm>
            <a:off x="1030718" y="3601162"/>
            <a:ext cx="988793" cy="461665"/>
          </a:xfrm>
          <a:prstGeom prst="rect">
            <a:avLst/>
          </a:prstGeom>
          <a:noFill/>
        </p:spPr>
        <p:txBody>
          <a:bodyPr wrap="square" rtlCol="0">
            <a:spAutoFit/>
          </a:bodyPr>
          <a:lstStyle/>
          <a:p>
            <a:pPr algn="ctr"/>
            <a:r>
              <a:rPr lang="en-US" sz="2400" dirty="0"/>
              <a:t>RNN</a:t>
            </a:r>
          </a:p>
        </p:txBody>
      </p:sp>
      <p:pic>
        <p:nvPicPr>
          <p:cNvPr id="21" name="Picture 6">
            <a:extLst>
              <a:ext uri="{FF2B5EF4-FFF2-40B4-BE49-F238E27FC236}">
                <a16:creationId xmlns:a16="http://schemas.microsoft.com/office/drawing/2014/main" id="{30E09330-23D9-4CB9-8C0A-BBA72F07D9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9637" y="2368271"/>
            <a:ext cx="6162675" cy="79057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F1307E8D-97BB-473E-9C6B-300C67F228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4025" y="3967022"/>
            <a:ext cx="4448175" cy="790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637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17AF-6A0A-4C4C-A691-FE3A7A4AA2DE}"/>
              </a:ext>
            </a:extLst>
          </p:cNvPr>
          <p:cNvSpPr>
            <a:spLocks noGrp="1"/>
          </p:cNvSpPr>
          <p:nvPr>
            <p:ph type="title"/>
          </p:nvPr>
        </p:nvSpPr>
        <p:spPr/>
        <p:txBody>
          <a:bodyPr/>
          <a:lstStyle/>
          <a:p>
            <a:r>
              <a:rPr lang="en-US" dirty="0"/>
              <a:t>Recurrent Neural Networks</a:t>
            </a:r>
          </a:p>
        </p:txBody>
      </p:sp>
      <p:sp>
        <p:nvSpPr>
          <p:cNvPr id="6" name="Slide Number Placeholder 5">
            <a:extLst>
              <a:ext uri="{FF2B5EF4-FFF2-40B4-BE49-F238E27FC236}">
                <a16:creationId xmlns:a16="http://schemas.microsoft.com/office/drawing/2014/main" id="{3EA58214-EB6B-4E35-B419-0FC5DE243A16}"/>
              </a:ext>
            </a:extLst>
          </p:cNvPr>
          <p:cNvSpPr>
            <a:spLocks noGrp="1"/>
          </p:cNvSpPr>
          <p:nvPr>
            <p:ph type="sldNum" sz="quarter" idx="12"/>
          </p:nvPr>
        </p:nvSpPr>
        <p:spPr/>
        <p:txBody>
          <a:bodyPr/>
          <a:lstStyle/>
          <a:p>
            <a:fld id="{1B30F0CC-EBAF-4E3D-80D7-CFC82A3A738F}" type="slidenum">
              <a:rPr lang="en-US" smtClean="0"/>
              <a:pPr/>
              <a:t>104</a:t>
            </a:fld>
            <a:endParaRPr lang="en-US" dirty="0"/>
          </a:p>
        </p:txBody>
      </p:sp>
      <p:pic>
        <p:nvPicPr>
          <p:cNvPr id="7" name="Picture 2">
            <a:extLst>
              <a:ext uri="{FF2B5EF4-FFF2-40B4-BE49-F238E27FC236}">
                <a16:creationId xmlns:a16="http://schemas.microsoft.com/office/drawing/2014/main" id="{669567C0-921A-4799-A3AE-B554F612C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4562" y="4487829"/>
            <a:ext cx="1143171" cy="4652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5994AF35-02E2-4A7E-86F5-833EFD77C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4562" y="1948504"/>
            <a:ext cx="989463" cy="4652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4B665E7B-1C2B-42F3-A83B-3CF2233C69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9530" y="1905770"/>
            <a:ext cx="479280" cy="49317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F66EE984-C9CE-464D-BB3F-DD45C47190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79708" y="1928318"/>
            <a:ext cx="1058490" cy="5433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F79ACD7-359D-4696-A0C3-C93287270F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54962" y="4474343"/>
            <a:ext cx="1143172" cy="50807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a:extLst>
              <a:ext uri="{FF2B5EF4-FFF2-40B4-BE49-F238E27FC236}">
                <a16:creationId xmlns:a16="http://schemas.microsoft.com/office/drawing/2014/main" id="{B2E5C9D0-55D0-4198-8D73-DF2D2AC517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9849" y="4459059"/>
            <a:ext cx="598171" cy="46524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A7FC7AB-9293-4055-AAC7-3123FBA0E40D}"/>
              </a:ext>
            </a:extLst>
          </p:cNvPr>
          <p:cNvSpPr txBox="1"/>
          <p:nvPr/>
        </p:nvSpPr>
        <p:spPr>
          <a:xfrm>
            <a:off x="2246564" y="4487829"/>
            <a:ext cx="849913" cy="461665"/>
          </a:xfrm>
          <a:prstGeom prst="rect">
            <a:avLst/>
          </a:prstGeom>
          <a:noFill/>
        </p:spPr>
        <p:txBody>
          <a:bodyPr wrap="none" rtlCol="0">
            <a:spAutoFit/>
          </a:bodyPr>
          <a:lstStyle/>
          <a:p>
            <a:r>
              <a:rPr lang="en-US" sz="2400" dirty="0"/>
              <a:t>Input</a:t>
            </a:r>
          </a:p>
        </p:txBody>
      </p:sp>
      <p:sp>
        <p:nvSpPr>
          <p:cNvPr id="14" name="TextBox 13">
            <a:extLst>
              <a:ext uri="{FF2B5EF4-FFF2-40B4-BE49-F238E27FC236}">
                <a16:creationId xmlns:a16="http://schemas.microsoft.com/office/drawing/2014/main" id="{737370A9-65AD-40AE-B447-710E0CF803B9}"/>
              </a:ext>
            </a:extLst>
          </p:cNvPr>
          <p:cNvSpPr txBox="1"/>
          <p:nvPr/>
        </p:nvSpPr>
        <p:spPr>
          <a:xfrm>
            <a:off x="1952472" y="1950294"/>
            <a:ext cx="1752403" cy="461665"/>
          </a:xfrm>
          <a:prstGeom prst="rect">
            <a:avLst/>
          </a:prstGeom>
          <a:noFill/>
        </p:spPr>
        <p:txBody>
          <a:bodyPr wrap="none" rtlCol="0">
            <a:spAutoFit/>
          </a:bodyPr>
          <a:lstStyle/>
          <a:p>
            <a:r>
              <a:rPr lang="en-US" sz="2400" dirty="0"/>
              <a:t>Output label</a:t>
            </a:r>
          </a:p>
        </p:txBody>
      </p:sp>
      <p:cxnSp>
        <p:nvCxnSpPr>
          <p:cNvPr id="16" name="Straight Arrow Connector 15">
            <a:extLst>
              <a:ext uri="{FF2B5EF4-FFF2-40B4-BE49-F238E27FC236}">
                <a16:creationId xmlns:a16="http://schemas.microsoft.com/office/drawing/2014/main" id="{F979149A-ECF7-44A3-B6C6-2EA98F02E83B}"/>
              </a:ext>
            </a:extLst>
          </p:cNvPr>
          <p:cNvCxnSpPr/>
          <p:nvPr/>
        </p:nvCxnSpPr>
        <p:spPr>
          <a:xfrm flipV="1">
            <a:off x="4528295" y="3930109"/>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48ADB24-DEBB-4644-BDBF-150CC6B989DD}"/>
              </a:ext>
            </a:extLst>
          </p:cNvPr>
          <p:cNvCxnSpPr/>
          <p:nvPr/>
        </p:nvCxnSpPr>
        <p:spPr>
          <a:xfrm flipV="1">
            <a:off x="4489143" y="2607000"/>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09E213E-BCC7-4A2A-8663-B26A29D82D26}"/>
              </a:ext>
            </a:extLst>
          </p:cNvPr>
          <p:cNvCxnSpPr/>
          <p:nvPr/>
        </p:nvCxnSpPr>
        <p:spPr>
          <a:xfrm flipV="1">
            <a:off x="6524922" y="3908321"/>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CEE8737-F344-47C3-855F-681F2747E36F}"/>
              </a:ext>
            </a:extLst>
          </p:cNvPr>
          <p:cNvCxnSpPr/>
          <p:nvPr/>
        </p:nvCxnSpPr>
        <p:spPr>
          <a:xfrm flipV="1">
            <a:off x="6485770" y="2585212"/>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6283681-7AEE-495D-93A7-B55281AE5652}"/>
              </a:ext>
            </a:extLst>
          </p:cNvPr>
          <p:cNvCxnSpPr/>
          <p:nvPr/>
        </p:nvCxnSpPr>
        <p:spPr>
          <a:xfrm flipV="1">
            <a:off x="8605335" y="3872939"/>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3535D6C-700E-46A8-83C5-B69783EAF056}"/>
              </a:ext>
            </a:extLst>
          </p:cNvPr>
          <p:cNvCxnSpPr/>
          <p:nvPr/>
        </p:nvCxnSpPr>
        <p:spPr>
          <a:xfrm flipV="1">
            <a:off x="8566183" y="2549830"/>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428F11C-C91A-4C41-9534-45B37857B89F}"/>
              </a:ext>
            </a:extLst>
          </p:cNvPr>
          <p:cNvSpPr/>
          <p:nvPr/>
        </p:nvSpPr>
        <p:spPr>
          <a:xfrm>
            <a:off x="3945232" y="3134398"/>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8" name="Straight Arrow Connector 27">
            <a:extLst>
              <a:ext uri="{FF2B5EF4-FFF2-40B4-BE49-F238E27FC236}">
                <a16:creationId xmlns:a16="http://schemas.microsoft.com/office/drawing/2014/main" id="{F6807CE6-B8D3-4ADB-839E-EA144972D6BD}"/>
              </a:ext>
            </a:extLst>
          </p:cNvPr>
          <p:cNvCxnSpPr>
            <a:cxnSpLocks/>
            <a:endCxn id="31" idx="1"/>
          </p:cNvCxnSpPr>
          <p:nvPr/>
        </p:nvCxnSpPr>
        <p:spPr>
          <a:xfrm>
            <a:off x="4934025" y="3420671"/>
            <a:ext cx="1057348" cy="77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71A80278-A683-42A5-BFBE-2DAF23014A87}"/>
              </a:ext>
            </a:extLst>
          </p:cNvPr>
          <p:cNvSpPr/>
          <p:nvPr/>
        </p:nvSpPr>
        <p:spPr>
          <a:xfrm>
            <a:off x="5991373" y="3142105"/>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Rectangle 31">
            <a:extLst>
              <a:ext uri="{FF2B5EF4-FFF2-40B4-BE49-F238E27FC236}">
                <a16:creationId xmlns:a16="http://schemas.microsoft.com/office/drawing/2014/main" id="{60CBD658-3F73-4AFC-9F35-03DD5327B787}"/>
              </a:ext>
            </a:extLst>
          </p:cNvPr>
          <p:cNvSpPr/>
          <p:nvPr/>
        </p:nvSpPr>
        <p:spPr>
          <a:xfrm>
            <a:off x="8076906" y="3134397"/>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34" name="Straight Arrow Connector 33">
            <a:extLst>
              <a:ext uri="{FF2B5EF4-FFF2-40B4-BE49-F238E27FC236}">
                <a16:creationId xmlns:a16="http://schemas.microsoft.com/office/drawing/2014/main" id="{3BD0E280-B836-4E3B-BA5E-21D4D6BE0A9C}"/>
              </a:ext>
            </a:extLst>
          </p:cNvPr>
          <p:cNvCxnSpPr>
            <a:cxnSpLocks/>
          </p:cNvCxnSpPr>
          <p:nvPr/>
        </p:nvCxnSpPr>
        <p:spPr>
          <a:xfrm>
            <a:off x="6980166" y="3441498"/>
            <a:ext cx="1057348" cy="77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C490291-6E2D-4194-B2EB-A44E26E3AAD5}"/>
              </a:ext>
            </a:extLst>
          </p:cNvPr>
          <p:cNvSpPr txBox="1"/>
          <p:nvPr/>
        </p:nvSpPr>
        <p:spPr>
          <a:xfrm>
            <a:off x="9052471" y="3785151"/>
            <a:ext cx="2556161" cy="830997"/>
          </a:xfrm>
          <a:prstGeom prst="rect">
            <a:avLst/>
          </a:prstGeom>
          <a:noFill/>
        </p:spPr>
        <p:txBody>
          <a:bodyPr wrap="square" rtlCol="0">
            <a:spAutoFit/>
          </a:bodyPr>
          <a:lstStyle/>
          <a:p>
            <a:pPr algn="ctr"/>
            <a:r>
              <a:rPr lang="en-US" sz="2400" dirty="0">
                <a:solidFill>
                  <a:srgbClr val="FF0000"/>
                </a:solidFill>
              </a:rPr>
              <a:t>Internal state (memory)</a:t>
            </a:r>
          </a:p>
        </p:txBody>
      </p:sp>
      <p:cxnSp>
        <p:nvCxnSpPr>
          <p:cNvPr id="36" name="Straight Arrow Connector 35">
            <a:extLst>
              <a:ext uri="{FF2B5EF4-FFF2-40B4-BE49-F238E27FC236}">
                <a16:creationId xmlns:a16="http://schemas.microsoft.com/office/drawing/2014/main" id="{5BC9839A-10C2-4050-906B-E7A19B2D1DB1}"/>
              </a:ext>
            </a:extLst>
          </p:cNvPr>
          <p:cNvCxnSpPr>
            <a:cxnSpLocks/>
          </p:cNvCxnSpPr>
          <p:nvPr/>
        </p:nvCxnSpPr>
        <p:spPr>
          <a:xfrm>
            <a:off x="9052471" y="3437644"/>
            <a:ext cx="1057348" cy="77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946213E-870B-4355-8883-109E3939B6F3}"/>
              </a:ext>
            </a:extLst>
          </p:cNvPr>
          <p:cNvCxnSpPr>
            <a:cxnSpLocks/>
          </p:cNvCxnSpPr>
          <p:nvPr/>
        </p:nvCxnSpPr>
        <p:spPr>
          <a:xfrm>
            <a:off x="2868188" y="3454826"/>
            <a:ext cx="1057348" cy="77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74" name="Picture 2">
            <a:extLst>
              <a:ext uri="{FF2B5EF4-FFF2-40B4-BE49-F238E27FC236}">
                <a16:creationId xmlns:a16="http://schemas.microsoft.com/office/drawing/2014/main" id="{AA2066F2-4A67-4704-B728-D37C74FBD7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3843" y="3223149"/>
            <a:ext cx="970182" cy="4444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FAED2229-5FC8-4BFD-8F5B-DE0B26D5E3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15597" y="3187870"/>
            <a:ext cx="540344" cy="52554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51B0B5CA-ADBC-452A-B31F-FA04A911E6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94628" y="3204010"/>
            <a:ext cx="959067" cy="479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9452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EB04-AE5A-4F70-8D5F-10997DE9D906}"/>
              </a:ext>
            </a:extLst>
          </p:cNvPr>
          <p:cNvSpPr>
            <a:spLocks noGrp="1"/>
          </p:cNvSpPr>
          <p:nvPr>
            <p:ph type="title"/>
          </p:nvPr>
        </p:nvSpPr>
        <p:spPr/>
        <p:txBody>
          <a:bodyPr/>
          <a:lstStyle/>
          <a:p>
            <a:r>
              <a:rPr lang="en-US" dirty="0"/>
              <a:t>Vanilla RNN</a:t>
            </a:r>
          </a:p>
        </p:txBody>
      </p:sp>
      <p:sp>
        <p:nvSpPr>
          <p:cNvPr id="6" name="Slide Number Placeholder 5">
            <a:extLst>
              <a:ext uri="{FF2B5EF4-FFF2-40B4-BE49-F238E27FC236}">
                <a16:creationId xmlns:a16="http://schemas.microsoft.com/office/drawing/2014/main" id="{521F675D-D241-46B4-A3B9-6A9E5BBD1879}"/>
              </a:ext>
            </a:extLst>
          </p:cNvPr>
          <p:cNvSpPr>
            <a:spLocks noGrp="1"/>
          </p:cNvSpPr>
          <p:nvPr>
            <p:ph type="sldNum" sz="quarter" idx="12"/>
          </p:nvPr>
        </p:nvSpPr>
        <p:spPr/>
        <p:txBody>
          <a:bodyPr/>
          <a:lstStyle/>
          <a:p>
            <a:fld id="{1B30F0CC-EBAF-4E3D-80D7-CFC82A3A738F}" type="slidenum">
              <a:rPr lang="en-US" smtClean="0"/>
              <a:pPr/>
              <a:t>105</a:t>
            </a:fld>
            <a:endParaRPr lang="en-US" dirty="0"/>
          </a:p>
        </p:txBody>
      </p:sp>
      <p:pic>
        <p:nvPicPr>
          <p:cNvPr id="7" name="Picture 2">
            <a:extLst>
              <a:ext uri="{FF2B5EF4-FFF2-40B4-BE49-F238E27FC236}">
                <a16:creationId xmlns:a16="http://schemas.microsoft.com/office/drawing/2014/main" id="{C427338E-0334-4205-B7B6-DD514578D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4916" y="4739160"/>
            <a:ext cx="510313" cy="42156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E12F8379-55A2-4472-99FB-2CCB66E5B2F9}"/>
              </a:ext>
            </a:extLst>
          </p:cNvPr>
          <p:cNvCxnSpPr/>
          <p:nvPr/>
        </p:nvCxnSpPr>
        <p:spPr>
          <a:xfrm flipV="1">
            <a:off x="1930073" y="4130961"/>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FFA78E9-6262-488F-B7A9-0AEB0A81CEAE}"/>
              </a:ext>
            </a:extLst>
          </p:cNvPr>
          <p:cNvCxnSpPr/>
          <p:nvPr/>
        </p:nvCxnSpPr>
        <p:spPr>
          <a:xfrm flipV="1">
            <a:off x="1930073" y="2807852"/>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89ADCAB-0550-4038-948E-8B2C032F8A2C}"/>
              </a:ext>
            </a:extLst>
          </p:cNvPr>
          <p:cNvSpPr/>
          <p:nvPr/>
        </p:nvSpPr>
        <p:spPr>
          <a:xfrm>
            <a:off x="1435677" y="3335250"/>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1" name="Picture 4">
            <a:extLst>
              <a:ext uri="{FF2B5EF4-FFF2-40B4-BE49-F238E27FC236}">
                <a16:creationId xmlns:a16="http://schemas.microsoft.com/office/drawing/2014/main" id="{B0C7DCCD-6B36-4460-AA86-EFF6F486C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4916" y="2032238"/>
            <a:ext cx="590550" cy="552450"/>
          </a:xfrm>
          <a:prstGeom prst="rect">
            <a:avLst/>
          </a:prstGeom>
          <a:noFill/>
          <a:extLst>
            <a:ext uri="{909E8E84-426E-40DD-AFC4-6F175D3DCCD1}">
              <a14:hiddenFill xmlns:a14="http://schemas.microsoft.com/office/drawing/2010/main">
                <a:solidFill>
                  <a:srgbClr val="FFFFFF"/>
                </a:solidFill>
              </a14:hiddenFill>
            </a:ext>
          </a:extLst>
        </p:spPr>
      </p:pic>
      <p:sp>
        <p:nvSpPr>
          <p:cNvPr id="12" name="Arc 11">
            <a:extLst>
              <a:ext uri="{FF2B5EF4-FFF2-40B4-BE49-F238E27FC236}">
                <a16:creationId xmlns:a16="http://schemas.microsoft.com/office/drawing/2014/main" id="{3B77F865-5565-4446-87DC-FB8C6071C2AE}"/>
              </a:ext>
            </a:extLst>
          </p:cNvPr>
          <p:cNvSpPr/>
          <p:nvPr/>
        </p:nvSpPr>
        <p:spPr>
          <a:xfrm flipV="1">
            <a:off x="2265466" y="3244927"/>
            <a:ext cx="779317" cy="753191"/>
          </a:xfrm>
          <a:prstGeom prst="arc">
            <a:avLst>
              <a:gd name="adj1" fmla="val 12823877"/>
              <a:gd name="adj2" fmla="val 866981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Picture 2">
            <a:extLst>
              <a:ext uri="{FF2B5EF4-FFF2-40B4-BE49-F238E27FC236}">
                <a16:creationId xmlns:a16="http://schemas.microsoft.com/office/drawing/2014/main" id="{3763E211-F77C-4600-B298-F661BA3276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8060" y="3389097"/>
            <a:ext cx="364025" cy="43986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C28C42A0-AFCC-4B90-A09B-DE37EB718CAA}"/>
              </a:ext>
            </a:extLst>
          </p:cNvPr>
          <p:cNvSpPr txBox="1"/>
          <p:nvPr/>
        </p:nvSpPr>
        <p:spPr>
          <a:xfrm>
            <a:off x="494101" y="3422291"/>
            <a:ext cx="988793" cy="461665"/>
          </a:xfrm>
          <a:prstGeom prst="rect">
            <a:avLst/>
          </a:prstGeom>
          <a:noFill/>
        </p:spPr>
        <p:txBody>
          <a:bodyPr wrap="square" rtlCol="0">
            <a:spAutoFit/>
          </a:bodyPr>
          <a:lstStyle/>
          <a:p>
            <a:pPr algn="ctr"/>
            <a:r>
              <a:rPr lang="en-US" sz="2400" dirty="0"/>
              <a:t>RNN</a:t>
            </a:r>
          </a:p>
        </p:txBody>
      </p:sp>
      <p:sp>
        <p:nvSpPr>
          <p:cNvPr id="16" name="TextBox 15">
            <a:extLst>
              <a:ext uri="{FF2B5EF4-FFF2-40B4-BE49-F238E27FC236}">
                <a16:creationId xmlns:a16="http://schemas.microsoft.com/office/drawing/2014/main" id="{D9E33691-EE85-4552-AF47-1E8134A02F17}"/>
              </a:ext>
            </a:extLst>
          </p:cNvPr>
          <p:cNvSpPr txBox="1"/>
          <p:nvPr/>
        </p:nvSpPr>
        <p:spPr>
          <a:xfrm>
            <a:off x="3586139" y="1460153"/>
            <a:ext cx="4065857" cy="523220"/>
          </a:xfrm>
          <a:prstGeom prst="rect">
            <a:avLst/>
          </a:prstGeom>
          <a:noFill/>
        </p:spPr>
        <p:txBody>
          <a:bodyPr wrap="none" rtlCol="0">
            <a:spAutoFit/>
          </a:bodyPr>
          <a:lstStyle/>
          <a:p>
            <a:r>
              <a:rPr lang="en-US" sz="2800" dirty="0"/>
              <a:t>Hidden state updating rule</a:t>
            </a:r>
          </a:p>
        </p:txBody>
      </p:sp>
      <p:pic>
        <p:nvPicPr>
          <p:cNvPr id="4098" name="Picture 2">
            <a:extLst>
              <a:ext uri="{FF2B5EF4-FFF2-40B4-BE49-F238E27FC236}">
                <a16:creationId xmlns:a16="http://schemas.microsoft.com/office/drawing/2014/main" id="{A8D51EFE-BE16-424B-A08F-89953E2915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3055" y="2308463"/>
            <a:ext cx="8365982" cy="64234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C378467-806A-4B9E-8AB1-6F6EF56135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91900" y="3429000"/>
            <a:ext cx="1004455" cy="30570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4F87933A-D797-450D-830D-9DA0301340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72982" y="3509816"/>
            <a:ext cx="1183341" cy="224888"/>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D14562D6-9532-4EA5-95E7-EFB7278AD057}"/>
              </a:ext>
            </a:extLst>
          </p:cNvPr>
          <p:cNvCxnSpPr>
            <a:cxnSpLocks/>
          </p:cNvCxnSpPr>
          <p:nvPr/>
        </p:nvCxnSpPr>
        <p:spPr>
          <a:xfrm flipV="1">
            <a:off x="10106833" y="2888232"/>
            <a:ext cx="337107" cy="5702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D336EDB-12DB-4B8D-9446-8DDCE0A6C2FA}"/>
              </a:ext>
            </a:extLst>
          </p:cNvPr>
          <p:cNvCxnSpPr>
            <a:cxnSpLocks/>
            <a:stCxn id="4100" idx="0"/>
          </p:cNvCxnSpPr>
          <p:nvPr/>
        </p:nvCxnSpPr>
        <p:spPr>
          <a:xfrm flipH="1" flipV="1">
            <a:off x="11522353" y="2844637"/>
            <a:ext cx="71775" cy="5843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104" name="Picture 8">
            <a:extLst>
              <a:ext uri="{FF2B5EF4-FFF2-40B4-BE49-F238E27FC236}">
                <a16:creationId xmlns:a16="http://schemas.microsoft.com/office/drawing/2014/main" id="{018E8E97-BB6C-4C40-87BA-9B44C028C2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2973" y="3509816"/>
            <a:ext cx="1185394" cy="319144"/>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Arrow Connector 24">
            <a:extLst>
              <a:ext uri="{FF2B5EF4-FFF2-40B4-BE49-F238E27FC236}">
                <a16:creationId xmlns:a16="http://schemas.microsoft.com/office/drawing/2014/main" id="{125B4D79-C0FE-4586-A868-9DD77150710F}"/>
              </a:ext>
            </a:extLst>
          </p:cNvPr>
          <p:cNvCxnSpPr>
            <a:cxnSpLocks/>
            <a:stCxn id="4104" idx="0"/>
          </p:cNvCxnSpPr>
          <p:nvPr/>
        </p:nvCxnSpPr>
        <p:spPr>
          <a:xfrm flipV="1">
            <a:off x="8495670" y="2939590"/>
            <a:ext cx="134160" cy="5702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106" name="Picture 10">
            <a:extLst>
              <a:ext uri="{FF2B5EF4-FFF2-40B4-BE49-F238E27FC236}">
                <a16:creationId xmlns:a16="http://schemas.microsoft.com/office/drawing/2014/main" id="{10E3FB9C-49D1-4D42-BA48-9A17413669C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33854" y="3555095"/>
            <a:ext cx="1584504" cy="273865"/>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07BB3AFF-A324-42F5-8FD0-326040220A36}"/>
              </a:ext>
            </a:extLst>
          </p:cNvPr>
          <p:cNvCxnSpPr>
            <a:cxnSpLocks/>
          </p:cNvCxnSpPr>
          <p:nvPr/>
        </p:nvCxnSpPr>
        <p:spPr>
          <a:xfrm flipV="1">
            <a:off x="6951587" y="2852065"/>
            <a:ext cx="134160" cy="5702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51904788-482E-4B8C-B89D-35E2DD179945}"/>
              </a:ext>
            </a:extLst>
          </p:cNvPr>
          <p:cNvGrpSpPr/>
          <p:nvPr/>
        </p:nvGrpSpPr>
        <p:grpSpPr>
          <a:xfrm>
            <a:off x="3350512" y="4359772"/>
            <a:ext cx="4301484" cy="1388812"/>
            <a:chOff x="1075843" y="3259098"/>
            <a:chExt cx="4301484" cy="1388812"/>
          </a:xfrm>
        </p:grpSpPr>
        <p:sp>
          <p:nvSpPr>
            <p:cNvPr id="32" name="Shape 1294">
              <a:extLst>
                <a:ext uri="{FF2B5EF4-FFF2-40B4-BE49-F238E27FC236}">
                  <a16:creationId xmlns:a16="http://schemas.microsoft.com/office/drawing/2014/main" id="{D8F0DCB6-DD11-44A9-A9F9-CC4BD03DFF65}"/>
                </a:ext>
              </a:extLst>
            </p:cNvPr>
            <p:cNvSpPr txBox="1"/>
            <p:nvPr/>
          </p:nvSpPr>
          <p:spPr>
            <a:xfrm>
              <a:off x="1075843" y="3343421"/>
              <a:ext cx="2964299" cy="603600"/>
            </a:xfrm>
            <a:prstGeom prst="rect">
              <a:avLst/>
            </a:prstGeom>
            <a:noFill/>
            <a:ln>
              <a:noFill/>
            </a:ln>
          </p:spPr>
          <p:txBody>
            <a:bodyPr lIns="91425" tIns="91425" rIns="91425" bIns="91425" anchor="t" anchorCtr="0">
              <a:noAutofit/>
            </a:bodyPr>
            <a:lstStyle/>
            <a:p>
              <a:pPr lvl="0" rtl="0">
                <a:spcBef>
                  <a:spcPts val="0"/>
                </a:spcBef>
                <a:buNone/>
              </a:pPr>
              <a:r>
                <a:rPr lang="en" sz="2400" b="1" dirty="0"/>
                <a:t>tanh    </a:t>
              </a:r>
              <a:r>
                <a:rPr lang="en" sz="2400" dirty="0"/>
                <a:t>tanh(x)</a:t>
              </a:r>
            </a:p>
          </p:txBody>
        </p:sp>
        <p:pic>
          <p:nvPicPr>
            <p:cNvPr id="33" name="Shape 1295">
              <a:extLst>
                <a:ext uri="{FF2B5EF4-FFF2-40B4-BE49-F238E27FC236}">
                  <a16:creationId xmlns:a16="http://schemas.microsoft.com/office/drawing/2014/main" id="{16A7EBB2-A608-4073-A441-49C4AB0E5CAB}"/>
                </a:ext>
              </a:extLst>
            </p:cNvPr>
            <p:cNvPicPr preferRelativeResize="0"/>
            <p:nvPr/>
          </p:nvPicPr>
          <p:blipFill>
            <a:blip r:embed="rId10">
              <a:alphaModFix/>
            </a:blip>
            <a:stretch>
              <a:fillRect/>
            </a:stretch>
          </p:blipFill>
          <p:spPr>
            <a:xfrm>
              <a:off x="3727252" y="3259098"/>
              <a:ext cx="1650075" cy="1388812"/>
            </a:xfrm>
            <a:prstGeom prst="rect">
              <a:avLst/>
            </a:prstGeom>
            <a:noFill/>
            <a:ln>
              <a:noFill/>
            </a:ln>
          </p:spPr>
        </p:pic>
        <p:pic>
          <p:nvPicPr>
            <p:cNvPr id="34" name="Picture 33">
              <a:extLst>
                <a:ext uri="{FF2B5EF4-FFF2-40B4-BE49-F238E27FC236}">
                  <a16:creationId xmlns:a16="http://schemas.microsoft.com/office/drawing/2014/main" id="{8BECD590-12AC-4432-9C2C-F18C9B7970A9}"/>
                </a:ext>
              </a:extLst>
            </p:cNvPr>
            <p:cNvPicPr>
              <a:picLocks noChangeAspect="1"/>
            </p:cNvPicPr>
            <p:nvPr/>
          </p:nvPicPr>
          <p:blipFill>
            <a:blip r:embed="rId11"/>
            <a:stretch>
              <a:fillRect/>
            </a:stretch>
          </p:blipFill>
          <p:spPr>
            <a:xfrm>
              <a:off x="1993243" y="3904219"/>
              <a:ext cx="884537" cy="686136"/>
            </a:xfrm>
            <a:prstGeom prst="rect">
              <a:avLst/>
            </a:prstGeom>
          </p:spPr>
        </p:pic>
      </p:grpSp>
      <p:pic>
        <p:nvPicPr>
          <p:cNvPr id="4108" name="Picture 12">
            <a:extLst>
              <a:ext uri="{FF2B5EF4-FFF2-40B4-BE49-F238E27FC236}">
                <a16:creationId xmlns:a16="http://schemas.microsoft.com/office/drawing/2014/main" id="{8D755D9F-777F-47F1-99C0-3124B6F66CA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81584" y="4593054"/>
            <a:ext cx="3173550" cy="615204"/>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a:extLst>
              <a:ext uri="{FF2B5EF4-FFF2-40B4-BE49-F238E27FC236}">
                <a16:creationId xmlns:a16="http://schemas.microsoft.com/office/drawing/2014/main" id="{9C6C6F54-713F-4C99-AE87-21BC236DB53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44429" y="5406692"/>
            <a:ext cx="1012239" cy="37561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a:extLst>
              <a:ext uri="{FF2B5EF4-FFF2-40B4-BE49-F238E27FC236}">
                <a16:creationId xmlns:a16="http://schemas.microsoft.com/office/drawing/2014/main" id="{CA5C4C43-FA22-497E-9389-0D68B0E1DB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93643" y="5411703"/>
            <a:ext cx="1185394" cy="31914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8">
            <a:extLst>
              <a:ext uri="{FF2B5EF4-FFF2-40B4-BE49-F238E27FC236}">
                <a16:creationId xmlns:a16="http://schemas.microsoft.com/office/drawing/2014/main" id="{643D20F2-F5F7-448A-99D6-BB86085094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4658" y="3476659"/>
            <a:ext cx="1185394" cy="319144"/>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Straight Arrow Connector 35">
            <a:extLst>
              <a:ext uri="{FF2B5EF4-FFF2-40B4-BE49-F238E27FC236}">
                <a16:creationId xmlns:a16="http://schemas.microsoft.com/office/drawing/2014/main" id="{1DAB1832-46DB-49F5-9BBD-52C59B9DCCF4}"/>
              </a:ext>
            </a:extLst>
          </p:cNvPr>
          <p:cNvCxnSpPr>
            <a:cxnSpLocks/>
            <a:stCxn id="35" idx="0"/>
          </p:cNvCxnSpPr>
          <p:nvPr/>
        </p:nvCxnSpPr>
        <p:spPr>
          <a:xfrm flipV="1">
            <a:off x="3827355" y="2906433"/>
            <a:ext cx="134160" cy="5702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646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0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0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0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0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0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CBCB-E374-4975-BEEA-546455F54E92}"/>
              </a:ext>
            </a:extLst>
          </p:cNvPr>
          <p:cNvSpPr>
            <a:spLocks noGrp="1"/>
          </p:cNvSpPr>
          <p:nvPr>
            <p:ph type="title"/>
          </p:nvPr>
        </p:nvSpPr>
        <p:spPr/>
        <p:txBody>
          <a:bodyPr/>
          <a:lstStyle/>
          <a:p>
            <a:r>
              <a:rPr lang="en-US" dirty="0"/>
              <a:t>RNN Computation Graph</a:t>
            </a:r>
          </a:p>
        </p:txBody>
      </p:sp>
      <p:sp>
        <p:nvSpPr>
          <p:cNvPr id="6" name="Slide Number Placeholder 5">
            <a:extLst>
              <a:ext uri="{FF2B5EF4-FFF2-40B4-BE49-F238E27FC236}">
                <a16:creationId xmlns:a16="http://schemas.microsoft.com/office/drawing/2014/main" id="{DBD47972-A033-4D54-85D1-ECAE80EB2724}"/>
              </a:ext>
            </a:extLst>
          </p:cNvPr>
          <p:cNvSpPr>
            <a:spLocks noGrp="1"/>
          </p:cNvSpPr>
          <p:nvPr>
            <p:ph type="sldNum" sz="quarter" idx="12"/>
          </p:nvPr>
        </p:nvSpPr>
        <p:spPr/>
        <p:txBody>
          <a:bodyPr/>
          <a:lstStyle/>
          <a:p>
            <a:fld id="{1B30F0CC-EBAF-4E3D-80D7-CFC82A3A738F}" type="slidenum">
              <a:rPr lang="en-US" smtClean="0"/>
              <a:pPr/>
              <a:t>106</a:t>
            </a:fld>
            <a:endParaRPr lang="en-US" dirty="0"/>
          </a:p>
        </p:txBody>
      </p:sp>
      <p:cxnSp>
        <p:nvCxnSpPr>
          <p:cNvPr id="15" name="Straight Arrow Connector 14">
            <a:extLst>
              <a:ext uri="{FF2B5EF4-FFF2-40B4-BE49-F238E27FC236}">
                <a16:creationId xmlns:a16="http://schemas.microsoft.com/office/drawing/2014/main" id="{897FC061-A04C-4384-B23A-45C354CF362B}"/>
              </a:ext>
            </a:extLst>
          </p:cNvPr>
          <p:cNvCxnSpPr/>
          <p:nvPr/>
        </p:nvCxnSpPr>
        <p:spPr>
          <a:xfrm flipV="1">
            <a:off x="2764901" y="4305614"/>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0A41A5A-9598-469C-B3BC-E593891591FB}"/>
              </a:ext>
            </a:extLst>
          </p:cNvPr>
          <p:cNvCxnSpPr/>
          <p:nvPr/>
        </p:nvCxnSpPr>
        <p:spPr>
          <a:xfrm flipV="1">
            <a:off x="4211649" y="3046714"/>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5C62D2C-1199-4797-96DA-B5DC0D061BD7}"/>
              </a:ext>
            </a:extLst>
          </p:cNvPr>
          <p:cNvCxnSpPr>
            <a:cxnSpLocks/>
          </p:cNvCxnSpPr>
          <p:nvPr/>
        </p:nvCxnSpPr>
        <p:spPr>
          <a:xfrm>
            <a:off x="1329713" y="3838039"/>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22" name="Picture 2">
            <a:extLst>
              <a:ext uri="{FF2B5EF4-FFF2-40B4-BE49-F238E27FC236}">
                <a16:creationId xmlns:a16="http://schemas.microsoft.com/office/drawing/2014/main" id="{BB4626F4-04AB-4757-8839-0E1935644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722" y="3535169"/>
            <a:ext cx="601995" cy="53427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0E10CE9E-4A86-4245-B460-7AA8A1023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373" y="4849848"/>
            <a:ext cx="605055" cy="38503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96D7EA76-90D3-444E-B387-CDA96BF76675}"/>
              </a:ext>
            </a:extLst>
          </p:cNvPr>
          <p:cNvGrpSpPr/>
          <p:nvPr/>
        </p:nvGrpSpPr>
        <p:grpSpPr>
          <a:xfrm>
            <a:off x="2181838" y="3509903"/>
            <a:ext cx="988793" cy="572547"/>
            <a:chOff x="2181838" y="3509903"/>
            <a:chExt cx="988793" cy="572547"/>
          </a:xfrm>
        </p:grpSpPr>
        <p:sp>
          <p:nvSpPr>
            <p:cNvPr id="21" name="Rectangle 20">
              <a:extLst>
                <a:ext uri="{FF2B5EF4-FFF2-40B4-BE49-F238E27FC236}">
                  <a16:creationId xmlns:a16="http://schemas.microsoft.com/office/drawing/2014/main" id="{B9CE76B3-0517-43F9-845F-0A886190D1A9}"/>
                </a:ext>
              </a:extLst>
            </p:cNvPr>
            <p:cNvSpPr/>
            <p:nvPr/>
          </p:nvSpPr>
          <p:spPr>
            <a:xfrm>
              <a:off x="2181838" y="3509903"/>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5126" name="Picture 6">
              <a:extLst>
                <a:ext uri="{FF2B5EF4-FFF2-40B4-BE49-F238E27FC236}">
                  <a16:creationId xmlns:a16="http://schemas.microsoft.com/office/drawing/2014/main" id="{7BDB5318-2C27-4D5E-B030-4E274E05DF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3833" y="3556651"/>
              <a:ext cx="654866" cy="469527"/>
            </a:xfrm>
            <a:prstGeom prst="rect">
              <a:avLst/>
            </a:prstGeom>
            <a:noFill/>
            <a:extLst>
              <a:ext uri="{909E8E84-426E-40DD-AFC4-6F175D3DCCD1}">
                <a14:hiddenFill xmlns:a14="http://schemas.microsoft.com/office/drawing/2010/main">
                  <a:solidFill>
                    <a:srgbClr val="FFFFFF"/>
                  </a:solidFill>
                </a14:hiddenFill>
              </a:ext>
            </a:extLst>
          </p:spPr>
        </p:pic>
      </p:grpSp>
      <p:pic>
        <p:nvPicPr>
          <p:cNvPr id="5128" name="Picture 8">
            <a:extLst>
              <a:ext uri="{FF2B5EF4-FFF2-40B4-BE49-F238E27FC236}">
                <a16:creationId xmlns:a16="http://schemas.microsoft.com/office/drawing/2014/main" id="{2B3FE555-2FED-402E-8B3B-E9F0EC89AB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6047" y="3600266"/>
            <a:ext cx="529893" cy="475545"/>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Straight Arrow Connector 36">
            <a:extLst>
              <a:ext uri="{FF2B5EF4-FFF2-40B4-BE49-F238E27FC236}">
                <a16:creationId xmlns:a16="http://schemas.microsoft.com/office/drawing/2014/main" id="{0A53BE3F-B748-4281-AFE4-5199FA7B31D0}"/>
              </a:ext>
            </a:extLst>
          </p:cNvPr>
          <p:cNvCxnSpPr>
            <a:cxnSpLocks/>
          </p:cNvCxnSpPr>
          <p:nvPr/>
        </p:nvCxnSpPr>
        <p:spPr>
          <a:xfrm>
            <a:off x="3170631" y="3838039"/>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A1CF0E7D-CC6F-4047-8FA0-E12483DEC400}"/>
              </a:ext>
            </a:extLst>
          </p:cNvPr>
          <p:cNvGrpSpPr/>
          <p:nvPr/>
        </p:nvGrpSpPr>
        <p:grpSpPr>
          <a:xfrm>
            <a:off x="3758315" y="2447763"/>
            <a:ext cx="988793" cy="572547"/>
            <a:chOff x="3758315" y="2447763"/>
            <a:chExt cx="988793" cy="572547"/>
          </a:xfrm>
        </p:grpSpPr>
        <p:sp>
          <p:nvSpPr>
            <p:cNvPr id="38" name="Rectangle 37">
              <a:extLst>
                <a:ext uri="{FF2B5EF4-FFF2-40B4-BE49-F238E27FC236}">
                  <a16:creationId xmlns:a16="http://schemas.microsoft.com/office/drawing/2014/main" id="{C7B1FE28-6C9F-4A3A-AE02-06599690B66C}"/>
                </a:ext>
              </a:extLst>
            </p:cNvPr>
            <p:cNvSpPr/>
            <p:nvPr/>
          </p:nvSpPr>
          <p:spPr>
            <a:xfrm>
              <a:off x="3758315" y="2447763"/>
              <a:ext cx="988793" cy="5725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5130" name="Picture 10">
              <a:extLst>
                <a:ext uri="{FF2B5EF4-FFF2-40B4-BE49-F238E27FC236}">
                  <a16:creationId xmlns:a16="http://schemas.microsoft.com/office/drawing/2014/main" id="{56395D96-193F-4887-9D7F-54C48A2897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8244" y="2506909"/>
              <a:ext cx="804651" cy="49317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0" name="Straight Arrow Connector 39">
            <a:extLst>
              <a:ext uri="{FF2B5EF4-FFF2-40B4-BE49-F238E27FC236}">
                <a16:creationId xmlns:a16="http://schemas.microsoft.com/office/drawing/2014/main" id="{DA1E5FBE-A55F-4CE1-BDFC-DED6E1A85F9C}"/>
              </a:ext>
            </a:extLst>
          </p:cNvPr>
          <p:cNvCxnSpPr>
            <a:cxnSpLocks/>
          </p:cNvCxnSpPr>
          <p:nvPr/>
        </p:nvCxnSpPr>
        <p:spPr>
          <a:xfrm flipV="1">
            <a:off x="4262969" y="1880755"/>
            <a:ext cx="0" cy="4552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32" name="Picture 12">
            <a:extLst>
              <a:ext uri="{FF2B5EF4-FFF2-40B4-BE49-F238E27FC236}">
                <a16:creationId xmlns:a16="http://schemas.microsoft.com/office/drawing/2014/main" id="{FB046747-C17F-44B4-9FF6-95EFA7618B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6601" y="1380497"/>
            <a:ext cx="588784" cy="420560"/>
          </a:xfrm>
          <a:prstGeom prst="rect">
            <a:avLst/>
          </a:prstGeom>
          <a:noFill/>
          <a:extLst>
            <a:ext uri="{909E8E84-426E-40DD-AFC4-6F175D3DCCD1}">
              <a14:hiddenFill xmlns:a14="http://schemas.microsoft.com/office/drawing/2010/main">
                <a:solidFill>
                  <a:srgbClr val="FFFFFF"/>
                </a:solidFill>
              </a14:hiddenFill>
            </a:ext>
          </a:extLst>
        </p:spPr>
      </p:pic>
      <p:cxnSp>
        <p:nvCxnSpPr>
          <p:cNvPr id="47" name="Straight Arrow Connector 46">
            <a:extLst>
              <a:ext uri="{FF2B5EF4-FFF2-40B4-BE49-F238E27FC236}">
                <a16:creationId xmlns:a16="http://schemas.microsoft.com/office/drawing/2014/main" id="{84B79E6D-C410-4835-B80D-ECB71FAC10EE}"/>
              </a:ext>
            </a:extLst>
          </p:cNvPr>
          <p:cNvCxnSpPr>
            <a:cxnSpLocks/>
          </p:cNvCxnSpPr>
          <p:nvPr/>
        </p:nvCxnSpPr>
        <p:spPr>
          <a:xfrm>
            <a:off x="4749478" y="3863465"/>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F654A16F-EEAA-46E6-A64A-4E0A23A37C51}"/>
              </a:ext>
            </a:extLst>
          </p:cNvPr>
          <p:cNvGrpSpPr/>
          <p:nvPr/>
        </p:nvGrpSpPr>
        <p:grpSpPr>
          <a:xfrm>
            <a:off x="5601603" y="3535329"/>
            <a:ext cx="988793" cy="572547"/>
            <a:chOff x="5601603" y="3535329"/>
            <a:chExt cx="988793" cy="572547"/>
          </a:xfrm>
        </p:grpSpPr>
        <p:sp>
          <p:nvSpPr>
            <p:cNvPr id="46" name="Rectangle 45">
              <a:extLst>
                <a:ext uri="{FF2B5EF4-FFF2-40B4-BE49-F238E27FC236}">
                  <a16:creationId xmlns:a16="http://schemas.microsoft.com/office/drawing/2014/main" id="{9BA687E5-5F58-4F6B-98B1-28D6C4C5ED29}"/>
                </a:ext>
              </a:extLst>
            </p:cNvPr>
            <p:cNvSpPr/>
            <p:nvPr/>
          </p:nvSpPr>
          <p:spPr>
            <a:xfrm>
              <a:off x="5601603" y="3535329"/>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8" name="Picture 6">
              <a:extLst>
                <a:ext uri="{FF2B5EF4-FFF2-40B4-BE49-F238E27FC236}">
                  <a16:creationId xmlns:a16="http://schemas.microsoft.com/office/drawing/2014/main" id="{3D1C9465-BB54-41A0-82CE-18E8270A75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3598" y="3582077"/>
              <a:ext cx="654866" cy="46952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9" name="Straight Arrow Connector 48">
            <a:extLst>
              <a:ext uri="{FF2B5EF4-FFF2-40B4-BE49-F238E27FC236}">
                <a16:creationId xmlns:a16="http://schemas.microsoft.com/office/drawing/2014/main" id="{0FFAFD75-E349-40CD-9E8C-9888F238C08C}"/>
              </a:ext>
            </a:extLst>
          </p:cNvPr>
          <p:cNvCxnSpPr>
            <a:cxnSpLocks/>
          </p:cNvCxnSpPr>
          <p:nvPr/>
        </p:nvCxnSpPr>
        <p:spPr>
          <a:xfrm>
            <a:off x="6590396" y="3863465"/>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34" name="Picture 14">
            <a:extLst>
              <a:ext uri="{FF2B5EF4-FFF2-40B4-BE49-F238E27FC236}">
                <a16:creationId xmlns:a16="http://schemas.microsoft.com/office/drawing/2014/main" id="{7D9AE5CB-187C-4629-BB0D-200265E760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4113" y="3637317"/>
            <a:ext cx="558766" cy="488920"/>
          </a:xfrm>
          <a:prstGeom prst="rect">
            <a:avLst/>
          </a:prstGeom>
          <a:noFill/>
          <a:extLst>
            <a:ext uri="{909E8E84-426E-40DD-AFC4-6F175D3DCCD1}">
              <a14:hiddenFill xmlns:a14="http://schemas.microsoft.com/office/drawing/2010/main">
                <a:solidFill>
                  <a:srgbClr val="FFFFFF"/>
                </a:solidFill>
              </a14:hiddenFill>
            </a:ext>
          </a:extLst>
        </p:spPr>
      </p:pic>
      <p:cxnSp>
        <p:nvCxnSpPr>
          <p:cNvPr id="55" name="Straight Arrow Connector 54">
            <a:extLst>
              <a:ext uri="{FF2B5EF4-FFF2-40B4-BE49-F238E27FC236}">
                <a16:creationId xmlns:a16="http://schemas.microsoft.com/office/drawing/2014/main" id="{A86A9324-D025-4CE9-BB91-74067BA67685}"/>
              </a:ext>
            </a:extLst>
          </p:cNvPr>
          <p:cNvCxnSpPr>
            <a:cxnSpLocks/>
          </p:cNvCxnSpPr>
          <p:nvPr/>
        </p:nvCxnSpPr>
        <p:spPr>
          <a:xfrm>
            <a:off x="8024471" y="3888024"/>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C1BA6D-DF7A-4337-BFBB-BAC5D13648FC}"/>
              </a:ext>
            </a:extLst>
          </p:cNvPr>
          <p:cNvGrpSpPr/>
          <p:nvPr/>
        </p:nvGrpSpPr>
        <p:grpSpPr>
          <a:xfrm>
            <a:off x="8876596" y="3559888"/>
            <a:ext cx="988793" cy="572547"/>
            <a:chOff x="8876596" y="3559888"/>
            <a:chExt cx="988793" cy="572547"/>
          </a:xfrm>
        </p:grpSpPr>
        <p:sp>
          <p:nvSpPr>
            <p:cNvPr id="54" name="Rectangle 53">
              <a:extLst>
                <a:ext uri="{FF2B5EF4-FFF2-40B4-BE49-F238E27FC236}">
                  <a16:creationId xmlns:a16="http://schemas.microsoft.com/office/drawing/2014/main" id="{CFD4C1B8-677A-4C13-9CB0-ACB3B724C0BC}"/>
                </a:ext>
              </a:extLst>
            </p:cNvPr>
            <p:cNvSpPr/>
            <p:nvPr/>
          </p:nvSpPr>
          <p:spPr>
            <a:xfrm>
              <a:off x="8876596" y="3559888"/>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56" name="Picture 6">
              <a:extLst>
                <a:ext uri="{FF2B5EF4-FFF2-40B4-BE49-F238E27FC236}">
                  <a16:creationId xmlns:a16="http://schemas.microsoft.com/office/drawing/2014/main" id="{8C28E74D-CDF3-45B9-9994-BDDC1A8155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8591" y="3606636"/>
              <a:ext cx="654866" cy="46952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7" name="Straight Arrow Connector 56">
            <a:extLst>
              <a:ext uri="{FF2B5EF4-FFF2-40B4-BE49-F238E27FC236}">
                <a16:creationId xmlns:a16="http://schemas.microsoft.com/office/drawing/2014/main" id="{5B6501A8-B334-472B-8C16-51D6D2D4903B}"/>
              </a:ext>
            </a:extLst>
          </p:cNvPr>
          <p:cNvCxnSpPr>
            <a:cxnSpLocks/>
          </p:cNvCxnSpPr>
          <p:nvPr/>
        </p:nvCxnSpPr>
        <p:spPr>
          <a:xfrm>
            <a:off x="9865389" y="3888024"/>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36" name="Picture 16">
            <a:extLst>
              <a:ext uri="{FF2B5EF4-FFF2-40B4-BE49-F238E27FC236}">
                <a16:creationId xmlns:a16="http://schemas.microsoft.com/office/drawing/2014/main" id="{71FD0BD1-1033-4E4D-AEF7-166E7406D51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43427" y="3640071"/>
            <a:ext cx="558766" cy="495905"/>
          </a:xfrm>
          <a:prstGeom prst="rect">
            <a:avLst/>
          </a:prstGeom>
          <a:noFill/>
          <a:extLst>
            <a:ext uri="{909E8E84-426E-40DD-AFC4-6F175D3DCCD1}">
              <a14:hiddenFill xmlns:a14="http://schemas.microsoft.com/office/drawing/2010/main">
                <a:solidFill>
                  <a:srgbClr val="FFFFFF"/>
                </a:solidFill>
              </a14:hiddenFill>
            </a:ext>
          </a:extLst>
        </p:spPr>
      </p:pic>
      <p:pic>
        <p:nvPicPr>
          <p:cNvPr id="5138" name="Picture 18">
            <a:extLst>
              <a:ext uri="{FF2B5EF4-FFF2-40B4-BE49-F238E27FC236}">
                <a16:creationId xmlns:a16="http://schemas.microsoft.com/office/drawing/2014/main" id="{A58B0BCE-FDD0-4E91-A03A-CDC4642FF2C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85614" y="4849848"/>
            <a:ext cx="620771" cy="385035"/>
          </a:xfrm>
          <a:prstGeom prst="rect">
            <a:avLst/>
          </a:prstGeom>
          <a:noFill/>
          <a:extLst>
            <a:ext uri="{909E8E84-426E-40DD-AFC4-6F175D3DCCD1}">
              <a14:hiddenFill xmlns:a14="http://schemas.microsoft.com/office/drawing/2010/main">
                <a:solidFill>
                  <a:srgbClr val="FFFFFF"/>
                </a:solidFill>
              </a14:hiddenFill>
            </a:ext>
          </a:extLst>
        </p:spPr>
      </p:pic>
      <p:pic>
        <p:nvPicPr>
          <p:cNvPr id="5140" name="Picture 20">
            <a:extLst>
              <a:ext uri="{FF2B5EF4-FFF2-40B4-BE49-F238E27FC236}">
                <a16:creationId xmlns:a16="http://schemas.microsoft.com/office/drawing/2014/main" id="{4480B76D-7801-45D7-95E1-90D2A4CED30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57032" y="4859356"/>
            <a:ext cx="608357" cy="385036"/>
          </a:xfrm>
          <a:prstGeom prst="rect">
            <a:avLst/>
          </a:prstGeom>
          <a:noFill/>
          <a:extLst>
            <a:ext uri="{909E8E84-426E-40DD-AFC4-6F175D3DCCD1}">
              <a14:hiddenFill xmlns:a14="http://schemas.microsoft.com/office/drawing/2010/main">
                <a:solidFill>
                  <a:srgbClr val="FFFFFF"/>
                </a:solidFill>
              </a14:hiddenFill>
            </a:ext>
          </a:extLst>
        </p:spPr>
      </p:pic>
      <p:cxnSp>
        <p:nvCxnSpPr>
          <p:cNvPr id="61" name="Straight Arrow Connector 60">
            <a:extLst>
              <a:ext uri="{FF2B5EF4-FFF2-40B4-BE49-F238E27FC236}">
                <a16:creationId xmlns:a16="http://schemas.microsoft.com/office/drawing/2014/main" id="{BDE8F8C2-324C-4DB2-9CCB-1829FA0E41BA}"/>
              </a:ext>
            </a:extLst>
          </p:cNvPr>
          <p:cNvCxnSpPr/>
          <p:nvPr/>
        </p:nvCxnSpPr>
        <p:spPr>
          <a:xfrm flipV="1">
            <a:off x="6121031" y="4229414"/>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92ABA2A-EFCA-4602-BC56-407466B23F17}"/>
              </a:ext>
            </a:extLst>
          </p:cNvPr>
          <p:cNvCxnSpPr/>
          <p:nvPr/>
        </p:nvCxnSpPr>
        <p:spPr>
          <a:xfrm flipV="1">
            <a:off x="9517102" y="4301018"/>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E378EB6-2EA2-414D-B26D-65CEFB39DA19}"/>
              </a:ext>
            </a:extLst>
          </p:cNvPr>
          <p:cNvCxnSpPr/>
          <p:nvPr/>
        </p:nvCxnSpPr>
        <p:spPr>
          <a:xfrm flipV="1">
            <a:off x="7642154" y="3096949"/>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008BD2-39A9-4F24-A61F-B50E880EF241}"/>
              </a:ext>
            </a:extLst>
          </p:cNvPr>
          <p:cNvGrpSpPr/>
          <p:nvPr/>
        </p:nvGrpSpPr>
        <p:grpSpPr>
          <a:xfrm>
            <a:off x="7188820" y="2497998"/>
            <a:ext cx="988793" cy="572547"/>
            <a:chOff x="7188820" y="2497998"/>
            <a:chExt cx="988793" cy="572547"/>
          </a:xfrm>
        </p:grpSpPr>
        <p:sp>
          <p:nvSpPr>
            <p:cNvPr id="64" name="Rectangle 63">
              <a:extLst>
                <a:ext uri="{FF2B5EF4-FFF2-40B4-BE49-F238E27FC236}">
                  <a16:creationId xmlns:a16="http://schemas.microsoft.com/office/drawing/2014/main" id="{B9BE40E2-C142-4D2F-887D-860BE0D27911}"/>
                </a:ext>
              </a:extLst>
            </p:cNvPr>
            <p:cNvSpPr/>
            <p:nvPr/>
          </p:nvSpPr>
          <p:spPr>
            <a:xfrm>
              <a:off x="7188820" y="2497998"/>
              <a:ext cx="988793" cy="5725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65" name="Picture 10">
              <a:extLst>
                <a:ext uri="{FF2B5EF4-FFF2-40B4-BE49-F238E27FC236}">
                  <a16:creationId xmlns:a16="http://schemas.microsoft.com/office/drawing/2014/main" id="{8FC73AB4-2362-4004-8A95-DB13B1F6D5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48749" y="2557144"/>
              <a:ext cx="804651" cy="49317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66" name="Straight Arrow Connector 65">
            <a:extLst>
              <a:ext uri="{FF2B5EF4-FFF2-40B4-BE49-F238E27FC236}">
                <a16:creationId xmlns:a16="http://schemas.microsoft.com/office/drawing/2014/main" id="{7D0AFBC8-0FE2-4A3E-8704-3FCA1964A200}"/>
              </a:ext>
            </a:extLst>
          </p:cNvPr>
          <p:cNvCxnSpPr/>
          <p:nvPr/>
        </p:nvCxnSpPr>
        <p:spPr>
          <a:xfrm flipV="1">
            <a:off x="10912730" y="3071677"/>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6C3E1C8-74CD-4A51-A8C1-C40B5B3851A7}"/>
              </a:ext>
            </a:extLst>
          </p:cNvPr>
          <p:cNvGrpSpPr/>
          <p:nvPr/>
        </p:nvGrpSpPr>
        <p:grpSpPr>
          <a:xfrm>
            <a:off x="10459396" y="2472726"/>
            <a:ext cx="988793" cy="572547"/>
            <a:chOff x="10459396" y="2472726"/>
            <a:chExt cx="988793" cy="572547"/>
          </a:xfrm>
        </p:grpSpPr>
        <p:sp>
          <p:nvSpPr>
            <p:cNvPr id="67" name="Rectangle 66">
              <a:extLst>
                <a:ext uri="{FF2B5EF4-FFF2-40B4-BE49-F238E27FC236}">
                  <a16:creationId xmlns:a16="http://schemas.microsoft.com/office/drawing/2014/main" id="{4ECC56A6-4255-4352-97DA-E90A83783173}"/>
                </a:ext>
              </a:extLst>
            </p:cNvPr>
            <p:cNvSpPr/>
            <p:nvPr/>
          </p:nvSpPr>
          <p:spPr>
            <a:xfrm>
              <a:off x="10459396" y="2472726"/>
              <a:ext cx="988793" cy="5725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68" name="Picture 10">
              <a:extLst>
                <a:ext uri="{FF2B5EF4-FFF2-40B4-BE49-F238E27FC236}">
                  <a16:creationId xmlns:a16="http://schemas.microsoft.com/office/drawing/2014/main" id="{C390EFF4-B670-4E4D-B6FA-061CD787BE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19325" y="2531872"/>
              <a:ext cx="804651" cy="49317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69" name="Straight Arrow Connector 68">
            <a:extLst>
              <a:ext uri="{FF2B5EF4-FFF2-40B4-BE49-F238E27FC236}">
                <a16:creationId xmlns:a16="http://schemas.microsoft.com/office/drawing/2014/main" id="{D6219397-143F-4885-B343-2506B321B9E4}"/>
              </a:ext>
            </a:extLst>
          </p:cNvPr>
          <p:cNvCxnSpPr>
            <a:cxnSpLocks/>
          </p:cNvCxnSpPr>
          <p:nvPr/>
        </p:nvCxnSpPr>
        <p:spPr>
          <a:xfrm>
            <a:off x="11448189" y="3863465"/>
            <a:ext cx="4416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42" name="Picture 22">
            <a:extLst>
              <a:ext uri="{FF2B5EF4-FFF2-40B4-BE49-F238E27FC236}">
                <a16:creationId xmlns:a16="http://schemas.microsoft.com/office/drawing/2014/main" id="{A45633A2-B719-4931-81D5-B85EE560509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16157" y="1363101"/>
            <a:ext cx="651994" cy="453920"/>
          </a:xfrm>
          <a:prstGeom prst="rect">
            <a:avLst/>
          </a:prstGeom>
          <a:noFill/>
          <a:extLst>
            <a:ext uri="{909E8E84-426E-40DD-AFC4-6F175D3DCCD1}">
              <a14:hiddenFill xmlns:a14="http://schemas.microsoft.com/office/drawing/2010/main">
                <a:solidFill>
                  <a:srgbClr val="FFFFFF"/>
                </a:solidFill>
              </a14:hiddenFill>
            </a:ext>
          </a:extLst>
        </p:spPr>
      </p:pic>
      <p:pic>
        <p:nvPicPr>
          <p:cNvPr id="5144" name="Picture 24">
            <a:extLst>
              <a:ext uri="{FF2B5EF4-FFF2-40B4-BE49-F238E27FC236}">
                <a16:creationId xmlns:a16="http://schemas.microsoft.com/office/drawing/2014/main" id="{5856E907-E447-48DF-B358-DE59C7E855B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697818" y="1333845"/>
            <a:ext cx="528965" cy="368267"/>
          </a:xfrm>
          <a:prstGeom prst="rect">
            <a:avLst/>
          </a:prstGeom>
          <a:noFill/>
          <a:extLst>
            <a:ext uri="{909E8E84-426E-40DD-AFC4-6F175D3DCCD1}">
              <a14:hiddenFill xmlns:a14="http://schemas.microsoft.com/office/drawing/2010/main">
                <a:solidFill>
                  <a:srgbClr val="FFFFFF"/>
                </a:solidFill>
              </a14:hiddenFill>
            </a:ext>
          </a:extLst>
        </p:spPr>
      </p:pic>
      <p:cxnSp>
        <p:nvCxnSpPr>
          <p:cNvPr id="73" name="Straight Arrow Connector 72">
            <a:extLst>
              <a:ext uri="{FF2B5EF4-FFF2-40B4-BE49-F238E27FC236}">
                <a16:creationId xmlns:a16="http://schemas.microsoft.com/office/drawing/2014/main" id="{E54156A1-EFEF-4383-8198-D8FAB4D77E40}"/>
              </a:ext>
            </a:extLst>
          </p:cNvPr>
          <p:cNvCxnSpPr>
            <a:cxnSpLocks/>
          </p:cNvCxnSpPr>
          <p:nvPr/>
        </p:nvCxnSpPr>
        <p:spPr>
          <a:xfrm flipV="1">
            <a:off x="7661667" y="1880755"/>
            <a:ext cx="0" cy="4552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0F5532D-734C-4198-9275-B1968055349C}"/>
              </a:ext>
            </a:extLst>
          </p:cNvPr>
          <p:cNvCxnSpPr>
            <a:cxnSpLocks/>
          </p:cNvCxnSpPr>
          <p:nvPr/>
        </p:nvCxnSpPr>
        <p:spPr>
          <a:xfrm flipV="1">
            <a:off x="10962300" y="1880754"/>
            <a:ext cx="0" cy="4552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25" name="TextBox 5124">
            <a:extLst>
              <a:ext uri="{FF2B5EF4-FFF2-40B4-BE49-F238E27FC236}">
                <a16:creationId xmlns:a16="http://schemas.microsoft.com/office/drawing/2014/main" id="{320BB1BF-57C7-498C-9B6F-57143B3183FC}"/>
              </a:ext>
            </a:extLst>
          </p:cNvPr>
          <p:cNvSpPr txBox="1"/>
          <p:nvPr/>
        </p:nvSpPr>
        <p:spPr>
          <a:xfrm>
            <a:off x="520717" y="5649981"/>
            <a:ext cx="6132256" cy="461665"/>
          </a:xfrm>
          <a:prstGeom prst="rect">
            <a:avLst/>
          </a:prstGeom>
          <a:noFill/>
        </p:spPr>
        <p:txBody>
          <a:bodyPr wrap="none" rtlCol="0">
            <a:spAutoFit/>
          </a:bodyPr>
          <a:lstStyle/>
          <a:p>
            <a:r>
              <a:rPr lang="en-US" sz="2400" dirty="0"/>
              <a:t>The same set of weights for different time steps</a:t>
            </a:r>
          </a:p>
        </p:txBody>
      </p:sp>
      <p:pic>
        <p:nvPicPr>
          <p:cNvPr id="76" name="Picture 6">
            <a:extLst>
              <a:ext uri="{FF2B5EF4-FFF2-40B4-BE49-F238E27FC236}">
                <a16:creationId xmlns:a16="http://schemas.microsoft.com/office/drawing/2014/main" id="{F3DB2D26-7E08-4E78-976D-29FC407234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3152" y="5624052"/>
            <a:ext cx="654866" cy="469527"/>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0">
            <a:extLst>
              <a:ext uri="{FF2B5EF4-FFF2-40B4-BE49-F238E27FC236}">
                <a16:creationId xmlns:a16="http://schemas.microsoft.com/office/drawing/2014/main" id="{2B87DD35-5776-4A51-A711-A3F554767A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9020" y="5618473"/>
            <a:ext cx="804651" cy="493173"/>
          </a:xfrm>
          <a:prstGeom prst="rect">
            <a:avLst/>
          </a:prstGeom>
          <a:noFill/>
          <a:extLst>
            <a:ext uri="{909E8E84-426E-40DD-AFC4-6F175D3DCCD1}">
              <a14:hiddenFill xmlns:a14="http://schemas.microsoft.com/office/drawing/2010/main">
                <a:solidFill>
                  <a:srgbClr val="FFFFFF"/>
                </a:solidFill>
              </a14:hiddenFill>
            </a:ext>
          </a:extLst>
        </p:spPr>
      </p:pic>
      <p:sp>
        <p:nvSpPr>
          <p:cNvPr id="5127" name="TextBox 5126">
            <a:extLst>
              <a:ext uri="{FF2B5EF4-FFF2-40B4-BE49-F238E27FC236}">
                <a16:creationId xmlns:a16="http://schemas.microsoft.com/office/drawing/2014/main" id="{88D0C33B-8EEA-4E48-AB75-FC40BCA4D9EE}"/>
              </a:ext>
            </a:extLst>
          </p:cNvPr>
          <p:cNvSpPr txBox="1"/>
          <p:nvPr/>
        </p:nvSpPr>
        <p:spPr>
          <a:xfrm>
            <a:off x="11593033" y="3652490"/>
            <a:ext cx="574196" cy="769441"/>
          </a:xfrm>
          <a:prstGeom prst="rect">
            <a:avLst/>
          </a:prstGeom>
          <a:noFill/>
        </p:spPr>
        <p:txBody>
          <a:bodyPr wrap="none" rtlCol="0">
            <a:spAutoFit/>
          </a:bodyPr>
          <a:lstStyle/>
          <a:p>
            <a:r>
              <a:rPr lang="en-US" sz="4400" dirty="0"/>
              <a:t>…</a:t>
            </a:r>
          </a:p>
        </p:txBody>
      </p:sp>
    </p:spTree>
    <p:extLst>
      <p:ext uri="{BB962C8B-B14F-4D97-AF65-F5344CB8AC3E}">
        <p14:creationId xmlns:p14="http://schemas.microsoft.com/office/powerpoint/2010/main" val="324488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1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14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14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13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14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12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12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76"/>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5127"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CEE3-C365-40DC-BAD3-8516F4A80F28}"/>
              </a:ext>
            </a:extLst>
          </p:cNvPr>
          <p:cNvSpPr>
            <a:spLocks noGrp="1"/>
          </p:cNvSpPr>
          <p:nvPr>
            <p:ph type="title"/>
          </p:nvPr>
        </p:nvSpPr>
        <p:spPr/>
        <p:txBody>
          <a:bodyPr/>
          <a:lstStyle/>
          <a:p>
            <a:r>
              <a:rPr lang="en-US" dirty="0"/>
              <a:t>RNN Training</a:t>
            </a:r>
          </a:p>
        </p:txBody>
      </p:sp>
      <p:sp>
        <p:nvSpPr>
          <p:cNvPr id="6" name="Slide Number Placeholder 5">
            <a:extLst>
              <a:ext uri="{FF2B5EF4-FFF2-40B4-BE49-F238E27FC236}">
                <a16:creationId xmlns:a16="http://schemas.microsoft.com/office/drawing/2014/main" id="{CD79F0C3-45EB-4151-8A26-406ACDD5DF18}"/>
              </a:ext>
            </a:extLst>
          </p:cNvPr>
          <p:cNvSpPr>
            <a:spLocks noGrp="1"/>
          </p:cNvSpPr>
          <p:nvPr>
            <p:ph type="sldNum" sz="quarter" idx="12"/>
          </p:nvPr>
        </p:nvSpPr>
        <p:spPr/>
        <p:txBody>
          <a:bodyPr/>
          <a:lstStyle/>
          <a:p>
            <a:fld id="{1B30F0CC-EBAF-4E3D-80D7-CFC82A3A738F}" type="slidenum">
              <a:rPr lang="en-US" smtClean="0"/>
              <a:pPr/>
              <a:t>107</a:t>
            </a:fld>
            <a:endParaRPr lang="en-US" dirty="0"/>
          </a:p>
        </p:txBody>
      </p:sp>
      <p:cxnSp>
        <p:nvCxnSpPr>
          <p:cNvPr id="7" name="Straight Arrow Connector 6">
            <a:extLst>
              <a:ext uri="{FF2B5EF4-FFF2-40B4-BE49-F238E27FC236}">
                <a16:creationId xmlns:a16="http://schemas.microsoft.com/office/drawing/2014/main" id="{0500787D-393A-476E-9490-70142A0C92E5}"/>
              </a:ext>
            </a:extLst>
          </p:cNvPr>
          <p:cNvCxnSpPr/>
          <p:nvPr/>
        </p:nvCxnSpPr>
        <p:spPr>
          <a:xfrm flipV="1">
            <a:off x="2482931" y="5076129"/>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982A034-CA1F-4A29-8DC0-EB38A8E6F803}"/>
              </a:ext>
            </a:extLst>
          </p:cNvPr>
          <p:cNvCxnSpPr/>
          <p:nvPr/>
        </p:nvCxnSpPr>
        <p:spPr>
          <a:xfrm flipV="1">
            <a:off x="3929679" y="3817229"/>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040BF18-F217-4A9D-9EDE-416FDF66E847}"/>
              </a:ext>
            </a:extLst>
          </p:cNvPr>
          <p:cNvSpPr/>
          <p:nvPr/>
        </p:nvSpPr>
        <p:spPr>
          <a:xfrm>
            <a:off x="1899868" y="4280418"/>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Arrow Connector 9">
            <a:extLst>
              <a:ext uri="{FF2B5EF4-FFF2-40B4-BE49-F238E27FC236}">
                <a16:creationId xmlns:a16="http://schemas.microsoft.com/office/drawing/2014/main" id="{5798E53F-7ECC-42D8-8710-D04CCF00C379}"/>
              </a:ext>
            </a:extLst>
          </p:cNvPr>
          <p:cNvCxnSpPr>
            <a:cxnSpLocks/>
          </p:cNvCxnSpPr>
          <p:nvPr/>
        </p:nvCxnSpPr>
        <p:spPr>
          <a:xfrm>
            <a:off x="1047743" y="4608554"/>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2">
            <a:extLst>
              <a:ext uri="{FF2B5EF4-FFF2-40B4-BE49-F238E27FC236}">
                <a16:creationId xmlns:a16="http://schemas.microsoft.com/office/drawing/2014/main" id="{B14E9763-AA9D-4374-8CE3-CA95D6D49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752" y="4305684"/>
            <a:ext cx="601995" cy="53427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DCB7ED52-621D-4FCC-9E52-95C330E55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0403" y="5620363"/>
            <a:ext cx="605055" cy="38503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a:extLst>
              <a:ext uri="{FF2B5EF4-FFF2-40B4-BE49-F238E27FC236}">
                <a16:creationId xmlns:a16="http://schemas.microsoft.com/office/drawing/2014/main" id="{B0611729-5D87-43DA-B32D-14D9C039EE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1863" y="4327166"/>
            <a:ext cx="654866" cy="469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a:extLst>
              <a:ext uri="{FF2B5EF4-FFF2-40B4-BE49-F238E27FC236}">
                <a16:creationId xmlns:a16="http://schemas.microsoft.com/office/drawing/2014/main" id="{17087F46-813B-432F-93BB-FACF77E5C8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4077" y="4370781"/>
            <a:ext cx="529893" cy="47554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Arrow Connector 14">
            <a:extLst>
              <a:ext uri="{FF2B5EF4-FFF2-40B4-BE49-F238E27FC236}">
                <a16:creationId xmlns:a16="http://schemas.microsoft.com/office/drawing/2014/main" id="{F340FC76-B851-4DC6-95A8-396DDC032B15}"/>
              </a:ext>
            </a:extLst>
          </p:cNvPr>
          <p:cNvCxnSpPr>
            <a:cxnSpLocks/>
          </p:cNvCxnSpPr>
          <p:nvPr/>
        </p:nvCxnSpPr>
        <p:spPr>
          <a:xfrm>
            <a:off x="2888661" y="4608554"/>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18D2A46-1383-4ED4-AEE0-91EA01265460}"/>
              </a:ext>
            </a:extLst>
          </p:cNvPr>
          <p:cNvSpPr/>
          <p:nvPr/>
        </p:nvSpPr>
        <p:spPr>
          <a:xfrm>
            <a:off x="3476345" y="3218278"/>
            <a:ext cx="988793" cy="5725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7" name="Picture 10">
            <a:extLst>
              <a:ext uri="{FF2B5EF4-FFF2-40B4-BE49-F238E27FC236}">
                <a16:creationId xmlns:a16="http://schemas.microsoft.com/office/drawing/2014/main" id="{7B564241-79AB-4702-BF7F-B9549FFDEC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6274" y="3277424"/>
            <a:ext cx="804651" cy="493173"/>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Arrow Connector 17">
            <a:extLst>
              <a:ext uri="{FF2B5EF4-FFF2-40B4-BE49-F238E27FC236}">
                <a16:creationId xmlns:a16="http://schemas.microsoft.com/office/drawing/2014/main" id="{0B4596D7-FE9D-463E-82AA-8EB6560BBD54}"/>
              </a:ext>
            </a:extLst>
          </p:cNvPr>
          <p:cNvCxnSpPr>
            <a:cxnSpLocks/>
          </p:cNvCxnSpPr>
          <p:nvPr/>
        </p:nvCxnSpPr>
        <p:spPr>
          <a:xfrm flipV="1">
            <a:off x="3980999" y="2651270"/>
            <a:ext cx="0" cy="4552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2">
            <a:extLst>
              <a:ext uri="{FF2B5EF4-FFF2-40B4-BE49-F238E27FC236}">
                <a16:creationId xmlns:a16="http://schemas.microsoft.com/office/drawing/2014/main" id="{C1F9E4D6-4087-4C9B-8751-95A8078D2B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4631" y="2151012"/>
            <a:ext cx="588784" cy="42056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27640903-A41D-4D38-9ABB-F2520D537225}"/>
              </a:ext>
            </a:extLst>
          </p:cNvPr>
          <p:cNvSpPr/>
          <p:nvPr/>
        </p:nvSpPr>
        <p:spPr>
          <a:xfrm>
            <a:off x="5319633" y="4305844"/>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1" name="Straight Arrow Connector 20">
            <a:extLst>
              <a:ext uri="{FF2B5EF4-FFF2-40B4-BE49-F238E27FC236}">
                <a16:creationId xmlns:a16="http://schemas.microsoft.com/office/drawing/2014/main" id="{A0524DD8-9624-4403-BA27-2DFD1614A3C7}"/>
              </a:ext>
            </a:extLst>
          </p:cNvPr>
          <p:cNvCxnSpPr>
            <a:cxnSpLocks/>
          </p:cNvCxnSpPr>
          <p:nvPr/>
        </p:nvCxnSpPr>
        <p:spPr>
          <a:xfrm>
            <a:off x="4467508" y="4633980"/>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6">
            <a:extLst>
              <a:ext uri="{FF2B5EF4-FFF2-40B4-BE49-F238E27FC236}">
                <a16:creationId xmlns:a16="http://schemas.microsoft.com/office/drawing/2014/main" id="{FFFA2CF9-22E5-457E-BDB9-39E5B63993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1628" y="4352592"/>
            <a:ext cx="654866" cy="46952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6D198ADA-9534-4038-92DC-AD253342CD34}"/>
              </a:ext>
            </a:extLst>
          </p:cNvPr>
          <p:cNvCxnSpPr>
            <a:cxnSpLocks/>
          </p:cNvCxnSpPr>
          <p:nvPr/>
        </p:nvCxnSpPr>
        <p:spPr>
          <a:xfrm>
            <a:off x="6308426" y="4633980"/>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14">
            <a:extLst>
              <a:ext uri="{FF2B5EF4-FFF2-40B4-BE49-F238E27FC236}">
                <a16:creationId xmlns:a16="http://schemas.microsoft.com/office/drawing/2014/main" id="{91C28B98-64F1-4547-8B93-E0E7C308D2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72143" y="4407832"/>
            <a:ext cx="558766" cy="488920"/>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75090350-1306-4055-89B4-082E3441EC0F}"/>
              </a:ext>
            </a:extLst>
          </p:cNvPr>
          <p:cNvSpPr/>
          <p:nvPr/>
        </p:nvSpPr>
        <p:spPr>
          <a:xfrm>
            <a:off x="8594626" y="4330403"/>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6" name="Straight Arrow Connector 25">
            <a:extLst>
              <a:ext uri="{FF2B5EF4-FFF2-40B4-BE49-F238E27FC236}">
                <a16:creationId xmlns:a16="http://schemas.microsoft.com/office/drawing/2014/main" id="{45E6DC4C-7A11-4A84-921E-33C8D7B1F579}"/>
              </a:ext>
            </a:extLst>
          </p:cNvPr>
          <p:cNvCxnSpPr>
            <a:cxnSpLocks/>
          </p:cNvCxnSpPr>
          <p:nvPr/>
        </p:nvCxnSpPr>
        <p:spPr>
          <a:xfrm>
            <a:off x="7742501" y="4658539"/>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7" name="Picture 6">
            <a:extLst>
              <a:ext uri="{FF2B5EF4-FFF2-40B4-BE49-F238E27FC236}">
                <a16:creationId xmlns:a16="http://schemas.microsoft.com/office/drawing/2014/main" id="{808E0B9F-433A-462D-B0A2-16BE33D431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6621" y="4377151"/>
            <a:ext cx="654866" cy="469527"/>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A13149F5-C509-49A7-960C-C6D698EA85FD}"/>
              </a:ext>
            </a:extLst>
          </p:cNvPr>
          <p:cNvCxnSpPr>
            <a:cxnSpLocks/>
          </p:cNvCxnSpPr>
          <p:nvPr/>
        </p:nvCxnSpPr>
        <p:spPr>
          <a:xfrm>
            <a:off x="9583419" y="4658539"/>
            <a:ext cx="8324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9" name="Picture 16">
            <a:extLst>
              <a:ext uri="{FF2B5EF4-FFF2-40B4-BE49-F238E27FC236}">
                <a16:creationId xmlns:a16="http://schemas.microsoft.com/office/drawing/2014/main" id="{596A8F90-E4C5-47FB-A772-A0CEA0818EB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61457" y="4410586"/>
            <a:ext cx="558766" cy="49590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8">
            <a:extLst>
              <a:ext uri="{FF2B5EF4-FFF2-40B4-BE49-F238E27FC236}">
                <a16:creationId xmlns:a16="http://schemas.microsoft.com/office/drawing/2014/main" id="{6FF22D6B-3D6C-4C16-9AD1-C1DEDF3228E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03644" y="5620363"/>
            <a:ext cx="620771" cy="38503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0">
            <a:extLst>
              <a:ext uri="{FF2B5EF4-FFF2-40B4-BE49-F238E27FC236}">
                <a16:creationId xmlns:a16="http://schemas.microsoft.com/office/drawing/2014/main" id="{55F8DD4F-460F-42C5-8B0A-E5C0898BAD7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75062" y="5629871"/>
            <a:ext cx="608357" cy="385036"/>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Straight Arrow Connector 31">
            <a:extLst>
              <a:ext uri="{FF2B5EF4-FFF2-40B4-BE49-F238E27FC236}">
                <a16:creationId xmlns:a16="http://schemas.microsoft.com/office/drawing/2014/main" id="{19AF0296-C66E-4099-A1C1-383B4E2CDED3}"/>
              </a:ext>
            </a:extLst>
          </p:cNvPr>
          <p:cNvCxnSpPr/>
          <p:nvPr/>
        </p:nvCxnSpPr>
        <p:spPr>
          <a:xfrm flipV="1">
            <a:off x="5839061" y="4999929"/>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91C2998-C0A5-4267-B056-5BB305C2646C}"/>
              </a:ext>
            </a:extLst>
          </p:cNvPr>
          <p:cNvCxnSpPr/>
          <p:nvPr/>
        </p:nvCxnSpPr>
        <p:spPr>
          <a:xfrm flipV="1">
            <a:off x="9235132" y="5071533"/>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DCCF72D-E90D-4D14-979F-E856156689E9}"/>
              </a:ext>
            </a:extLst>
          </p:cNvPr>
          <p:cNvCxnSpPr/>
          <p:nvPr/>
        </p:nvCxnSpPr>
        <p:spPr>
          <a:xfrm flipV="1">
            <a:off x="7360184" y="3867464"/>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520A7A4-1786-482F-8B02-551BE75F0A7F}"/>
              </a:ext>
            </a:extLst>
          </p:cNvPr>
          <p:cNvSpPr/>
          <p:nvPr/>
        </p:nvSpPr>
        <p:spPr>
          <a:xfrm>
            <a:off x="6906850" y="3268513"/>
            <a:ext cx="988793" cy="5725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36" name="Picture 10">
            <a:extLst>
              <a:ext uri="{FF2B5EF4-FFF2-40B4-BE49-F238E27FC236}">
                <a16:creationId xmlns:a16="http://schemas.microsoft.com/office/drawing/2014/main" id="{E1B517C1-6B15-4CF0-92BC-D6F4A7CCE9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66779" y="3327659"/>
            <a:ext cx="804651" cy="493173"/>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Straight Arrow Connector 36">
            <a:extLst>
              <a:ext uri="{FF2B5EF4-FFF2-40B4-BE49-F238E27FC236}">
                <a16:creationId xmlns:a16="http://schemas.microsoft.com/office/drawing/2014/main" id="{49592956-B803-4F61-B468-F1F82FBDF534}"/>
              </a:ext>
            </a:extLst>
          </p:cNvPr>
          <p:cNvCxnSpPr/>
          <p:nvPr/>
        </p:nvCxnSpPr>
        <p:spPr>
          <a:xfrm flipV="1">
            <a:off x="10630760" y="3842192"/>
            <a:ext cx="0" cy="385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8D6BB5C-8A4A-4B0C-A9A2-AEC6AA6DE21A}"/>
              </a:ext>
            </a:extLst>
          </p:cNvPr>
          <p:cNvSpPr/>
          <p:nvPr/>
        </p:nvSpPr>
        <p:spPr>
          <a:xfrm>
            <a:off x="10177426" y="3243241"/>
            <a:ext cx="988793" cy="5725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39" name="Picture 10">
            <a:extLst>
              <a:ext uri="{FF2B5EF4-FFF2-40B4-BE49-F238E27FC236}">
                <a16:creationId xmlns:a16="http://schemas.microsoft.com/office/drawing/2014/main" id="{BCA2BC09-83EB-43A1-9698-70ABFB53B7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37355" y="3302387"/>
            <a:ext cx="804651" cy="493173"/>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Straight Arrow Connector 39">
            <a:extLst>
              <a:ext uri="{FF2B5EF4-FFF2-40B4-BE49-F238E27FC236}">
                <a16:creationId xmlns:a16="http://schemas.microsoft.com/office/drawing/2014/main" id="{47BE5B0A-44F2-45E6-8CA8-8C031AB9F9D5}"/>
              </a:ext>
            </a:extLst>
          </p:cNvPr>
          <p:cNvCxnSpPr>
            <a:cxnSpLocks/>
          </p:cNvCxnSpPr>
          <p:nvPr/>
        </p:nvCxnSpPr>
        <p:spPr>
          <a:xfrm>
            <a:off x="11166219" y="4633980"/>
            <a:ext cx="4416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 name="Picture 22">
            <a:extLst>
              <a:ext uri="{FF2B5EF4-FFF2-40B4-BE49-F238E27FC236}">
                <a16:creationId xmlns:a16="http://schemas.microsoft.com/office/drawing/2014/main" id="{A3FE6068-0AE2-46D7-BAF7-0302CF79CD8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34187" y="2133616"/>
            <a:ext cx="651994" cy="45392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4">
            <a:extLst>
              <a:ext uri="{FF2B5EF4-FFF2-40B4-BE49-F238E27FC236}">
                <a16:creationId xmlns:a16="http://schemas.microsoft.com/office/drawing/2014/main" id="{8BAAB690-D957-4225-AB04-5344ED2882B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366277" y="2133616"/>
            <a:ext cx="528965" cy="368267"/>
          </a:xfrm>
          <a:prstGeom prst="rect">
            <a:avLst/>
          </a:prstGeom>
          <a:noFill/>
          <a:extLst>
            <a:ext uri="{909E8E84-426E-40DD-AFC4-6F175D3DCCD1}">
              <a14:hiddenFill xmlns:a14="http://schemas.microsoft.com/office/drawing/2010/main">
                <a:solidFill>
                  <a:srgbClr val="FFFFFF"/>
                </a:solidFill>
              </a14:hiddenFill>
            </a:ext>
          </a:extLst>
        </p:spPr>
      </p:pic>
      <p:cxnSp>
        <p:nvCxnSpPr>
          <p:cNvPr id="43" name="Straight Arrow Connector 42">
            <a:extLst>
              <a:ext uri="{FF2B5EF4-FFF2-40B4-BE49-F238E27FC236}">
                <a16:creationId xmlns:a16="http://schemas.microsoft.com/office/drawing/2014/main" id="{CC07A62B-A963-4BE4-BA4D-3BE3B2426A62}"/>
              </a:ext>
            </a:extLst>
          </p:cNvPr>
          <p:cNvCxnSpPr>
            <a:cxnSpLocks/>
          </p:cNvCxnSpPr>
          <p:nvPr/>
        </p:nvCxnSpPr>
        <p:spPr>
          <a:xfrm flipV="1">
            <a:off x="7379697" y="2651270"/>
            <a:ext cx="0" cy="4552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3099AC6-C2D0-4C55-A880-63D80203347F}"/>
              </a:ext>
            </a:extLst>
          </p:cNvPr>
          <p:cNvCxnSpPr>
            <a:cxnSpLocks/>
          </p:cNvCxnSpPr>
          <p:nvPr/>
        </p:nvCxnSpPr>
        <p:spPr>
          <a:xfrm flipV="1">
            <a:off x="10680330" y="2651269"/>
            <a:ext cx="0" cy="4552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7B076C6-EAC9-4D59-8E54-777B0EA75CEB}"/>
              </a:ext>
            </a:extLst>
          </p:cNvPr>
          <p:cNvSpPr txBox="1"/>
          <p:nvPr/>
        </p:nvSpPr>
        <p:spPr>
          <a:xfrm>
            <a:off x="11311063" y="4423005"/>
            <a:ext cx="574196" cy="769441"/>
          </a:xfrm>
          <a:prstGeom prst="rect">
            <a:avLst/>
          </a:prstGeom>
          <a:noFill/>
        </p:spPr>
        <p:txBody>
          <a:bodyPr wrap="none" rtlCol="0">
            <a:spAutoFit/>
          </a:bodyPr>
          <a:lstStyle/>
          <a:p>
            <a:r>
              <a:rPr lang="en-US" sz="4400" dirty="0"/>
              <a:t>…</a:t>
            </a:r>
          </a:p>
        </p:txBody>
      </p:sp>
      <p:cxnSp>
        <p:nvCxnSpPr>
          <p:cNvPr id="46" name="Straight Arrow Connector 45">
            <a:extLst>
              <a:ext uri="{FF2B5EF4-FFF2-40B4-BE49-F238E27FC236}">
                <a16:creationId xmlns:a16="http://schemas.microsoft.com/office/drawing/2014/main" id="{9489D75A-7AE8-4200-B012-E03010DF0EF9}"/>
              </a:ext>
            </a:extLst>
          </p:cNvPr>
          <p:cNvCxnSpPr>
            <a:cxnSpLocks/>
          </p:cNvCxnSpPr>
          <p:nvPr/>
        </p:nvCxnSpPr>
        <p:spPr>
          <a:xfrm>
            <a:off x="4440925" y="2375666"/>
            <a:ext cx="55148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04757489-4942-45AC-9F57-8529E6BEA1BA}"/>
              </a:ext>
            </a:extLst>
          </p:cNvPr>
          <p:cNvSpPr/>
          <p:nvPr/>
        </p:nvSpPr>
        <p:spPr>
          <a:xfrm>
            <a:off x="5024506" y="2072412"/>
            <a:ext cx="528964" cy="57254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L1</a:t>
            </a:r>
          </a:p>
        </p:txBody>
      </p:sp>
      <p:cxnSp>
        <p:nvCxnSpPr>
          <p:cNvPr id="50" name="Straight Arrow Connector 49">
            <a:extLst>
              <a:ext uri="{FF2B5EF4-FFF2-40B4-BE49-F238E27FC236}">
                <a16:creationId xmlns:a16="http://schemas.microsoft.com/office/drawing/2014/main" id="{534C7C6C-E261-40EF-B2DD-10E026E1A430}"/>
              </a:ext>
            </a:extLst>
          </p:cNvPr>
          <p:cNvCxnSpPr>
            <a:cxnSpLocks/>
          </p:cNvCxnSpPr>
          <p:nvPr/>
        </p:nvCxnSpPr>
        <p:spPr>
          <a:xfrm>
            <a:off x="7804633" y="2381976"/>
            <a:ext cx="55148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6372A729-D6A0-4014-AC62-802EB57ABAF1}"/>
              </a:ext>
            </a:extLst>
          </p:cNvPr>
          <p:cNvSpPr/>
          <p:nvPr/>
        </p:nvSpPr>
        <p:spPr>
          <a:xfrm>
            <a:off x="8388214" y="2078722"/>
            <a:ext cx="528964" cy="57254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L2</a:t>
            </a:r>
          </a:p>
        </p:txBody>
      </p:sp>
      <p:cxnSp>
        <p:nvCxnSpPr>
          <p:cNvPr id="52" name="Straight Arrow Connector 51">
            <a:extLst>
              <a:ext uri="{FF2B5EF4-FFF2-40B4-BE49-F238E27FC236}">
                <a16:creationId xmlns:a16="http://schemas.microsoft.com/office/drawing/2014/main" id="{ED189DC7-CDFA-4DBD-B2F3-3EC9ED27E67B}"/>
              </a:ext>
            </a:extLst>
          </p:cNvPr>
          <p:cNvCxnSpPr>
            <a:cxnSpLocks/>
          </p:cNvCxnSpPr>
          <p:nvPr/>
        </p:nvCxnSpPr>
        <p:spPr>
          <a:xfrm>
            <a:off x="10903859" y="2338389"/>
            <a:ext cx="55148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FBFF5A1A-64A8-438F-B351-6E1D8DDB6E70}"/>
              </a:ext>
            </a:extLst>
          </p:cNvPr>
          <p:cNvSpPr/>
          <p:nvPr/>
        </p:nvSpPr>
        <p:spPr>
          <a:xfrm>
            <a:off x="11487440" y="2035135"/>
            <a:ext cx="528964" cy="57254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L3</a:t>
            </a:r>
          </a:p>
        </p:txBody>
      </p:sp>
      <p:sp>
        <p:nvSpPr>
          <p:cNvPr id="54" name="Rectangle 53">
            <a:extLst>
              <a:ext uri="{FF2B5EF4-FFF2-40B4-BE49-F238E27FC236}">
                <a16:creationId xmlns:a16="http://schemas.microsoft.com/office/drawing/2014/main" id="{891E7650-549E-43E6-9FAB-AFE09451338E}"/>
              </a:ext>
            </a:extLst>
          </p:cNvPr>
          <p:cNvSpPr/>
          <p:nvPr/>
        </p:nvSpPr>
        <p:spPr>
          <a:xfrm>
            <a:off x="7895642" y="768144"/>
            <a:ext cx="841741" cy="57254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Loss</a:t>
            </a:r>
          </a:p>
        </p:txBody>
      </p:sp>
      <p:cxnSp>
        <p:nvCxnSpPr>
          <p:cNvPr id="55" name="Straight Arrow Connector 54">
            <a:extLst>
              <a:ext uri="{FF2B5EF4-FFF2-40B4-BE49-F238E27FC236}">
                <a16:creationId xmlns:a16="http://schemas.microsoft.com/office/drawing/2014/main" id="{D29DA05E-022E-4043-AC1E-9F95334AE22B}"/>
              </a:ext>
            </a:extLst>
          </p:cNvPr>
          <p:cNvCxnSpPr>
            <a:cxnSpLocks/>
          </p:cNvCxnSpPr>
          <p:nvPr/>
        </p:nvCxnSpPr>
        <p:spPr>
          <a:xfrm flipV="1">
            <a:off x="5615009" y="1155100"/>
            <a:ext cx="2127492" cy="9056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9B3DD66-FCFE-413C-A8C1-FA326E7D3D00}"/>
              </a:ext>
            </a:extLst>
          </p:cNvPr>
          <p:cNvCxnSpPr>
            <a:cxnSpLocks/>
          </p:cNvCxnSpPr>
          <p:nvPr/>
        </p:nvCxnSpPr>
        <p:spPr>
          <a:xfrm flipH="1" flipV="1">
            <a:off x="8293986" y="1423076"/>
            <a:ext cx="358710" cy="5416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FCD47CD-2CDC-4CBB-83ED-147F3452C755}"/>
              </a:ext>
            </a:extLst>
          </p:cNvPr>
          <p:cNvCxnSpPr>
            <a:cxnSpLocks/>
          </p:cNvCxnSpPr>
          <p:nvPr/>
        </p:nvCxnSpPr>
        <p:spPr>
          <a:xfrm flipH="1" flipV="1">
            <a:off x="8786621" y="1355232"/>
            <a:ext cx="2943207" cy="5811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03D84A1-5E08-4C6B-B96A-70892192BE2C}"/>
              </a:ext>
            </a:extLst>
          </p:cNvPr>
          <p:cNvCxnSpPr>
            <a:cxnSpLocks/>
          </p:cNvCxnSpPr>
          <p:nvPr/>
        </p:nvCxnSpPr>
        <p:spPr>
          <a:xfrm flipH="1" flipV="1">
            <a:off x="9157447" y="1115013"/>
            <a:ext cx="2530399" cy="2402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DAA1EFD-818B-40D7-AE66-44CF6823E90B}"/>
              </a:ext>
            </a:extLst>
          </p:cNvPr>
          <p:cNvSpPr txBox="1"/>
          <p:nvPr/>
        </p:nvSpPr>
        <p:spPr>
          <a:xfrm>
            <a:off x="10608144" y="1000486"/>
            <a:ext cx="574196" cy="769441"/>
          </a:xfrm>
          <a:prstGeom prst="rect">
            <a:avLst/>
          </a:prstGeom>
          <a:noFill/>
        </p:spPr>
        <p:txBody>
          <a:bodyPr wrap="none" rtlCol="0">
            <a:spAutoFit/>
          </a:bodyPr>
          <a:lstStyle/>
          <a:p>
            <a:r>
              <a:rPr lang="en-US" sz="4400" dirty="0"/>
              <a:t>…</a:t>
            </a:r>
          </a:p>
        </p:txBody>
      </p:sp>
      <p:cxnSp>
        <p:nvCxnSpPr>
          <p:cNvPr id="64" name="Straight Arrow Connector 63">
            <a:extLst>
              <a:ext uri="{FF2B5EF4-FFF2-40B4-BE49-F238E27FC236}">
                <a16:creationId xmlns:a16="http://schemas.microsoft.com/office/drawing/2014/main" id="{6538A0A9-24E8-41CD-A8E7-40CA31B7326B}"/>
              </a:ext>
            </a:extLst>
          </p:cNvPr>
          <p:cNvCxnSpPr>
            <a:cxnSpLocks/>
          </p:cNvCxnSpPr>
          <p:nvPr/>
        </p:nvCxnSpPr>
        <p:spPr>
          <a:xfrm flipH="1">
            <a:off x="5615009" y="1115013"/>
            <a:ext cx="1671677" cy="73052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49A875A-6712-4D12-9D60-5C5854C2AE99}"/>
              </a:ext>
            </a:extLst>
          </p:cNvPr>
          <p:cNvCxnSpPr>
            <a:cxnSpLocks/>
          </p:cNvCxnSpPr>
          <p:nvPr/>
        </p:nvCxnSpPr>
        <p:spPr>
          <a:xfrm>
            <a:off x="8108354" y="1471678"/>
            <a:ext cx="336180" cy="52918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09E396F-CE59-48C7-95DF-CC44624308F3}"/>
              </a:ext>
            </a:extLst>
          </p:cNvPr>
          <p:cNvCxnSpPr>
            <a:cxnSpLocks/>
          </p:cNvCxnSpPr>
          <p:nvPr/>
        </p:nvCxnSpPr>
        <p:spPr>
          <a:xfrm>
            <a:off x="8852084" y="1558594"/>
            <a:ext cx="2043158" cy="4085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A3CF5897-3811-410F-827A-6A5D9A18C85E}"/>
              </a:ext>
            </a:extLst>
          </p:cNvPr>
          <p:cNvCxnSpPr>
            <a:cxnSpLocks/>
          </p:cNvCxnSpPr>
          <p:nvPr/>
        </p:nvCxnSpPr>
        <p:spPr>
          <a:xfrm flipH="1">
            <a:off x="4440925" y="2532578"/>
            <a:ext cx="49859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A60E1B1-8F30-4CA8-82AE-8CD4EB91EA24}"/>
              </a:ext>
            </a:extLst>
          </p:cNvPr>
          <p:cNvCxnSpPr>
            <a:cxnSpLocks/>
          </p:cNvCxnSpPr>
          <p:nvPr/>
        </p:nvCxnSpPr>
        <p:spPr>
          <a:xfrm>
            <a:off x="4184935" y="2664828"/>
            <a:ext cx="0" cy="4416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B83EDAF-89B5-43A0-B611-B2827284E27F}"/>
              </a:ext>
            </a:extLst>
          </p:cNvPr>
          <p:cNvCxnSpPr>
            <a:cxnSpLocks/>
          </p:cNvCxnSpPr>
          <p:nvPr/>
        </p:nvCxnSpPr>
        <p:spPr>
          <a:xfrm>
            <a:off x="4168479" y="3838754"/>
            <a:ext cx="0" cy="4416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7DE98DAE-560B-4321-A24F-4269824D168D}"/>
              </a:ext>
            </a:extLst>
          </p:cNvPr>
          <p:cNvCxnSpPr>
            <a:cxnSpLocks/>
          </p:cNvCxnSpPr>
          <p:nvPr/>
        </p:nvCxnSpPr>
        <p:spPr>
          <a:xfrm flipH="1">
            <a:off x="2936301" y="4407832"/>
            <a:ext cx="69997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71246B-D7B1-40D1-A2C3-FD3DF20FA1D5}"/>
              </a:ext>
            </a:extLst>
          </p:cNvPr>
          <p:cNvCxnSpPr>
            <a:cxnSpLocks/>
          </p:cNvCxnSpPr>
          <p:nvPr/>
        </p:nvCxnSpPr>
        <p:spPr>
          <a:xfrm flipH="1">
            <a:off x="874151" y="6083753"/>
            <a:ext cx="1018202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9738FE49-4F2A-4E8B-B308-EB44A89F6714}"/>
              </a:ext>
            </a:extLst>
          </p:cNvPr>
          <p:cNvSpPr txBox="1"/>
          <p:nvPr/>
        </p:nvSpPr>
        <p:spPr>
          <a:xfrm>
            <a:off x="10608144" y="5779004"/>
            <a:ext cx="1093120" cy="369332"/>
          </a:xfrm>
          <a:prstGeom prst="rect">
            <a:avLst/>
          </a:prstGeom>
          <a:noFill/>
        </p:spPr>
        <p:txBody>
          <a:bodyPr wrap="none" rtlCol="0">
            <a:spAutoFit/>
          </a:bodyPr>
          <a:lstStyle/>
          <a:p>
            <a:r>
              <a:rPr lang="en-US" dirty="0">
                <a:solidFill>
                  <a:srgbClr val="FF0000"/>
                </a:solidFill>
              </a:rPr>
              <a:t>Gradients</a:t>
            </a:r>
          </a:p>
        </p:txBody>
      </p:sp>
    </p:spTree>
    <p:extLst>
      <p:ext uri="{BB962C8B-B14F-4D97-AF65-F5344CB8AC3E}">
        <p14:creationId xmlns:p14="http://schemas.microsoft.com/office/powerpoint/2010/main" val="647263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1" grpId="0" animBg="1"/>
      <p:bldP spid="53" grpId="0" animBg="1"/>
      <p:bldP spid="54" grpId="0" animBg="1"/>
      <p:bldP spid="63" grpId="0"/>
      <p:bldP spid="8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02B88-59E2-4C7D-8C72-67308669BEC5}"/>
              </a:ext>
            </a:extLst>
          </p:cNvPr>
          <p:cNvSpPr>
            <a:spLocks noGrp="1"/>
          </p:cNvSpPr>
          <p:nvPr>
            <p:ph type="title"/>
          </p:nvPr>
        </p:nvSpPr>
        <p:spPr/>
        <p:txBody>
          <a:bodyPr/>
          <a:lstStyle/>
          <a:p>
            <a:r>
              <a:rPr lang="en-US" dirty="0"/>
              <a:t>Backpropagation through Time</a:t>
            </a:r>
          </a:p>
        </p:txBody>
      </p:sp>
      <p:sp>
        <p:nvSpPr>
          <p:cNvPr id="6" name="Slide Number Placeholder 5">
            <a:extLst>
              <a:ext uri="{FF2B5EF4-FFF2-40B4-BE49-F238E27FC236}">
                <a16:creationId xmlns:a16="http://schemas.microsoft.com/office/drawing/2014/main" id="{A5E045B4-F4CA-477A-8C28-D5CCE0749B67}"/>
              </a:ext>
            </a:extLst>
          </p:cNvPr>
          <p:cNvSpPr>
            <a:spLocks noGrp="1"/>
          </p:cNvSpPr>
          <p:nvPr>
            <p:ph type="sldNum" sz="quarter" idx="12"/>
          </p:nvPr>
        </p:nvSpPr>
        <p:spPr/>
        <p:txBody>
          <a:bodyPr/>
          <a:lstStyle/>
          <a:p>
            <a:fld id="{1B30F0CC-EBAF-4E3D-80D7-CFC82A3A738F}" type="slidenum">
              <a:rPr lang="en-US" smtClean="0"/>
              <a:pPr/>
              <a:t>108</a:t>
            </a:fld>
            <a:endParaRPr lang="en-US" dirty="0"/>
          </a:p>
        </p:txBody>
      </p:sp>
      <p:pic>
        <p:nvPicPr>
          <p:cNvPr id="83" name="Picture 82">
            <a:extLst>
              <a:ext uri="{FF2B5EF4-FFF2-40B4-BE49-F238E27FC236}">
                <a16:creationId xmlns:a16="http://schemas.microsoft.com/office/drawing/2014/main" id="{3865C0EE-9042-4F1B-9948-A60EC38F9E2A}"/>
              </a:ext>
            </a:extLst>
          </p:cNvPr>
          <p:cNvPicPr>
            <a:picLocks noChangeAspect="1"/>
          </p:cNvPicPr>
          <p:nvPr/>
        </p:nvPicPr>
        <p:blipFill>
          <a:blip r:embed="rId3"/>
          <a:stretch>
            <a:fillRect/>
          </a:stretch>
        </p:blipFill>
        <p:spPr>
          <a:xfrm>
            <a:off x="1324282" y="1342967"/>
            <a:ext cx="10626600" cy="4785222"/>
          </a:xfrm>
          <a:prstGeom prst="rect">
            <a:avLst/>
          </a:prstGeom>
        </p:spPr>
      </p:pic>
      <p:sp>
        <p:nvSpPr>
          <p:cNvPr id="96" name="TextBox 95">
            <a:extLst>
              <a:ext uri="{FF2B5EF4-FFF2-40B4-BE49-F238E27FC236}">
                <a16:creationId xmlns:a16="http://schemas.microsoft.com/office/drawing/2014/main" id="{2861A667-F2C4-4198-8941-3366A9478AED}"/>
              </a:ext>
            </a:extLst>
          </p:cNvPr>
          <p:cNvSpPr txBox="1"/>
          <p:nvPr/>
        </p:nvSpPr>
        <p:spPr>
          <a:xfrm>
            <a:off x="346517" y="5022598"/>
            <a:ext cx="849913" cy="461665"/>
          </a:xfrm>
          <a:prstGeom prst="rect">
            <a:avLst/>
          </a:prstGeom>
          <a:noFill/>
        </p:spPr>
        <p:txBody>
          <a:bodyPr wrap="none" rtlCol="0">
            <a:spAutoFit/>
          </a:bodyPr>
          <a:lstStyle/>
          <a:p>
            <a:r>
              <a:rPr lang="en-US" sz="2400" dirty="0"/>
              <a:t>Input</a:t>
            </a:r>
          </a:p>
        </p:txBody>
      </p:sp>
      <p:sp>
        <p:nvSpPr>
          <p:cNvPr id="97" name="TextBox 96">
            <a:extLst>
              <a:ext uri="{FF2B5EF4-FFF2-40B4-BE49-F238E27FC236}">
                <a16:creationId xmlns:a16="http://schemas.microsoft.com/office/drawing/2014/main" id="{3671551A-A615-4100-9F9C-DF4F9DCF6D33}"/>
              </a:ext>
            </a:extLst>
          </p:cNvPr>
          <p:cNvSpPr txBox="1"/>
          <p:nvPr/>
        </p:nvSpPr>
        <p:spPr>
          <a:xfrm>
            <a:off x="346518" y="2751389"/>
            <a:ext cx="1123237" cy="830997"/>
          </a:xfrm>
          <a:prstGeom prst="rect">
            <a:avLst/>
          </a:prstGeom>
          <a:noFill/>
        </p:spPr>
        <p:txBody>
          <a:bodyPr wrap="square" rtlCol="0">
            <a:spAutoFit/>
          </a:bodyPr>
          <a:lstStyle/>
          <a:p>
            <a:r>
              <a:rPr lang="en-US" sz="2400" dirty="0"/>
              <a:t>Output label</a:t>
            </a:r>
          </a:p>
        </p:txBody>
      </p:sp>
      <p:sp>
        <p:nvSpPr>
          <p:cNvPr id="98" name="TextBox 97">
            <a:extLst>
              <a:ext uri="{FF2B5EF4-FFF2-40B4-BE49-F238E27FC236}">
                <a16:creationId xmlns:a16="http://schemas.microsoft.com/office/drawing/2014/main" id="{0064F1AF-30F8-4A9B-9791-554BCC0F0CFA}"/>
              </a:ext>
            </a:extLst>
          </p:cNvPr>
          <p:cNvSpPr txBox="1"/>
          <p:nvPr/>
        </p:nvSpPr>
        <p:spPr>
          <a:xfrm>
            <a:off x="241119" y="3854308"/>
            <a:ext cx="1228636" cy="830997"/>
          </a:xfrm>
          <a:prstGeom prst="rect">
            <a:avLst/>
          </a:prstGeom>
          <a:noFill/>
        </p:spPr>
        <p:txBody>
          <a:bodyPr wrap="square" rtlCol="0">
            <a:spAutoFit/>
          </a:bodyPr>
          <a:lstStyle/>
          <a:p>
            <a:r>
              <a:rPr lang="en-US" sz="2400" dirty="0"/>
              <a:t>Hidden state</a:t>
            </a:r>
          </a:p>
        </p:txBody>
      </p:sp>
      <p:sp>
        <p:nvSpPr>
          <p:cNvPr id="3" name="TextBox 2">
            <a:extLst>
              <a:ext uri="{FF2B5EF4-FFF2-40B4-BE49-F238E27FC236}">
                <a16:creationId xmlns:a16="http://schemas.microsoft.com/office/drawing/2014/main" id="{AD4444AC-852B-47A2-8AA6-B548BA66E5D3}"/>
              </a:ext>
            </a:extLst>
          </p:cNvPr>
          <p:cNvSpPr txBox="1"/>
          <p:nvPr/>
        </p:nvSpPr>
        <p:spPr>
          <a:xfrm>
            <a:off x="4177352" y="6354247"/>
            <a:ext cx="5352747" cy="369332"/>
          </a:xfrm>
          <a:prstGeom prst="rect">
            <a:avLst/>
          </a:prstGeom>
          <a:noFill/>
        </p:spPr>
        <p:txBody>
          <a:bodyPr wrap="none" rtlCol="0">
            <a:spAutoFit/>
          </a:bodyPr>
          <a:lstStyle/>
          <a:p>
            <a:r>
              <a:rPr lang="en-US" b="1" dirty="0"/>
              <a:t>What is the problem in this training paradigm? </a:t>
            </a:r>
          </a:p>
        </p:txBody>
      </p:sp>
    </p:spTree>
    <p:extLst>
      <p:ext uri="{BB962C8B-B14F-4D97-AF65-F5344CB8AC3E}">
        <p14:creationId xmlns:p14="http://schemas.microsoft.com/office/powerpoint/2010/main" val="114051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3D54-0B47-4CD1-9210-A84A1618511B}"/>
              </a:ext>
            </a:extLst>
          </p:cNvPr>
          <p:cNvSpPr>
            <a:spLocks noGrp="1"/>
          </p:cNvSpPr>
          <p:nvPr>
            <p:ph type="title"/>
          </p:nvPr>
        </p:nvSpPr>
        <p:spPr/>
        <p:txBody>
          <a:bodyPr/>
          <a:lstStyle/>
          <a:p>
            <a:r>
              <a:rPr lang="en-US" dirty="0"/>
              <a:t>Transformer</a:t>
            </a:r>
          </a:p>
        </p:txBody>
      </p:sp>
      <p:sp>
        <p:nvSpPr>
          <p:cNvPr id="3" name="Content Placeholder 2">
            <a:extLst>
              <a:ext uri="{FF2B5EF4-FFF2-40B4-BE49-F238E27FC236}">
                <a16:creationId xmlns:a16="http://schemas.microsoft.com/office/drawing/2014/main" id="{CB94562B-6C45-42D7-A373-33FCDD165555}"/>
              </a:ext>
            </a:extLst>
          </p:cNvPr>
          <p:cNvSpPr>
            <a:spLocks noGrp="1"/>
          </p:cNvSpPr>
          <p:nvPr>
            <p:ph idx="1"/>
          </p:nvPr>
        </p:nvSpPr>
        <p:spPr/>
        <p:txBody>
          <a:bodyPr/>
          <a:lstStyle/>
          <a:p>
            <a:r>
              <a:rPr lang="en-US" dirty="0"/>
              <a:t>No recurrence </a:t>
            </a:r>
          </a:p>
          <a:p>
            <a:endParaRPr lang="en-US" dirty="0"/>
          </a:p>
          <a:p>
            <a:r>
              <a:rPr lang="en-US" dirty="0"/>
              <a:t>Attention only</a:t>
            </a:r>
          </a:p>
          <a:p>
            <a:pPr lvl="1"/>
            <a:r>
              <a:rPr lang="en-US" dirty="0"/>
              <a:t>Global dependencies between input and output</a:t>
            </a:r>
          </a:p>
          <a:p>
            <a:pPr lvl="1"/>
            <a:endParaRPr lang="en-US" dirty="0"/>
          </a:p>
          <a:p>
            <a:pPr lvl="1"/>
            <a:r>
              <a:rPr lang="en-US" dirty="0"/>
              <a:t>More parallelization compared to RNNs</a:t>
            </a:r>
          </a:p>
        </p:txBody>
      </p:sp>
      <p:sp>
        <p:nvSpPr>
          <p:cNvPr id="6" name="Slide Number Placeholder 5">
            <a:extLst>
              <a:ext uri="{FF2B5EF4-FFF2-40B4-BE49-F238E27FC236}">
                <a16:creationId xmlns:a16="http://schemas.microsoft.com/office/drawing/2014/main" id="{2A79D5C2-AC71-4210-AABF-3189F4822847}"/>
              </a:ext>
            </a:extLst>
          </p:cNvPr>
          <p:cNvSpPr>
            <a:spLocks noGrp="1"/>
          </p:cNvSpPr>
          <p:nvPr>
            <p:ph type="sldNum" sz="quarter" idx="12"/>
          </p:nvPr>
        </p:nvSpPr>
        <p:spPr/>
        <p:txBody>
          <a:bodyPr/>
          <a:lstStyle/>
          <a:p>
            <a:fld id="{1B30F0CC-EBAF-4E3D-80D7-CFC82A3A738F}" type="slidenum">
              <a:rPr lang="en-US" smtClean="0"/>
              <a:pPr/>
              <a:t>109</a:t>
            </a:fld>
            <a:endParaRPr lang="en-US" dirty="0"/>
          </a:p>
        </p:txBody>
      </p:sp>
    </p:spTree>
    <p:extLst>
      <p:ext uri="{BB962C8B-B14F-4D97-AF65-F5344CB8AC3E}">
        <p14:creationId xmlns:p14="http://schemas.microsoft.com/office/powerpoint/2010/main" val="202338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C3D9-E3C5-4A73-B74D-BF52E17F4003}"/>
              </a:ext>
            </a:extLst>
          </p:cNvPr>
          <p:cNvSpPr>
            <a:spLocks noGrp="1"/>
          </p:cNvSpPr>
          <p:nvPr>
            <p:ph type="title"/>
          </p:nvPr>
        </p:nvSpPr>
        <p:spPr/>
        <p:txBody>
          <a:bodyPr>
            <a:normAutofit fontScale="90000"/>
          </a:bodyPr>
          <a:lstStyle/>
          <a:p>
            <a:r>
              <a:rPr lang="en-US" dirty="0"/>
              <a:t>Transformer: Encoder-Decoder with Attention</a:t>
            </a:r>
          </a:p>
        </p:txBody>
      </p:sp>
      <p:sp>
        <p:nvSpPr>
          <p:cNvPr id="6" name="Slide Number Placeholder 5">
            <a:extLst>
              <a:ext uri="{FF2B5EF4-FFF2-40B4-BE49-F238E27FC236}">
                <a16:creationId xmlns:a16="http://schemas.microsoft.com/office/drawing/2014/main" id="{00B02092-E449-44A1-871D-9CBCDC1130E0}"/>
              </a:ext>
            </a:extLst>
          </p:cNvPr>
          <p:cNvSpPr>
            <a:spLocks noGrp="1"/>
          </p:cNvSpPr>
          <p:nvPr>
            <p:ph type="sldNum" sz="quarter" idx="12"/>
          </p:nvPr>
        </p:nvSpPr>
        <p:spPr/>
        <p:txBody>
          <a:bodyPr/>
          <a:lstStyle/>
          <a:p>
            <a:fld id="{1B30F0CC-EBAF-4E3D-80D7-CFC82A3A738F}" type="slidenum">
              <a:rPr lang="en-US" smtClean="0"/>
              <a:pPr/>
              <a:t>110</a:t>
            </a:fld>
            <a:endParaRPr lang="en-US" dirty="0"/>
          </a:p>
        </p:txBody>
      </p:sp>
      <p:cxnSp>
        <p:nvCxnSpPr>
          <p:cNvPr id="7" name="Straight Arrow Connector 6">
            <a:extLst>
              <a:ext uri="{FF2B5EF4-FFF2-40B4-BE49-F238E27FC236}">
                <a16:creationId xmlns:a16="http://schemas.microsoft.com/office/drawing/2014/main" id="{5E080719-72F8-4F23-AEBD-70B395A02F71}"/>
              </a:ext>
            </a:extLst>
          </p:cNvPr>
          <p:cNvCxnSpPr>
            <a:cxnSpLocks/>
          </p:cNvCxnSpPr>
          <p:nvPr/>
        </p:nvCxnSpPr>
        <p:spPr>
          <a:xfrm>
            <a:off x="3055882" y="1700933"/>
            <a:ext cx="0" cy="4826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AF65B51-DEB4-4BB5-B5DE-AEA9773CB935}"/>
              </a:ext>
            </a:extLst>
          </p:cNvPr>
          <p:cNvSpPr/>
          <p:nvPr/>
        </p:nvSpPr>
        <p:spPr>
          <a:xfrm>
            <a:off x="2513418" y="2252268"/>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48E61DC8-C91E-4C81-B6AD-BC744F5A4764}"/>
              </a:ext>
            </a:extLst>
          </p:cNvPr>
          <p:cNvSpPr/>
          <p:nvPr/>
        </p:nvSpPr>
        <p:spPr>
          <a:xfrm>
            <a:off x="4559559" y="2259975"/>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Rectangle 12">
            <a:extLst>
              <a:ext uri="{FF2B5EF4-FFF2-40B4-BE49-F238E27FC236}">
                <a16:creationId xmlns:a16="http://schemas.microsoft.com/office/drawing/2014/main" id="{ABAB0AC7-8F33-4096-8A28-E18EAFCBDEAC}"/>
              </a:ext>
            </a:extLst>
          </p:cNvPr>
          <p:cNvSpPr/>
          <p:nvPr/>
        </p:nvSpPr>
        <p:spPr>
          <a:xfrm>
            <a:off x="7652687" y="2245751"/>
            <a:ext cx="988793" cy="5725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050" name="Picture 2">
            <a:extLst>
              <a:ext uri="{FF2B5EF4-FFF2-40B4-BE49-F238E27FC236}">
                <a16:creationId xmlns:a16="http://schemas.microsoft.com/office/drawing/2014/main" id="{18927BB9-A8D6-49A0-A477-15125A4AE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6886" y="1361664"/>
            <a:ext cx="537430" cy="3420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6A5C720-4393-4620-8B35-619B422EA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7766" y="2264176"/>
            <a:ext cx="586449" cy="5263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177D704D-AD19-4ABA-B0AA-B078C6BAC6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755" y="2282846"/>
            <a:ext cx="628201" cy="54967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B3B331BF-12EA-478B-84F4-712968105C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9405" y="1315836"/>
            <a:ext cx="588671" cy="365125"/>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C37DF166-3805-4729-A1B6-7CB57A976DE7}"/>
              </a:ext>
            </a:extLst>
          </p:cNvPr>
          <p:cNvSpPr txBox="1"/>
          <p:nvPr/>
        </p:nvSpPr>
        <p:spPr>
          <a:xfrm>
            <a:off x="6314868" y="1963510"/>
            <a:ext cx="538930" cy="707886"/>
          </a:xfrm>
          <a:prstGeom prst="rect">
            <a:avLst/>
          </a:prstGeom>
          <a:noFill/>
        </p:spPr>
        <p:txBody>
          <a:bodyPr wrap="none" rtlCol="0">
            <a:spAutoFit/>
          </a:bodyPr>
          <a:lstStyle/>
          <a:p>
            <a:r>
              <a:rPr lang="en-US" sz="4000" dirty="0"/>
              <a:t>…</a:t>
            </a:r>
          </a:p>
        </p:txBody>
      </p:sp>
      <p:pic>
        <p:nvPicPr>
          <p:cNvPr id="2058" name="Picture 10">
            <a:extLst>
              <a:ext uri="{FF2B5EF4-FFF2-40B4-BE49-F238E27FC236}">
                <a16:creationId xmlns:a16="http://schemas.microsoft.com/office/drawing/2014/main" id="{027D2B81-3AAF-4477-A035-3E3694E38B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2496" y="1343115"/>
            <a:ext cx="746493" cy="38503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B60EE5A1-BF28-49A6-B18F-344EA83F4D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9928" y="2282846"/>
            <a:ext cx="702376" cy="512149"/>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Straight Arrow Connector 43">
            <a:extLst>
              <a:ext uri="{FF2B5EF4-FFF2-40B4-BE49-F238E27FC236}">
                <a16:creationId xmlns:a16="http://schemas.microsoft.com/office/drawing/2014/main" id="{E1D796DD-3EF0-4F0E-A683-B56F6F498FE4}"/>
              </a:ext>
            </a:extLst>
          </p:cNvPr>
          <p:cNvCxnSpPr>
            <a:cxnSpLocks/>
          </p:cNvCxnSpPr>
          <p:nvPr/>
        </p:nvCxnSpPr>
        <p:spPr>
          <a:xfrm>
            <a:off x="5114856" y="1700933"/>
            <a:ext cx="0" cy="4826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16B8C91-647F-45EE-BE1B-2397A25B6C82}"/>
              </a:ext>
            </a:extLst>
          </p:cNvPr>
          <p:cNvCxnSpPr>
            <a:cxnSpLocks/>
          </p:cNvCxnSpPr>
          <p:nvPr/>
        </p:nvCxnSpPr>
        <p:spPr>
          <a:xfrm>
            <a:off x="8143964" y="1765772"/>
            <a:ext cx="0" cy="4178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64" name="Picture 16">
            <a:extLst>
              <a:ext uri="{FF2B5EF4-FFF2-40B4-BE49-F238E27FC236}">
                <a16:creationId xmlns:a16="http://schemas.microsoft.com/office/drawing/2014/main" id="{7AE469D4-8F6F-44F7-92BF-C1009173832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73513" y="4548786"/>
            <a:ext cx="524452" cy="365125"/>
          </a:xfrm>
          <a:prstGeom prst="rect">
            <a:avLst/>
          </a:prstGeom>
          <a:noFill/>
          <a:extLst>
            <a:ext uri="{909E8E84-426E-40DD-AFC4-6F175D3DCCD1}">
              <a14:hiddenFill xmlns:a14="http://schemas.microsoft.com/office/drawing/2010/main">
                <a:solidFill>
                  <a:srgbClr val="FFFFFF"/>
                </a:solidFill>
              </a14:hiddenFill>
            </a:ext>
          </a:extLst>
        </p:spPr>
      </p:pic>
      <p:cxnSp>
        <p:nvCxnSpPr>
          <p:cNvPr id="48" name="Straight Arrow Connector 47">
            <a:extLst>
              <a:ext uri="{FF2B5EF4-FFF2-40B4-BE49-F238E27FC236}">
                <a16:creationId xmlns:a16="http://schemas.microsoft.com/office/drawing/2014/main" id="{C9D108A8-4437-4FC8-A4EF-90639A9A140E}"/>
              </a:ext>
            </a:extLst>
          </p:cNvPr>
          <p:cNvCxnSpPr>
            <a:cxnSpLocks/>
          </p:cNvCxnSpPr>
          <p:nvPr/>
        </p:nvCxnSpPr>
        <p:spPr>
          <a:xfrm flipH="1">
            <a:off x="9006474" y="4731349"/>
            <a:ext cx="58535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74F579EF-D7A0-4E57-AEBC-AC2C7E26246B}"/>
              </a:ext>
            </a:extLst>
          </p:cNvPr>
          <p:cNvSpPr/>
          <p:nvPr/>
        </p:nvSpPr>
        <p:spPr>
          <a:xfrm>
            <a:off x="7944039" y="4445076"/>
            <a:ext cx="988793" cy="572547"/>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3" name="TextBox 52">
            <a:extLst>
              <a:ext uri="{FF2B5EF4-FFF2-40B4-BE49-F238E27FC236}">
                <a16:creationId xmlns:a16="http://schemas.microsoft.com/office/drawing/2014/main" id="{43064CB5-27BC-4106-9F89-A7E3674E9C70}"/>
              </a:ext>
            </a:extLst>
          </p:cNvPr>
          <p:cNvSpPr txBox="1"/>
          <p:nvPr/>
        </p:nvSpPr>
        <p:spPr>
          <a:xfrm>
            <a:off x="10399617" y="4548786"/>
            <a:ext cx="1078057" cy="369332"/>
          </a:xfrm>
          <a:prstGeom prst="rect">
            <a:avLst/>
          </a:prstGeom>
          <a:noFill/>
        </p:spPr>
        <p:txBody>
          <a:bodyPr wrap="square">
            <a:spAutoFit/>
          </a:bodyPr>
          <a:lstStyle/>
          <a:p>
            <a:r>
              <a:rPr lang="en-US" sz="1800" b="0" i="0" u="none" strike="noStrike" baseline="0" dirty="0">
                <a:latin typeface="ArialMT"/>
              </a:rPr>
              <a:t>[START]</a:t>
            </a:r>
            <a:endParaRPr lang="en-US" dirty="0"/>
          </a:p>
        </p:txBody>
      </p:sp>
      <p:pic>
        <p:nvPicPr>
          <p:cNvPr id="2066" name="Picture 18">
            <a:extLst>
              <a:ext uri="{FF2B5EF4-FFF2-40B4-BE49-F238E27FC236}">
                <a16:creationId xmlns:a16="http://schemas.microsoft.com/office/drawing/2014/main" id="{A0E1A9F0-A7CF-407F-8203-E4036482429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08406" y="4575215"/>
            <a:ext cx="460058" cy="365125"/>
          </a:xfrm>
          <a:prstGeom prst="rect">
            <a:avLst/>
          </a:prstGeom>
          <a:noFill/>
          <a:extLst>
            <a:ext uri="{909E8E84-426E-40DD-AFC4-6F175D3DCCD1}">
              <a14:hiddenFill xmlns:a14="http://schemas.microsoft.com/office/drawing/2010/main">
                <a:solidFill>
                  <a:srgbClr val="FFFFFF"/>
                </a:solidFill>
              </a14:hiddenFill>
            </a:ext>
          </a:extLst>
        </p:spPr>
      </p:pic>
      <p:cxnSp>
        <p:nvCxnSpPr>
          <p:cNvPr id="55" name="Straight Arrow Connector 54">
            <a:extLst>
              <a:ext uri="{FF2B5EF4-FFF2-40B4-BE49-F238E27FC236}">
                <a16:creationId xmlns:a16="http://schemas.microsoft.com/office/drawing/2014/main" id="{E6297CDA-EC63-4B45-9A5B-D32BB9F61410}"/>
              </a:ext>
            </a:extLst>
          </p:cNvPr>
          <p:cNvCxnSpPr>
            <a:cxnSpLocks/>
          </p:cNvCxnSpPr>
          <p:nvPr/>
        </p:nvCxnSpPr>
        <p:spPr>
          <a:xfrm>
            <a:off x="8455186" y="5068727"/>
            <a:ext cx="0" cy="4577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68" name="Picture 20">
            <a:extLst>
              <a:ext uri="{FF2B5EF4-FFF2-40B4-BE49-F238E27FC236}">
                <a16:creationId xmlns:a16="http://schemas.microsoft.com/office/drawing/2014/main" id="{3B8F2F9F-0210-47BF-9931-5B1AC77B11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46074" y="5567329"/>
            <a:ext cx="512028" cy="365734"/>
          </a:xfrm>
          <a:prstGeom prst="rect">
            <a:avLst/>
          </a:prstGeom>
          <a:noFill/>
          <a:extLst>
            <a:ext uri="{909E8E84-426E-40DD-AFC4-6F175D3DCCD1}">
              <a14:hiddenFill xmlns:a14="http://schemas.microsoft.com/office/drawing/2010/main">
                <a:solidFill>
                  <a:srgbClr val="FFFFFF"/>
                </a:solidFill>
              </a14:hiddenFill>
            </a:ext>
          </a:extLst>
        </p:spPr>
      </p:pic>
      <p:sp>
        <p:nvSpPr>
          <p:cNvPr id="59" name="Rectangle 58">
            <a:extLst>
              <a:ext uri="{FF2B5EF4-FFF2-40B4-BE49-F238E27FC236}">
                <a16:creationId xmlns:a16="http://schemas.microsoft.com/office/drawing/2014/main" id="{3F64F4F1-E3DD-4D39-A90F-EB34CD5D6DC9}"/>
              </a:ext>
            </a:extLst>
          </p:cNvPr>
          <p:cNvSpPr/>
          <p:nvPr/>
        </p:nvSpPr>
        <p:spPr>
          <a:xfrm>
            <a:off x="5601603" y="4439593"/>
            <a:ext cx="988793" cy="572547"/>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60" name="Straight Arrow Connector 59">
            <a:extLst>
              <a:ext uri="{FF2B5EF4-FFF2-40B4-BE49-F238E27FC236}">
                <a16:creationId xmlns:a16="http://schemas.microsoft.com/office/drawing/2014/main" id="{067BBF4F-7367-4AB9-B5D1-E67ED4E5D368}"/>
              </a:ext>
            </a:extLst>
          </p:cNvPr>
          <p:cNvCxnSpPr>
            <a:cxnSpLocks/>
          </p:cNvCxnSpPr>
          <p:nvPr/>
        </p:nvCxnSpPr>
        <p:spPr>
          <a:xfrm flipH="1">
            <a:off x="4305817" y="4731908"/>
            <a:ext cx="40103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BE6EDDEC-424B-4A2E-BB4A-1ADEAAFC9804}"/>
              </a:ext>
            </a:extLst>
          </p:cNvPr>
          <p:cNvSpPr/>
          <p:nvPr/>
        </p:nvSpPr>
        <p:spPr>
          <a:xfrm>
            <a:off x="3302768" y="4414508"/>
            <a:ext cx="988793" cy="572547"/>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5" name="TextBox 64">
            <a:extLst>
              <a:ext uri="{FF2B5EF4-FFF2-40B4-BE49-F238E27FC236}">
                <a16:creationId xmlns:a16="http://schemas.microsoft.com/office/drawing/2014/main" id="{7C1CCA32-C486-43E8-BF19-A319CD30C749}"/>
              </a:ext>
            </a:extLst>
          </p:cNvPr>
          <p:cNvSpPr txBox="1"/>
          <p:nvPr/>
        </p:nvSpPr>
        <p:spPr>
          <a:xfrm>
            <a:off x="4687173" y="4230417"/>
            <a:ext cx="538930" cy="707886"/>
          </a:xfrm>
          <a:prstGeom prst="rect">
            <a:avLst/>
          </a:prstGeom>
          <a:noFill/>
        </p:spPr>
        <p:txBody>
          <a:bodyPr wrap="none" rtlCol="0">
            <a:spAutoFit/>
          </a:bodyPr>
          <a:lstStyle/>
          <a:p>
            <a:r>
              <a:rPr lang="en-US" sz="4000" dirty="0"/>
              <a:t>…</a:t>
            </a:r>
          </a:p>
        </p:txBody>
      </p:sp>
      <p:cxnSp>
        <p:nvCxnSpPr>
          <p:cNvPr id="66" name="Straight Arrow Connector 65">
            <a:extLst>
              <a:ext uri="{FF2B5EF4-FFF2-40B4-BE49-F238E27FC236}">
                <a16:creationId xmlns:a16="http://schemas.microsoft.com/office/drawing/2014/main" id="{A795B79A-E1B3-42A9-AEAA-E2869EAA2BB8}"/>
              </a:ext>
            </a:extLst>
          </p:cNvPr>
          <p:cNvCxnSpPr>
            <a:cxnSpLocks/>
          </p:cNvCxnSpPr>
          <p:nvPr/>
        </p:nvCxnSpPr>
        <p:spPr>
          <a:xfrm flipH="1">
            <a:off x="5213320" y="4721879"/>
            <a:ext cx="35542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74" name="Picture 26">
            <a:extLst>
              <a:ext uri="{FF2B5EF4-FFF2-40B4-BE49-F238E27FC236}">
                <a16:creationId xmlns:a16="http://schemas.microsoft.com/office/drawing/2014/main" id="{1EFC2D8D-C03C-4F4B-804B-2FBB863C584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36338" y="4528623"/>
            <a:ext cx="677004" cy="341921"/>
          </a:xfrm>
          <a:prstGeom prst="rect">
            <a:avLst/>
          </a:prstGeom>
          <a:noFill/>
          <a:extLst>
            <a:ext uri="{909E8E84-426E-40DD-AFC4-6F175D3DCCD1}">
              <a14:hiddenFill xmlns:a14="http://schemas.microsoft.com/office/drawing/2010/main">
                <a:solidFill>
                  <a:srgbClr val="FFFFFF"/>
                </a:solidFill>
              </a14:hiddenFill>
            </a:ext>
          </a:extLst>
        </p:spPr>
      </p:pic>
      <p:cxnSp>
        <p:nvCxnSpPr>
          <p:cNvPr id="71" name="Straight Arrow Connector 70">
            <a:extLst>
              <a:ext uri="{FF2B5EF4-FFF2-40B4-BE49-F238E27FC236}">
                <a16:creationId xmlns:a16="http://schemas.microsoft.com/office/drawing/2014/main" id="{0A34EACD-4973-49DA-9D83-E670B09026D2}"/>
              </a:ext>
            </a:extLst>
          </p:cNvPr>
          <p:cNvCxnSpPr>
            <a:cxnSpLocks/>
          </p:cNvCxnSpPr>
          <p:nvPr/>
        </p:nvCxnSpPr>
        <p:spPr>
          <a:xfrm>
            <a:off x="6107137" y="5067943"/>
            <a:ext cx="0" cy="4577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61A9A4E-DAA0-4A3A-B7FB-6B11CA75B420}"/>
              </a:ext>
            </a:extLst>
          </p:cNvPr>
          <p:cNvCxnSpPr>
            <a:cxnSpLocks/>
          </p:cNvCxnSpPr>
          <p:nvPr/>
        </p:nvCxnSpPr>
        <p:spPr>
          <a:xfrm>
            <a:off x="3804435" y="4987055"/>
            <a:ext cx="0" cy="4507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78" name="Picture 30">
            <a:extLst>
              <a:ext uri="{FF2B5EF4-FFF2-40B4-BE49-F238E27FC236}">
                <a16:creationId xmlns:a16="http://schemas.microsoft.com/office/drawing/2014/main" id="{F945F383-49BB-494A-921A-3A57558F6C7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06518" y="5567329"/>
            <a:ext cx="751417" cy="365734"/>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246FD913-1F98-4E38-A8A8-BCB1C400FB34}"/>
              </a:ext>
            </a:extLst>
          </p:cNvPr>
          <p:cNvSpPr txBox="1"/>
          <p:nvPr/>
        </p:nvSpPr>
        <p:spPr>
          <a:xfrm>
            <a:off x="1584857" y="4566589"/>
            <a:ext cx="1078057" cy="369332"/>
          </a:xfrm>
          <a:prstGeom prst="rect">
            <a:avLst/>
          </a:prstGeom>
          <a:noFill/>
        </p:spPr>
        <p:txBody>
          <a:bodyPr wrap="square">
            <a:spAutoFit/>
          </a:bodyPr>
          <a:lstStyle/>
          <a:p>
            <a:r>
              <a:rPr lang="en-US" sz="1800" b="0" i="0" u="none" strike="noStrike" baseline="0" dirty="0">
                <a:latin typeface="ArialMT"/>
              </a:rPr>
              <a:t>Decoder</a:t>
            </a:r>
            <a:endParaRPr lang="en-US" dirty="0"/>
          </a:p>
        </p:txBody>
      </p:sp>
      <p:cxnSp>
        <p:nvCxnSpPr>
          <p:cNvPr id="64" name="Straight Arrow Connector 63">
            <a:extLst>
              <a:ext uri="{FF2B5EF4-FFF2-40B4-BE49-F238E27FC236}">
                <a16:creationId xmlns:a16="http://schemas.microsoft.com/office/drawing/2014/main" id="{9EB17866-122C-424C-9A4D-825398FE5BAB}"/>
              </a:ext>
            </a:extLst>
          </p:cNvPr>
          <p:cNvCxnSpPr>
            <a:cxnSpLocks/>
          </p:cNvCxnSpPr>
          <p:nvPr/>
        </p:nvCxnSpPr>
        <p:spPr>
          <a:xfrm>
            <a:off x="3025002" y="2923082"/>
            <a:ext cx="2923459" cy="14914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0071091-1EB2-498F-9123-B6C567307BEA}"/>
              </a:ext>
            </a:extLst>
          </p:cNvPr>
          <p:cNvCxnSpPr>
            <a:cxnSpLocks/>
          </p:cNvCxnSpPr>
          <p:nvPr/>
        </p:nvCxnSpPr>
        <p:spPr>
          <a:xfrm>
            <a:off x="5053955" y="2940715"/>
            <a:ext cx="999709" cy="13819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29EBCF1-B5AD-4E7D-900C-287FDBD954D4}"/>
              </a:ext>
            </a:extLst>
          </p:cNvPr>
          <p:cNvCxnSpPr>
            <a:cxnSpLocks/>
          </p:cNvCxnSpPr>
          <p:nvPr/>
        </p:nvCxnSpPr>
        <p:spPr>
          <a:xfrm flipH="1">
            <a:off x="6096000" y="2920400"/>
            <a:ext cx="2062231" cy="140221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003D0B8-4D71-44D1-B2FE-AAB1584D58CF}"/>
              </a:ext>
            </a:extLst>
          </p:cNvPr>
          <p:cNvCxnSpPr>
            <a:cxnSpLocks/>
          </p:cNvCxnSpPr>
          <p:nvPr/>
        </p:nvCxnSpPr>
        <p:spPr>
          <a:xfrm flipH="1">
            <a:off x="6641914" y="4746660"/>
            <a:ext cx="40103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42D920AC-CC35-4295-B559-6D3ED64E8B8C}"/>
              </a:ext>
            </a:extLst>
          </p:cNvPr>
          <p:cNvSpPr txBox="1"/>
          <p:nvPr/>
        </p:nvSpPr>
        <p:spPr>
          <a:xfrm>
            <a:off x="7023270" y="4245169"/>
            <a:ext cx="538930" cy="707886"/>
          </a:xfrm>
          <a:prstGeom prst="rect">
            <a:avLst/>
          </a:prstGeom>
          <a:noFill/>
        </p:spPr>
        <p:txBody>
          <a:bodyPr wrap="none" rtlCol="0">
            <a:spAutoFit/>
          </a:bodyPr>
          <a:lstStyle/>
          <a:p>
            <a:r>
              <a:rPr lang="en-US" sz="4000" dirty="0"/>
              <a:t>…</a:t>
            </a:r>
          </a:p>
        </p:txBody>
      </p:sp>
      <p:cxnSp>
        <p:nvCxnSpPr>
          <p:cNvPr id="83" name="Straight Arrow Connector 82">
            <a:extLst>
              <a:ext uri="{FF2B5EF4-FFF2-40B4-BE49-F238E27FC236}">
                <a16:creationId xmlns:a16="http://schemas.microsoft.com/office/drawing/2014/main" id="{C0531EC0-1B3A-4F0F-996F-3E75596E3DED}"/>
              </a:ext>
            </a:extLst>
          </p:cNvPr>
          <p:cNvCxnSpPr>
            <a:cxnSpLocks/>
          </p:cNvCxnSpPr>
          <p:nvPr/>
        </p:nvCxnSpPr>
        <p:spPr>
          <a:xfrm flipH="1">
            <a:off x="7549417" y="4736631"/>
            <a:ext cx="35542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00" name="Picture 4">
            <a:extLst>
              <a:ext uri="{FF2B5EF4-FFF2-40B4-BE49-F238E27FC236}">
                <a16:creationId xmlns:a16="http://schemas.microsoft.com/office/drawing/2014/main" id="{E13BC4A7-BD86-4892-B3C9-5389655625A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48461" y="4574600"/>
            <a:ext cx="401039" cy="35263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567E1FD9-5175-4009-9FCB-5B4BF57A746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83173" y="5618890"/>
            <a:ext cx="510420" cy="38990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42948221-CB70-4FB9-A85E-E258EE46346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89459" y="3566696"/>
            <a:ext cx="741668" cy="361789"/>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3806FD0A-1989-4BA2-B45B-07C5ED43EBB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65256" y="3345811"/>
            <a:ext cx="805007" cy="386403"/>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a:extLst>
              <a:ext uri="{FF2B5EF4-FFF2-40B4-BE49-F238E27FC236}">
                <a16:creationId xmlns:a16="http://schemas.microsoft.com/office/drawing/2014/main" id="{E7894704-2309-4F2E-96E0-3831F2C75B4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90368" y="3640583"/>
            <a:ext cx="805007" cy="342556"/>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1B530B3D-65E1-436E-8800-786FC20E5234}"/>
              </a:ext>
            </a:extLst>
          </p:cNvPr>
          <p:cNvSpPr txBox="1"/>
          <p:nvPr/>
        </p:nvSpPr>
        <p:spPr>
          <a:xfrm>
            <a:off x="947452" y="2342660"/>
            <a:ext cx="1078057" cy="369332"/>
          </a:xfrm>
          <a:prstGeom prst="rect">
            <a:avLst/>
          </a:prstGeom>
          <a:noFill/>
        </p:spPr>
        <p:txBody>
          <a:bodyPr wrap="square">
            <a:spAutoFit/>
          </a:bodyPr>
          <a:lstStyle/>
          <a:p>
            <a:r>
              <a:rPr lang="en-US" sz="1800" b="0" i="0" u="none" strike="noStrike" baseline="0" dirty="0">
                <a:latin typeface="ArialMT"/>
              </a:rPr>
              <a:t>Encoder</a:t>
            </a:r>
            <a:endParaRPr lang="en-US" dirty="0"/>
          </a:p>
        </p:txBody>
      </p:sp>
      <p:sp>
        <p:nvSpPr>
          <p:cNvPr id="16" name="TextBox 15">
            <a:extLst>
              <a:ext uri="{FF2B5EF4-FFF2-40B4-BE49-F238E27FC236}">
                <a16:creationId xmlns:a16="http://schemas.microsoft.com/office/drawing/2014/main" id="{26431F69-04DB-4DF5-93B8-5118B96610BD}"/>
              </a:ext>
            </a:extLst>
          </p:cNvPr>
          <p:cNvSpPr txBox="1"/>
          <p:nvPr/>
        </p:nvSpPr>
        <p:spPr>
          <a:xfrm>
            <a:off x="8677429" y="3495260"/>
            <a:ext cx="3315138" cy="400110"/>
          </a:xfrm>
          <a:prstGeom prst="rect">
            <a:avLst/>
          </a:prstGeom>
          <a:noFill/>
        </p:spPr>
        <p:txBody>
          <a:bodyPr wrap="none" rtlCol="0">
            <a:spAutoFit/>
          </a:bodyPr>
          <a:lstStyle/>
          <a:p>
            <a:r>
              <a:rPr lang="en-US" sz="2000" dirty="0">
                <a:solidFill>
                  <a:srgbClr val="FF0000"/>
                </a:solidFill>
              </a:rPr>
              <a:t>How to compute the weights?</a:t>
            </a:r>
          </a:p>
        </p:txBody>
      </p:sp>
    </p:spTree>
    <p:extLst>
      <p:ext uri="{BB962C8B-B14F-4D97-AF65-F5344CB8AC3E}">
        <p14:creationId xmlns:p14="http://schemas.microsoft.com/office/powerpoint/2010/main" val="193896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0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0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4F0E-C041-4C61-93DE-0A5CD7C6993B}"/>
              </a:ext>
            </a:extLst>
          </p:cNvPr>
          <p:cNvSpPr>
            <a:spLocks noGrp="1"/>
          </p:cNvSpPr>
          <p:nvPr>
            <p:ph type="title"/>
          </p:nvPr>
        </p:nvSpPr>
        <p:spPr/>
        <p:txBody>
          <a:bodyPr/>
          <a:lstStyle/>
          <a:p>
            <a:r>
              <a:rPr lang="en-US" dirty="0"/>
              <a:t>Transformer: Attention</a:t>
            </a:r>
          </a:p>
        </p:txBody>
      </p:sp>
      <p:sp>
        <p:nvSpPr>
          <p:cNvPr id="3" name="Content Placeholder 2">
            <a:extLst>
              <a:ext uri="{FF2B5EF4-FFF2-40B4-BE49-F238E27FC236}">
                <a16:creationId xmlns:a16="http://schemas.microsoft.com/office/drawing/2014/main" id="{6AA2E10F-A800-4D21-B8BB-BCB37D9B5995}"/>
              </a:ext>
            </a:extLst>
          </p:cNvPr>
          <p:cNvSpPr>
            <a:spLocks noGrp="1"/>
          </p:cNvSpPr>
          <p:nvPr>
            <p:ph idx="1"/>
          </p:nvPr>
        </p:nvSpPr>
        <p:spPr/>
        <p:txBody>
          <a:bodyPr/>
          <a:lstStyle/>
          <a:p>
            <a:r>
              <a:rPr lang="en-US" dirty="0"/>
              <a:t>Input</a:t>
            </a:r>
          </a:p>
          <a:p>
            <a:pPr lvl="1"/>
            <a:r>
              <a:rPr lang="en-US" dirty="0"/>
              <a:t>(key, value) pairs (think about python dictionary)</a:t>
            </a:r>
          </a:p>
          <a:p>
            <a:pPr lvl="1"/>
            <a:r>
              <a:rPr lang="en-US" dirty="0"/>
              <a:t>A query</a:t>
            </a:r>
          </a:p>
          <a:p>
            <a:pPr lvl="1"/>
            <a:endParaRPr lang="en-US" dirty="0"/>
          </a:p>
          <a:p>
            <a:r>
              <a:rPr lang="en-US" dirty="0"/>
              <a:t>Output</a:t>
            </a:r>
          </a:p>
          <a:p>
            <a:pPr lvl="1"/>
            <a:r>
              <a:rPr lang="en-US" dirty="0"/>
              <a:t>Compare the query to all the keys to compute weights</a:t>
            </a:r>
          </a:p>
          <a:p>
            <a:pPr lvl="1"/>
            <a:r>
              <a:rPr lang="en-US" dirty="0"/>
              <a:t>Weighted sum of the values</a:t>
            </a:r>
          </a:p>
        </p:txBody>
      </p:sp>
      <p:sp>
        <p:nvSpPr>
          <p:cNvPr id="6" name="Slide Number Placeholder 5">
            <a:extLst>
              <a:ext uri="{FF2B5EF4-FFF2-40B4-BE49-F238E27FC236}">
                <a16:creationId xmlns:a16="http://schemas.microsoft.com/office/drawing/2014/main" id="{2EF01D15-DAD9-4050-A2B2-54278CE7235F}"/>
              </a:ext>
            </a:extLst>
          </p:cNvPr>
          <p:cNvSpPr>
            <a:spLocks noGrp="1"/>
          </p:cNvSpPr>
          <p:nvPr>
            <p:ph type="sldNum" sz="quarter" idx="12"/>
          </p:nvPr>
        </p:nvSpPr>
        <p:spPr/>
        <p:txBody>
          <a:bodyPr/>
          <a:lstStyle/>
          <a:p>
            <a:fld id="{1B30F0CC-EBAF-4E3D-80D7-CFC82A3A738F}" type="slidenum">
              <a:rPr lang="en-US" smtClean="0"/>
              <a:pPr/>
              <a:t>111</a:t>
            </a:fld>
            <a:endParaRPr lang="en-US" dirty="0"/>
          </a:p>
        </p:txBody>
      </p:sp>
      <p:sp>
        <p:nvSpPr>
          <p:cNvPr id="7" name="TextBox 6">
            <a:extLst>
              <a:ext uri="{FF2B5EF4-FFF2-40B4-BE49-F238E27FC236}">
                <a16:creationId xmlns:a16="http://schemas.microsoft.com/office/drawing/2014/main" id="{361A6934-3F8F-435D-8CF7-2ABB6B3724EC}"/>
              </a:ext>
            </a:extLst>
          </p:cNvPr>
          <p:cNvSpPr txBox="1"/>
          <p:nvPr/>
        </p:nvSpPr>
        <p:spPr>
          <a:xfrm>
            <a:off x="4438690" y="5899964"/>
            <a:ext cx="3468792" cy="276999"/>
          </a:xfrm>
          <a:prstGeom prst="rect">
            <a:avLst/>
          </a:prstGeom>
          <a:noFill/>
        </p:spPr>
        <p:txBody>
          <a:bodyPr wrap="square">
            <a:spAutoFit/>
          </a:bodyPr>
          <a:lstStyle>
            <a:defPPr>
              <a:defRPr lang="en-US"/>
            </a:defPPr>
            <a:lvl1pPr>
              <a:defRPr sz="1200" b="0" i="0" u="none" strike="noStrike" baseline="0">
                <a:latin typeface="NimbusRomNo9L-Medi"/>
              </a:defRPr>
            </a:lvl1pPr>
          </a:lstStyle>
          <a:p>
            <a:r>
              <a:rPr lang="en-US" dirty="0"/>
              <a:t>Attention is all you need. Vaswani et al., NeurIPS’17</a:t>
            </a:r>
          </a:p>
        </p:txBody>
      </p:sp>
    </p:spTree>
    <p:extLst>
      <p:ext uri="{BB962C8B-B14F-4D97-AF65-F5344CB8AC3E}">
        <p14:creationId xmlns:p14="http://schemas.microsoft.com/office/powerpoint/2010/main" val="2191129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2439C-F19B-42CD-8136-06BF6BDAE119}"/>
              </a:ext>
            </a:extLst>
          </p:cNvPr>
          <p:cNvSpPr>
            <a:spLocks noGrp="1"/>
          </p:cNvSpPr>
          <p:nvPr>
            <p:ph type="title"/>
          </p:nvPr>
        </p:nvSpPr>
        <p:spPr/>
        <p:txBody>
          <a:bodyPr/>
          <a:lstStyle/>
          <a:p>
            <a:r>
              <a:rPr lang="en-US" dirty="0"/>
              <a:t>Transformer: Attention</a:t>
            </a:r>
          </a:p>
        </p:txBody>
      </p:sp>
      <p:sp>
        <p:nvSpPr>
          <p:cNvPr id="3" name="Content Placeholder 2">
            <a:extLst>
              <a:ext uri="{FF2B5EF4-FFF2-40B4-BE49-F238E27FC236}">
                <a16:creationId xmlns:a16="http://schemas.microsoft.com/office/drawing/2014/main" id="{58645B83-D870-452D-A131-6B0AACC19E97}"/>
              </a:ext>
            </a:extLst>
          </p:cNvPr>
          <p:cNvSpPr>
            <a:spLocks noGrp="1"/>
          </p:cNvSpPr>
          <p:nvPr>
            <p:ph idx="1"/>
          </p:nvPr>
        </p:nvSpPr>
        <p:spPr/>
        <p:txBody>
          <a:bodyPr/>
          <a:lstStyle/>
          <a:p>
            <a:r>
              <a:rPr lang="en-US" dirty="0"/>
              <a:t>Scaled Dot-Product Attention</a:t>
            </a:r>
          </a:p>
          <a:p>
            <a:pPr lvl="1"/>
            <a:r>
              <a:rPr lang="en-US" dirty="0"/>
              <a:t>Keys</a:t>
            </a:r>
          </a:p>
          <a:p>
            <a:pPr marL="457200" lvl="1" indent="0">
              <a:buNone/>
            </a:pPr>
            <a:endParaRPr lang="en-US" dirty="0"/>
          </a:p>
          <a:p>
            <a:pPr lvl="1"/>
            <a:r>
              <a:rPr lang="en-US" dirty="0"/>
              <a:t>Values</a:t>
            </a:r>
          </a:p>
          <a:p>
            <a:pPr lvl="1"/>
            <a:endParaRPr lang="en-US" dirty="0"/>
          </a:p>
          <a:p>
            <a:pPr lvl="1"/>
            <a:r>
              <a:rPr lang="en-US" dirty="0"/>
              <a:t>n queries</a:t>
            </a:r>
          </a:p>
        </p:txBody>
      </p:sp>
      <p:sp>
        <p:nvSpPr>
          <p:cNvPr id="6" name="Slide Number Placeholder 5">
            <a:extLst>
              <a:ext uri="{FF2B5EF4-FFF2-40B4-BE49-F238E27FC236}">
                <a16:creationId xmlns:a16="http://schemas.microsoft.com/office/drawing/2014/main" id="{B8901A29-84DF-4A55-A7A6-911EBC9D5FB0}"/>
              </a:ext>
            </a:extLst>
          </p:cNvPr>
          <p:cNvSpPr>
            <a:spLocks noGrp="1"/>
          </p:cNvSpPr>
          <p:nvPr>
            <p:ph type="sldNum" sz="quarter" idx="12"/>
          </p:nvPr>
        </p:nvSpPr>
        <p:spPr/>
        <p:txBody>
          <a:bodyPr/>
          <a:lstStyle/>
          <a:p>
            <a:fld id="{1B30F0CC-EBAF-4E3D-80D7-CFC82A3A738F}" type="slidenum">
              <a:rPr lang="en-US" smtClean="0"/>
              <a:pPr/>
              <a:t>112</a:t>
            </a:fld>
            <a:endParaRPr lang="en-US" dirty="0"/>
          </a:p>
        </p:txBody>
      </p:sp>
      <p:pic>
        <p:nvPicPr>
          <p:cNvPr id="8194" name="Picture 2">
            <a:extLst>
              <a:ext uri="{FF2B5EF4-FFF2-40B4-BE49-F238E27FC236}">
                <a16:creationId xmlns:a16="http://schemas.microsoft.com/office/drawing/2014/main" id="{B13603D8-011F-4F65-BF9E-4B1DA350A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2184" y="1961398"/>
            <a:ext cx="2446626" cy="44201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14433AAC-D2A7-400D-9E65-EE7B0F6878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6561" y="2734261"/>
            <a:ext cx="2371920" cy="442011"/>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DF811610-1284-4C3B-A166-54B75458D0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001" y="3492094"/>
            <a:ext cx="2206769" cy="4684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EE68BEBE-1812-4BC0-8D6A-65BDF518C803}"/>
              </a:ext>
            </a:extLst>
          </p:cNvPr>
          <p:cNvPicPr>
            <a:picLocks noChangeAspect="1"/>
          </p:cNvPicPr>
          <p:nvPr/>
        </p:nvPicPr>
        <p:blipFill>
          <a:blip r:embed="rId6"/>
          <a:stretch>
            <a:fillRect/>
          </a:stretch>
        </p:blipFill>
        <p:spPr>
          <a:xfrm>
            <a:off x="2339918" y="3989304"/>
            <a:ext cx="6270682" cy="1268899"/>
          </a:xfrm>
          <a:prstGeom prst="rect">
            <a:avLst/>
          </a:prstGeom>
        </p:spPr>
      </p:pic>
      <p:pic>
        <p:nvPicPr>
          <p:cNvPr id="8200" name="Picture 8">
            <a:extLst>
              <a:ext uri="{FF2B5EF4-FFF2-40B4-BE49-F238E27FC236}">
                <a16:creationId xmlns:a16="http://schemas.microsoft.com/office/drawing/2014/main" id="{C2439C5F-7A73-46EE-9F22-9BACDFC8C8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5411" y="5219111"/>
            <a:ext cx="1386752" cy="437597"/>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C3C77DCC-B995-436B-8155-5FCE3446D35B}"/>
              </a:ext>
            </a:extLst>
          </p:cNvPr>
          <p:cNvCxnSpPr>
            <a:cxnSpLocks/>
          </p:cNvCxnSpPr>
          <p:nvPr/>
        </p:nvCxnSpPr>
        <p:spPr>
          <a:xfrm flipV="1">
            <a:off x="6743699" y="4847391"/>
            <a:ext cx="0" cy="8093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30B5AB3-FD14-4AC3-840F-835D7AEB2A1D}"/>
              </a:ext>
            </a:extLst>
          </p:cNvPr>
          <p:cNvSpPr txBox="1"/>
          <p:nvPr/>
        </p:nvSpPr>
        <p:spPr>
          <a:xfrm>
            <a:off x="6247313" y="5636040"/>
            <a:ext cx="992772" cy="400110"/>
          </a:xfrm>
          <a:prstGeom prst="rect">
            <a:avLst/>
          </a:prstGeom>
          <a:noFill/>
        </p:spPr>
        <p:txBody>
          <a:bodyPr wrap="none" rtlCol="0">
            <a:spAutoFit/>
          </a:bodyPr>
          <a:lstStyle/>
          <a:p>
            <a:r>
              <a:rPr lang="en-US" sz="2000" dirty="0">
                <a:solidFill>
                  <a:srgbClr val="FF0000"/>
                </a:solidFill>
              </a:rPr>
              <a:t>weights</a:t>
            </a:r>
          </a:p>
        </p:txBody>
      </p:sp>
      <p:pic>
        <p:nvPicPr>
          <p:cNvPr id="10" name="Picture 9">
            <a:extLst>
              <a:ext uri="{FF2B5EF4-FFF2-40B4-BE49-F238E27FC236}">
                <a16:creationId xmlns:a16="http://schemas.microsoft.com/office/drawing/2014/main" id="{9992ECB2-C59E-4219-8A30-510DD3020DC3}"/>
              </a:ext>
            </a:extLst>
          </p:cNvPr>
          <p:cNvPicPr>
            <a:picLocks noChangeAspect="1"/>
          </p:cNvPicPr>
          <p:nvPr/>
        </p:nvPicPr>
        <p:blipFill>
          <a:blip r:embed="rId8"/>
          <a:stretch>
            <a:fillRect/>
          </a:stretch>
        </p:blipFill>
        <p:spPr>
          <a:xfrm>
            <a:off x="8864218" y="996083"/>
            <a:ext cx="2774115" cy="4947418"/>
          </a:xfrm>
          <a:prstGeom prst="rect">
            <a:avLst/>
          </a:prstGeom>
        </p:spPr>
      </p:pic>
      <p:sp>
        <p:nvSpPr>
          <p:cNvPr id="16" name="TextBox 15">
            <a:extLst>
              <a:ext uri="{FF2B5EF4-FFF2-40B4-BE49-F238E27FC236}">
                <a16:creationId xmlns:a16="http://schemas.microsoft.com/office/drawing/2014/main" id="{1A2ACE7A-FFBE-4949-AFA1-251D0B107461}"/>
              </a:ext>
            </a:extLst>
          </p:cNvPr>
          <p:cNvSpPr txBox="1"/>
          <p:nvPr/>
        </p:nvSpPr>
        <p:spPr>
          <a:xfrm>
            <a:off x="4361604" y="5887780"/>
            <a:ext cx="3468792" cy="276999"/>
          </a:xfrm>
          <a:prstGeom prst="rect">
            <a:avLst/>
          </a:prstGeom>
          <a:noFill/>
        </p:spPr>
        <p:txBody>
          <a:bodyPr wrap="square">
            <a:spAutoFit/>
          </a:bodyPr>
          <a:lstStyle>
            <a:defPPr>
              <a:defRPr lang="en-US"/>
            </a:defPPr>
            <a:lvl1pPr>
              <a:defRPr sz="1200" b="0" i="0" u="none" strike="noStrike" baseline="0">
                <a:latin typeface="NimbusRomNo9L-Medi"/>
              </a:defRPr>
            </a:lvl1pPr>
          </a:lstStyle>
          <a:p>
            <a:r>
              <a:rPr lang="en-US" dirty="0"/>
              <a:t>Attention is all you need. Vaswani et al., NeurIPS’17</a:t>
            </a:r>
          </a:p>
        </p:txBody>
      </p:sp>
    </p:spTree>
    <p:extLst>
      <p:ext uri="{BB962C8B-B14F-4D97-AF65-F5344CB8AC3E}">
        <p14:creationId xmlns:p14="http://schemas.microsoft.com/office/powerpoint/2010/main" val="352072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2439C-F19B-42CD-8136-06BF6BDAE119}"/>
              </a:ext>
            </a:extLst>
          </p:cNvPr>
          <p:cNvSpPr>
            <a:spLocks noGrp="1"/>
          </p:cNvSpPr>
          <p:nvPr>
            <p:ph type="title"/>
          </p:nvPr>
        </p:nvSpPr>
        <p:spPr/>
        <p:txBody>
          <a:bodyPr/>
          <a:lstStyle/>
          <a:p>
            <a:r>
              <a:rPr lang="en-US" dirty="0"/>
              <a:t>Transformer: Attention</a:t>
            </a:r>
          </a:p>
        </p:txBody>
      </p:sp>
      <p:sp>
        <p:nvSpPr>
          <p:cNvPr id="3" name="Content Placeholder 2">
            <a:extLst>
              <a:ext uri="{FF2B5EF4-FFF2-40B4-BE49-F238E27FC236}">
                <a16:creationId xmlns:a16="http://schemas.microsoft.com/office/drawing/2014/main" id="{58645B83-D870-452D-A131-6B0AACC19E97}"/>
              </a:ext>
            </a:extLst>
          </p:cNvPr>
          <p:cNvSpPr>
            <a:spLocks noGrp="1"/>
          </p:cNvSpPr>
          <p:nvPr>
            <p:ph idx="1"/>
          </p:nvPr>
        </p:nvSpPr>
        <p:spPr/>
        <p:txBody>
          <a:bodyPr/>
          <a:lstStyle/>
          <a:p>
            <a:r>
              <a:rPr lang="en-US" dirty="0"/>
              <a:t>Multi-Head Attention</a:t>
            </a:r>
          </a:p>
          <a:p>
            <a:pPr lvl="1"/>
            <a:r>
              <a:rPr lang="en-US" dirty="0"/>
              <a:t>Suppose the latent vector is with dimension</a:t>
            </a:r>
          </a:p>
        </p:txBody>
      </p:sp>
      <p:sp>
        <p:nvSpPr>
          <p:cNvPr id="6" name="Slide Number Placeholder 5">
            <a:extLst>
              <a:ext uri="{FF2B5EF4-FFF2-40B4-BE49-F238E27FC236}">
                <a16:creationId xmlns:a16="http://schemas.microsoft.com/office/drawing/2014/main" id="{B8901A29-84DF-4A55-A7A6-911EBC9D5FB0}"/>
              </a:ext>
            </a:extLst>
          </p:cNvPr>
          <p:cNvSpPr>
            <a:spLocks noGrp="1"/>
          </p:cNvSpPr>
          <p:nvPr>
            <p:ph type="sldNum" sz="quarter" idx="12"/>
          </p:nvPr>
        </p:nvSpPr>
        <p:spPr/>
        <p:txBody>
          <a:bodyPr/>
          <a:lstStyle/>
          <a:p>
            <a:fld id="{1B30F0CC-EBAF-4E3D-80D7-CFC82A3A738F}" type="slidenum">
              <a:rPr lang="en-US" smtClean="0"/>
              <a:pPr/>
              <a:t>113</a:t>
            </a:fld>
            <a:endParaRPr lang="en-US" dirty="0"/>
          </a:p>
        </p:txBody>
      </p:sp>
      <p:sp>
        <p:nvSpPr>
          <p:cNvPr id="7" name="TextBox 6">
            <a:extLst>
              <a:ext uri="{FF2B5EF4-FFF2-40B4-BE49-F238E27FC236}">
                <a16:creationId xmlns:a16="http://schemas.microsoft.com/office/drawing/2014/main" id="{190C9D0B-0B1C-436D-88BD-256529CF4D4E}"/>
              </a:ext>
            </a:extLst>
          </p:cNvPr>
          <p:cNvSpPr txBox="1"/>
          <p:nvPr/>
        </p:nvSpPr>
        <p:spPr>
          <a:xfrm>
            <a:off x="4522941" y="5888777"/>
            <a:ext cx="3468792" cy="276999"/>
          </a:xfrm>
          <a:prstGeom prst="rect">
            <a:avLst/>
          </a:prstGeom>
          <a:noFill/>
        </p:spPr>
        <p:txBody>
          <a:bodyPr wrap="square">
            <a:spAutoFit/>
          </a:bodyPr>
          <a:lstStyle>
            <a:defPPr>
              <a:defRPr lang="en-US"/>
            </a:defPPr>
            <a:lvl1pPr>
              <a:defRPr sz="1200" b="0" i="0" u="none" strike="noStrike" baseline="0">
                <a:latin typeface="NimbusRomNo9L-Medi"/>
              </a:defRPr>
            </a:lvl1pPr>
          </a:lstStyle>
          <a:p>
            <a:r>
              <a:rPr lang="en-US" dirty="0"/>
              <a:t>Attention is all you need. Vaswani et al., NeurIPS’17</a:t>
            </a:r>
          </a:p>
        </p:txBody>
      </p:sp>
      <p:pic>
        <p:nvPicPr>
          <p:cNvPr id="8202" name="Picture 10">
            <a:extLst>
              <a:ext uri="{FF2B5EF4-FFF2-40B4-BE49-F238E27FC236}">
                <a16:creationId xmlns:a16="http://schemas.microsoft.com/office/drawing/2014/main" id="{A64C8D3B-93DD-4ED7-AAEE-FE320D7E2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4381" y="1945644"/>
            <a:ext cx="1074796" cy="35659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0775614-D310-41B8-B4BF-8A89D8304AB6}"/>
              </a:ext>
            </a:extLst>
          </p:cNvPr>
          <p:cNvPicPr>
            <a:picLocks noChangeAspect="1"/>
          </p:cNvPicPr>
          <p:nvPr/>
        </p:nvPicPr>
        <p:blipFill>
          <a:blip r:embed="rId4"/>
          <a:stretch>
            <a:fillRect/>
          </a:stretch>
        </p:blipFill>
        <p:spPr>
          <a:xfrm>
            <a:off x="1079531" y="3390797"/>
            <a:ext cx="6536471" cy="667824"/>
          </a:xfrm>
          <a:prstGeom prst="rect">
            <a:avLst/>
          </a:prstGeom>
        </p:spPr>
      </p:pic>
      <p:pic>
        <p:nvPicPr>
          <p:cNvPr id="8204" name="Picture 12">
            <a:extLst>
              <a:ext uri="{FF2B5EF4-FFF2-40B4-BE49-F238E27FC236}">
                <a16:creationId xmlns:a16="http://schemas.microsoft.com/office/drawing/2014/main" id="{E2348768-11FA-421C-B021-597ED197B0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9844" y="4492867"/>
            <a:ext cx="1382857" cy="268259"/>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28518391-4E01-4CA0-8851-6B154A1F6801}"/>
              </a:ext>
            </a:extLst>
          </p:cNvPr>
          <p:cNvCxnSpPr>
            <a:cxnSpLocks/>
          </p:cNvCxnSpPr>
          <p:nvPr/>
        </p:nvCxnSpPr>
        <p:spPr>
          <a:xfrm flipV="1">
            <a:off x="3542765" y="3951809"/>
            <a:ext cx="706581" cy="5410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206" name="Picture 14">
            <a:extLst>
              <a:ext uri="{FF2B5EF4-FFF2-40B4-BE49-F238E27FC236}">
                <a16:creationId xmlns:a16="http://schemas.microsoft.com/office/drawing/2014/main" id="{B1635EA3-80AA-43FD-B49A-3DE48A4C08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8314" y="4534845"/>
            <a:ext cx="1496206" cy="268259"/>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Arrow Connector 24">
            <a:extLst>
              <a:ext uri="{FF2B5EF4-FFF2-40B4-BE49-F238E27FC236}">
                <a16:creationId xmlns:a16="http://schemas.microsoft.com/office/drawing/2014/main" id="{6EDB4E05-DBB7-4475-B9BB-EE8E3F169BC7}"/>
              </a:ext>
            </a:extLst>
          </p:cNvPr>
          <p:cNvCxnSpPr>
            <a:cxnSpLocks/>
            <a:stCxn id="8206" idx="0"/>
          </p:cNvCxnSpPr>
          <p:nvPr/>
        </p:nvCxnSpPr>
        <p:spPr>
          <a:xfrm flipH="1" flipV="1">
            <a:off x="4554188" y="3946923"/>
            <a:ext cx="502229" cy="5879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208" name="Picture 16">
            <a:extLst>
              <a:ext uri="{FF2B5EF4-FFF2-40B4-BE49-F238E27FC236}">
                <a16:creationId xmlns:a16="http://schemas.microsoft.com/office/drawing/2014/main" id="{A595497E-5D24-4459-94CF-FE06981441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7545" y="2485702"/>
            <a:ext cx="1693285" cy="309057"/>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D70315AA-39C8-46B5-8A46-A73B2F7CFED3}"/>
              </a:ext>
            </a:extLst>
          </p:cNvPr>
          <p:cNvCxnSpPr>
            <a:cxnSpLocks/>
          </p:cNvCxnSpPr>
          <p:nvPr/>
        </p:nvCxnSpPr>
        <p:spPr>
          <a:xfrm>
            <a:off x="4554187" y="2956551"/>
            <a:ext cx="846643" cy="4814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0" name="Picture 14">
            <a:extLst>
              <a:ext uri="{FF2B5EF4-FFF2-40B4-BE49-F238E27FC236}">
                <a16:creationId xmlns:a16="http://schemas.microsoft.com/office/drawing/2014/main" id="{3BB451DE-2DBF-4EFE-8547-9198A331C5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0514" y="2526500"/>
            <a:ext cx="1496206" cy="268259"/>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Arrow Connector 30">
            <a:extLst>
              <a:ext uri="{FF2B5EF4-FFF2-40B4-BE49-F238E27FC236}">
                <a16:creationId xmlns:a16="http://schemas.microsoft.com/office/drawing/2014/main" id="{2EF5A1CE-0E3C-4D0A-9072-C0466F2CBA1F}"/>
              </a:ext>
            </a:extLst>
          </p:cNvPr>
          <p:cNvCxnSpPr>
            <a:cxnSpLocks/>
          </p:cNvCxnSpPr>
          <p:nvPr/>
        </p:nvCxnSpPr>
        <p:spPr>
          <a:xfrm flipH="1">
            <a:off x="5804520" y="2921370"/>
            <a:ext cx="563330" cy="5533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3" name="Picture 16">
            <a:extLst>
              <a:ext uri="{FF2B5EF4-FFF2-40B4-BE49-F238E27FC236}">
                <a16:creationId xmlns:a16="http://schemas.microsoft.com/office/drawing/2014/main" id="{873F5EE2-DD07-4A9A-B823-451D015162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67850" y="4534159"/>
            <a:ext cx="1473516" cy="268945"/>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Arrow Connector 33">
            <a:extLst>
              <a:ext uri="{FF2B5EF4-FFF2-40B4-BE49-F238E27FC236}">
                <a16:creationId xmlns:a16="http://schemas.microsoft.com/office/drawing/2014/main" id="{A35DA63A-1016-4F6E-9735-C5B88F7D08A3}"/>
              </a:ext>
            </a:extLst>
          </p:cNvPr>
          <p:cNvCxnSpPr>
            <a:cxnSpLocks/>
          </p:cNvCxnSpPr>
          <p:nvPr/>
        </p:nvCxnSpPr>
        <p:spPr>
          <a:xfrm flipH="1" flipV="1">
            <a:off x="6626593" y="3946923"/>
            <a:ext cx="341659" cy="5166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210" name="Picture 18">
            <a:extLst>
              <a:ext uri="{FF2B5EF4-FFF2-40B4-BE49-F238E27FC236}">
                <a16:creationId xmlns:a16="http://schemas.microsoft.com/office/drawing/2014/main" id="{0FFDD62A-7AB9-4EC0-93C6-34896942A4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1587" y="4564063"/>
            <a:ext cx="1575995" cy="282564"/>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Straight Arrow Connector 36">
            <a:extLst>
              <a:ext uri="{FF2B5EF4-FFF2-40B4-BE49-F238E27FC236}">
                <a16:creationId xmlns:a16="http://schemas.microsoft.com/office/drawing/2014/main" id="{E4983DF9-49C4-46A8-83DC-12017E53FCA6}"/>
              </a:ext>
            </a:extLst>
          </p:cNvPr>
          <p:cNvCxnSpPr>
            <a:cxnSpLocks/>
          </p:cNvCxnSpPr>
          <p:nvPr/>
        </p:nvCxnSpPr>
        <p:spPr>
          <a:xfrm flipH="1" flipV="1">
            <a:off x="7122296" y="4002772"/>
            <a:ext cx="1488304" cy="4900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2A93BF4-C787-46DB-ADC8-584BB7B8F6AA}"/>
              </a:ext>
            </a:extLst>
          </p:cNvPr>
          <p:cNvSpPr txBox="1"/>
          <p:nvPr/>
        </p:nvSpPr>
        <p:spPr>
          <a:xfrm>
            <a:off x="7616002" y="3484518"/>
            <a:ext cx="1251368" cy="400110"/>
          </a:xfrm>
          <a:prstGeom prst="rect">
            <a:avLst/>
          </a:prstGeom>
          <a:noFill/>
        </p:spPr>
        <p:txBody>
          <a:bodyPr wrap="none" rtlCol="0">
            <a:spAutoFit/>
          </a:bodyPr>
          <a:lstStyle/>
          <a:p>
            <a:r>
              <a:rPr lang="en-US" sz="2000" dirty="0">
                <a:solidFill>
                  <a:srgbClr val="FF0000"/>
                </a:solidFill>
              </a:rPr>
              <a:t>Projection</a:t>
            </a:r>
          </a:p>
        </p:txBody>
      </p:sp>
      <p:pic>
        <p:nvPicPr>
          <p:cNvPr id="24" name="Picture 23">
            <a:extLst>
              <a:ext uri="{FF2B5EF4-FFF2-40B4-BE49-F238E27FC236}">
                <a16:creationId xmlns:a16="http://schemas.microsoft.com/office/drawing/2014/main" id="{AFDE01C9-EB55-4CAC-8238-5A691AECDD4C}"/>
              </a:ext>
            </a:extLst>
          </p:cNvPr>
          <p:cNvPicPr>
            <a:picLocks noChangeAspect="1"/>
          </p:cNvPicPr>
          <p:nvPr/>
        </p:nvPicPr>
        <p:blipFill>
          <a:blip r:embed="rId9"/>
          <a:stretch>
            <a:fillRect/>
          </a:stretch>
        </p:blipFill>
        <p:spPr>
          <a:xfrm>
            <a:off x="1236520" y="5039392"/>
            <a:ext cx="8064340" cy="533669"/>
          </a:xfrm>
          <a:prstGeom prst="rect">
            <a:avLst/>
          </a:prstGeom>
        </p:spPr>
      </p:pic>
      <p:pic>
        <p:nvPicPr>
          <p:cNvPr id="8212" name="Picture 20">
            <a:extLst>
              <a:ext uri="{FF2B5EF4-FFF2-40B4-BE49-F238E27FC236}">
                <a16:creationId xmlns:a16="http://schemas.microsoft.com/office/drawing/2014/main" id="{C32DBB30-E444-4F13-92BD-F8E1AA4F712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06453" y="5588742"/>
            <a:ext cx="1361799" cy="354167"/>
          </a:xfrm>
          <a:prstGeom prst="rect">
            <a:avLst/>
          </a:prstGeom>
          <a:noFill/>
          <a:extLst>
            <a:ext uri="{909E8E84-426E-40DD-AFC4-6F175D3DCCD1}">
              <a14:hiddenFill xmlns:a14="http://schemas.microsoft.com/office/drawing/2010/main">
                <a:solidFill>
                  <a:srgbClr val="FFFFFF"/>
                </a:solidFill>
              </a14:hiddenFill>
            </a:ext>
          </a:extLst>
        </p:spPr>
      </p:pic>
      <p:pic>
        <p:nvPicPr>
          <p:cNvPr id="8214" name="Picture 22">
            <a:extLst>
              <a:ext uri="{FF2B5EF4-FFF2-40B4-BE49-F238E27FC236}">
                <a16:creationId xmlns:a16="http://schemas.microsoft.com/office/drawing/2014/main" id="{17749479-6306-4DCE-820B-E7212E70007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79084" y="5609860"/>
            <a:ext cx="1787365" cy="28517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2">
            <a:extLst>
              <a:ext uri="{FF2B5EF4-FFF2-40B4-BE49-F238E27FC236}">
                <a16:creationId xmlns:a16="http://schemas.microsoft.com/office/drawing/2014/main" id="{7FA7377F-FFAD-46CB-9323-6AB766AE23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9469" y="5618317"/>
            <a:ext cx="1673250" cy="32459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CDD69D1B-F24C-453B-95D2-1F948CB16DE5}"/>
              </a:ext>
            </a:extLst>
          </p:cNvPr>
          <p:cNvPicPr>
            <a:picLocks noChangeAspect="1"/>
          </p:cNvPicPr>
          <p:nvPr/>
        </p:nvPicPr>
        <p:blipFill>
          <a:blip r:embed="rId12"/>
          <a:stretch>
            <a:fillRect/>
          </a:stretch>
        </p:blipFill>
        <p:spPr>
          <a:xfrm>
            <a:off x="9024688" y="354224"/>
            <a:ext cx="3064623" cy="4097988"/>
          </a:xfrm>
          <a:prstGeom prst="rect">
            <a:avLst/>
          </a:prstGeom>
        </p:spPr>
      </p:pic>
      <p:pic>
        <p:nvPicPr>
          <p:cNvPr id="29" name="Picture 8">
            <a:extLst>
              <a:ext uri="{FF2B5EF4-FFF2-40B4-BE49-F238E27FC236}">
                <a16:creationId xmlns:a16="http://schemas.microsoft.com/office/drawing/2014/main" id="{BBDCA43B-2271-4F3B-B75A-D10705683D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3510" y="4025951"/>
            <a:ext cx="1386752" cy="437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72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20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20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20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2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2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21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1168E54-5A30-4CC1-BF02-8EBD80465A86}"/>
              </a:ext>
            </a:extLst>
          </p:cNvPr>
          <p:cNvPicPr>
            <a:picLocks noChangeAspect="1"/>
          </p:cNvPicPr>
          <p:nvPr/>
        </p:nvPicPr>
        <p:blipFill>
          <a:blip r:embed="rId3"/>
          <a:stretch>
            <a:fillRect/>
          </a:stretch>
        </p:blipFill>
        <p:spPr>
          <a:xfrm>
            <a:off x="970502" y="5062566"/>
            <a:ext cx="4283173" cy="901434"/>
          </a:xfrm>
          <a:prstGeom prst="rect">
            <a:avLst/>
          </a:prstGeom>
        </p:spPr>
      </p:pic>
      <p:sp>
        <p:nvSpPr>
          <p:cNvPr id="2" name="Title 1">
            <a:extLst>
              <a:ext uri="{FF2B5EF4-FFF2-40B4-BE49-F238E27FC236}">
                <a16:creationId xmlns:a16="http://schemas.microsoft.com/office/drawing/2014/main" id="{5F95FC0D-D123-4F54-AE67-21CF8A0F4D23}"/>
              </a:ext>
            </a:extLst>
          </p:cNvPr>
          <p:cNvSpPr>
            <a:spLocks noGrp="1"/>
          </p:cNvSpPr>
          <p:nvPr>
            <p:ph type="title"/>
          </p:nvPr>
        </p:nvSpPr>
        <p:spPr>
          <a:xfrm>
            <a:off x="838200" y="311893"/>
            <a:ext cx="10515600" cy="1157575"/>
          </a:xfrm>
        </p:spPr>
        <p:txBody>
          <a:bodyPr/>
          <a:lstStyle/>
          <a:p>
            <a:r>
              <a:rPr lang="en-US" dirty="0"/>
              <a:t>Transformer: Encoder</a:t>
            </a:r>
          </a:p>
        </p:txBody>
      </p:sp>
      <p:sp>
        <p:nvSpPr>
          <p:cNvPr id="3" name="Content Placeholder 2">
            <a:extLst>
              <a:ext uri="{FF2B5EF4-FFF2-40B4-BE49-F238E27FC236}">
                <a16:creationId xmlns:a16="http://schemas.microsoft.com/office/drawing/2014/main" id="{D9E04775-B846-48D5-961E-6A2EECC35D26}"/>
              </a:ext>
            </a:extLst>
          </p:cNvPr>
          <p:cNvSpPr>
            <a:spLocks noGrp="1"/>
          </p:cNvSpPr>
          <p:nvPr>
            <p:ph idx="1"/>
          </p:nvPr>
        </p:nvSpPr>
        <p:spPr/>
        <p:txBody>
          <a:bodyPr/>
          <a:lstStyle/>
          <a:p>
            <a:r>
              <a:rPr lang="en-US" dirty="0"/>
              <a:t>Self-attention</a:t>
            </a:r>
          </a:p>
          <a:p>
            <a:pPr lvl="1"/>
            <a:r>
              <a:rPr lang="en-US" dirty="0"/>
              <a:t>Keys, values and queries are all the same</a:t>
            </a:r>
          </a:p>
          <a:p>
            <a:pPr lvl="1"/>
            <a:r>
              <a:rPr lang="en-US" dirty="0"/>
              <a:t>n input tokens</a:t>
            </a:r>
          </a:p>
          <a:p>
            <a:pPr lvl="1"/>
            <a:endParaRPr lang="en-US" dirty="0"/>
          </a:p>
          <a:p>
            <a:pPr lvl="1"/>
            <a:endParaRPr lang="en-US" dirty="0"/>
          </a:p>
          <a:p>
            <a:pPr lvl="1"/>
            <a:r>
              <a:rPr lang="en-US" dirty="0"/>
              <a:t>Residual connection</a:t>
            </a:r>
          </a:p>
          <a:p>
            <a:pPr lvl="1"/>
            <a:endParaRPr lang="en-US" dirty="0"/>
          </a:p>
          <a:p>
            <a:pPr marL="457200" lvl="1" indent="0">
              <a:buNone/>
            </a:pPr>
            <a:endParaRPr lang="en-US" dirty="0"/>
          </a:p>
          <a:p>
            <a:pPr lvl="1"/>
            <a:r>
              <a:rPr lang="en-US" dirty="0"/>
              <a:t>Layer normalization</a:t>
            </a:r>
          </a:p>
        </p:txBody>
      </p:sp>
      <p:sp>
        <p:nvSpPr>
          <p:cNvPr id="6" name="Slide Number Placeholder 5">
            <a:extLst>
              <a:ext uri="{FF2B5EF4-FFF2-40B4-BE49-F238E27FC236}">
                <a16:creationId xmlns:a16="http://schemas.microsoft.com/office/drawing/2014/main" id="{9A2B99DC-94E5-44E2-B580-9891BF29BBA3}"/>
              </a:ext>
            </a:extLst>
          </p:cNvPr>
          <p:cNvSpPr>
            <a:spLocks noGrp="1"/>
          </p:cNvSpPr>
          <p:nvPr>
            <p:ph type="sldNum" sz="quarter" idx="12"/>
          </p:nvPr>
        </p:nvSpPr>
        <p:spPr/>
        <p:txBody>
          <a:bodyPr/>
          <a:lstStyle/>
          <a:p>
            <a:fld id="{1B30F0CC-EBAF-4E3D-80D7-CFC82A3A738F}" type="slidenum">
              <a:rPr lang="en-US" smtClean="0"/>
              <a:pPr/>
              <a:t>114</a:t>
            </a:fld>
            <a:endParaRPr lang="en-US" dirty="0"/>
          </a:p>
        </p:txBody>
      </p:sp>
      <p:pic>
        <p:nvPicPr>
          <p:cNvPr id="8" name="Picture 7">
            <a:extLst>
              <a:ext uri="{FF2B5EF4-FFF2-40B4-BE49-F238E27FC236}">
                <a16:creationId xmlns:a16="http://schemas.microsoft.com/office/drawing/2014/main" id="{4E195EBA-10D2-46A6-B114-B900B2397A3F}"/>
              </a:ext>
            </a:extLst>
          </p:cNvPr>
          <p:cNvPicPr>
            <a:picLocks noChangeAspect="1"/>
          </p:cNvPicPr>
          <p:nvPr/>
        </p:nvPicPr>
        <p:blipFill>
          <a:blip r:embed="rId4"/>
          <a:stretch>
            <a:fillRect/>
          </a:stretch>
        </p:blipFill>
        <p:spPr>
          <a:xfrm>
            <a:off x="9226880" y="912823"/>
            <a:ext cx="2743200" cy="5092700"/>
          </a:xfrm>
          <a:prstGeom prst="rect">
            <a:avLst/>
          </a:prstGeom>
        </p:spPr>
      </p:pic>
      <p:sp>
        <p:nvSpPr>
          <p:cNvPr id="9" name="TextBox 8">
            <a:extLst>
              <a:ext uri="{FF2B5EF4-FFF2-40B4-BE49-F238E27FC236}">
                <a16:creationId xmlns:a16="http://schemas.microsoft.com/office/drawing/2014/main" id="{9D12CFFF-C5CF-4049-BC48-18B67B33D50D}"/>
              </a:ext>
            </a:extLst>
          </p:cNvPr>
          <p:cNvSpPr txBox="1"/>
          <p:nvPr/>
        </p:nvSpPr>
        <p:spPr>
          <a:xfrm>
            <a:off x="9648918" y="565879"/>
            <a:ext cx="1647887" cy="369332"/>
          </a:xfrm>
          <a:prstGeom prst="rect">
            <a:avLst/>
          </a:prstGeom>
          <a:noFill/>
        </p:spPr>
        <p:txBody>
          <a:bodyPr wrap="none" rtlCol="0">
            <a:spAutoFit/>
          </a:bodyPr>
          <a:lstStyle/>
          <a:p>
            <a:r>
              <a:rPr lang="en-US" dirty="0"/>
              <a:t>Encoder output</a:t>
            </a:r>
          </a:p>
        </p:txBody>
      </p:sp>
      <p:pic>
        <p:nvPicPr>
          <p:cNvPr id="10" name="Picture 9">
            <a:extLst>
              <a:ext uri="{FF2B5EF4-FFF2-40B4-BE49-F238E27FC236}">
                <a16:creationId xmlns:a16="http://schemas.microsoft.com/office/drawing/2014/main" id="{93673E58-07DC-432C-918D-9B3AC29F488B}"/>
              </a:ext>
            </a:extLst>
          </p:cNvPr>
          <p:cNvPicPr>
            <a:picLocks noChangeAspect="1"/>
          </p:cNvPicPr>
          <p:nvPr/>
        </p:nvPicPr>
        <p:blipFill rotWithShape="1">
          <a:blip r:embed="rId5"/>
          <a:srcRect r="60829" b="-8480"/>
          <a:stretch/>
        </p:blipFill>
        <p:spPr>
          <a:xfrm>
            <a:off x="2537798" y="2900260"/>
            <a:ext cx="3158835" cy="578925"/>
          </a:xfrm>
          <a:prstGeom prst="rect">
            <a:avLst/>
          </a:prstGeom>
        </p:spPr>
      </p:pic>
      <p:pic>
        <p:nvPicPr>
          <p:cNvPr id="11" name="Picture 12">
            <a:extLst>
              <a:ext uri="{FF2B5EF4-FFF2-40B4-BE49-F238E27FC236}">
                <a16:creationId xmlns:a16="http://schemas.microsoft.com/office/drawing/2014/main" id="{B9C79063-2906-4AAC-8D7B-139AEBA378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8188" y="2355717"/>
            <a:ext cx="1916144" cy="37171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17EB5DE3-E039-4C8C-999C-E7DF56D69A6B}"/>
              </a:ext>
            </a:extLst>
          </p:cNvPr>
          <p:cNvPicPr>
            <a:picLocks noChangeAspect="1"/>
          </p:cNvPicPr>
          <p:nvPr/>
        </p:nvPicPr>
        <p:blipFill rotWithShape="1">
          <a:blip r:embed="rId7"/>
          <a:srcRect t="9343"/>
          <a:stretch/>
        </p:blipFill>
        <p:spPr>
          <a:xfrm>
            <a:off x="1585519" y="4130573"/>
            <a:ext cx="4546533" cy="424681"/>
          </a:xfrm>
          <a:prstGeom prst="rect">
            <a:avLst/>
          </a:prstGeom>
        </p:spPr>
      </p:pic>
      <p:sp>
        <p:nvSpPr>
          <p:cNvPr id="17" name="TextBox 16">
            <a:extLst>
              <a:ext uri="{FF2B5EF4-FFF2-40B4-BE49-F238E27FC236}">
                <a16:creationId xmlns:a16="http://schemas.microsoft.com/office/drawing/2014/main" id="{945E5937-6D70-4132-A9CA-1884B05990A0}"/>
              </a:ext>
            </a:extLst>
          </p:cNvPr>
          <p:cNvSpPr txBox="1"/>
          <p:nvPr/>
        </p:nvSpPr>
        <p:spPr>
          <a:xfrm>
            <a:off x="4397656" y="5899860"/>
            <a:ext cx="3468792" cy="276999"/>
          </a:xfrm>
          <a:prstGeom prst="rect">
            <a:avLst/>
          </a:prstGeom>
          <a:noFill/>
        </p:spPr>
        <p:txBody>
          <a:bodyPr wrap="square">
            <a:spAutoFit/>
          </a:bodyPr>
          <a:lstStyle>
            <a:defPPr>
              <a:defRPr lang="en-US"/>
            </a:defPPr>
            <a:lvl1pPr>
              <a:defRPr sz="1200" b="0" i="0" u="none" strike="noStrike" baseline="0">
                <a:latin typeface="NimbusRomNo9L-Medi"/>
              </a:defRPr>
            </a:lvl1pPr>
          </a:lstStyle>
          <a:p>
            <a:r>
              <a:rPr lang="en-US" dirty="0"/>
              <a:t>Attention is all you need. Vaswani et al., NeurIPS’17</a:t>
            </a:r>
          </a:p>
        </p:txBody>
      </p:sp>
      <p:sp>
        <p:nvSpPr>
          <p:cNvPr id="16" name="TextBox 15">
            <a:extLst>
              <a:ext uri="{FF2B5EF4-FFF2-40B4-BE49-F238E27FC236}">
                <a16:creationId xmlns:a16="http://schemas.microsoft.com/office/drawing/2014/main" id="{345341AF-799F-4907-B506-F22532D28DEB}"/>
              </a:ext>
            </a:extLst>
          </p:cNvPr>
          <p:cNvSpPr txBox="1"/>
          <p:nvPr/>
        </p:nvSpPr>
        <p:spPr>
          <a:xfrm>
            <a:off x="9162690" y="2761017"/>
            <a:ext cx="731054" cy="369332"/>
          </a:xfrm>
          <a:prstGeom prst="rect">
            <a:avLst/>
          </a:prstGeom>
          <a:noFill/>
        </p:spPr>
        <p:txBody>
          <a:bodyPr wrap="square">
            <a:spAutoFit/>
          </a:bodyPr>
          <a:lstStyle/>
          <a:p>
            <a:r>
              <a:rPr lang="en-US" sz="1800" b="0" i="0" u="none" strike="noStrike" baseline="0" dirty="0">
                <a:latin typeface="CMMI10"/>
              </a:rPr>
              <a:t>N </a:t>
            </a:r>
            <a:r>
              <a:rPr lang="en-US" sz="1800" b="0" i="0" u="none" strike="noStrike" baseline="0" dirty="0">
                <a:latin typeface="CMR10"/>
              </a:rPr>
              <a:t>= 6</a:t>
            </a: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D100B0-1E8C-E846-245B-44F88403084D}"/>
                  </a:ext>
                </a:extLst>
              </p:cNvPr>
              <p:cNvSpPr txBox="1"/>
              <p:nvPr/>
            </p:nvSpPr>
            <p:spPr>
              <a:xfrm>
                <a:off x="3858785" y="4683360"/>
                <a:ext cx="3874702" cy="417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𝑎</m:t>
                          </m:r>
                        </m:e>
                        <m:sup>
                          <m:r>
                            <a:rPr lang="en-US" sz="2400" b="0" i="1" smtClean="0">
                              <a:latin typeface="Cambria Math" panose="02040503050406030204" pitchFamily="18" charset="0"/>
                            </a:rPr>
                            <m:t>𝑙</m:t>
                          </m:r>
                        </m:sup>
                      </m:sSup>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𝛾</m:t>
                      </m:r>
                      <m:sSup>
                        <m:sSupPr>
                          <m:ctrlPr>
                            <a:rPr lang="en-US" sz="2400" b="0" i="1" smtClean="0">
                              <a:latin typeface="Cambria Math" panose="02040503050406030204" pitchFamily="18" charset="0"/>
                              <a:ea typeface="Cambria Math" panose="02040503050406030204" pitchFamily="18" charset="0"/>
                            </a:rPr>
                          </m:ctrlPr>
                        </m:sSupPr>
                        <m:e>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𝑎</m:t>
                              </m:r>
                            </m:e>
                          </m:acc>
                        </m:e>
                        <m:sup>
                          <m:r>
                            <a:rPr lang="en-US" sz="2400" b="0" i="1" smtClean="0">
                              <a:latin typeface="Cambria Math" panose="02040503050406030204" pitchFamily="18" charset="0"/>
                              <a:ea typeface="Cambria Math" panose="02040503050406030204" pitchFamily="18" charset="0"/>
                            </a:rPr>
                            <m:t>𝑙</m:t>
                          </m:r>
                        </m:sup>
                      </m:s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𝛽</m:t>
                      </m:r>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𝐿𝑁</m:t>
                          </m:r>
                        </m:e>
                        <m:sub>
                          <m:r>
                            <a:rPr lang="en-US" sz="2400" b="0" i="1" smtClean="0">
                              <a:latin typeface="Cambria Math" panose="02040503050406030204" pitchFamily="18" charset="0"/>
                              <a:ea typeface="Cambria Math" panose="02040503050406030204" pitchFamily="18" charset="0"/>
                            </a:rPr>
                            <m:t>𝛾</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𝛽</m:t>
                          </m:r>
                        </m:sub>
                      </m:sSub>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𝑎</m:t>
                          </m:r>
                        </m:e>
                        <m:sup>
                          <m:r>
                            <a:rPr lang="en-US" sz="2400" b="0" i="1" smtClean="0">
                              <a:latin typeface="Cambria Math" panose="02040503050406030204" pitchFamily="18" charset="0"/>
                              <a:ea typeface="Cambria Math" panose="02040503050406030204" pitchFamily="18" charset="0"/>
                            </a:rPr>
                            <m:t>𝑙</m:t>
                          </m:r>
                        </m:sup>
                      </m:sSup>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7" name="TextBox 6">
                <a:extLst>
                  <a:ext uri="{FF2B5EF4-FFF2-40B4-BE49-F238E27FC236}">
                    <a16:creationId xmlns:a16="http://schemas.microsoft.com/office/drawing/2014/main" id="{52D100B0-1E8C-E846-245B-44F88403084D}"/>
                  </a:ext>
                </a:extLst>
              </p:cNvPr>
              <p:cNvSpPr txBox="1">
                <a:spLocks noRot="1" noChangeAspect="1" noMove="1" noResize="1" noEditPoints="1" noAdjustHandles="1" noChangeArrowheads="1" noChangeShapeType="1" noTextEdit="1"/>
              </p:cNvSpPr>
              <p:nvPr/>
            </p:nvSpPr>
            <p:spPr>
              <a:xfrm>
                <a:off x="3858785" y="4683360"/>
                <a:ext cx="3874702" cy="417294"/>
              </a:xfrm>
              <a:prstGeom prst="rect">
                <a:avLst/>
              </a:prstGeom>
              <a:blipFill>
                <a:blip r:embed="rId8"/>
                <a:stretch>
                  <a:fillRect t="-10145" b="-246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E71EA9F-D4E3-37FE-2FB7-4FA3C5D0A12B}"/>
                  </a:ext>
                </a:extLst>
              </p:cNvPr>
              <p:cNvSpPr txBox="1"/>
              <p:nvPr/>
            </p:nvSpPr>
            <p:spPr>
              <a:xfrm>
                <a:off x="5429103" y="5228760"/>
                <a:ext cx="1405898" cy="6239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𝑎</m:t>
                              </m:r>
                            </m:e>
                          </m:acc>
                        </m:e>
                        <m:sup>
                          <m:r>
                            <a:rPr lang="en-US" sz="2000" b="0" i="1" smtClean="0">
                              <a:latin typeface="Cambria Math" panose="02040503050406030204" pitchFamily="18" charset="0"/>
                            </a:rPr>
                            <m:t>𝑙</m:t>
                          </m:r>
                        </m:sup>
                      </m:sSup>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𝑙</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𝜇</m:t>
                              </m:r>
                            </m:e>
                            <m:sup>
                              <m:r>
                                <a:rPr lang="en-US" sz="2000" b="0" i="1" smtClean="0">
                                  <a:latin typeface="Cambria Math" panose="02040503050406030204" pitchFamily="18" charset="0"/>
                                </a:rPr>
                                <m:t>𝑙</m:t>
                              </m:r>
                            </m:sup>
                          </m:sSup>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𝑙</m:t>
                              </m:r>
                            </m:sup>
                          </m:sSup>
                        </m:den>
                      </m:f>
                    </m:oMath>
                  </m:oMathPara>
                </a14:m>
                <a:endParaRPr lang="en-US" sz="2000" dirty="0"/>
              </a:p>
            </p:txBody>
          </p:sp>
        </mc:Choice>
        <mc:Fallback xmlns="">
          <p:sp>
            <p:nvSpPr>
              <p:cNvPr id="12" name="TextBox 11">
                <a:extLst>
                  <a:ext uri="{FF2B5EF4-FFF2-40B4-BE49-F238E27FC236}">
                    <a16:creationId xmlns:a16="http://schemas.microsoft.com/office/drawing/2014/main" id="{5E71EA9F-D4E3-37FE-2FB7-4FA3C5D0A12B}"/>
                  </a:ext>
                </a:extLst>
              </p:cNvPr>
              <p:cNvSpPr txBox="1">
                <a:spLocks noRot="1" noChangeAspect="1" noMove="1" noResize="1" noEditPoints="1" noAdjustHandles="1" noChangeArrowheads="1" noChangeShapeType="1" noTextEdit="1"/>
              </p:cNvSpPr>
              <p:nvPr/>
            </p:nvSpPr>
            <p:spPr>
              <a:xfrm>
                <a:off x="5429103" y="5228760"/>
                <a:ext cx="1405898" cy="623953"/>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8438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D2AA6-21BC-4C09-B80F-9BB0D2004B5C}"/>
              </a:ext>
            </a:extLst>
          </p:cNvPr>
          <p:cNvSpPr>
            <a:spLocks noGrp="1"/>
          </p:cNvSpPr>
          <p:nvPr>
            <p:ph type="title"/>
          </p:nvPr>
        </p:nvSpPr>
        <p:spPr/>
        <p:txBody>
          <a:bodyPr/>
          <a:lstStyle/>
          <a:p>
            <a:r>
              <a:rPr lang="en-US" dirty="0"/>
              <a:t>Transformer: Encoder</a:t>
            </a:r>
          </a:p>
        </p:txBody>
      </p:sp>
      <p:sp>
        <p:nvSpPr>
          <p:cNvPr id="3" name="Content Placeholder 2">
            <a:extLst>
              <a:ext uri="{FF2B5EF4-FFF2-40B4-BE49-F238E27FC236}">
                <a16:creationId xmlns:a16="http://schemas.microsoft.com/office/drawing/2014/main" id="{4DD519B7-1601-46F6-BED6-D7E7F028451F}"/>
              </a:ext>
            </a:extLst>
          </p:cNvPr>
          <p:cNvSpPr>
            <a:spLocks noGrp="1"/>
          </p:cNvSpPr>
          <p:nvPr>
            <p:ph idx="1"/>
          </p:nvPr>
        </p:nvSpPr>
        <p:spPr/>
        <p:txBody>
          <a:bodyPr/>
          <a:lstStyle/>
          <a:p>
            <a:r>
              <a:rPr lang="en-US" dirty="0"/>
              <a:t>Feed Forward Network</a:t>
            </a:r>
          </a:p>
          <a:p>
            <a:endParaRPr lang="en-US" dirty="0"/>
          </a:p>
          <a:p>
            <a:endParaRPr lang="en-US" dirty="0"/>
          </a:p>
          <a:p>
            <a:r>
              <a:rPr lang="en-US" dirty="0"/>
              <a:t>Positional encoding</a:t>
            </a:r>
          </a:p>
          <a:p>
            <a:pPr lvl="1"/>
            <a:r>
              <a:rPr lang="en-US" dirty="0"/>
              <a:t>Make use the order of the sequence</a:t>
            </a:r>
          </a:p>
          <a:p>
            <a:pPr lvl="1"/>
            <a:r>
              <a:rPr lang="en-US" dirty="0"/>
              <a:t>With dimension                    for each input</a:t>
            </a:r>
          </a:p>
        </p:txBody>
      </p:sp>
      <p:sp>
        <p:nvSpPr>
          <p:cNvPr id="6" name="Slide Number Placeholder 5">
            <a:extLst>
              <a:ext uri="{FF2B5EF4-FFF2-40B4-BE49-F238E27FC236}">
                <a16:creationId xmlns:a16="http://schemas.microsoft.com/office/drawing/2014/main" id="{B7117AC0-CDE9-4A07-9043-859112AD90E7}"/>
              </a:ext>
            </a:extLst>
          </p:cNvPr>
          <p:cNvSpPr>
            <a:spLocks noGrp="1"/>
          </p:cNvSpPr>
          <p:nvPr>
            <p:ph type="sldNum" sz="quarter" idx="12"/>
          </p:nvPr>
        </p:nvSpPr>
        <p:spPr/>
        <p:txBody>
          <a:bodyPr/>
          <a:lstStyle/>
          <a:p>
            <a:fld id="{1B30F0CC-EBAF-4E3D-80D7-CFC82A3A738F}" type="slidenum">
              <a:rPr lang="en-US" smtClean="0"/>
              <a:pPr/>
              <a:t>115</a:t>
            </a:fld>
            <a:endParaRPr lang="en-US" dirty="0"/>
          </a:p>
        </p:txBody>
      </p:sp>
      <p:sp>
        <p:nvSpPr>
          <p:cNvPr id="8" name="TextBox 7">
            <a:extLst>
              <a:ext uri="{FF2B5EF4-FFF2-40B4-BE49-F238E27FC236}">
                <a16:creationId xmlns:a16="http://schemas.microsoft.com/office/drawing/2014/main" id="{5812EF79-BCAF-4D08-B3E8-7FAC82600F55}"/>
              </a:ext>
            </a:extLst>
          </p:cNvPr>
          <p:cNvSpPr txBox="1"/>
          <p:nvPr/>
        </p:nvSpPr>
        <p:spPr>
          <a:xfrm>
            <a:off x="4361604" y="5716802"/>
            <a:ext cx="3468792" cy="276999"/>
          </a:xfrm>
          <a:prstGeom prst="rect">
            <a:avLst/>
          </a:prstGeom>
          <a:noFill/>
        </p:spPr>
        <p:txBody>
          <a:bodyPr wrap="square">
            <a:spAutoFit/>
          </a:bodyPr>
          <a:lstStyle>
            <a:defPPr>
              <a:defRPr lang="en-US"/>
            </a:defPPr>
            <a:lvl1pPr>
              <a:defRPr sz="1200" b="0" i="0" u="none" strike="noStrike" baseline="0">
                <a:latin typeface="NimbusRomNo9L-Medi"/>
              </a:defRPr>
            </a:lvl1pPr>
          </a:lstStyle>
          <a:p>
            <a:r>
              <a:rPr lang="en-US" dirty="0"/>
              <a:t>Attention is all you need. Vaswani et al., NeurIPS’17</a:t>
            </a:r>
          </a:p>
        </p:txBody>
      </p:sp>
      <p:pic>
        <p:nvPicPr>
          <p:cNvPr id="9" name="Picture 8">
            <a:extLst>
              <a:ext uri="{FF2B5EF4-FFF2-40B4-BE49-F238E27FC236}">
                <a16:creationId xmlns:a16="http://schemas.microsoft.com/office/drawing/2014/main" id="{C84AC718-C087-43D4-B876-8F8055659577}"/>
              </a:ext>
            </a:extLst>
          </p:cNvPr>
          <p:cNvPicPr>
            <a:picLocks noChangeAspect="1"/>
          </p:cNvPicPr>
          <p:nvPr/>
        </p:nvPicPr>
        <p:blipFill>
          <a:blip r:embed="rId3"/>
          <a:stretch>
            <a:fillRect/>
          </a:stretch>
        </p:blipFill>
        <p:spPr>
          <a:xfrm>
            <a:off x="8309263" y="1084263"/>
            <a:ext cx="2743200" cy="5092700"/>
          </a:xfrm>
          <a:prstGeom prst="rect">
            <a:avLst/>
          </a:prstGeom>
        </p:spPr>
      </p:pic>
      <p:pic>
        <p:nvPicPr>
          <p:cNvPr id="11" name="Picture 10">
            <a:extLst>
              <a:ext uri="{FF2B5EF4-FFF2-40B4-BE49-F238E27FC236}">
                <a16:creationId xmlns:a16="http://schemas.microsoft.com/office/drawing/2014/main" id="{C694BE12-127D-4486-A8E0-16C76CB21011}"/>
              </a:ext>
            </a:extLst>
          </p:cNvPr>
          <p:cNvPicPr>
            <a:picLocks noChangeAspect="1"/>
          </p:cNvPicPr>
          <p:nvPr/>
        </p:nvPicPr>
        <p:blipFill>
          <a:blip r:embed="rId4"/>
          <a:stretch>
            <a:fillRect/>
          </a:stretch>
        </p:blipFill>
        <p:spPr>
          <a:xfrm>
            <a:off x="1586516" y="2132563"/>
            <a:ext cx="5974432" cy="629850"/>
          </a:xfrm>
          <a:prstGeom prst="rect">
            <a:avLst/>
          </a:prstGeom>
        </p:spPr>
      </p:pic>
      <p:pic>
        <p:nvPicPr>
          <p:cNvPr id="13314" name="Picture 2">
            <a:extLst>
              <a:ext uri="{FF2B5EF4-FFF2-40B4-BE49-F238E27FC236}">
                <a16:creationId xmlns:a16="http://schemas.microsoft.com/office/drawing/2014/main" id="{D4D2AFFA-517D-4605-9719-0F39BBEBD4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10312" y="3844755"/>
            <a:ext cx="1019175" cy="3381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702244C-47FF-43D6-B4DC-698E4ACF57EC}"/>
              </a:ext>
            </a:extLst>
          </p:cNvPr>
          <p:cNvPicPr>
            <a:picLocks noChangeAspect="1"/>
          </p:cNvPicPr>
          <p:nvPr/>
        </p:nvPicPr>
        <p:blipFill>
          <a:blip r:embed="rId6"/>
          <a:stretch>
            <a:fillRect/>
          </a:stretch>
        </p:blipFill>
        <p:spPr>
          <a:xfrm>
            <a:off x="1758715" y="4410512"/>
            <a:ext cx="5013464" cy="964917"/>
          </a:xfrm>
          <a:prstGeom prst="rect">
            <a:avLst/>
          </a:prstGeom>
        </p:spPr>
      </p:pic>
    </p:spTree>
    <p:extLst>
      <p:ext uri="{BB962C8B-B14F-4D97-AF65-F5344CB8AC3E}">
        <p14:creationId xmlns:p14="http://schemas.microsoft.com/office/powerpoint/2010/main" val="180514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8F0A-590C-4176-980C-A61837F2704A}"/>
              </a:ext>
            </a:extLst>
          </p:cNvPr>
          <p:cNvSpPr>
            <a:spLocks noGrp="1"/>
          </p:cNvSpPr>
          <p:nvPr>
            <p:ph type="title"/>
          </p:nvPr>
        </p:nvSpPr>
        <p:spPr/>
        <p:txBody>
          <a:bodyPr/>
          <a:lstStyle/>
          <a:p>
            <a:r>
              <a:rPr lang="en-US" dirty="0"/>
              <a:t>Transformer: Decoder</a:t>
            </a:r>
          </a:p>
        </p:txBody>
      </p:sp>
      <p:sp>
        <p:nvSpPr>
          <p:cNvPr id="3" name="Content Placeholder 2">
            <a:extLst>
              <a:ext uri="{FF2B5EF4-FFF2-40B4-BE49-F238E27FC236}">
                <a16:creationId xmlns:a16="http://schemas.microsoft.com/office/drawing/2014/main" id="{8E0A12FD-C259-46F7-8452-8B1E320D57A4}"/>
              </a:ext>
            </a:extLst>
          </p:cNvPr>
          <p:cNvSpPr>
            <a:spLocks noGrp="1"/>
          </p:cNvSpPr>
          <p:nvPr>
            <p:ph idx="1"/>
          </p:nvPr>
        </p:nvSpPr>
        <p:spPr/>
        <p:txBody>
          <a:bodyPr/>
          <a:lstStyle/>
          <a:p>
            <a:r>
              <a:rPr lang="en-US" dirty="0"/>
              <a:t>Output embedding</a:t>
            </a:r>
          </a:p>
        </p:txBody>
      </p:sp>
      <p:sp>
        <p:nvSpPr>
          <p:cNvPr id="6" name="Slide Number Placeholder 5">
            <a:extLst>
              <a:ext uri="{FF2B5EF4-FFF2-40B4-BE49-F238E27FC236}">
                <a16:creationId xmlns:a16="http://schemas.microsoft.com/office/drawing/2014/main" id="{9006FA9D-E3F2-40A6-857A-CE07ABB95EE4}"/>
              </a:ext>
            </a:extLst>
          </p:cNvPr>
          <p:cNvSpPr>
            <a:spLocks noGrp="1"/>
          </p:cNvSpPr>
          <p:nvPr>
            <p:ph type="sldNum" sz="quarter" idx="12"/>
          </p:nvPr>
        </p:nvSpPr>
        <p:spPr/>
        <p:txBody>
          <a:bodyPr/>
          <a:lstStyle/>
          <a:p>
            <a:fld id="{1B30F0CC-EBAF-4E3D-80D7-CFC82A3A738F}" type="slidenum">
              <a:rPr lang="en-US" smtClean="0"/>
              <a:pPr/>
              <a:t>116</a:t>
            </a:fld>
            <a:endParaRPr lang="en-US" dirty="0"/>
          </a:p>
        </p:txBody>
      </p:sp>
      <p:sp>
        <p:nvSpPr>
          <p:cNvPr id="7" name="TextBox 6">
            <a:extLst>
              <a:ext uri="{FF2B5EF4-FFF2-40B4-BE49-F238E27FC236}">
                <a16:creationId xmlns:a16="http://schemas.microsoft.com/office/drawing/2014/main" id="{6B2BD499-57BB-4B21-95D2-34AA7E931181}"/>
              </a:ext>
            </a:extLst>
          </p:cNvPr>
          <p:cNvSpPr txBox="1"/>
          <p:nvPr/>
        </p:nvSpPr>
        <p:spPr>
          <a:xfrm>
            <a:off x="4431387" y="5836911"/>
            <a:ext cx="3468792" cy="276999"/>
          </a:xfrm>
          <a:prstGeom prst="rect">
            <a:avLst/>
          </a:prstGeom>
          <a:noFill/>
        </p:spPr>
        <p:txBody>
          <a:bodyPr wrap="square">
            <a:spAutoFit/>
          </a:bodyPr>
          <a:lstStyle>
            <a:defPPr>
              <a:defRPr lang="en-US"/>
            </a:defPPr>
            <a:lvl1pPr>
              <a:defRPr sz="1200" b="0" i="0" u="none" strike="noStrike" baseline="0">
                <a:latin typeface="NimbusRomNo9L-Medi"/>
              </a:defRPr>
            </a:lvl1pPr>
          </a:lstStyle>
          <a:p>
            <a:r>
              <a:rPr lang="en-US" dirty="0"/>
              <a:t>Attention is all you need. Vaswani et al., NeurIPS’17</a:t>
            </a:r>
          </a:p>
        </p:txBody>
      </p:sp>
      <p:pic>
        <p:nvPicPr>
          <p:cNvPr id="9" name="Picture 8">
            <a:extLst>
              <a:ext uri="{FF2B5EF4-FFF2-40B4-BE49-F238E27FC236}">
                <a16:creationId xmlns:a16="http://schemas.microsoft.com/office/drawing/2014/main" id="{559D2BAE-0CF7-48D3-BE7D-4248FAADB88D}"/>
              </a:ext>
            </a:extLst>
          </p:cNvPr>
          <p:cNvPicPr>
            <a:picLocks noChangeAspect="1"/>
          </p:cNvPicPr>
          <p:nvPr/>
        </p:nvPicPr>
        <p:blipFill>
          <a:blip r:embed="rId2"/>
          <a:stretch>
            <a:fillRect/>
          </a:stretch>
        </p:blipFill>
        <p:spPr>
          <a:xfrm>
            <a:off x="9695120" y="263095"/>
            <a:ext cx="2201993" cy="6003561"/>
          </a:xfrm>
          <a:prstGeom prst="rect">
            <a:avLst/>
          </a:prstGeom>
        </p:spPr>
      </p:pic>
      <p:sp>
        <p:nvSpPr>
          <p:cNvPr id="10" name="TextBox 9">
            <a:extLst>
              <a:ext uri="{FF2B5EF4-FFF2-40B4-BE49-F238E27FC236}">
                <a16:creationId xmlns:a16="http://schemas.microsoft.com/office/drawing/2014/main" id="{A4DDF86E-5C94-4AC2-AD4B-405C259D1B28}"/>
              </a:ext>
            </a:extLst>
          </p:cNvPr>
          <p:cNvSpPr txBox="1"/>
          <p:nvPr/>
        </p:nvSpPr>
        <p:spPr>
          <a:xfrm>
            <a:off x="8428974" y="1948042"/>
            <a:ext cx="998407" cy="646331"/>
          </a:xfrm>
          <a:prstGeom prst="rect">
            <a:avLst/>
          </a:prstGeom>
          <a:noFill/>
        </p:spPr>
        <p:txBody>
          <a:bodyPr wrap="square" rtlCol="0">
            <a:spAutoFit/>
          </a:bodyPr>
          <a:lstStyle/>
          <a:p>
            <a:r>
              <a:rPr lang="en-US" dirty="0"/>
              <a:t>Encoder output</a:t>
            </a:r>
          </a:p>
        </p:txBody>
      </p:sp>
      <p:pic>
        <p:nvPicPr>
          <p:cNvPr id="11" name="Picture 12">
            <a:extLst>
              <a:ext uri="{FF2B5EF4-FFF2-40B4-BE49-F238E27FC236}">
                <a16:creationId xmlns:a16="http://schemas.microsoft.com/office/drawing/2014/main" id="{A23CCD3A-70D3-4003-9192-DE7234DCC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2594373"/>
            <a:ext cx="1501528" cy="29128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6">
            <a:extLst>
              <a:ext uri="{FF2B5EF4-FFF2-40B4-BE49-F238E27FC236}">
                <a16:creationId xmlns:a16="http://schemas.microsoft.com/office/drawing/2014/main" id="{B653693A-45EE-4749-A4DE-4924E47D01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109" y="2520528"/>
            <a:ext cx="524452" cy="36512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0">
            <a:extLst>
              <a:ext uri="{FF2B5EF4-FFF2-40B4-BE49-F238E27FC236}">
                <a16:creationId xmlns:a16="http://schemas.microsoft.com/office/drawing/2014/main" id="{BAB6FFC0-5BEC-494A-B166-22A49E78D0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9524" y="2530521"/>
            <a:ext cx="512028" cy="365734"/>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FB1FAF05-B9AB-4F0E-9CBC-C80FA588F166}"/>
              </a:ext>
            </a:extLst>
          </p:cNvPr>
          <p:cNvSpPr txBox="1"/>
          <p:nvPr/>
        </p:nvSpPr>
        <p:spPr>
          <a:xfrm>
            <a:off x="1995546" y="2234856"/>
            <a:ext cx="538930" cy="707886"/>
          </a:xfrm>
          <a:prstGeom prst="rect">
            <a:avLst/>
          </a:prstGeom>
          <a:noFill/>
        </p:spPr>
        <p:txBody>
          <a:bodyPr wrap="none" rtlCol="0">
            <a:spAutoFit/>
          </a:bodyPr>
          <a:lstStyle/>
          <a:p>
            <a:r>
              <a:rPr lang="en-US" sz="4000" dirty="0"/>
              <a:t>…</a:t>
            </a:r>
          </a:p>
        </p:txBody>
      </p:sp>
      <p:pic>
        <p:nvPicPr>
          <p:cNvPr id="27" name="Picture 30">
            <a:extLst>
              <a:ext uri="{FF2B5EF4-FFF2-40B4-BE49-F238E27FC236}">
                <a16:creationId xmlns:a16="http://schemas.microsoft.com/office/drawing/2014/main" id="{3F9BF6D5-1934-4C9E-A6F6-CB68EFECB6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8582" y="2519919"/>
            <a:ext cx="751417" cy="365734"/>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44D5BEF0-1CCB-4138-B12E-EF55A3F225EE}"/>
              </a:ext>
            </a:extLst>
          </p:cNvPr>
          <p:cNvSpPr txBox="1"/>
          <p:nvPr/>
        </p:nvSpPr>
        <p:spPr>
          <a:xfrm>
            <a:off x="5709262" y="2189852"/>
            <a:ext cx="538930" cy="707886"/>
          </a:xfrm>
          <a:prstGeom prst="rect">
            <a:avLst/>
          </a:prstGeom>
          <a:noFill/>
        </p:spPr>
        <p:txBody>
          <a:bodyPr wrap="none" rtlCol="0">
            <a:spAutoFit/>
          </a:bodyPr>
          <a:lstStyle/>
          <a:p>
            <a:r>
              <a:rPr lang="en-US" sz="4000" dirty="0"/>
              <a:t>…</a:t>
            </a:r>
          </a:p>
        </p:txBody>
      </p:sp>
      <p:pic>
        <p:nvPicPr>
          <p:cNvPr id="33" name="Picture 6">
            <a:extLst>
              <a:ext uri="{FF2B5EF4-FFF2-40B4-BE49-F238E27FC236}">
                <a16:creationId xmlns:a16="http://schemas.microsoft.com/office/drawing/2014/main" id="{58F8AB5E-5E07-4E51-B7F9-B830837ACF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79781" y="2507834"/>
            <a:ext cx="510420" cy="389904"/>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547C4F8B-04A4-4B15-A815-91D235620D30}"/>
              </a:ext>
            </a:extLst>
          </p:cNvPr>
          <p:cNvSpPr/>
          <p:nvPr/>
        </p:nvSpPr>
        <p:spPr>
          <a:xfrm>
            <a:off x="3597823" y="2189852"/>
            <a:ext cx="3565396" cy="9131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7ABB77B0-544D-414E-94B7-06AD81C11BA3}"/>
              </a:ext>
            </a:extLst>
          </p:cNvPr>
          <p:cNvPicPr>
            <a:picLocks noChangeAspect="1"/>
          </p:cNvPicPr>
          <p:nvPr/>
        </p:nvPicPr>
        <p:blipFill>
          <a:blip r:embed="rId8"/>
          <a:stretch>
            <a:fillRect/>
          </a:stretch>
        </p:blipFill>
        <p:spPr>
          <a:xfrm>
            <a:off x="4436601" y="3348738"/>
            <a:ext cx="1405027" cy="2505757"/>
          </a:xfrm>
          <a:prstGeom prst="rect">
            <a:avLst/>
          </a:prstGeom>
        </p:spPr>
      </p:pic>
      <p:sp>
        <p:nvSpPr>
          <p:cNvPr id="36" name="TextBox 35">
            <a:extLst>
              <a:ext uri="{FF2B5EF4-FFF2-40B4-BE49-F238E27FC236}">
                <a16:creationId xmlns:a16="http://schemas.microsoft.com/office/drawing/2014/main" id="{EDB7BB8D-F5CE-433C-A4E9-13F6C6D607CC}"/>
              </a:ext>
            </a:extLst>
          </p:cNvPr>
          <p:cNvSpPr txBox="1"/>
          <p:nvPr/>
        </p:nvSpPr>
        <p:spPr>
          <a:xfrm>
            <a:off x="5931318" y="3170762"/>
            <a:ext cx="2838610" cy="923330"/>
          </a:xfrm>
          <a:prstGeom prst="rect">
            <a:avLst/>
          </a:prstGeom>
          <a:noFill/>
        </p:spPr>
        <p:txBody>
          <a:bodyPr wrap="square" rtlCol="0">
            <a:spAutoFit/>
          </a:bodyPr>
          <a:lstStyle/>
          <a:p>
            <a:r>
              <a:rPr lang="en-US" dirty="0"/>
              <a:t>Mask out current and future outputs during training </a:t>
            </a:r>
            <a:r>
              <a:rPr lang="en-US" sz="1800" b="0" i="0" u="none" strike="noStrike" baseline="0" dirty="0">
                <a:latin typeface="NimbusRomNo9L-Regu"/>
              </a:rPr>
              <a:t>(setting to            )</a:t>
            </a:r>
            <a:endParaRPr lang="en-US" dirty="0"/>
          </a:p>
        </p:txBody>
      </p:sp>
      <p:sp>
        <p:nvSpPr>
          <p:cNvPr id="39" name="TextBox 38">
            <a:extLst>
              <a:ext uri="{FF2B5EF4-FFF2-40B4-BE49-F238E27FC236}">
                <a16:creationId xmlns:a16="http://schemas.microsoft.com/office/drawing/2014/main" id="{CB023CEC-C421-4956-8510-8D83AEF05CBA}"/>
              </a:ext>
            </a:extLst>
          </p:cNvPr>
          <p:cNvSpPr txBox="1"/>
          <p:nvPr/>
        </p:nvSpPr>
        <p:spPr>
          <a:xfrm>
            <a:off x="457328" y="3348738"/>
            <a:ext cx="2208000" cy="923330"/>
          </a:xfrm>
          <a:prstGeom prst="rect">
            <a:avLst/>
          </a:prstGeom>
          <a:noFill/>
        </p:spPr>
        <p:txBody>
          <a:bodyPr wrap="square" rtlCol="0">
            <a:spAutoFit/>
          </a:bodyPr>
          <a:lstStyle/>
          <a:p>
            <a:r>
              <a:rPr lang="en-US" dirty="0"/>
              <a:t>Shifted right by one position and insert the start token</a:t>
            </a:r>
          </a:p>
        </p:txBody>
      </p:sp>
      <p:cxnSp>
        <p:nvCxnSpPr>
          <p:cNvPr id="40" name="Straight Arrow Connector 39">
            <a:extLst>
              <a:ext uri="{FF2B5EF4-FFF2-40B4-BE49-F238E27FC236}">
                <a16:creationId xmlns:a16="http://schemas.microsoft.com/office/drawing/2014/main" id="{6B0B6322-16B5-4DF9-8F65-DF0324192F5B}"/>
              </a:ext>
            </a:extLst>
          </p:cNvPr>
          <p:cNvCxnSpPr>
            <a:cxnSpLocks/>
          </p:cNvCxnSpPr>
          <p:nvPr/>
        </p:nvCxnSpPr>
        <p:spPr>
          <a:xfrm flipV="1">
            <a:off x="3903197" y="2947149"/>
            <a:ext cx="0" cy="59294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21139F3-4F4D-4D78-BB46-AE0CA91FAEE3}"/>
              </a:ext>
            </a:extLst>
          </p:cNvPr>
          <p:cNvSpPr txBox="1"/>
          <p:nvPr/>
        </p:nvSpPr>
        <p:spPr>
          <a:xfrm>
            <a:off x="399531" y="2118329"/>
            <a:ext cx="1078057" cy="369332"/>
          </a:xfrm>
          <a:prstGeom prst="rect">
            <a:avLst/>
          </a:prstGeom>
          <a:noFill/>
        </p:spPr>
        <p:txBody>
          <a:bodyPr wrap="square">
            <a:spAutoFit/>
          </a:bodyPr>
          <a:lstStyle/>
          <a:p>
            <a:r>
              <a:rPr lang="en-US" sz="1800" b="0" i="0" u="none" strike="noStrike" baseline="0" dirty="0">
                <a:latin typeface="ArialMT"/>
              </a:rPr>
              <a:t>[START]</a:t>
            </a:r>
            <a:endParaRPr lang="en-US" dirty="0"/>
          </a:p>
        </p:txBody>
      </p:sp>
      <p:pic>
        <p:nvPicPr>
          <p:cNvPr id="14338" name="Picture 2">
            <a:extLst>
              <a:ext uri="{FF2B5EF4-FFF2-40B4-BE49-F238E27FC236}">
                <a16:creationId xmlns:a16="http://schemas.microsoft.com/office/drawing/2014/main" id="{3698A91B-4BD3-4889-9322-6803879D61B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9150" y="2530521"/>
            <a:ext cx="1091731" cy="389904"/>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a:extLst>
              <a:ext uri="{FF2B5EF4-FFF2-40B4-BE49-F238E27FC236}">
                <a16:creationId xmlns:a16="http://schemas.microsoft.com/office/drawing/2014/main" id="{700A2EA2-7891-47BE-AA86-B5D986CFCAD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1977" y="2504189"/>
            <a:ext cx="1066152" cy="397194"/>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a:extLst>
              <a:ext uri="{FF2B5EF4-FFF2-40B4-BE49-F238E27FC236}">
                <a16:creationId xmlns:a16="http://schemas.microsoft.com/office/drawing/2014/main" id="{4E4CD7EC-C18B-4155-A129-34066874A16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38075" y="3832770"/>
            <a:ext cx="492708" cy="135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598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9"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8F0A-590C-4176-980C-A61837F2704A}"/>
              </a:ext>
            </a:extLst>
          </p:cNvPr>
          <p:cNvSpPr>
            <a:spLocks noGrp="1"/>
          </p:cNvSpPr>
          <p:nvPr>
            <p:ph type="title"/>
          </p:nvPr>
        </p:nvSpPr>
        <p:spPr/>
        <p:txBody>
          <a:bodyPr/>
          <a:lstStyle/>
          <a:p>
            <a:r>
              <a:rPr lang="en-US" dirty="0"/>
              <a:t>Transformer: Decoder</a:t>
            </a:r>
          </a:p>
        </p:txBody>
      </p:sp>
      <p:sp>
        <p:nvSpPr>
          <p:cNvPr id="3" name="Content Placeholder 2">
            <a:extLst>
              <a:ext uri="{FF2B5EF4-FFF2-40B4-BE49-F238E27FC236}">
                <a16:creationId xmlns:a16="http://schemas.microsoft.com/office/drawing/2014/main" id="{8E0A12FD-C259-46F7-8452-8B1E320D57A4}"/>
              </a:ext>
            </a:extLst>
          </p:cNvPr>
          <p:cNvSpPr>
            <a:spLocks noGrp="1"/>
          </p:cNvSpPr>
          <p:nvPr>
            <p:ph idx="1"/>
          </p:nvPr>
        </p:nvSpPr>
        <p:spPr>
          <a:xfrm>
            <a:off x="838200" y="1482571"/>
            <a:ext cx="6456218" cy="4694392"/>
          </a:xfrm>
        </p:spPr>
        <p:txBody>
          <a:bodyPr/>
          <a:lstStyle/>
          <a:p>
            <a:r>
              <a:rPr lang="en-US" dirty="0"/>
              <a:t>Encoder-decoder attention</a:t>
            </a:r>
          </a:p>
          <a:p>
            <a:pPr lvl="1"/>
            <a:r>
              <a:rPr lang="en-US" dirty="0"/>
              <a:t>(Key, value): encoder output</a:t>
            </a:r>
          </a:p>
          <a:p>
            <a:pPr lvl="1"/>
            <a:r>
              <a:rPr lang="en-US" dirty="0"/>
              <a:t>Queries: decoder output</a:t>
            </a:r>
          </a:p>
          <a:p>
            <a:pPr lvl="1"/>
            <a:r>
              <a:rPr lang="en-US" dirty="0"/>
              <a:t>Every position in the decoder attends to all positions in the input sequence</a:t>
            </a:r>
          </a:p>
          <a:p>
            <a:pPr lvl="1"/>
            <a:endParaRPr lang="en-US" dirty="0"/>
          </a:p>
          <a:p>
            <a:r>
              <a:rPr lang="en-US" dirty="0" err="1"/>
              <a:t>Softmax</a:t>
            </a:r>
            <a:endParaRPr lang="en-US" dirty="0"/>
          </a:p>
          <a:p>
            <a:pPr lvl="1"/>
            <a:r>
              <a:rPr lang="en-US" dirty="0"/>
              <a:t>Predicts next-token probabilities</a:t>
            </a:r>
          </a:p>
        </p:txBody>
      </p:sp>
      <p:sp>
        <p:nvSpPr>
          <p:cNvPr id="6" name="Slide Number Placeholder 5">
            <a:extLst>
              <a:ext uri="{FF2B5EF4-FFF2-40B4-BE49-F238E27FC236}">
                <a16:creationId xmlns:a16="http://schemas.microsoft.com/office/drawing/2014/main" id="{9006FA9D-E3F2-40A6-857A-CE07ABB95EE4}"/>
              </a:ext>
            </a:extLst>
          </p:cNvPr>
          <p:cNvSpPr>
            <a:spLocks noGrp="1"/>
          </p:cNvSpPr>
          <p:nvPr>
            <p:ph type="sldNum" sz="quarter" idx="12"/>
          </p:nvPr>
        </p:nvSpPr>
        <p:spPr/>
        <p:txBody>
          <a:bodyPr/>
          <a:lstStyle/>
          <a:p>
            <a:fld id="{1B30F0CC-EBAF-4E3D-80D7-CFC82A3A738F}" type="slidenum">
              <a:rPr lang="en-US" smtClean="0"/>
              <a:pPr/>
              <a:t>117</a:t>
            </a:fld>
            <a:endParaRPr lang="en-US" dirty="0"/>
          </a:p>
        </p:txBody>
      </p:sp>
      <p:sp>
        <p:nvSpPr>
          <p:cNvPr id="7" name="TextBox 6">
            <a:extLst>
              <a:ext uri="{FF2B5EF4-FFF2-40B4-BE49-F238E27FC236}">
                <a16:creationId xmlns:a16="http://schemas.microsoft.com/office/drawing/2014/main" id="{6B2BD499-57BB-4B21-95D2-34AA7E931181}"/>
              </a:ext>
            </a:extLst>
          </p:cNvPr>
          <p:cNvSpPr txBox="1"/>
          <p:nvPr/>
        </p:nvSpPr>
        <p:spPr>
          <a:xfrm>
            <a:off x="4392904" y="5766252"/>
            <a:ext cx="3468792" cy="276999"/>
          </a:xfrm>
          <a:prstGeom prst="rect">
            <a:avLst/>
          </a:prstGeom>
          <a:noFill/>
        </p:spPr>
        <p:txBody>
          <a:bodyPr wrap="square">
            <a:spAutoFit/>
          </a:bodyPr>
          <a:lstStyle>
            <a:defPPr>
              <a:defRPr lang="en-US"/>
            </a:defPPr>
            <a:lvl1pPr>
              <a:defRPr sz="1200" b="0" i="0" u="none" strike="noStrike" baseline="0">
                <a:latin typeface="NimbusRomNo9L-Medi"/>
              </a:defRPr>
            </a:lvl1pPr>
          </a:lstStyle>
          <a:p>
            <a:r>
              <a:rPr lang="en-US" dirty="0"/>
              <a:t>Attention is all you need. Vaswani et al., NeurIPS’17</a:t>
            </a:r>
          </a:p>
        </p:txBody>
      </p:sp>
      <p:pic>
        <p:nvPicPr>
          <p:cNvPr id="9" name="Picture 8">
            <a:extLst>
              <a:ext uri="{FF2B5EF4-FFF2-40B4-BE49-F238E27FC236}">
                <a16:creationId xmlns:a16="http://schemas.microsoft.com/office/drawing/2014/main" id="{559D2BAE-0CF7-48D3-BE7D-4248FAADB88D}"/>
              </a:ext>
            </a:extLst>
          </p:cNvPr>
          <p:cNvPicPr>
            <a:picLocks noChangeAspect="1"/>
          </p:cNvPicPr>
          <p:nvPr/>
        </p:nvPicPr>
        <p:blipFill>
          <a:blip r:embed="rId2"/>
          <a:stretch>
            <a:fillRect/>
          </a:stretch>
        </p:blipFill>
        <p:spPr>
          <a:xfrm>
            <a:off x="9695120" y="263095"/>
            <a:ext cx="2201993" cy="6003561"/>
          </a:xfrm>
          <a:prstGeom prst="rect">
            <a:avLst/>
          </a:prstGeom>
        </p:spPr>
      </p:pic>
      <p:sp>
        <p:nvSpPr>
          <p:cNvPr id="10" name="TextBox 9">
            <a:extLst>
              <a:ext uri="{FF2B5EF4-FFF2-40B4-BE49-F238E27FC236}">
                <a16:creationId xmlns:a16="http://schemas.microsoft.com/office/drawing/2014/main" id="{A4DDF86E-5C94-4AC2-AD4B-405C259D1B28}"/>
              </a:ext>
            </a:extLst>
          </p:cNvPr>
          <p:cNvSpPr txBox="1"/>
          <p:nvPr/>
        </p:nvSpPr>
        <p:spPr>
          <a:xfrm>
            <a:off x="8428974" y="1948042"/>
            <a:ext cx="998407" cy="646331"/>
          </a:xfrm>
          <a:prstGeom prst="rect">
            <a:avLst/>
          </a:prstGeom>
          <a:noFill/>
        </p:spPr>
        <p:txBody>
          <a:bodyPr wrap="square" rtlCol="0">
            <a:spAutoFit/>
          </a:bodyPr>
          <a:lstStyle/>
          <a:p>
            <a:r>
              <a:rPr lang="en-US" dirty="0"/>
              <a:t>Encoder output</a:t>
            </a:r>
          </a:p>
        </p:txBody>
      </p:sp>
      <p:pic>
        <p:nvPicPr>
          <p:cNvPr id="11" name="Picture 12">
            <a:extLst>
              <a:ext uri="{FF2B5EF4-FFF2-40B4-BE49-F238E27FC236}">
                <a16:creationId xmlns:a16="http://schemas.microsoft.com/office/drawing/2014/main" id="{A23CCD3A-70D3-4003-9192-DE7234DCC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2594373"/>
            <a:ext cx="1501528" cy="29128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CDD81A3-0CDD-466B-A210-B5FCACFFA081}"/>
              </a:ext>
            </a:extLst>
          </p:cNvPr>
          <p:cNvSpPr txBox="1"/>
          <p:nvPr/>
        </p:nvSpPr>
        <p:spPr>
          <a:xfrm>
            <a:off x="8428974" y="3645101"/>
            <a:ext cx="1465081" cy="369332"/>
          </a:xfrm>
          <a:prstGeom prst="rect">
            <a:avLst/>
          </a:prstGeom>
          <a:noFill/>
        </p:spPr>
        <p:txBody>
          <a:bodyPr wrap="none" rtlCol="0">
            <a:spAutoFit/>
          </a:bodyPr>
          <a:lstStyle/>
          <a:p>
            <a:r>
              <a:rPr lang="en-US" dirty="0"/>
              <a:t>Self-attention</a:t>
            </a:r>
          </a:p>
        </p:txBody>
      </p:sp>
    </p:spTree>
    <p:extLst>
      <p:ext uri="{BB962C8B-B14F-4D97-AF65-F5344CB8AC3E}">
        <p14:creationId xmlns:p14="http://schemas.microsoft.com/office/powerpoint/2010/main" val="289387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B7FADCE-41DE-4042-B5A9-06ABF1306E78}"/>
              </a:ext>
            </a:extLst>
          </p:cNvPr>
          <p:cNvPicPr>
            <a:picLocks noChangeAspect="1"/>
          </p:cNvPicPr>
          <p:nvPr/>
        </p:nvPicPr>
        <p:blipFill>
          <a:blip r:embed="rId2"/>
          <a:stretch>
            <a:fillRect/>
          </a:stretch>
        </p:blipFill>
        <p:spPr>
          <a:xfrm>
            <a:off x="1188609" y="1178650"/>
            <a:ext cx="3209047" cy="4703848"/>
          </a:xfrm>
          <a:prstGeom prst="rect">
            <a:avLst/>
          </a:prstGeom>
        </p:spPr>
      </p:pic>
      <p:sp>
        <p:nvSpPr>
          <p:cNvPr id="2" name="Title 1">
            <a:extLst>
              <a:ext uri="{FF2B5EF4-FFF2-40B4-BE49-F238E27FC236}">
                <a16:creationId xmlns:a16="http://schemas.microsoft.com/office/drawing/2014/main" id="{F9CDEC66-E490-47E7-8336-1C848B804BF8}"/>
              </a:ext>
            </a:extLst>
          </p:cNvPr>
          <p:cNvSpPr>
            <a:spLocks noGrp="1"/>
          </p:cNvSpPr>
          <p:nvPr>
            <p:ph type="title"/>
          </p:nvPr>
        </p:nvSpPr>
        <p:spPr/>
        <p:txBody>
          <a:bodyPr/>
          <a:lstStyle/>
          <a:p>
            <a:r>
              <a:rPr lang="en-US" dirty="0"/>
              <a:t>Transformer</a:t>
            </a:r>
          </a:p>
        </p:txBody>
      </p:sp>
      <p:sp>
        <p:nvSpPr>
          <p:cNvPr id="6" name="Slide Number Placeholder 5">
            <a:extLst>
              <a:ext uri="{FF2B5EF4-FFF2-40B4-BE49-F238E27FC236}">
                <a16:creationId xmlns:a16="http://schemas.microsoft.com/office/drawing/2014/main" id="{865CD1D1-ED34-48D0-A911-92C9DDE7A772}"/>
              </a:ext>
            </a:extLst>
          </p:cNvPr>
          <p:cNvSpPr>
            <a:spLocks noGrp="1"/>
          </p:cNvSpPr>
          <p:nvPr>
            <p:ph type="sldNum" sz="quarter" idx="12"/>
          </p:nvPr>
        </p:nvSpPr>
        <p:spPr/>
        <p:txBody>
          <a:bodyPr/>
          <a:lstStyle/>
          <a:p>
            <a:fld id="{1B30F0CC-EBAF-4E3D-80D7-CFC82A3A738F}" type="slidenum">
              <a:rPr lang="en-US" smtClean="0"/>
              <a:pPr/>
              <a:t>118</a:t>
            </a:fld>
            <a:endParaRPr lang="en-US" dirty="0"/>
          </a:p>
        </p:txBody>
      </p:sp>
      <p:sp>
        <p:nvSpPr>
          <p:cNvPr id="9" name="TextBox 8">
            <a:extLst>
              <a:ext uri="{FF2B5EF4-FFF2-40B4-BE49-F238E27FC236}">
                <a16:creationId xmlns:a16="http://schemas.microsoft.com/office/drawing/2014/main" id="{C075D01C-ADD7-4755-ABF3-73F7D14D5D9A}"/>
              </a:ext>
            </a:extLst>
          </p:cNvPr>
          <p:cNvSpPr txBox="1"/>
          <p:nvPr/>
        </p:nvSpPr>
        <p:spPr>
          <a:xfrm>
            <a:off x="4406936" y="5842425"/>
            <a:ext cx="3468792" cy="276999"/>
          </a:xfrm>
          <a:prstGeom prst="rect">
            <a:avLst/>
          </a:prstGeom>
          <a:noFill/>
        </p:spPr>
        <p:txBody>
          <a:bodyPr wrap="square">
            <a:spAutoFit/>
          </a:bodyPr>
          <a:lstStyle>
            <a:defPPr>
              <a:defRPr lang="en-US"/>
            </a:defPPr>
            <a:lvl1pPr>
              <a:defRPr sz="1200" b="0" i="0" u="none" strike="noStrike" baseline="0">
                <a:latin typeface="NimbusRomNo9L-Medi"/>
              </a:defRPr>
            </a:lvl1pPr>
          </a:lstStyle>
          <a:p>
            <a:r>
              <a:rPr lang="en-US" dirty="0"/>
              <a:t>Attention is all you need. Vaswani et al., NeurIPS’17</a:t>
            </a:r>
          </a:p>
        </p:txBody>
      </p:sp>
      <p:pic>
        <p:nvPicPr>
          <p:cNvPr id="10" name="Picture 9">
            <a:extLst>
              <a:ext uri="{FF2B5EF4-FFF2-40B4-BE49-F238E27FC236}">
                <a16:creationId xmlns:a16="http://schemas.microsoft.com/office/drawing/2014/main" id="{77103082-E77F-46A9-9859-BE49BA2665EE}"/>
              </a:ext>
            </a:extLst>
          </p:cNvPr>
          <p:cNvPicPr>
            <a:picLocks noChangeAspect="1"/>
          </p:cNvPicPr>
          <p:nvPr/>
        </p:nvPicPr>
        <p:blipFill>
          <a:blip r:embed="rId3"/>
          <a:stretch>
            <a:fillRect/>
          </a:stretch>
        </p:blipFill>
        <p:spPr>
          <a:xfrm>
            <a:off x="5487172" y="1485008"/>
            <a:ext cx="2180069" cy="3887984"/>
          </a:xfrm>
          <a:prstGeom prst="rect">
            <a:avLst/>
          </a:prstGeom>
        </p:spPr>
      </p:pic>
      <p:pic>
        <p:nvPicPr>
          <p:cNvPr id="11" name="Picture 10">
            <a:extLst>
              <a:ext uri="{FF2B5EF4-FFF2-40B4-BE49-F238E27FC236}">
                <a16:creationId xmlns:a16="http://schemas.microsoft.com/office/drawing/2014/main" id="{9A1DF757-9560-4EFD-AA09-738F42D63149}"/>
              </a:ext>
            </a:extLst>
          </p:cNvPr>
          <p:cNvPicPr>
            <a:picLocks noChangeAspect="1"/>
          </p:cNvPicPr>
          <p:nvPr/>
        </p:nvPicPr>
        <p:blipFill>
          <a:blip r:embed="rId4"/>
          <a:stretch>
            <a:fillRect/>
          </a:stretch>
        </p:blipFill>
        <p:spPr>
          <a:xfrm>
            <a:off x="8289177" y="1388843"/>
            <a:ext cx="3064623" cy="4097988"/>
          </a:xfrm>
          <a:prstGeom prst="rect">
            <a:avLst/>
          </a:prstGeom>
        </p:spPr>
      </p:pic>
    </p:spTree>
    <p:extLst>
      <p:ext uri="{BB962C8B-B14F-4D97-AF65-F5344CB8AC3E}">
        <p14:creationId xmlns:p14="http://schemas.microsoft.com/office/powerpoint/2010/main" val="18898467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441C-B247-4637-BFBD-7B5622EBE55E}"/>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E25A3DC2-6B65-48CB-ADF0-516CFAE905C1}"/>
              </a:ext>
            </a:extLst>
          </p:cNvPr>
          <p:cNvSpPr>
            <a:spLocks noGrp="1"/>
          </p:cNvSpPr>
          <p:nvPr>
            <p:ph idx="1"/>
          </p:nvPr>
        </p:nvSpPr>
        <p:spPr/>
        <p:txBody>
          <a:bodyPr>
            <a:normAutofit/>
          </a:bodyPr>
          <a:lstStyle/>
          <a:p>
            <a:r>
              <a:rPr lang="en-US" sz="2400" dirty="0"/>
              <a:t>Stanford CS231n, lecture 5, Convolutional Neural Networks </a:t>
            </a:r>
            <a:r>
              <a:rPr lang="en-US" sz="2400" dirty="0">
                <a:hlinkClick r:id="rId2"/>
              </a:rPr>
              <a:t>http://cs231n.stanford.edu/schedule.html</a:t>
            </a:r>
            <a:endParaRPr lang="en-US" sz="2400" dirty="0"/>
          </a:p>
          <a:p>
            <a:r>
              <a:rPr lang="en-US" sz="2400" dirty="0"/>
              <a:t>Deep learning with </a:t>
            </a:r>
            <a:r>
              <a:rPr lang="en-US" sz="2400" dirty="0" err="1"/>
              <a:t>PyTorch</a:t>
            </a:r>
            <a:r>
              <a:rPr lang="en-US" sz="2400" dirty="0"/>
              <a:t> </a:t>
            </a:r>
            <a:r>
              <a:rPr lang="en-US" sz="2400" dirty="0">
                <a:hlinkClick r:id="rId3"/>
              </a:rPr>
              <a:t>https://pytorch.org/tutorials/beginner/deep_learning_60min_blitz.html</a:t>
            </a:r>
            <a:endParaRPr lang="en-US" sz="2400" dirty="0"/>
          </a:p>
          <a:p>
            <a:r>
              <a:rPr lang="en-US" sz="2400" dirty="0" err="1"/>
              <a:t>AlexNet</a:t>
            </a:r>
            <a:r>
              <a:rPr lang="en-US" sz="2400" dirty="0"/>
              <a:t> (2012): </a:t>
            </a:r>
            <a:r>
              <a:rPr lang="en-US" sz="2400" dirty="0">
                <a:hlinkClick r:id="rId4"/>
              </a:rPr>
              <a:t>https://papers.nips.cc/paper/2012/hash/c399862d3b9d6b76c8436e924a68c45b-Abstract.html</a:t>
            </a:r>
            <a:endParaRPr lang="en-US" sz="2400" dirty="0"/>
          </a:p>
          <a:p>
            <a:r>
              <a:rPr lang="en-US" sz="2400" dirty="0"/>
              <a:t>Vgg16 (2014): </a:t>
            </a:r>
            <a:r>
              <a:rPr lang="en-US" sz="2400" dirty="0">
                <a:hlinkClick r:id="rId5"/>
              </a:rPr>
              <a:t>https://arxiv.org/abs/1409.1556</a:t>
            </a:r>
            <a:endParaRPr lang="en-US" sz="2400" dirty="0"/>
          </a:p>
          <a:p>
            <a:r>
              <a:rPr lang="en-US" sz="2400" dirty="0" err="1"/>
              <a:t>GoogleNet</a:t>
            </a:r>
            <a:r>
              <a:rPr lang="en-US" sz="2400" dirty="0"/>
              <a:t> (2014): </a:t>
            </a:r>
            <a:r>
              <a:rPr lang="en-US" sz="2400" dirty="0">
                <a:hlinkClick r:id="rId6"/>
              </a:rPr>
              <a:t>https://arxiv.org/abs/1409.4842</a:t>
            </a:r>
            <a:endParaRPr lang="en-US" sz="2400" dirty="0"/>
          </a:p>
          <a:p>
            <a:r>
              <a:rPr lang="en-US" sz="2400" dirty="0" err="1"/>
              <a:t>ResNet</a:t>
            </a:r>
            <a:r>
              <a:rPr lang="en-US" sz="2400" dirty="0"/>
              <a:t> (2015): </a:t>
            </a:r>
            <a:r>
              <a:rPr lang="en-US" sz="2400" dirty="0">
                <a:hlinkClick r:id="rId7"/>
              </a:rPr>
              <a:t>https://arxiv.org/abs/1512.03385</a:t>
            </a:r>
            <a:endParaRPr lang="en-US" sz="2400" dirty="0"/>
          </a:p>
          <a:p>
            <a:endParaRPr lang="en-US" sz="2400" dirty="0"/>
          </a:p>
          <a:p>
            <a:endParaRPr lang="en-US" sz="2400" dirty="0"/>
          </a:p>
          <a:p>
            <a:endParaRPr lang="en-US" sz="2400" dirty="0"/>
          </a:p>
          <a:p>
            <a:endParaRPr lang="en-US" sz="2400" dirty="0"/>
          </a:p>
        </p:txBody>
      </p:sp>
      <p:sp>
        <p:nvSpPr>
          <p:cNvPr id="6" name="Slide Number Placeholder 5">
            <a:extLst>
              <a:ext uri="{FF2B5EF4-FFF2-40B4-BE49-F238E27FC236}">
                <a16:creationId xmlns:a16="http://schemas.microsoft.com/office/drawing/2014/main" id="{77D93DA7-EF85-4552-BA55-C69C90519334}"/>
              </a:ext>
            </a:extLst>
          </p:cNvPr>
          <p:cNvSpPr>
            <a:spLocks noGrp="1"/>
          </p:cNvSpPr>
          <p:nvPr>
            <p:ph type="sldNum" sz="quarter" idx="12"/>
          </p:nvPr>
        </p:nvSpPr>
        <p:spPr/>
        <p:txBody>
          <a:bodyPr/>
          <a:lstStyle/>
          <a:p>
            <a:fld id="{1B30F0CC-EBAF-4E3D-80D7-CFC82A3A738F}" type="slidenum">
              <a:rPr lang="en-US" smtClean="0"/>
              <a:pPr/>
              <a:t>119</a:t>
            </a:fld>
            <a:endParaRPr lang="en-US" dirty="0"/>
          </a:p>
        </p:txBody>
      </p:sp>
    </p:spTree>
    <p:extLst>
      <p:ext uri="{BB962C8B-B14F-4D97-AF65-F5344CB8AC3E}">
        <p14:creationId xmlns:p14="http://schemas.microsoft.com/office/powerpoint/2010/main" val="13795875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441C-B247-4637-BFBD-7B5622EBE55E}"/>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E25A3DC2-6B65-48CB-ADF0-516CFAE905C1}"/>
              </a:ext>
            </a:extLst>
          </p:cNvPr>
          <p:cNvSpPr>
            <a:spLocks noGrp="1"/>
          </p:cNvSpPr>
          <p:nvPr>
            <p:ph idx="1"/>
          </p:nvPr>
        </p:nvSpPr>
        <p:spPr/>
        <p:txBody>
          <a:bodyPr>
            <a:normAutofit fontScale="92500"/>
          </a:bodyPr>
          <a:lstStyle/>
          <a:p>
            <a:r>
              <a:rPr lang="en-US" dirty="0"/>
              <a:t>Stanford CS231n, lecture 3 and lecture 4, </a:t>
            </a:r>
            <a:r>
              <a:rPr lang="en-US" dirty="0">
                <a:hlinkClick r:id="rId2"/>
              </a:rPr>
              <a:t>http://cs231n.stanford.edu/schedule.html</a:t>
            </a:r>
            <a:endParaRPr lang="en-US" dirty="0"/>
          </a:p>
          <a:p>
            <a:endParaRPr lang="en-US" dirty="0"/>
          </a:p>
          <a:p>
            <a:r>
              <a:rPr lang="en-US" dirty="0"/>
              <a:t>Deep learning with </a:t>
            </a:r>
            <a:r>
              <a:rPr lang="en-US" dirty="0" err="1"/>
              <a:t>PyTorch</a:t>
            </a:r>
            <a:r>
              <a:rPr lang="en-US" dirty="0"/>
              <a:t> </a:t>
            </a:r>
            <a:r>
              <a:rPr lang="en-US" dirty="0">
                <a:hlinkClick r:id="rId3"/>
              </a:rPr>
              <a:t>https://pytorch.org/tutorials/beginner/deep_learning_60min_blitz.html</a:t>
            </a:r>
            <a:endParaRPr lang="en-US" dirty="0"/>
          </a:p>
          <a:p>
            <a:endParaRPr lang="en-US" dirty="0"/>
          </a:p>
          <a:p>
            <a:r>
              <a:rPr lang="en-US" dirty="0"/>
              <a:t>Dropout: A Simple Way to Prevent Neural Networks from Overfitting</a:t>
            </a:r>
            <a:br>
              <a:rPr lang="en-US" dirty="0"/>
            </a:br>
            <a:r>
              <a:rPr lang="en-US" dirty="0">
                <a:hlinkClick r:id="rId4"/>
              </a:rPr>
              <a:t>https://jmlr.org/papers/v15/srivastava14a.html</a:t>
            </a:r>
            <a:endParaRPr lang="en-US" dirty="0"/>
          </a:p>
          <a:p>
            <a:endParaRPr lang="en-US" dirty="0"/>
          </a:p>
          <a:p>
            <a:r>
              <a:rPr lang="en-US" dirty="0"/>
              <a:t>Matrix Calculus: </a:t>
            </a:r>
            <a:r>
              <a:rPr lang="en-US" dirty="0">
                <a:hlinkClick r:id="rId5"/>
              </a:rPr>
              <a:t>https://explained.ai/matrix-calculus/</a:t>
            </a:r>
            <a:endParaRPr lang="en-US" dirty="0"/>
          </a:p>
          <a:p>
            <a:endParaRPr lang="en-US" dirty="0"/>
          </a:p>
          <a:p>
            <a:endParaRPr lang="en-US" dirty="0"/>
          </a:p>
        </p:txBody>
      </p:sp>
      <p:sp>
        <p:nvSpPr>
          <p:cNvPr id="6" name="Slide Number Placeholder 5">
            <a:extLst>
              <a:ext uri="{FF2B5EF4-FFF2-40B4-BE49-F238E27FC236}">
                <a16:creationId xmlns:a16="http://schemas.microsoft.com/office/drawing/2014/main" id="{77D93DA7-EF85-4552-BA55-C69C90519334}"/>
              </a:ext>
            </a:extLst>
          </p:cNvPr>
          <p:cNvSpPr>
            <a:spLocks noGrp="1"/>
          </p:cNvSpPr>
          <p:nvPr>
            <p:ph type="sldNum" sz="quarter" idx="12"/>
          </p:nvPr>
        </p:nvSpPr>
        <p:spPr/>
        <p:txBody>
          <a:bodyPr/>
          <a:lstStyle/>
          <a:p>
            <a:fld id="{1B30F0CC-EBAF-4E3D-80D7-CFC82A3A738F}" type="slidenum">
              <a:rPr lang="en-US" smtClean="0"/>
              <a:pPr/>
              <a:t>120</a:t>
            </a:fld>
            <a:endParaRPr lang="en-US" dirty="0"/>
          </a:p>
        </p:txBody>
      </p:sp>
    </p:spTree>
    <p:extLst>
      <p:ext uri="{BB962C8B-B14F-4D97-AF65-F5344CB8AC3E}">
        <p14:creationId xmlns:p14="http://schemas.microsoft.com/office/powerpoint/2010/main" val="175145617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5AD9-B7B5-485D-864B-8291F02367DE}"/>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FC928892-31D2-4080-B5E0-D381D00958C0}"/>
              </a:ext>
            </a:extLst>
          </p:cNvPr>
          <p:cNvSpPr>
            <a:spLocks noGrp="1"/>
          </p:cNvSpPr>
          <p:nvPr>
            <p:ph idx="1"/>
          </p:nvPr>
        </p:nvSpPr>
        <p:spPr/>
        <p:txBody>
          <a:bodyPr vert="horz" lIns="91440" tIns="45720" rIns="91440" bIns="45720" rtlCol="0" anchor="t">
            <a:normAutofit fontScale="85000" lnSpcReduction="20000"/>
          </a:bodyPr>
          <a:lstStyle/>
          <a:p>
            <a:r>
              <a:rPr lang="en-US" sz="3300" dirty="0"/>
              <a:t>Sound of Pixels, 2018 </a:t>
            </a:r>
            <a:r>
              <a:rPr lang="en-US" sz="3300" dirty="0">
                <a:hlinkClick r:id="rId2"/>
              </a:rPr>
              <a:t>http://sound-of-pixels.csail.mit.edu/</a:t>
            </a:r>
            <a:endParaRPr lang="en-US" sz="3300" dirty="0"/>
          </a:p>
          <a:p>
            <a:r>
              <a:rPr lang="en-US" sz="3300" dirty="0"/>
              <a:t>Audio-Visual Event Localization in Unconstrained Videos, 2018 </a:t>
            </a:r>
            <a:r>
              <a:rPr lang="en-US" sz="3300" dirty="0">
                <a:hlinkClick r:id="rId3"/>
              </a:rPr>
              <a:t>https://openaccess.thecvf.com/content_ECCV_2018/papers/Yapeng_Tian_Audio-Visual_Event_Localization_ECCV_2018_paper.pdf</a:t>
            </a:r>
            <a:endParaRPr lang="en-US" sz="3300" dirty="0"/>
          </a:p>
          <a:p>
            <a:r>
              <a:rPr lang="en-US" altLang="zh-CN" sz="3300" dirty="0">
                <a:latin typeface="+mj-lt"/>
                <a:cs typeface="Calibri" panose="020F0502020204030204" pitchFamily="34" charset="0"/>
              </a:rPr>
              <a:t>Unified Multisensory Perception: Weakly-Supervised Audio-Visual Video Parsing, 2020 </a:t>
            </a:r>
            <a:r>
              <a:rPr lang="en-US" altLang="zh-CN" sz="3300" dirty="0">
                <a:latin typeface="+mj-lt"/>
                <a:cs typeface="Calibri" panose="020F0502020204030204" pitchFamily="34" charset="0"/>
                <a:hlinkClick r:id="rId4"/>
              </a:rPr>
              <a:t>https://arxiv.org/pdf/2007.10558.pdf</a:t>
            </a:r>
            <a:endParaRPr lang="en-US" altLang="zh-CN" sz="3300" dirty="0">
              <a:latin typeface="+mj-lt"/>
              <a:cs typeface="Calibri" panose="020F0502020204030204" pitchFamily="34" charset="0"/>
            </a:endParaRPr>
          </a:p>
          <a:p>
            <a:r>
              <a:rPr lang="en-US" sz="3300" dirty="0"/>
              <a:t>Visual to Sound: Generating Natural Sound for Videos in the Wild, 2018 </a:t>
            </a:r>
            <a:r>
              <a:rPr lang="en-US" sz="3300" dirty="0">
                <a:hlinkClick r:id="rId5"/>
              </a:rPr>
              <a:t>https://arxiv.org/abs/1712.01393</a:t>
            </a:r>
            <a:endParaRPr lang="en-US" sz="3300" dirty="0"/>
          </a:p>
          <a:p>
            <a:r>
              <a:rPr lang="en-US" sz="3300" err="1">
                <a:latin typeface="Calibri"/>
                <a:ea typeface="Calibri"/>
                <a:cs typeface="Calibri"/>
              </a:rPr>
              <a:t>MakeItTalk</a:t>
            </a:r>
            <a:r>
              <a:rPr lang="en-US" sz="3300" dirty="0">
                <a:latin typeface="Calibri"/>
                <a:ea typeface="Calibri"/>
                <a:cs typeface="Calibri"/>
              </a:rPr>
              <a:t>: Speaker-Aware Talking-Head Animation, 2020. </a:t>
            </a:r>
            <a:r>
              <a:rPr lang="en-US" sz="3300" dirty="0">
                <a:latin typeface="Calibri"/>
                <a:ea typeface="Calibri"/>
                <a:cs typeface="Calibri"/>
                <a:hlinkClick r:id="rId6"/>
              </a:rPr>
              <a:t>https://arxiv.org/abs/2004.12992</a:t>
            </a:r>
            <a:endParaRPr lang="en-US" sz="3300" dirty="0">
              <a:latin typeface="Calibri"/>
              <a:ea typeface="Calibri"/>
              <a:cs typeface="Calibri"/>
            </a:endParaRPr>
          </a:p>
          <a:p>
            <a:r>
              <a:rPr lang="en-US" sz="3300" dirty="0"/>
              <a:t>Learning in Audio-visual Context: A Review, Analysis, and New Perspective, 2022. </a:t>
            </a:r>
            <a:r>
              <a:rPr lang="en-US" sz="3300" dirty="0">
                <a:hlinkClick r:id="rId7"/>
              </a:rPr>
              <a:t>https://arxiv.org/abs/2208.09579</a:t>
            </a:r>
            <a:endParaRPr lang="en-US" sz="2800" b="0" i="0" u="none" strike="noStrike" baseline="0" dirty="0">
              <a:latin typeface="NimbusRomNo9L-Medi"/>
            </a:endParaRPr>
          </a:p>
          <a:p>
            <a:endParaRPr lang="en-US" dirty="0">
              <a:latin typeface="NimbusRomNo9L-Medi"/>
            </a:endParaRPr>
          </a:p>
          <a:p>
            <a:endParaRPr lang="en-US" sz="2800" b="0" i="0" u="none" strike="noStrike" baseline="0" dirty="0">
              <a:latin typeface="NimbusRomNo9L-Medi"/>
            </a:endParaRPr>
          </a:p>
          <a:p>
            <a:endParaRPr lang="en-US" dirty="0"/>
          </a:p>
        </p:txBody>
      </p:sp>
      <p:sp>
        <p:nvSpPr>
          <p:cNvPr id="6" name="Slide Number Placeholder 5">
            <a:extLst>
              <a:ext uri="{FF2B5EF4-FFF2-40B4-BE49-F238E27FC236}">
                <a16:creationId xmlns:a16="http://schemas.microsoft.com/office/drawing/2014/main" id="{C87841C4-BF13-4891-BAB8-C878F65225AB}"/>
              </a:ext>
            </a:extLst>
          </p:cNvPr>
          <p:cNvSpPr>
            <a:spLocks noGrp="1"/>
          </p:cNvSpPr>
          <p:nvPr>
            <p:ph type="sldNum" sz="quarter" idx="12"/>
          </p:nvPr>
        </p:nvSpPr>
        <p:spPr/>
        <p:txBody>
          <a:bodyPr/>
          <a:lstStyle/>
          <a:p>
            <a:fld id="{1B30F0CC-EBAF-4E3D-80D7-CFC82A3A738F}" type="slidenum">
              <a:rPr lang="en-US" smtClean="0"/>
              <a:pPr/>
              <a:t>121</a:t>
            </a:fld>
            <a:endParaRPr lang="en-US" dirty="0"/>
          </a:p>
        </p:txBody>
      </p:sp>
    </p:spTree>
    <p:extLst>
      <p:ext uri="{BB962C8B-B14F-4D97-AF65-F5344CB8AC3E}">
        <p14:creationId xmlns:p14="http://schemas.microsoft.com/office/powerpoint/2010/main" val="182194379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441C-B247-4637-BFBD-7B5622EBE55E}"/>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E25A3DC2-6B65-48CB-ADF0-516CFAE905C1}"/>
              </a:ext>
            </a:extLst>
          </p:cNvPr>
          <p:cNvSpPr>
            <a:spLocks noGrp="1"/>
          </p:cNvSpPr>
          <p:nvPr>
            <p:ph idx="1"/>
          </p:nvPr>
        </p:nvSpPr>
        <p:spPr/>
        <p:txBody>
          <a:bodyPr>
            <a:normAutofit fontScale="92500" lnSpcReduction="20000"/>
          </a:bodyPr>
          <a:lstStyle/>
          <a:p>
            <a:pPr algn="l"/>
            <a:r>
              <a:rPr lang="en-US" altLang="zh-CN" b="0" i="0" dirty="0">
                <a:solidFill>
                  <a:srgbClr val="000000"/>
                </a:solidFill>
                <a:effectLst/>
                <a:latin typeface="ff2"/>
              </a:rPr>
              <a:t>Deep</a:t>
            </a:r>
            <a:r>
              <a:rPr lang="zh-CN" altLang="en-US" b="0" i="0" dirty="0">
                <a:solidFill>
                  <a:srgbClr val="000000"/>
                </a:solidFill>
                <a:effectLst/>
                <a:latin typeface="ff2"/>
              </a:rPr>
              <a:t> </a:t>
            </a:r>
            <a:r>
              <a:rPr lang="en-US" altLang="zh-CN" b="0" i="0" dirty="0">
                <a:solidFill>
                  <a:srgbClr val="000000"/>
                </a:solidFill>
                <a:effectLst/>
                <a:latin typeface="ff2"/>
              </a:rPr>
              <a:t>Learning</a:t>
            </a:r>
            <a:r>
              <a:rPr lang="zh-CN" altLang="en-US" b="0" i="0" dirty="0">
                <a:solidFill>
                  <a:srgbClr val="000000"/>
                </a:solidFill>
                <a:effectLst/>
                <a:latin typeface="ff2"/>
              </a:rPr>
              <a:t> </a:t>
            </a:r>
            <a:r>
              <a:rPr lang="en-US" altLang="zh-CN" b="0" i="0" dirty="0">
                <a:solidFill>
                  <a:srgbClr val="000000"/>
                </a:solidFill>
                <a:effectLst/>
                <a:latin typeface="ff2"/>
              </a:rPr>
              <a:t>Text</a:t>
            </a:r>
            <a:r>
              <a:rPr lang="en-US" altLang="zh-CN" dirty="0">
                <a:solidFill>
                  <a:srgbClr val="000000"/>
                </a:solidFill>
                <a:latin typeface="ff2"/>
              </a:rPr>
              <a:t>book:</a:t>
            </a:r>
            <a:r>
              <a:rPr lang="zh-CN" altLang="en-US" dirty="0">
                <a:solidFill>
                  <a:srgbClr val="000000"/>
                </a:solidFill>
                <a:latin typeface="ff2"/>
              </a:rPr>
              <a:t> </a:t>
            </a:r>
            <a:r>
              <a:rPr lang="en-US" b="0" i="0" dirty="0">
                <a:solidFill>
                  <a:srgbClr val="000000"/>
                </a:solidFill>
                <a:effectLst/>
                <a:latin typeface="ff2"/>
              </a:rPr>
              <a:t>Sequence Modeling: Recurrent</a:t>
            </a:r>
            <a:r>
              <a:rPr lang="zh-CN" altLang="en-US" b="0" i="0" dirty="0">
                <a:solidFill>
                  <a:srgbClr val="000000"/>
                </a:solidFill>
                <a:effectLst/>
                <a:latin typeface="ff2"/>
              </a:rPr>
              <a:t> </a:t>
            </a:r>
            <a:r>
              <a:rPr lang="en-US" b="0" i="0" dirty="0">
                <a:solidFill>
                  <a:srgbClr val="000000"/>
                </a:solidFill>
                <a:effectLst/>
                <a:latin typeface="ff2"/>
              </a:rPr>
              <a:t>and Recursive Nets</a:t>
            </a:r>
            <a:r>
              <a:rPr lang="zh-CN" altLang="en-US" b="0" i="0" dirty="0">
                <a:solidFill>
                  <a:srgbClr val="000000"/>
                </a:solidFill>
                <a:effectLst/>
                <a:latin typeface="ff2"/>
              </a:rPr>
              <a:t> </a:t>
            </a:r>
            <a:r>
              <a:rPr lang="en-US" altLang="zh-CN" b="0" i="0" dirty="0">
                <a:solidFill>
                  <a:srgbClr val="000000"/>
                </a:solidFill>
                <a:effectLst/>
                <a:latin typeface="ff2"/>
                <a:hlinkClick r:id="rId2"/>
              </a:rPr>
              <a:t>https://www.deeplearningbook.org/contents/rnn.html</a:t>
            </a:r>
            <a:endParaRPr lang="en-US" b="0" i="0" dirty="0">
              <a:solidFill>
                <a:srgbClr val="000000"/>
              </a:solidFill>
              <a:effectLst/>
              <a:latin typeface="ff2"/>
            </a:endParaRPr>
          </a:p>
          <a:p>
            <a:pPr marL="0" indent="0">
              <a:buNone/>
            </a:pPr>
            <a:endParaRPr lang="en-US" dirty="0"/>
          </a:p>
          <a:p>
            <a:r>
              <a:rPr lang="en-US" dirty="0"/>
              <a:t>Stanford CS231n, lecture 10, Recurrent Neural Networks </a:t>
            </a:r>
            <a:r>
              <a:rPr lang="en-US" dirty="0">
                <a:hlinkClick r:id="rId3"/>
              </a:rPr>
              <a:t>http://cs231n.stanford.edu/</a:t>
            </a:r>
            <a:endParaRPr lang="en-US" dirty="0"/>
          </a:p>
          <a:p>
            <a:pPr marL="0" indent="0">
              <a:buNone/>
            </a:pPr>
            <a:endParaRPr lang="en-US" dirty="0"/>
          </a:p>
          <a:p>
            <a:r>
              <a:rPr lang="en-US" dirty="0"/>
              <a:t>Long Short Term Memory </a:t>
            </a:r>
            <a:r>
              <a:rPr lang="en-US" dirty="0">
                <a:hlinkClick r:id="rId4"/>
              </a:rPr>
              <a:t>https://www.researchgate.net/publication/13853244_Long_Short-term_Memory</a:t>
            </a:r>
            <a:endParaRPr lang="en-US" dirty="0"/>
          </a:p>
          <a:p>
            <a:r>
              <a:rPr lang="en-US" dirty="0">
                <a:hlinkClick r:id="rId5"/>
              </a:rPr>
              <a:t>https://colah.github.io/posts/2015-08-Understanding-LSTMs/</a:t>
            </a:r>
            <a:endParaRPr lang="en-US" dirty="0"/>
          </a:p>
          <a:p>
            <a:endParaRPr lang="en-US" dirty="0"/>
          </a:p>
          <a:p>
            <a:r>
              <a:rPr lang="en-US" dirty="0"/>
              <a:t>Gated Recurrent Units </a:t>
            </a:r>
            <a:r>
              <a:rPr lang="en-US" dirty="0">
                <a:hlinkClick r:id="rId6"/>
              </a:rPr>
              <a:t>https://arxiv.org/pdf/1412.3555.pdf</a:t>
            </a:r>
            <a:endParaRPr lang="en-US" dirty="0"/>
          </a:p>
          <a:p>
            <a:endParaRPr lang="en-US" dirty="0"/>
          </a:p>
          <a:p>
            <a:endParaRPr lang="en-US" dirty="0"/>
          </a:p>
          <a:p>
            <a:endParaRPr lang="en-US" dirty="0"/>
          </a:p>
          <a:p>
            <a:endParaRPr lang="en-US" dirty="0"/>
          </a:p>
          <a:p>
            <a:endParaRPr lang="en-US" dirty="0"/>
          </a:p>
        </p:txBody>
      </p:sp>
      <p:sp>
        <p:nvSpPr>
          <p:cNvPr id="6" name="Slide Number Placeholder 5">
            <a:extLst>
              <a:ext uri="{FF2B5EF4-FFF2-40B4-BE49-F238E27FC236}">
                <a16:creationId xmlns:a16="http://schemas.microsoft.com/office/drawing/2014/main" id="{77D93DA7-EF85-4552-BA55-C69C90519334}"/>
              </a:ext>
            </a:extLst>
          </p:cNvPr>
          <p:cNvSpPr>
            <a:spLocks noGrp="1"/>
          </p:cNvSpPr>
          <p:nvPr>
            <p:ph type="sldNum" sz="quarter" idx="12"/>
          </p:nvPr>
        </p:nvSpPr>
        <p:spPr/>
        <p:txBody>
          <a:bodyPr/>
          <a:lstStyle/>
          <a:p>
            <a:fld id="{1B30F0CC-EBAF-4E3D-80D7-CFC82A3A738F}" type="slidenum">
              <a:rPr lang="en-US" smtClean="0"/>
              <a:pPr/>
              <a:t>122</a:t>
            </a:fld>
            <a:endParaRPr lang="en-US" dirty="0"/>
          </a:p>
        </p:txBody>
      </p:sp>
    </p:spTree>
    <p:extLst>
      <p:ext uri="{BB962C8B-B14F-4D97-AF65-F5344CB8AC3E}">
        <p14:creationId xmlns:p14="http://schemas.microsoft.com/office/powerpoint/2010/main" val="30434336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441C-B247-4637-BFBD-7B5622EBE55E}"/>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E25A3DC2-6B65-48CB-ADF0-516CFAE905C1}"/>
              </a:ext>
            </a:extLst>
          </p:cNvPr>
          <p:cNvSpPr>
            <a:spLocks noGrp="1"/>
          </p:cNvSpPr>
          <p:nvPr>
            <p:ph idx="1"/>
          </p:nvPr>
        </p:nvSpPr>
        <p:spPr/>
        <p:txBody>
          <a:bodyPr>
            <a:normAutofit fontScale="92500"/>
          </a:bodyPr>
          <a:lstStyle/>
          <a:p>
            <a:r>
              <a:rPr lang="en-US" dirty="0"/>
              <a:t>Learning Phrase Representations using RNN Encoder-Decoder for Statistical Machine Translation </a:t>
            </a:r>
            <a:r>
              <a:rPr lang="en-US" dirty="0">
                <a:hlinkClick r:id="rId2"/>
              </a:rPr>
              <a:t>https://arxiv.org/abs/1406.1078</a:t>
            </a:r>
            <a:endParaRPr lang="en-US" dirty="0"/>
          </a:p>
          <a:p>
            <a:endParaRPr lang="en-US" dirty="0"/>
          </a:p>
          <a:p>
            <a:r>
              <a:rPr lang="en-US" dirty="0"/>
              <a:t>Neural Machine Translation by Jointly Learning to Align and Translate </a:t>
            </a:r>
            <a:r>
              <a:rPr lang="en-US" dirty="0">
                <a:hlinkClick r:id="rId3"/>
              </a:rPr>
              <a:t>https://arxiv.org/abs/1409.0473</a:t>
            </a:r>
            <a:endParaRPr lang="en-US" dirty="0"/>
          </a:p>
          <a:p>
            <a:endParaRPr lang="en-US" dirty="0"/>
          </a:p>
          <a:p>
            <a:r>
              <a:rPr lang="en-US" dirty="0"/>
              <a:t>Transformer: Attention is all you need </a:t>
            </a:r>
            <a:r>
              <a:rPr lang="en-US" dirty="0">
                <a:hlinkClick r:id="rId4"/>
              </a:rPr>
              <a:t>https://arxiv.org/abs/1706.03762</a:t>
            </a:r>
            <a:endParaRPr lang="en-US" dirty="0"/>
          </a:p>
          <a:p>
            <a:pPr marL="0" indent="0">
              <a:buNone/>
            </a:pPr>
            <a:endParaRPr lang="en-US" dirty="0"/>
          </a:p>
          <a:p>
            <a:r>
              <a:rPr lang="en-US" dirty="0"/>
              <a:t>Vision transformer: An Image is Worth 16x16 Words: Transformers for Image Recognition at Scale </a:t>
            </a:r>
            <a:r>
              <a:rPr lang="en-US" dirty="0">
                <a:hlinkClick r:id="rId5"/>
              </a:rPr>
              <a:t>https://arxiv.org/abs/2010.11929</a:t>
            </a:r>
            <a:endParaRPr lang="en-US" dirty="0"/>
          </a:p>
          <a:p>
            <a:endParaRPr lang="en-US" dirty="0"/>
          </a:p>
          <a:p>
            <a:endParaRPr lang="en-US" dirty="0"/>
          </a:p>
          <a:p>
            <a:endParaRPr lang="en-US" dirty="0"/>
          </a:p>
          <a:p>
            <a:endParaRPr lang="en-US" dirty="0"/>
          </a:p>
          <a:p>
            <a:endParaRPr lang="en-US" dirty="0"/>
          </a:p>
        </p:txBody>
      </p:sp>
      <p:sp>
        <p:nvSpPr>
          <p:cNvPr id="6" name="Slide Number Placeholder 5">
            <a:extLst>
              <a:ext uri="{FF2B5EF4-FFF2-40B4-BE49-F238E27FC236}">
                <a16:creationId xmlns:a16="http://schemas.microsoft.com/office/drawing/2014/main" id="{77D93DA7-EF85-4552-BA55-C69C90519334}"/>
              </a:ext>
            </a:extLst>
          </p:cNvPr>
          <p:cNvSpPr>
            <a:spLocks noGrp="1"/>
          </p:cNvSpPr>
          <p:nvPr>
            <p:ph type="sldNum" sz="quarter" idx="12"/>
          </p:nvPr>
        </p:nvSpPr>
        <p:spPr/>
        <p:txBody>
          <a:bodyPr/>
          <a:lstStyle/>
          <a:p>
            <a:fld id="{1B30F0CC-EBAF-4E3D-80D7-CFC82A3A738F}" type="slidenum">
              <a:rPr lang="en-US" smtClean="0"/>
              <a:pPr/>
              <a:t>123</a:t>
            </a:fld>
            <a:endParaRPr lang="en-US" dirty="0"/>
          </a:p>
        </p:txBody>
      </p:sp>
    </p:spTree>
    <p:extLst>
      <p:ext uri="{BB962C8B-B14F-4D97-AF65-F5344CB8AC3E}">
        <p14:creationId xmlns:p14="http://schemas.microsoft.com/office/powerpoint/2010/main" val="6609495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G = H \otimes F&#10;\]&#10;\end{document}&#10;"/>
  <p:tag name="EXTERNALNAME" val="Edittex"/>
  <p:tag name="BLEND" val="False"/>
  <p:tag name="TRANSPARENT" val="False"/>
  <p:tag name="BITMAPFORMAT" val="bmpmono"/>
  <p:tag name="DEBUGINTERACTIVE" val="True"/>
  <p:tag name="ORIGWIDTH" val="405"/>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G[i,j] = \sum_{u=-k}^{k} \sum_{v=-k}^{k} H[u,v] F[i+u,j+v]&#10;\]&#10;\end{document}&#10;"/>
  <p:tag name="EXTERNALNAME" val="Edittex"/>
  <p:tag name="BLEND" val="False"/>
  <p:tag name="TRANSPARENT" val="False"/>
  <p:tag name="KEEPFILES" val="False"/>
  <p:tag name="DEBUGPAUSE" val="False"/>
  <p:tag name="RESOLUTION" val="300"/>
  <p:tag name="BITMAPFORMAT" val="bmpmono"/>
  <p:tag name="DEBUGINTERACTIVE" val="True"/>
  <p:tag name="ORIGWIDTH" val="1473.25"/>
  <p:tag name="PICTUREFILESIZE" val="50190"/>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mall&#10;\[ \frac{1}{9} &#10;\]&#10;\end{document}&#10;"/>
  <p:tag name="EXTERNALNAME" val="txp_fig"/>
  <p:tag name="BLEND" val="False"/>
  <p:tag name="TRANSPARENT" val="True"/>
  <p:tag name="KEEPFILES" val="False"/>
  <p:tag name="DEBUGPAUSE" val="False"/>
  <p:tag name="RESOLUTION" val="300"/>
  <p:tag name="TIMEOUT" val="15"/>
  <p:tag name="BITMAPFORMAT" val="bmpmono"/>
  <p:tag name="DEBUGINTERACTIVE" val="True"/>
  <p:tag name="ORIGWIDTH" val="12"/>
  <p:tag name="PICTUREFILESIZE" val="1262"/>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mall&#10;\[ \frac{1}{9} &#10;\]&#10;\end{document}&#10;"/>
  <p:tag name="EXTERNALNAME" val="txp_fig"/>
  <p:tag name="BLEND" val="False"/>
  <p:tag name="TRANSPARENT" val="True"/>
  <p:tag name="KEEPFILES" val="False"/>
  <p:tag name="DEBUGPAUSE" val="False"/>
  <p:tag name="RESOLUTION" val="300"/>
  <p:tag name="TIMEOUT" val="15"/>
  <p:tag name="BITMAPFORMAT" val="bmpmono"/>
  <p:tag name="DEBUGINTERACTIVE" val="True"/>
  <p:tag name="ORIGWIDTH" val="12"/>
  <p:tag name="PICTUREFILESIZE" val="1262"/>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UTD 2019 Colors">
      <a:dk1>
        <a:srgbClr val="000000"/>
      </a:dk1>
      <a:lt1>
        <a:srgbClr val="FFFFFF"/>
      </a:lt1>
      <a:dk2>
        <a:srgbClr val="414141"/>
      </a:dk2>
      <a:lt2>
        <a:srgbClr val="E7E6E6"/>
      </a:lt2>
      <a:accent1>
        <a:srgbClr val="E87500"/>
      </a:accent1>
      <a:accent2>
        <a:srgbClr val="69BD28"/>
      </a:accent2>
      <a:accent3>
        <a:srgbClr val="00A0DE"/>
      </a:accent3>
      <a:accent4>
        <a:srgbClr val="FFB611"/>
      </a:accent4>
      <a:accent5>
        <a:srgbClr val="154734"/>
      </a:accent5>
      <a:accent6>
        <a:srgbClr val="5FE0B7"/>
      </a:accent6>
      <a:hlink>
        <a:srgbClr val="C8C8C8"/>
      </a:hlink>
      <a:folHlink>
        <a:srgbClr val="808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UTD 2019 Colors">
      <a:dk1>
        <a:srgbClr val="000000"/>
      </a:dk1>
      <a:lt1>
        <a:srgbClr val="FFFFFF"/>
      </a:lt1>
      <a:dk2>
        <a:srgbClr val="414141"/>
      </a:dk2>
      <a:lt2>
        <a:srgbClr val="E7E6E6"/>
      </a:lt2>
      <a:accent1>
        <a:srgbClr val="E87500"/>
      </a:accent1>
      <a:accent2>
        <a:srgbClr val="69BD28"/>
      </a:accent2>
      <a:accent3>
        <a:srgbClr val="00A0DE"/>
      </a:accent3>
      <a:accent4>
        <a:srgbClr val="FFB611"/>
      </a:accent4>
      <a:accent5>
        <a:srgbClr val="154734"/>
      </a:accent5>
      <a:accent6>
        <a:srgbClr val="5FE0B7"/>
      </a:accent6>
      <a:hlink>
        <a:srgbClr val="C8C8C8"/>
      </a:hlink>
      <a:folHlink>
        <a:srgbClr val="808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TotalTime>
  <Words>6690</Words>
  <Application>Microsoft Macintosh PowerPoint</Application>
  <PresentationFormat>Widescreen</PresentationFormat>
  <Paragraphs>1431</Paragraphs>
  <Slides>123</Slides>
  <Notes>73</Notes>
  <HiddenSlides>11</HiddenSlides>
  <MMClips>0</MMClips>
  <ScaleCrop>false</ScaleCrop>
  <HeadingPairs>
    <vt:vector size="6" baseType="variant">
      <vt:variant>
        <vt:lpstr>Fonts Used</vt:lpstr>
      </vt:variant>
      <vt:variant>
        <vt:i4>28</vt:i4>
      </vt:variant>
      <vt:variant>
        <vt:lpstr>Theme</vt:lpstr>
      </vt:variant>
      <vt:variant>
        <vt:i4>3</vt:i4>
      </vt:variant>
      <vt:variant>
        <vt:lpstr>Slide Titles</vt:lpstr>
      </vt:variant>
      <vt:variant>
        <vt:i4>123</vt:i4>
      </vt:variant>
    </vt:vector>
  </HeadingPairs>
  <TitlesOfParts>
    <vt:vector size="154" baseType="lpstr">
      <vt:lpstr>-apple-system</vt:lpstr>
      <vt:lpstr>Arial</vt:lpstr>
      <vt:lpstr>ArialMT</vt:lpstr>
      <vt:lpstr>Calibri</vt:lpstr>
      <vt:lpstr>Calibri Light</vt:lpstr>
      <vt:lpstr>Cambria Math</vt:lpstr>
      <vt:lpstr>CMMI10</vt:lpstr>
      <vt:lpstr>CMR10</vt:lpstr>
      <vt:lpstr>ColfaxAI</vt:lpstr>
      <vt:lpstr>ff2</vt:lpstr>
      <vt:lpstr>Georgia</vt:lpstr>
      <vt:lpstr>Helvetica</vt:lpstr>
      <vt:lpstr>Helvetica Neue</vt:lpstr>
      <vt:lpstr>inherit</vt:lpstr>
      <vt:lpstr>Lato</vt:lpstr>
      <vt:lpstr>Merriweather</vt:lpstr>
      <vt:lpstr>MJXc-TeX-math-I</vt:lpstr>
      <vt:lpstr>Myriad Roman</vt:lpstr>
      <vt:lpstr>Nimbus Roman No9 L</vt:lpstr>
      <vt:lpstr>NimbusRomNo9L-Medi</vt:lpstr>
      <vt:lpstr>NimbusRomNo9L-Regu</vt:lpstr>
      <vt:lpstr>PT Serif</vt:lpstr>
      <vt:lpstr>Raleway</vt:lpstr>
      <vt:lpstr>Roboto</vt:lpstr>
      <vt:lpstr>source-serif-pro</vt:lpstr>
      <vt:lpstr>STIXGeneral-Italic</vt:lpstr>
      <vt:lpstr>Times</vt:lpstr>
      <vt:lpstr>Times New Roman</vt:lpstr>
      <vt:lpstr>office theme</vt:lpstr>
      <vt:lpstr>1_Office Theme</vt:lpstr>
      <vt:lpstr>1_Office Theme</vt:lpstr>
      <vt:lpstr>Introduction to Deep Learning for Computer Vision</vt:lpstr>
      <vt:lpstr>Image Filtering</vt:lpstr>
      <vt:lpstr>Linear filtering</vt:lpstr>
      <vt:lpstr>Cross-correlation</vt:lpstr>
      <vt:lpstr>Convolution</vt:lpstr>
      <vt:lpstr>Convolution</vt:lpstr>
      <vt:lpstr>Mean filtering</vt:lpstr>
      <vt:lpstr>Mean filtering/Moving average</vt:lpstr>
      <vt:lpstr>Mean filtering/Moving average</vt:lpstr>
      <vt:lpstr>Mean filtering/Moving average</vt:lpstr>
      <vt:lpstr>Mean filtering/Moving average</vt:lpstr>
      <vt:lpstr>Mean filtering/Moving average</vt:lpstr>
      <vt:lpstr>Mean filtering/Moving average</vt:lpstr>
      <vt:lpstr>Linear filters: examples</vt:lpstr>
      <vt:lpstr>Linear filters: examples</vt:lpstr>
      <vt:lpstr>Linear filters: examples</vt:lpstr>
      <vt:lpstr>Linear filters: examples</vt:lpstr>
      <vt:lpstr>Linear filters: examples</vt:lpstr>
      <vt:lpstr>Linear filters: examples</vt:lpstr>
      <vt:lpstr>Sharpening</vt:lpstr>
      <vt:lpstr>Visual Perception vs. Computational Perception</vt:lpstr>
      <vt:lpstr>Mathematic Models </vt:lpstr>
      <vt:lpstr>Mathematic Models </vt:lpstr>
      <vt:lpstr>Neural Network: Concatenation of functions</vt:lpstr>
      <vt:lpstr>Activation Functions</vt:lpstr>
      <vt:lpstr>Activation Functions</vt:lpstr>
      <vt:lpstr>Fully Connected Layer</vt:lpstr>
      <vt:lpstr>Fully Connected Layer</vt:lpstr>
      <vt:lpstr>Convolutional Layers</vt:lpstr>
      <vt:lpstr>Convolutional Layers</vt:lpstr>
      <vt:lpstr>Convolutional Neural Networks</vt:lpstr>
      <vt:lpstr>Convolutional Neural Networks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Supervised Learning</vt:lpstr>
      <vt:lpstr>Convolutional Neural Networks</vt:lpstr>
      <vt:lpstr>Image Classification</vt:lpstr>
      <vt:lpstr>Image Classification</vt:lpstr>
      <vt:lpstr>Image Classification</vt:lpstr>
      <vt:lpstr>Image Classification</vt:lpstr>
      <vt:lpstr>Image Classification</vt:lpstr>
      <vt:lpstr>PowerPoint Presentation</vt:lpstr>
      <vt:lpstr>Training</vt:lpstr>
      <vt:lpstr>Training</vt:lpstr>
      <vt:lpstr>Training</vt:lpstr>
      <vt:lpstr>Training</vt:lpstr>
      <vt:lpstr>Training</vt:lpstr>
      <vt:lpstr>Back-propagation</vt:lpstr>
      <vt:lpstr>Back-propagation</vt:lpstr>
      <vt:lpstr> Training: back-propagate errors </vt:lpstr>
      <vt:lpstr>Back-propagation</vt:lpstr>
      <vt:lpstr>Classification Loss Functions</vt:lpstr>
      <vt:lpstr>Classification Loss Functions</vt:lpstr>
      <vt:lpstr>Classification Loss Functions</vt:lpstr>
      <vt:lpstr>Regression Loss Functions</vt:lpstr>
      <vt:lpstr>Regression Loss Functions</vt:lpstr>
      <vt:lpstr>Regression Loss Functions</vt:lpstr>
      <vt:lpstr>Optimization</vt:lpstr>
      <vt:lpstr>Optimization</vt:lpstr>
      <vt:lpstr>Optimization</vt:lpstr>
      <vt:lpstr>Computational Multisensory Perception</vt:lpstr>
      <vt:lpstr>Image + Audio</vt:lpstr>
      <vt:lpstr>Sound of Pixels</vt:lpstr>
      <vt:lpstr>Single Images</vt:lpstr>
      <vt:lpstr>Sequential Data</vt:lpstr>
      <vt:lpstr>Sequential Data Labeling</vt:lpstr>
      <vt:lpstr>Sequential Data Labeling</vt:lpstr>
      <vt:lpstr>Sequential Data Labeling</vt:lpstr>
      <vt:lpstr>Recurrent Neural Networks</vt:lpstr>
      <vt:lpstr>Hidden State Update</vt:lpstr>
      <vt:lpstr>Using the Hidden State</vt:lpstr>
      <vt:lpstr>Recurrent Neural Networks</vt:lpstr>
      <vt:lpstr>Vanilla RNN</vt:lpstr>
      <vt:lpstr>RNN Computation Graph</vt:lpstr>
      <vt:lpstr>RNN Training</vt:lpstr>
      <vt:lpstr>Backpropagation through Time</vt:lpstr>
      <vt:lpstr>Transformer</vt:lpstr>
      <vt:lpstr>Transformer: Encoder-Decoder with Attention</vt:lpstr>
      <vt:lpstr>Transformer: Attention</vt:lpstr>
      <vt:lpstr>Transformer: Attention</vt:lpstr>
      <vt:lpstr>Transformer: Attention</vt:lpstr>
      <vt:lpstr>Transformer: Encoder</vt:lpstr>
      <vt:lpstr>Transformer: Encoder</vt:lpstr>
      <vt:lpstr>Transformer: Decoder</vt:lpstr>
      <vt:lpstr>Transformer: Decoder</vt:lpstr>
      <vt:lpstr>Transformer</vt:lpstr>
      <vt:lpstr>Further Reading</vt:lpstr>
      <vt:lpstr>Further Reading</vt:lpstr>
      <vt:lpstr>Further Reading</vt:lpstr>
      <vt:lpstr>Further Reading</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Vasireddy, Siva Sai Nagender</cp:lastModifiedBy>
  <cp:revision>70</cp:revision>
  <dcterms:created xsi:type="dcterms:W3CDTF">2023-06-12T04:20:39Z</dcterms:created>
  <dcterms:modified xsi:type="dcterms:W3CDTF">2025-06-30T13:04:26Z</dcterms:modified>
</cp:coreProperties>
</file>